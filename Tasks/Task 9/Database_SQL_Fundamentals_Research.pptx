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notesMasters/notesMaster1.xml" ContentType="application/vnd.openxmlformats-officedocument.presentationml.notesMaster+xml"/>
  <ns0:Override PartName="/ppt/notesMasters/theme/theme3.xml" ContentType="application/vnd.openxmlformats-officedocument.theme+xml"/>
  <ns0:Override PartName="/ppt/presProps.xml" ContentType="application/vnd.openxmlformats-officedocument.presentationml.pres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  <ns0:Override PartName="/ppt/slides/slide11.xml" ContentType="application/vnd.openxmlformats-officedocument.presentationml.slide+xml"/>
  <ns0:Override PartName="/ppt/notesSlides/notesSlide11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12.xml" ContentType="application/vnd.openxmlformats-officedocument.presentationml.notesSlide+xml"/>
  <ns0:Override PartName="/ppt/slides/slide13.xml" ContentType="application/vnd.openxmlformats-officedocument.presentationml.slide+xml"/>
  <ns0:Override PartName="/ppt/notesSlides/notesSlide13.xml" ContentType="application/vnd.openxmlformats-officedocument.presentationml.notesSlide+xml"/>
  <ns0:Override PartName="/ppt/slides/slide14.xml" ContentType="application/vnd.openxmlformats-officedocument.presentationml.slide+xml"/>
  <ns0:Override PartName="/ppt/notesSlides/notesSlide14.xml" ContentType="application/vnd.openxmlformats-officedocument.presentationml.notesSlide+xml"/>
  <ns0:Override PartName="/ppt/slides/slide15.xml" ContentType="application/vnd.openxmlformats-officedocument.presentationml.slide+xml"/>
  <ns0:Override PartName="/ppt/notesSlides/notesSlide15.xml" ContentType="application/vnd.openxmlformats-officedocument.presentationml.notesSlide+xml"/>
  <ns0:Override PartName="/ppt/slides/slide16.xml" ContentType="application/vnd.openxmlformats-officedocument.presentationml.slide+xml"/>
  <ns0:Override PartName="/ppt/notesSlides/notesSlide16.xml" ContentType="application/vnd.openxmlformats-officedocument.presentationml.notesSlide+xml"/>
  <ns0:Override PartName="/ppt/slides/slide17.xml" ContentType="application/vnd.openxmlformats-officedocument.presentationml.slide+xml"/>
  <ns0:Override PartName="/ppt/notesSlides/notesSlide17.xml" ContentType="application/vnd.openxmlformats-officedocument.presentationml.notesSlide+xml"/>
  <ns0:Override PartName="/ppt/slides/slide18.xml" ContentType="application/vnd.openxmlformats-officedocument.presentationml.slide+xml"/>
  <ns0:Override PartName="/ppt/notesSlides/notesSlide18.xml" ContentType="application/vnd.openxmlformats-officedocument.presentationml.notesSlide+xml"/>
  <ns0:Override PartName="/ppt/slides/slide19.xml" ContentType="application/vnd.openxmlformats-officedocument.presentationml.slide+xml"/>
  <ns0:Override PartName="/ppt/notesSlides/notesSlide19.xml" ContentType="application/vnd.openxmlformats-officedocument.presentationml.notesSlide+xml"/>
  <ns0:Override PartName="/ppt/slides/slide20.xml" ContentType="application/vnd.openxmlformats-officedocument.presentationml.slide+xml"/>
  <ns0:Override PartName="/ppt/notesSlides/notesSlide20.xml" ContentType="application/vnd.openxmlformats-officedocument.presentationml.notesSlide+xml"/>
  <ns0:Override PartName="/ppt/slides/slide21.xml" ContentType="application/vnd.openxmlformats-officedocument.presentationml.slide+xml"/>
  <ns0:Override PartName="/ppt/notesSlides/notesSlide21.xml" ContentType="application/vnd.openxmlformats-officedocument.presentationml.notesSlide+xml"/>
  <ns0:Override PartName="/ppt/slides/slide22.xml" ContentType="application/vnd.openxmlformats-officedocument.presentationml.slide+xml"/>
  <ns0:Override PartName="/ppt/notesSlides/notesSlide22.xml" ContentType="application/vnd.openxmlformats-officedocument.presentationml.notesSlide+xml"/>
  <ns0:Override PartName="/ppt/slides/slide23.xml" ContentType="application/vnd.openxmlformats-officedocument.presentationml.slide+xml"/>
  <ns0:Override PartName="/ppt/notesSlides/notesSlide23.xml" ContentType="application/vnd.openxmlformats-officedocument.presentationml.notesSlide+xml"/>
  <ns0:Override PartName="/ppt/slides/slide24.xml" ContentType="application/vnd.openxmlformats-officedocument.presentationml.slide+xml"/>
  <ns0:Override PartName="/ppt/notesSlides/notesSlide24.xml" ContentType="application/vnd.openxmlformats-officedocument.presentationml.notesSlide+xml"/>
  <ns0:Override PartName="/ppt/slides/slide25.xml" ContentType="application/vnd.openxmlformats-officedocument.presentationml.slide+xml"/>
  <ns0:Override PartName="/ppt/notesSlides/notesSlide25.xml" ContentType="application/vnd.openxmlformats-officedocument.presentationml.notesSlide+xml"/>
  <ns0:Override PartName="/ppt/slides/slide26.xml" ContentType="application/vnd.openxmlformats-officedocument.presentationml.slide+xml"/>
  <ns0:Override PartName="/ppt/notesSlides/notesSlide26.xml" ContentType="application/vnd.openxmlformats-officedocument.presentationml.notesSlide+xml"/>
  <ns0:Override PartName="/ppt/slides/slide27.xml" ContentType="application/vnd.openxmlformats-officedocument.presentationml.slide+xml"/>
  <ns0:Override PartName="/ppt/notesSlides/notesSlide27.xml" ContentType="application/vnd.openxmlformats-officedocument.presentationml.notesSlide+xml"/>
  <ns0:Default Extension="png" ContentType="image/png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00ce6b28c74d95" /><Relationship Type="http://schemas.openxmlformats.org/officeDocument/2006/relationships/extended-properties" Target="/docProps/app.xml" Id="R166267566ce44db3" /><Relationship Type="http://schemas.openxmlformats.org/officeDocument/2006/relationships/officeDocument" Target="/ppt/presentation.xml" Id="Rcab8f91cbfec46e7" />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>
  <p:sldMasterIdLst>
    <p:sldMasterId id="2147483648" r:id="R60b9be524f9244df"/>
  </p:sldMasterIdLst>
  <p:notesMasterIdLst>
    <p:notesMasterId r:id="R21adc3c3e5fc4481"/>
  </p:notesMasterIdLst>
  <p:sldIdLst>
    <p:sldId id="256" r:id="R7b2b0a3b30ec4270"/>
    <p:sldId id="257" r:id="R963a3ee5ccc3464b"/>
    <p:sldId id="258" r:id="Raca92d00b8eb4174"/>
    <p:sldId id="259" r:id="Rf4530a7468ce4c0d"/>
    <p:sldId id="260" r:id="Re6b86b4142d74298"/>
    <p:sldId id="261" r:id="R42370a4d81784130"/>
    <p:sldId id="262" r:id="R1b100cd3bb1a4423"/>
    <p:sldId id="263" r:id="Rf030cdfdad984e94"/>
    <p:sldId id="265" r:id="R4f5735ca7faf4563"/>
    <p:sldId id="267" r:id="Rc8cb3060fd24463c"/>
    <p:sldId id="270" r:id="R33bf076dceab437a"/>
    <p:sldId id="272" r:id="Rd044eeb38ee14d47"/>
    <p:sldId id="277" r:id="R822db4507fde419c"/>
    <p:sldId id="278" r:id="Rbcf70d0ac8694241"/>
    <p:sldId id="279" r:id="R24b2d5b206da43ed"/>
  </p:sldIdLst>
  <p:sldSz cx="12192000" cy="6858000"/>
  <p:notesSz cx="6858000" cy="9144000"/>
  <p:defaultTextStyle>
    <ns2:defPPr>
      <ns2:defRPr lang="en-US"/>
    </ns2:defPPr>
    <ns2:lvl1pPr marL="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b4c4bede51dc4842" /><ns0:Relationship Type="http://schemas.openxmlformats.org/officeDocument/2006/relationships/slideMaster" Target="/ppt/slideMasters/slideMaster1.xml" Id="R60b9be524f9244df" /><ns0:Relationship Type="http://schemas.openxmlformats.org/officeDocument/2006/relationships/notesMaster" Target="/ppt/notesMasters/notesMaster1.xml" Id="R21adc3c3e5fc4481" /><ns0:Relationship Type="http://schemas.openxmlformats.org/officeDocument/2006/relationships/presProps" Target="/ppt/presProps.xml" Id="R187f72ef18a543b4" /><ns0:Relationship Type="http://schemas.openxmlformats.org/officeDocument/2006/relationships/tableStyles" Target="/ppt/tableStyles.xml" Id="R6df19518440844f3" /><ns0:Relationship Type="http://schemas.openxmlformats.org/officeDocument/2006/relationships/slide" Target="/ppt/slides/slide1.xml" Id="R7b2b0a3b30ec4270" /><ns0:Relationship Type="http://schemas.openxmlformats.org/officeDocument/2006/relationships/slide" Target="/ppt/slides/slide2.xml" Id="R963a3ee5ccc3464b" /><ns0:Relationship Type="http://schemas.openxmlformats.org/officeDocument/2006/relationships/slide" Target="/ppt/slides/slide3.xml" Id="Raca92d00b8eb4174" /><ns0:Relationship Type="http://schemas.openxmlformats.org/officeDocument/2006/relationships/slide" Target="/ppt/slides/slide4.xml" Id="Rf4530a7468ce4c0d" /><ns0:Relationship Type="http://schemas.openxmlformats.org/officeDocument/2006/relationships/slide" Target="/ppt/slides/slide5.xml" Id="Re6b86b4142d74298" /><ns0:Relationship Type="http://schemas.openxmlformats.org/officeDocument/2006/relationships/slide" Target="/ppt/slides/slide6.xml" Id="R42370a4d81784130" /><ns0:Relationship Type="http://schemas.openxmlformats.org/officeDocument/2006/relationships/slide" Target="/ppt/slides/slide7.xml" Id="R1b100cd3bb1a4423" /><ns0:Relationship Type="http://schemas.openxmlformats.org/officeDocument/2006/relationships/slide" Target="/ppt/slides/slide8.xml" Id="Rf030cdfdad984e94" /><ns0:Relationship Type="http://schemas.openxmlformats.org/officeDocument/2006/relationships/slide" Target="/ppt/slides/slide10.xml" Id="R4f5735ca7faf4563" /><ns0:Relationship Type="http://schemas.openxmlformats.org/officeDocument/2006/relationships/slide" Target="/ppt/slides/slide12.xml" Id="Rc8cb3060fd24463c" /><ns0:Relationship Type="http://schemas.openxmlformats.org/officeDocument/2006/relationships/slide" Target="/ppt/slides/slide15.xml" Id="R33bf076dceab437a" /><ns0:Relationship Type="http://schemas.openxmlformats.org/officeDocument/2006/relationships/slide" Target="/ppt/slides/slide17.xml" Id="Rd044eeb38ee14d47" /><ns0:Relationship Type="http://schemas.openxmlformats.org/officeDocument/2006/relationships/slide" Target="/ppt/slides/slide22.xml" Id="R822db4507fde419c" /><ns0:Relationship Type="http://schemas.openxmlformats.org/officeDocument/2006/relationships/slide" Target="/ppt/slides/slide23.xml" Id="Rbcf70d0ac8694241" /><ns0:Relationship Type="http://schemas.openxmlformats.org/officeDocument/2006/relationships/slide" Target="/ppt/slides/slide24.xml" Id="R24b2d5b206da43ed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6d12d596f844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20677d81d94af7" /><Relationship Type="http://schemas.openxmlformats.org/officeDocument/2006/relationships/notesMaster" Target="/ppt/notesMasters/notesMaster1.xml" Id="R70b6ff207bb74f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a5888c05324b48" /><Relationship Type="http://schemas.openxmlformats.org/officeDocument/2006/relationships/notesMaster" Target="/ppt/notesMasters/notesMaster1.xml" Id="R6d4e416884154f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345ef1b916489b" /><Relationship Type="http://schemas.openxmlformats.org/officeDocument/2006/relationships/notesMaster" Target="/ppt/notesMasters/notesMaster1.xml" Id="R03e38bb2de4542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1c73f4c9374483" /><Relationship Type="http://schemas.openxmlformats.org/officeDocument/2006/relationships/notesMaster" Target="/ppt/notesMasters/notesMaster1.xml" Id="R9588bd4bbdd24d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fd51f3b7244520" /><Relationship Type="http://schemas.openxmlformats.org/officeDocument/2006/relationships/notesMaster" Target="/ppt/notesMasters/notesMaster1.xml" Id="Rea1a885d4a884f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d678b33a8a4dfa" /><Relationship Type="http://schemas.openxmlformats.org/officeDocument/2006/relationships/notesMaster" Target="/ppt/notesMasters/notesMaster1.xml" Id="Rcd9b7ca0c6224a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3ac95e54b94d8c" /><Relationship Type="http://schemas.openxmlformats.org/officeDocument/2006/relationships/notesMaster" Target="/ppt/notesMasters/notesMaster1.xml" Id="Re1882f9b21014b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fad2dd251a45c5" /><Relationship Type="http://schemas.openxmlformats.org/officeDocument/2006/relationships/notesMaster" Target="/ppt/notesMasters/notesMaster1.xml" Id="R88d06b625c9942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7a4210433d44f5" /><Relationship Type="http://schemas.openxmlformats.org/officeDocument/2006/relationships/notesMaster" Target="/ppt/notesMasters/notesMaster1.xml" Id="Rea8cebf4190a45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3ef37a38734abd" /><Relationship Type="http://schemas.openxmlformats.org/officeDocument/2006/relationships/notesMaster" Target="/ppt/notesMasters/notesMaster1.xml" Id="Rb083fa3479c249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cd7a5727304249" /><Relationship Type="http://schemas.openxmlformats.org/officeDocument/2006/relationships/notesMaster" Target="/ppt/notesMasters/notesMaster1.xml" Id="Re7792df3423442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23d1eac93544fe" /><Relationship Type="http://schemas.openxmlformats.org/officeDocument/2006/relationships/notesMaster" Target="/ppt/notesMasters/notesMaster1.xml" Id="R865ba96a98da42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c6a9b294a84476" /><Relationship Type="http://schemas.openxmlformats.org/officeDocument/2006/relationships/notesMaster" Target="/ppt/notesMasters/notesMaster1.xml" Id="R2808b6b6ea2845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df2fef7c9f45f4" /><Relationship Type="http://schemas.openxmlformats.org/officeDocument/2006/relationships/notesMaster" Target="/ppt/notesMasters/notesMaster1.xml" Id="R9796f8db89854b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ea87f1412945b5" /><Relationship Type="http://schemas.openxmlformats.org/officeDocument/2006/relationships/notesMaster" Target="/ppt/notesMasters/notesMaster1.xml" Id="R10f1623fa3494d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f58b82758640d7" /><Relationship Type="http://schemas.openxmlformats.org/officeDocument/2006/relationships/notesMaster" Target="/ppt/notesMasters/notesMaster1.xml" Id="Rce00c52a594248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7172e63127480b" /><Relationship Type="http://schemas.openxmlformats.org/officeDocument/2006/relationships/notesMaster" Target="/ppt/notesMasters/notesMaster1.xml" Id="R32622af80a0e4c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fce9639cd4c4747" /><Relationship Type="http://schemas.openxmlformats.org/officeDocument/2006/relationships/notesMaster" Target="/ppt/notesMasters/notesMaster1.xml" Id="Rb3988610f3b747e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bbe22e9548486a" /><Relationship Type="http://schemas.openxmlformats.org/officeDocument/2006/relationships/notesMaster" Target="/ppt/notesMasters/notesMaster1.xml" Id="R2b87ffb365e94bf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acf336d3a449d9" /><Relationship Type="http://schemas.openxmlformats.org/officeDocument/2006/relationships/notesMaster" Target="/ppt/notesMasters/notesMaster1.xml" Id="R5e1b58c7c60448e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6cac64fc8446fb" /><Relationship Type="http://schemas.openxmlformats.org/officeDocument/2006/relationships/notesMaster" Target="/ppt/notesMasters/notesMaster1.xml" Id="R02f6bc3990d1452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baad275565a4b48" /><Relationship Type="http://schemas.openxmlformats.org/officeDocument/2006/relationships/notesMaster" Target="/ppt/notesMasters/notesMaster1.xml" Id="Ra98673bf871a4bb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08947813d3b44f9" /><Relationship Type="http://schemas.openxmlformats.org/officeDocument/2006/relationships/notesMaster" Target="/ppt/notesMasters/notesMaster1.xml" Id="Rd4647674261142f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9742338dab64084" /><Relationship Type="http://schemas.openxmlformats.org/officeDocument/2006/relationships/notesMaster" Target="/ppt/notesMasters/notesMaster1.xml" Id="R38588c0bc2ff4d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4fa823d588c498c" /><Relationship Type="http://schemas.openxmlformats.org/officeDocument/2006/relationships/notesMaster" Target="/ppt/notesMasters/notesMaster1.xml" Id="Rf5e82afba2214fb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4368fb99a524fc9" /><Relationship Type="http://schemas.openxmlformats.org/officeDocument/2006/relationships/notesMaster" Target="/ppt/notesMasters/notesMaster1.xml" Id="R1d9cb57a65634e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f02078a8eb8427d" /><Relationship Type="http://schemas.openxmlformats.org/officeDocument/2006/relationships/notesMaster" Target="/ppt/notesMasters/notesMaster1.xml" Id="R4aa9365c432845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da106974047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bb2ca14e724592" /><Relationship Type="http://schemas.openxmlformats.org/officeDocument/2006/relationships/slideLayout" Target="/ppt/slideLayouts/slideLayout1.xml" Id="R8902f6f09c004d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02f6f09c004d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481ff35b54f72" /><Relationship Type="http://schemas.openxmlformats.org/officeDocument/2006/relationships/notesSlide" Target="/ppt/notesSlides/notesSlide1.xml" Id="Rcd045eb57e364e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ab827f2ca45f9" /><Relationship Type="http://schemas.openxmlformats.org/officeDocument/2006/relationships/notesSlide" Target="/ppt/notesSlides/notesSlide2.xml" Id="R74b12808919b4d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9b8489f334dc7" /><Relationship Type="http://schemas.openxmlformats.org/officeDocument/2006/relationships/notesSlide" Target="/ppt/notesSlides/notesSlide3.xml" Id="R5529f70a37ae45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865eaccf649a2" /><Relationship Type="http://schemas.openxmlformats.org/officeDocument/2006/relationships/notesSlide" Target="/ppt/notesSlides/notesSlide4.xml" Id="Rd94b0f45246a47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51d68959143be" /><Relationship Type="http://schemas.openxmlformats.org/officeDocument/2006/relationships/notesSlide" Target="/ppt/notesSlides/notesSlide5.xml" Id="Rb5466edc542245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65880d462471e" /><Relationship Type="http://schemas.openxmlformats.org/officeDocument/2006/relationships/notesSlide" Target="/ppt/notesSlides/notesSlide6.xml" Id="Rc7b5077ef4e94d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8292bd5b5406f" /><Relationship Type="http://schemas.openxmlformats.org/officeDocument/2006/relationships/notesSlide" Target="/ppt/notesSlides/notesSlide7.xml" Id="R9c1596b50d3546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d37caf65c4d74" /><Relationship Type="http://schemas.openxmlformats.org/officeDocument/2006/relationships/notesSlide" Target="/ppt/notesSlides/notesSlide8.xml" Id="Rfa2ab518490848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ce091444746ce" /><Relationship Type="http://schemas.openxmlformats.org/officeDocument/2006/relationships/notesSlide" Target="/ppt/notesSlides/notesSlide9.xml" Id="Rd33e17ee40864e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e973e514648ec" /><Relationship Type="http://schemas.openxmlformats.org/officeDocument/2006/relationships/notesSlide" Target="/ppt/notesSlides/notesSlide10.xml" Id="R0b94c4dc83394a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8296b2f41468e" /><Relationship Type="http://schemas.openxmlformats.org/officeDocument/2006/relationships/notesSlide" Target="/ppt/notesSlides/notesSlide11.xml" Id="R00b2f2085c304d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3f0b2f39641cc" /><Relationship Type="http://schemas.openxmlformats.org/officeDocument/2006/relationships/notesSlide" Target="/ppt/notesSlides/notesSlide12.xml" Id="Ra3cdc68d40a044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6bbec37204400" /><Relationship Type="http://schemas.openxmlformats.org/officeDocument/2006/relationships/notesSlide" Target="/ppt/notesSlides/notesSlide13.xml" Id="R101c4ea6c3714d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fb57540d64f15" /><Relationship Type="http://schemas.openxmlformats.org/officeDocument/2006/relationships/notesSlide" Target="/ppt/notesSlides/notesSlide14.xml" Id="R651af6bbd5c74b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636f19662440e" /><Relationship Type="http://schemas.openxmlformats.org/officeDocument/2006/relationships/notesSlide" Target="/ppt/notesSlides/notesSlide15.xml" Id="Rbb304b70b38942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755945d594c61" /><Relationship Type="http://schemas.openxmlformats.org/officeDocument/2006/relationships/notesSlide" Target="/ppt/notesSlides/notesSlide16.xml" Id="R15dd1e57417b46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5638d27ff4452" /><Relationship Type="http://schemas.openxmlformats.org/officeDocument/2006/relationships/notesSlide" Target="/ppt/notesSlides/notesSlide17.xml" Id="R481adce4cec24d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6483b630549fa" /><Relationship Type="http://schemas.openxmlformats.org/officeDocument/2006/relationships/notesSlide" Target="/ppt/notesSlides/notesSlide18.xml" Id="R60352b65fa464e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18bdc10134797" /><Relationship Type="http://schemas.openxmlformats.org/officeDocument/2006/relationships/notesSlide" Target="/ppt/notesSlides/notesSlide19.xml" Id="Rddf5d186cdbc45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7d1f5c89342f9" /><Relationship Type="http://schemas.openxmlformats.org/officeDocument/2006/relationships/notesSlide" Target="/ppt/notesSlides/notesSlide20.xml" Id="Rfdf75ad856424db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6f24bb9e540e0" /><Relationship Type="http://schemas.openxmlformats.org/officeDocument/2006/relationships/notesSlide" Target="/ppt/notesSlides/notesSlide21.xml" Id="R4b7510b4c7a9454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9376e45654bf4" /><Relationship Type="http://schemas.openxmlformats.org/officeDocument/2006/relationships/notesSlide" Target="/ppt/notesSlides/notesSlide22.xml" Id="R2f5a06826ca84d7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459144eac48f2" /><Relationship Type="http://schemas.openxmlformats.org/officeDocument/2006/relationships/notesSlide" Target="/ppt/notesSlides/notesSlide23.xml" Id="R64a4eb3ed45c469e" /></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91ed79ce3d14dd1" /><ns0:Relationship Type="http://schemas.openxmlformats.org/officeDocument/2006/relationships/notesSlide" Target="/ppt/notesSlides/notesSlide24.xml" Id="Rc56d5d9ce17b440a" /><Relationship Id="rId1" Type="http://schemas.openxmlformats.org/officeDocument/2006/relationships/image" Target="../media/image1.png" /></ns0: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b440a6ee44a2e" /><Relationship Type="http://schemas.openxmlformats.org/officeDocument/2006/relationships/notesSlide" Target="/ppt/notesSlides/notesSlide25.xml" Id="Rca94cdb24eb941a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f04f405324225" /><Relationship Type="http://schemas.openxmlformats.org/officeDocument/2006/relationships/notesSlide" Target="/ppt/notesSlides/notesSlide26.xml" Id="R3dcae0c558a940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f22c1bad74d64" /><Relationship Type="http://schemas.openxmlformats.org/officeDocument/2006/relationships/notesSlide" Target="/ppt/notesSlides/notesSlide27.xml" Id="R376c9790777d493b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CE1C7961-EECD-4870-BBFE-4861B18C46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A7A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A78C7855-9E2B-4EE8-BA03-33F2ED4AA579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F7A7A"/>
                </a:solidFill>
              </a:defRPr>
            </a:pPr>
            <a:r>
              <a:rPr sz="1350" b="1">
                <a:solidFill>
                  <a:srgbClr val="0F7A7A"/>
                </a:solidFill>
              </a:rPr>
              <a:t>DATABASE SQL</a:t>
            </a:r>
          </a:p>
        </p:txBody>
      </p:sp>
      <p:sp>
        <p:nvSpPr>
          <p:cNvPr id="3" name="">
            <a:extLst>
              <a:ext uri="{FF2B5EF4-FFF2-40B4-BE49-F238E27FC236}">
                <ns2:creationId id="{EAD83C41-665C-410A-8ED5-0086EF66DAA7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857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SQL Research: Normalization, Jobs, Triggers, Constraints, and Locks</a:t>
            </a:r>
          </a:p>
        </p:txBody>
      </p:sp>
      <p:sp>
        <p:nvSpPr>
          <p:cNvPr id="4" name="">
            <a:extLst>
              <a:ext uri="{FF2B5EF4-FFF2-40B4-BE49-F238E27FC236}">
                <ns2:creationId id="{D8EB92E5-9CD7-4CA4-B992-405EFB00E555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A structured database fundamentals presentation with practical SQL examples and a complete Library System ERD solution</a:t>
            </a:r>
          </a:p>
        </p:txBody>
      </p:sp>
      <p:sp>
        <p:nvSpPr>
          <p:cNvPr id="5" name="">
            <a:extLst>
              <a:ext uri="{FF2B5EF4-FFF2-40B4-BE49-F238E27FC236}">
                <ns2:creationId id="{35BF27FA-D06A-4AC3-ABEF-DFD53FD65D1C}"/>
              </a:ext>
            </a:extLst>
          </p:cNvPr>
          <p:cNvSpPr>
            <a:spLocks noGrp="1"/>
          </p:cNvSpPr>
          <p:nvPr/>
        </p:nvSpPr>
        <p:spPr>
          <a:xfrm>
            <a:off x="9810750" y="1381125"/>
            <a:ext cx="1428750" cy="1695450"/>
          </a:xfrm>
          <a:prstGeom prst="roundRect">
            <a:avLst>
              <a:gd name="adj" fmla="val 2667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E5597EB2-619D-40A6-9068-71E1FD15FA19}"/>
              </a:ext>
            </a:extLst>
          </p:cNvPr>
          <p:cNvSpPr>
            <a:spLocks noGrp="1"/>
          </p:cNvSpPr>
          <p:nvPr/>
        </p:nvSpPr>
        <p:spPr>
          <a:xfrm>
            <a:off x="10020300" y="1790700"/>
            <a:ext cx="1009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0F7A7A"/>
                </a:solidFill>
              </a:defRPr>
            </a:pPr>
            <a:r>
              <a:rPr sz="3150" b="1">
                <a:solidFill>
                  <a:srgbClr val="0F7A7A"/>
                </a:solidFill>
              </a:rPr>
              <a:t>SQL</a:t>
            </a:r>
          </a:p>
        </p:txBody>
      </p:sp>
      <p:sp>
        <p:nvSpPr>
          <p:cNvPr id="7" name="">
            <a:extLst>
              <a:ext uri="{FF2B5EF4-FFF2-40B4-BE49-F238E27FC236}">
                <ns2:creationId id="{358D925C-533B-43CA-B491-6CB09B758BD1}"/>
              </a:ext>
            </a:extLst>
          </p:cNvPr>
          <p:cNvSpPr>
            <a:spLocks noGrp="1"/>
          </p:cNvSpPr>
          <p:nvPr/>
        </p:nvSpPr>
        <p:spPr>
          <a:xfrm>
            <a:off x="10020300" y="2400300"/>
            <a:ext cx="1009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ERD</a:t>
            </a:r>
          </a:p>
          <a:p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Keys</a:t>
            </a:r>
          </a:p>
          <a:p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Rules</a:t>
            </a:r>
          </a:p>
        </p:txBody>
      </p:sp>
    </p:spTree>
    <p:extLst>
      <p:ext uri="{BB962C8B-B14F-4D97-AF65-F5344CB8AC3E}">
        <ns3:creationId val="1885732889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827A220B-0634-4BC6-9EA4-AAEF1E5305C6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A database is more than a set of tables</a:t>
            </a:r>
          </a:p>
        </p:txBody>
      </p:sp>
      <p:sp>
        <p:nvSpPr>
          <p:cNvPr id="2" name="">
            <a:extLst>
              <a:ext uri="{FF2B5EF4-FFF2-40B4-BE49-F238E27FC236}">
                <ns2:creationId id="{1B38ED67-68AD-4C4D-A572-39A310351AAB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Each concept solves a different design, integrity, automation, or concurrency problem.</a:t>
            </a:r>
          </a:p>
        </p:txBody>
      </p:sp>
      <p:sp>
        <p:nvSpPr>
          <p:cNvPr id="3" name="">
            <a:extLst>
              <a:ext uri="{FF2B5EF4-FFF2-40B4-BE49-F238E27FC236}">
                <ns2:creationId id="{48002BC1-78EE-422A-8392-FBB4098ACE5B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34F8B5D5-82DD-4261-824A-76BE59448E14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">
            <a:extLst>
              <a:ext uri="{FF2B5EF4-FFF2-40B4-BE49-F238E27FC236}">
                <ns2:creationId id="{801EBF87-0E9B-47A9-90C1-9096CF36C158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952625" cy="55245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AE6072CF-BD71-4088-827C-C8E68583E25F}"/>
              </a:ext>
            </a:extLst>
          </p:cNvPr>
          <p:cNvSpPr>
            <a:spLocks noGrp="1"/>
          </p:cNvSpPr>
          <p:nvPr/>
        </p:nvSpPr>
        <p:spPr>
          <a:xfrm>
            <a:off x="933450" y="1847850"/>
            <a:ext cx="18002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Concept</a:t>
            </a:r>
          </a:p>
        </p:txBody>
      </p:sp>
      <p:sp>
        <p:nvSpPr>
          <p:cNvPr id="7" name="">
            <a:extLst>
              <a:ext uri="{FF2B5EF4-FFF2-40B4-BE49-F238E27FC236}">
                <ns2:creationId id="{BB65B494-1067-4AB4-ADCE-5A18A4E84AA1}"/>
              </a:ext>
            </a:extLst>
          </p:cNvPr>
          <p:cNvSpPr>
            <a:spLocks noGrp="1"/>
          </p:cNvSpPr>
          <p:nvPr/>
        </p:nvSpPr>
        <p:spPr>
          <a:xfrm>
            <a:off x="2809875" y="1762125"/>
            <a:ext cx="4095750" cy="55245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BDF11A30-8946-4FAC-AB29-A6568F068746}"/>
              </a:ext>
            </a:extLst>
          </p:cNvPr>
          <p:cNvSpPr>
            <a:spLocks noGrp="1"/>
          </p:cNvSpPr>
          <p:nvPr/>
        </p:nvSpPr>
        <p:spPr>
          <a:xfrm>
            <a:off x="2886075" y="1847850"/>
            <a:ext cx="3943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Question it answers</a:t>
            </a:r>
          </a:p>
        </p:txBody>
      </p:sp>
      <p:sp>
        <p:nvSpPr>
          <p:cNvPr id="9" name="">
            <a:extLst>
              <a:ext uri="{FF2B5EF4-FFF2-40B4-BE49-F238E27FC236}">
                <ns2:creationId id="{AA599ABA-0950-438E-8D69-830291160C05}"/>
              </a:ext>
            </a:extLst>
          </p:cNvPr>
          <p:cNvSpPr>
            <a:spLocks noGrp="1"/>
          </p:cNvSpPr>
          <p:nvPr/>
        </p:nvSpPr>
        <p:spPr>
          <a:xfrm>
            <a:off x="6905625" y="1762125"/>
            <a:ext cx="4095750" cy="55245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71BB3E5D-81E5-4B2A-A959-8BEA7663BCCA}"/>
              </a:ext>
            </a:extLst>
          </p:cNvPr>
          <p:cNvSpPr>
            <a:spLocks noGrp="1"/>
          </p:cNvSpPr>
          <p:nvPr/>
        </p:nvSpPr>
        <p:spPr>
          <a:xfrm>
            <a:off x="6981825" y="1847850"/>
            <a:ext cx="3943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Practical result</a:t>
            </a:r>
          </a:p>
        </p:txBody>
      </p:sp>
      <p:sp>
        <p:nvSpPr>
          <p:cNvPr id="11" name="">
            <a:extLst>
              <a:ext uri="{FF2B5EF4-FFF2-40B4-BE49-F238E27FC236}">
                <ns2:creationId id="{3DC9E062-98A9-4BBF-88AE-2BF27331B5B3}"/>
              </a:ext>
            </a:extLst>
          </p:cNvPr>
          <p:cNvSpPr>
            <a:spLocks noGrp="1"/>
          </p:cNvSpPr>
          <p:nvPr/>
        </p:nvSpPr>
        <p:spPr>
          <a:xfrm>
            <a:off x="857250" y="2314575"/>
            <a:ext cx="1952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14D85F70-33C0-4257-A7C8-EA659B9E0EA5}"/>
              </a:ext>
            </a:extLst>
          </p:cNvPr>
          <p:cNvSpPr>
            <a:spLocks noGrp="1"/>
          </p:cNvSpPr>
          <p:nvPr/>
        </p:nvSpPr>
        <p:spPr>
          <a:xfrm>
            <a:off x="933450" y="2400300"/>
            <a:ext cx="18002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Normalization</a:t>
            </a:r>
          </a:p>
        </p:txBody>
      </p:sp>
      <p:sp>
        <p:nvSpPr>
          <p:cNvPr id="13" name="">
            <a:extLst>
              <a:ext uri="{FF2B5EF4-FFF2-40B4-BE49-F238E27FC236}">
                <ns2:creationId id="{DA1F9D43-12AF-490F-AE8B-6A7272377FFE}"/>
              </a:ext>
            </a:extLst>
          </p:cNvPr>
          <p:cNvSpPr>
            <a:spLocks noGrp="1"/>
          </p:cNvSpPr>
          <p:nvPr/>
        </p:nvSpPr>
        <p:spPr>
          <a:xfrm>
            <a:off x="2809875" y="231457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B43913C4-9E4E-4DC6-BFE5-E166683D8F5E}"/>
              </a:ext>
            </a:extLst>
          </p:cNvPr>
          <p:cNvSpPr>
            <a:spLocks noGrp="1"/>
          </p:cNvSpPr>
          <p:nvPr/>
        </p:nvSpPr>
        <p:spPr>
          <a:xfrm>
            <a:off x="2886075" y="2400300"/>
            <a:ext cx="3943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How do I design tables without duplication and update errors?</a:t>
            </a:r>
          </a:p>
        </p:txBody>
      </p:sp>
      <p:sp>
        <p:nvSpPr>
          <p:cNvPr id="15" name="">
            <a:extLst>
              <a:ext uri="{FF2B5EF4-FFF2-40B4-BE49-F238E27FC236}">
                <ns2:creationId id="{C9C354AE-814C-4A6F-AB8B-792A4BBFD9F1}"/>
              </a:ext>
            </a:extLst>
          </p:cNvPr>
          <p:cNvSpPr>
            <a:spLocks noGrp="1"/>
          </p:cNvSpPr>
          <p:nvPr/>
        </p:nvSpPr>
        <p:spPr>
          <a:xfrm>
            <a:off x="6905625" y="231457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C8C6D6B5-CC1D-4753-9514-2E688CC6DCDC}"/>
              </a:ext>
            </a:extLst>
          </p:cNvPr>
          <p:cNvSpPr>
            <a:spLocks noGrp="1"/>
          </p:cNvSpPr>
          <p:nvPr/>
        </p:nvSpPr>
        <p:spPr>
          <a:xfrm>
            <a:off x="6981825" y="2400300"/>
            <a:ext cx="3943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Cleaner design that is easier to maintain</a:t>
            </a:r>
          </a:p>
        </p:txBody>
      </p:sp>
      <p:sp>
        <p:nvSpPr>
          <p:cNvPr id="17" name="">
            <a:extLst>
              <a:ext uri="{FF2B5EF4-FFF2-40B4-BE49-F238E27FC236}">
                <ns2:creationId id="{73CE3F11-2F10-4117-AA73-BC6284C177C0}"/>
              </a:ext>
            </a:extLst>
          </p:cNvPr>
          <p:cNvSpPr>
            <a:spLocks noGrp="1"/>
          </p:cNvSpPr>
          <p:nvPr/>
        </p:nvSpPr>
        <p:spPr>
          <a:xfrm>
            <a:off x="857250" y="2867025"/>
            <a:ext cx="1952625" cy="5524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B5209E4B-3D80-4F34-A1C8-33DCB1DA8CC8}"/>
              </a:ext>
            </a:extLst>
          </p:cNvPr>
          <p:cNvSpPr>
            <a:spLocks noGrp="1"/>
          </p:cNvSpPr>
          <p:nvPr/>
        </p:nvSpPr>
        <p:spPr>
          <a:xfrm>
            <a:off x="933450" y="2952750"/>
            <a:ext cx="18002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Constraints</a:t>
            </a:r>
          </a:p>
        </p:txBody>
      </p:sp>
      <p:sp>
        <p:nvSpPr>
          <p:cNvPr id="19" name="">
            <a:extLst>
              <a:ext uri="{FF2B5EF4-FFF2-40B4-BE49-F238E27FC236}">
                <ns2:creationId id="{C5266EB8-84D1-42B3-A835-DF9C4B4CE90E}"/>
              </a:ext>
            </a:extLst>
          </p:cNvPr>
          <p:cNvSpPr>
            <a:spLocks noGrp="1"/>
          </p:cNvSpPr>
          <p:nvPr/>
        </p:nvSpPr>
        <p:spPr>
          <a:xfrm>
            <a:off x="2809875" y="2867025"/>
            <a:ext cx="4095750" cy="5524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57D7FF4C-D436-48E0-A3E8-F8640DBCB1EC}"/>
              </a:ext>
            </a:extLst>
          </p:cNvPr>
          <p:cNvSpPr>
            <a:spLocks noGrp="1"/>
          </p:cNvSpPr>
          <p:nvPr/>
        </p:nvSpPr>
        <p:spPr>
          <a:xfrm>
            <a:off x="2886075" y="2952750"/>
            <a:ext cx="3943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How do I force data to enter correctly?</a:t>
            </a:r>
          </a:p>
        </p:txBody>
      </p:sp>
      <p:sp>
        <p:nvSpPr>
          <p:cNvPr id="21" name="">
            <a:extLst>
              <a:ext uri="{FF2B5EF4-FFF2-40B4-BE49-F238E27FC236}">
                <ns2:creationId id="{926DA3E7-AE29-433C-AA43-C26C9E0F566F}"/>
              </a:ext>
            </a:extLst>
          </p:cNvPr>
          <p:cNvSpPr>
            <a:spLocks noGrp="1"/>
          </p:cNvSpPr>
          <p:nvPr/>
        </p:nvSpPr>
        <p:spPr>
          <a:xfrm>
            <a:off x="6905625" y="2867025"/>
            <a:ext cx="4095750" cy="5524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902040CE-EC8C-4679-BDCE-94A5F3EF28A7}"/>
              </a:ext>
            </a:extLst>
          </p:cNvPr>
          <p:cNvSpPr>
            <a:spLocks noGrp="1"/>
          </p:cNvSpPr>
          <p:nvPr/>
        </p:nvSpPr>
        <p:spPr>
          <a:xfrm>
            <a:off x="6981825" y="2952750"/>
            <a:ext cx="3943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Rules that reject invalid values</a:t>
            </a:r>
          </a:p>
        </p:txBody>
      </p:sp>
      <p:sp>
        <p:nvSpPr>
          <p:cNvPr id="23" name="">
            <a:extLst>
              <a:ext uri="{FF2B5EF4-FFF2-40B4-BE49-F238E27FC236}">
                <ns2:creationId id="{9348C992-5DBD-4C35-AC96-E12293DF0AF5}"/>
              </a:ext>
            </a:extLst>
          </p:cNvPr>
          <p:cNvSpPr>
            <a:spLocks noGrp="1"/>
          </p:cNvSpPr>
          <p:nvPr/>
        </p:nvSpPr>
        <p:spPr>
          <a:xfrm>
            <a:off x="857250" y="3419475"/>
            <a:ext cx="1952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1F4A41AC-4497-4FDE-8391-641290D9AAAB}"/>
              </a:ext>
            </a:extLst>
          </p:cNvPr>
          <p:cNvSpPr>
            <a:spLocks noGrp="1"/>
          </p:cNvSpPr>
          <p:nvPr/>
        </p:nvSpPr>
        <p:spPr>
          <a:xfrm>
            <a:off x="933450" y="3505200"/>
            <a:ext cx="18002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Triggers</a:t>
            </a:r>
          </a:p>
        </p:txBody>
      </p:sp>
      <p:sp>
        <p:nvSpPr>
          <p:cNvPr id="25" name="">
            <a:extLst>
              <a:ext uri="{FF2B5EF4-FFF2-40B4-BE49-F238E27FC236}">
                <ns2:creationId id="{23EB7FA5-7473-4AA5-81C8-082C4D767266}"/>
              </a:ext>
            </a:extLst>
          </p:cNvPr>
          <p:cNvSpPr>
            <a:spLocks noGrp="1"/>
          </p:cNvSpPr>
          <p:nvPr/>
        </p:nvSpPr>
        <p:spPr>
          <a:xfrm>
            <a:off x="2809875" y="341947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2E427962-E892-41B7-814A-74F6EFDF6BE2}"/>
              </a:ext>
            </a:extLst>
          </p:cNvPr>
          <p:cNvSpPr>
            <a:spLocks noGrp="1"/>
          </p:cNvSpPr>
          <p:nvPr/>
        </p:nvSpPr>
        <p:spPr>
          <a:xfrm>
            <a:off x="2886075" y="3505200"/>
            <a:ext cx="3943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What should happen automatically after INSERT, UPDATE, or DELETE?</a:t>
            </a:r>
          </a:p>
        </p:txBody>
      </p:sp>
      <p:sp>
        <p:nvSpPr>
          <p:cNvPr id="27" name="">
            <a:extLst>
              <a:ext uri="{FF2B5EF4-FFF2-40B4-BE49-F238E27FC236}">
                <ns2:creationId id="{98361270-B5D9-4241-8BE1-738A76EA5934}"/>
              </a:ext>
            </a:extLst>
          </p:cNvPr>
          <p:cNvSpPr>
            <a:spLocks noGrp="1"/>
          </p:cNvSpPr>
          <p:nvPr/>
        </p:nvSpPr>
        <p:spPr>
          <a:xfrm>
            <a:off x="6905625" y="341947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818B46B2-D564-49D3-AFCC-F52137AA1604}"/>
              </a:ext>
            </a:extLst>
          </p:cNvPr>
          <p:cNvSpPr>
            <a:spLocks noGrp="1"/>
          </p:cNvSpPr>
          <p:nvPr/>
        </p:nvSpPr>
        <p:spPr>
          <a:xfrm>
            <a:off x="6981825" y="3505200"/>
            <a:ext cx="3943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Auditing, change history, and complex rules</a:t>
            </a:r>
          </a:p>
        </p:txBody>
      </p:sp>
      <p:sp>
        <p:nvSpPr>
          <p:cNvPr id="29" name="">
            <a:extLst>
              <a:ext uri="{FF2B5EF4-FFF2-40B4-BE49-F238E27FC236}">
                <ns2:creationId id="{6C8A6F2E-94D0-4861-A2C8-F257E7D78780}"/>
              </a:ext>
            </a:extLst>
          </p:cNvPr>
          <p:cNvSpPr>
            <a:spLocks noGrp="1"/>
          </p:cNvSpPr>
          <p:nvPr/>
        </p:nvSpPr>
        <p:spPr>
          <a:xfrm>
            <a:off x="857250" y="3971925"/>
            <a:ext cx="1952625" cy="5524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9AB667EE-86E3-414F-8AB1-BA21AF1590C1}"/>
              </a:ext>
            </a:extLst>
          </p:cNvPr>
          <p:cNvSpPr>
            <a:spLocks noGrp="1"/>
          </p:cNvSpPr>
          <p:nvPr/>
        </p:nvSpPr>
        <p:spPr>
          <a:xfrm>
            <a:off x="933450" y="4057650"/>
            <a:ext cx="18002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Jobs</a:t>
            </a:r>
          </a:p>
        </p:txBody>
      </p:sp>
      <p:sp>
        <p:nvSpPr>
          <p:cNvPr id="31" name="">
            <a:extLst>
              <a:ext uri="{FF2B5EF4-FFF2-40B4-BE49-F238E27FC236}">
                <ns2:creationId id="{580E9B91-0666-4157-9384-2FD587FEF207}"/>
              </a:ext>
            </a:extLst>
          </p:cNvPr>
          <p:cNvSpPr>
            <a:spLocks noGrp="1"/>
          </p:cNvSpPr>
          <p:nvPr/>
        </p:nvSpPr>
        <p:spPr>
          <a:xfrm>
            <a:off x="2809875" y="3971925"/>
            <a:ext cx="4095750" cy="5524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4BE05B9E-DB80-4EDB-BE3A-E5A46ACDE50E}"/>
              </a:ext>
            </a:extLst>
          </p:cNvPr>
          <p:cNvSpPr>
            <a:spLocks noGrp="1"/>
          </p:cNvSpPr>
          <p:nvPr/>
        </p:nvSpPr>
        <p:spPr>
          <a:xfrm>
            <a:off x="2886075" y="4057650"/>
            <a:ext cx="3943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How do I run a task at a scheduled time?</a:t>
            </a:r>
          </a:p>
        </p:txBody>
      </p:sp>
      <p:sp>
        <p:nvSpPr>
          <p:cNvPr id="33" name="">
            <a:extLst>
              <a:ext uri="{FF2B5EF4-FFF2-40B4-BE49-F238E27FC236}">
                <ns2:creationId id="{65926D22-6875-4B4A-846A-D96AF876665E}"/>
              </a:ext>
            </a:extLst>
          </p:cNvPr>
          <p:cNvSpPr>
            <a:spLocks noGrp="1"/>
          </p:cNvSpPr>
          <p:nvPr/>
        </p:nvSpPr>
        <p:spPr>
          <a:xfrm>
            <a:off x="6905625" y="3971925"/>
            <a:ext cx="4095750" cy="5524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B7F47059-04D8-4E64-AC4D-651DE69AD3B5}"/>
              </a:ext>
            </a:extLst>
          </p:cNvPr>
          <p:cNvSpPr>
            <a:spLocks noGrp="1"/>
          </p:cNvSpPr>
          <p:nvPr/>
        </p:nvSpPr>
        <p:spPr>
          <a:xfrm>
            <a:off x="6981825" y="4057650"/>
            <a:ext cx="3943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Backups, cleanup, reports, and maintenance</a:t>
            </a:r>
          </a:p>
        </p:txBody>
      </p:sp>
      <p:sp>
        <p:nvSpPr>
          <p:cNvPr id="35" name="">
            <a:extLst>
              <a:ext uri="{FF2B5EF4-FFF2-40B4-BE49-F238E27FC236}">
                <ns2:creationId id="{3B3F6177-CC22-4806-9573-2E018F915C88}"/>
              </a:ext>
            </a:extLst>
          </p:cNvPr>
          <p:cNvSpPr>
            <a:spLocks noGrp="1"/>
          </p:cNvSpPr>
          <p:nvPr/>
        </p:nvSpPr>
        <p:spPr>
          <a:xfrm>
            <a:off x="857250" y="4524375"/>
            <a:ext cx="1952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3665899E-71D7-492F-A0BF-1D25057A4FD2}"/>
              </a:ext>
            </a:extLst>
          </p:cNvPr>
          <p:cNvSpPr>
            <a:spLocks noGrp="1"/>
          </p:cNvSpPr>
          <p:nvPr/>
        </p:nvSpPr>
        <p:spPr>
          <a:xfrm>
            <a:off x="933450" y="4610100"/>
            <a:ext cx="18002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Locks</a:t>
            </a:r>
          </a:p>
        </p:txBody>
      </p:sp>
      <p:sp>
        <p:nvSpPr>
          <p:cNvPr id="37" name="">
            <a:extLst>
              <a:ext uri="{FF2B5EF4-FFF2-40B4-BE49-F238E27FC236}">
                <ns2:creationId id="{CC00DC77-A757-4ED4-8908-30C82F08F0FA}"/>
              </a:ext>
            </a:extLst>
          </p:cNvPr>
          <p:cNvSpPr>
            <a:spLocks noGrp="1"/>
          </p:cNvSpPr>
          <p:nvPr/>
        </p:nvSpPr>
        <p:spPr>
          <a:xfrm>
            <a:off x="2809875" y="452437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5CE9A445-0F83-4DBB-B33F-B3C72BC35AF1}"/>
              </a:ext>
            </a:extLst>
          </p:cNvPr>
          <p:cNvSpPr>
            <a:spLocks noGrp="1"/>
          </p:cNvSpPr>
          <p:nvPr/>
        </p:nvSpPr>
        <p:spPr>
          <a:xfrm>
            <a:off x="2886075" y="4610100"/>
            <a:ext cx="3943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How do I prevent users from conflicting on the same data?</a:t>
            </a:r>
          </a:p>
        </p:txBody>
      </p:sp>
      <p:sp>
        <p:nvSpPr>
          <p:cNvPr id="39" name="">
            <a:extLst>
              <a:ext uri="{FF2B5EF4-FFF2-40B4-BE49-F238E27FC236}">
                <ns2:creationId id="{5EF99395-9B12-4E55-A7D9-57FB439B3571}"/>
              </a:ext>
            </a:extLst>
          </p:cNvPr>
          <p:cNvSpPr>
            <a:spLocks noGrp="1"/>
          </p:cNvSpPr>
          <p:nvPr/>
        </p:nvSpPr>
        <p:spPr>
          <a:xfrm>
            <a:off x="6905625" y="4524375"/>
            <a:ext cx="4095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C7D85FFB-AC8C-483F-B962-6257A2992E39}"/>
              </a:ext>
            </a:extLst>
          </p:cNvPr>
          <p:cNvSpPr>
            <a:spLocks noGrp="1"/>
          </p:cNvSpPr>
          <p:nvPr/>
        </p:nvSpPr>
        <p:spPr>
          <a:xfrm>
            <a:off x="6981825" y="4610100"/>
            <a:ext cx="3943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Consistency with controlled concurrency</a:t>
            </a:r>
          </a:p>
        </p:txBody>
      </p:sp>
    </p:spTree>
    <p:extLst>
      <p:ext uri="{BB962C8B-B14F-4D97-AF65-F5344CB8AC3E}">
        <ns3:creationId val="1007162454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7BADDA9-BF12-443A-9B30-EF186A694935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The roadmap inside a database system</a:t>
            </a:r>
          </a:p>
        </p:txBody>
      </p:sp>
      <p:sp>
        <p:nvSpPr>
          <p:cNvPr id="2" name="">
            <a:extLst>
              <a:ext uri="{FF2B5EF4-FFF2-40B4-BE49-F238E27FC236}">
                <ns2:creationId id="{C9C43197-BBC6-4F6F-A3B6-A2FD8AE944C9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Start with design, protect the data, automate operations, then understand concurrency.</a:t>
            </a:r>
          </a:p>
        </p:txBody>
      </p:sp>
      <p:sp>
        <p:nvSpPr>
          <p:cNvPr id="3" name="">
            <a:extLst>
              <a:ext uri="{FF2B5EF4-FFF2-40B4-BE49-F238E27FC236}">
                <ns2:creationId id="{AD61A879-E6D0-4EB5-AFA6-8E95F756867A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DCEA8E8C-3DF1-47E8-A4A6-7E62C3934842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">
            <a:extLst>
              <a:ext uri="{FF2B5EF4-FFF2-40B4-BE49-F238E27FC236}">
                <ns2:creationId id="{23711394-C5BB-4683-8BDF-B8CB1D4C190E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2190750" cy="2095500"/>
          </a:xfrm>
          <a:prstGeom prst="roundRect">
            <a:avLst>
              <a:gd name="adj" fmla="val 1818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F26DEA5E-C173-4FE5-AE05-D64045E4BF36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0F7A7A"/>
                </a:solidFill>
              </a:defRPr>
            </a:pPr>
            <a:r>
              <a:rPr sz="3300" b="1">
                <a:solidFill>
                  <a:srgbClr val="0F7A7A"/>
                </a:solidFill>
              </a:rPr>
              <a:t>1</a:t>
            </a:r>
          </a:p>
        </p:txBody>
      </p:sp>
      <p:sp>
        <p:nvSpPr>
          <p:cNvPr id="7" name="">
            <a:extLst>
              <a:ext uri="{FF2B5EF4-FFF2-40B4-BE49-F238E27FC236}">
                <ns2:creationId id="{526F5CE0-19CD-48C0-8469-03B317B2609E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Design</a:t>
            </a:r>
          </a:p>
        </p:txBody>
      </p:sp>
      <p:sp>
        <p:nvSpPr>
          <p:cNvPr id="8" name="">
            <a:extLst>
              <a:ext uri="{FF2B5EF4-FFF2-40B4-BE49-F238E27FC236}">
                <ns2:creationId id="{2BEF4DD7-7F7A-4440-9A69-FADA8B0F79F4}"/>
              </a:ext>
            </a:extLst>
          </p:cNvPr>
          <p:cNvSpPr>
            <a:spLocks noGrp="1"/>
          </p:cNvSpPr>
          <p:nvPr/>
        </p:nvSpPr>
        <p:spPr>
          <a:xfrm>
            <a:off x="1123950" y="3619500"/>
            <a:ext cx="1847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Entities, keys, relationships, normalization</a:t>
            </a:r>
          </a:p>
        </p:txBody>
      </p:sp>
      <p:sp>
        <p:nvSpPr>
          <p:cNvPr id="9" name="">
            <a:extLst>
              <a:ext uri="{FF2B5EF4-FFF2-40B4-BE49-F238E27FC236}">
                <ns2:creationId id="{3E782AE5-36A2-4B97-851D-D7E9FB3867F8}"/>
              </a:ext>
            </a:extLst>
          </p:cNvPr>
          <p:cNvSpPr>
            <a:spLocks noGrp="1"/>
          </p:cNvSpPr>
          <p:nvPr/>
        </p:nvSpPr>
        <p:spPr>
          <a:xfrm>
            <a:off x="3667125" y="2190750"/>
            <a:ext cx="2190750" cy="2095500"/>
          </a:xfrm>
          <a:prstGeom prst="roundRect">
            <a:avLst>
              <a:gd name="adj" fmla="val 1818"/>
            </a:avLst>
          </a:prstGeom>
          <a:solidFill>
            <a:srgbClr val="FFF6EC"/>
          </a:solidFill>
          <a:ln w="9525">
            <a:solidFill>
              <a:srgbClr val="E07900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602404C4-AD51-452A-9334-E3840D3B55F5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E07900"/>
                </a:solidFill>
              </a:defRPr>
            </a:pPr>
            <a:r>
              <a:rPr sz="3300" b="1">
                <a:solidFill>
                  <a:srgbClr val="E07900"/>
                </a:solidFill>
              </a:rPr>
              <a:t>2</a:t>
            </a:r>
          </a:p>
        </p:txBody>
      </p:sp>
      <p:sp>
        <p:nvSpPr>
          <p:cNvPr id="11" name="">
            <a:extLst>
              <a:ext uri="{FF2B5EF4-FFF2-40B4-BE49-F238E27FC236}">
                <ns2:creationId id="{23018978-D4B3-4C88-AE2B-0FE91D5E3138}"/>
              </a:ext>
            </a:extLst>
          </p:cNvPr>
          <p:cNvSpPr>
            <a:spLocks noGrp="1"/>
          </p:cNvSpPr>
          <p:nvPr/>
        </p:nvSpPr>
        <p:spPr>
          <a:xfrm>
            <a:off x="3857625" y="31432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Integrity</a:t>
            </a:r>
          </a:p>
        </p:txBody>
      </p:sp>
      <p:sp>
        <p:nvSpPr>
          <p:cNvPr id="12" name="">
            <a:extLst>
              <a:ext uri="{FF2B5EF4-FFF2-40B4-BE49-F238E27FC236}">
                <ns2:creationId id="{60F0B594-2B89-4173-AE9B-F4DE75BEC2E8}"/>
              </a:ext>
            </a:extLst>
          </p:cNvPr>
          <p:cNvSpPr>
            <a:spLocks noGrp="1"/>
          </p:cNvSpPr>
          <p:nvPr/>
        </p:nvSpPr>
        <p:spPr>
          <a:xfrm>
            <a:off x="3838575" y="3619500"/>
            <a:ext cx="1847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Primary key, foreign key, unique, check, default</a:t>
            </a:r>
          </a:p>
        </p:txBody>
      </p:sp>
      <p:sp>
        <p:nvSpPr>
          <p:cNvPr id="13" name="">
            <a:extLst>
              <a:ext uri="{FF2B5EF4-FFF2-40B4-BE49-F238E27FC236}">
                <ns2:creationId id="{895A6A50-982B-4B14-8F60-5B40FFCF2805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2190750" cy="2095500"/>
          </a:xfrm>
          <a:prstGeom prst="roundRect">
            <a:avLst>
              <a:gd name="adj" fmla="val 1818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7A528C7F-B3E9-4C47-B240-642E29F70D9C}"/>
              </a:ext>
            </a:extLst>
          </p:cNvPr>
          <p:cNvSpPr>
            <a:spLocks noGrp="1"/>
          </p:cNvSpPr>
          <p:nvPr/>
        </p:nvSpPr>
        <p:spPr>
          <a:xfrm>
            <a:off x="7048500" y="2381250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0F7A7A"/>
                </a:solidFill>
              </a:defRPr>
            </a:pPr>
            <a:r>
              <a:rPr sz="3300" b="1">
                <a:solidFill>
                  <a:srgbClr val="0F7A7A"/>
                </a:solidFill>
              </a:rPr>
              <a:t>3</a:t>
            </a:r>
          </a:p>
        </p:txBody>
      </p:sp>
      <p:sp>
        <p:nvSpPr>
          <p:cNvPr id="15" name="">
            <a:extLst>
              <a:ext uri="{FF2B5EF4-FFF2-40B4-BE49-F238E27FC236}">
                <ns2:creationId id="{CA234E1E-551A-421C-9DCB-1D7BF5B36F7D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Automation</a:t>
            </a:r>
          </a:p>
        </p:txBody>
      </p:sp>
      <p:sp>
        <p:nvSpPr>
          <p:cNvPr id="16" name="">
            <a:extLst>
              <a:ext uri="{FF2B5EF4-FFF2-40B4-BE49-F238E27FC236}">
                <ns2:creationId id="{71B746A8-FE87-4F60-BEDA-EF630A91FCD4}"/>
              </a:ext>
            </a:extLst>
          </p:cNvPr>
          <p:cNvSpPr>
            <a:spLocks noGrp="1"/>
          </p:cNvSpPr>
          <p:nvPr/>
        </p:nvSpPr>
        <p:spPr>
          <a:xfrm>
            <a:off x="6553200" y="3619500"/>
            <a:ext cx="1847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Triggers for immediate reactions, jobs for scheduled work</a:t>
            </a:r>
          </a:p>
        </p:txBody>
      </p:sp>
      <p:sp>
        <p:nvSpPr>
          <p:cNvPr id="17" name="">
            <a:extLst>
              <a:ext uri="{FF2B5EF4-FFF2-40B4-BE49-F238E27FC236}">
                <ns2:creationId id="{F6A674C5-7F06-4745-A13A-0454DD9131DA}"/>
              </a:ext>
            </a:extLst>
          </p:cNvPr>
          <p:cNvSpPr>
            <a:spLocks noGrp="1"/>
          </p:cNvSpPr>
          <p:nvPr/>
        </p:nvSpPr>
        <p:spPr>
          <a:xfrm>
            <a:off x="9096375" y="2190750"/>
            <a:ext cx="2190750" cy="2095500"/>
          </a:xfrm>
          <a:prstGeom prst="roundRect">
            <a:avLst>
              <a:gd name="adj" fmla="val 1818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272F4AAD-678F-435B-B502-AF417731B3CB}"/>
              </a:ext>
            </a:extLst>
          </p:cNvPr>
          <p:cNvSpPr>
            <a:spLocks noGrp="1"/>
          </p:cNvSpPr>
          <p:nvPr/>
        </p:nvSpPr>
        <p:spPr>
          <a:xfrm>
            <a:off x="9763125" y="2381250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0F7A7A"/>
                </a:solidFill>
              </a:defRPr>
            </a:pPr>
            <a:r>
              <a:rPr sz="3300" b="1">
                <a:solidFill>
                  <a:srgbClr val="0F7A7A"/>
                </a:solidFill>
              </a:rPr>
              <a:t>4</a:t>
            </a:r>
          </a:p>
        </p:txBody>
      </p:sp>
      <p:sp>
        <p:nvSpPr>
          <p:cNvPr id="19" name="">
            <a:extLst>
              <a:ext uri="{FF2B5EF4-FFF2-40B4-BE49-F238E27FC236}">
                <ns2:creationId id="{B0A65CFB-F137-42FC-82AE-78A1D7910984}"/>
              </a:ext>
            </a:extLst>
          </p:cNvPr>
          <p:cNvSpPr>
            <a:spLocks noGrp="1"/>
          </p:cNvSpPr>
          <p:nvPr/>
        </p:nvSpPr>
        <p:spPr>
          <a:xfrm>
            <a:off x="9286875" y="31432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Concurrency</a:t>
            </a:r>
          </a:p>
        </p:txBody>
      </p:sp>
      <p:sp>
        <p:nvSpPr>
          <p:cNvPr id="20" name="">
            <a:extLst>
              <a:ext uri="{FF2B5EF4-FFF2-40B4-BE49-F238E27FC236}">
                <ns2:creationId id="{39DBE437-06E6-4293-B263-583A22E2FD36}"/>
              </a:ext>
            </a:extLst>
          </p:cNvPr>
          <p:cNvSpPr>
            <a:spLocks noGrp="1"/>
          </p:cNvSpPr>
          <p:nvPr/>
        </p:nvSpPr>
        <p:spPr>
          <a:xfrm>
            <a:off x="9267825" y="3619500"/>
            <a:ext cx="1847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Transactions, isolation levels, locks, blocking, deadlocks</a:t>
            </a:r>
          </a:p>
        </p:txBody>
      </p:sp>
    </p:spTree>
    <p:extLst>
      <p:ext uri="{BB962C8B-B14F-4D97-AF65-F5344CB8AC3E}">
        <ns3:creationId val="625126098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B19381BB-0280-4419-8C60-F372091A95D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Normalization reduces repetition and protects meaning</a:t>
            </a:r>
          </a:p>
        </p:txBody>
      </p:sp>
      <p:sp>
        <p:nvSpPr>
          <p:cNvPr id="2" name="">
            <a:extLst>
              <a:ext uri="{FF2B5EF4-FFF2-40B4-BE49-F238E27FC236}">
                <ns2:creationId id="{A5450AFF-4C4B-47B8-B691-04EE3B16E74E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It divides data into related tables based on the logical dependencies between columns.</a:t>
            </a:r>
          </a:p>
        </p:txBody>
      </p:sp>
      <p:sp>
        <p:nvSpPr>
          <p:cNvPr id="3" name="">
            <a:extLst>
              <a:ext uri="{FF2B5EF4-FFF2-40B4-BE49-F238E27FC236}">
                <ns2:creationId id="{60A3C817-9A3C-420C-8495-41B5C46C812B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C352E5F9-740E-4C03-891A-D8C92C811FFD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">
            <a:extLst>
              <a:ext uri="{FF2B5EF4-FFF2-40B4-BE49-F238E27FC236}">
                <ns2:creationId id="{19187A50-05A6-4DE7-B1B3-C3D17831C08B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5143500" cy="3905250"/>
          </a:xfrm>
          <a:prstGeom prst="roundRect">
            <a:avLst>
              <a:gd name="adj" fmla="val 976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2D38BD1C-7DB7-47DA-89ED-470F1E7CCFE7}"/>
              </a:ext>
            </a:extLst>
          </p:cNvPr>
          <p:cNvSpPr>
            <a:spLocks noGrp="1"/>
          </p:cNvSpPr>
          <p:nvPr/>
        </p:nvSpPr>
        <p:spPr>
          <a:xfrm>
            <a:off x="6381750" y="1762125"/>
            <a:ext cx="5143500" cy="390525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081FE03B-80E4-4049-8CBD-448A5347BBE3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7A7A"/>
                </a:solidFill>
              </a:defRPr>
            </a:pPr>
            <a:r>
              <a:rPr sz="1800" b="1">
                <a:solidFill>
                  <a:srgbClr val="0F7A7A"/>
                </a:solidFill>
              </a:rPr>
              <a:t>Why normalize?</a:t>
            </a:r>
          </a:p>
        </p:txBody>
      </p:sp>
      <p:sp>
        <p:nvSpPr>
          <p:cNvPr id="8" name="">
            <a:extLst>
              <a:ext uri="{FF2B5EF4-FFF2-40B4-BE49-F238E27FC236}">
                <ns2:creationId id="{1BD72B1B-B986-4F78-B0AE-E0ED5B293888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Reduce repeating the same data in many places.</a:t>
            </a:r>
          </a:p>
        </p:txBody>
      </p:sp>
      <p:sp>
        <p:nvSpPr>
          <p:cNvPr id="9" name="">
            <a:extLst>
              <a:ext uri="{FF2B5EF4-FFF2-40B4-BE49-F238E27FC236}">
                <ns2:creationId id="{068E217E-162F-4DA1-AD74-D9F9C170382E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Prevent update anomalies: editing one row while another stays wrong.</a:t>
            </a:r>
          </a:p>
        </p:txBody>
      </p:sp>
      <p:sp>
        <p:nvSpPr>
          <p:cNvPr id="10" name="">
            <a:extLst>
              <a:ext uri="{FF2B5EF4-FFF2-40B4-BE49-F238E27FC236}">
                <ns2:creationId id="{2AB54D1F-2877-46BF-A37C-37C3D09A2316}"/>
              </a:ext>
            </a:extLst>
          </p:cNvPr>
          <p:cNvSpPr>
            <a:spLocks noGrp="1"/>
          </p:cNvSpPr>
          <p:nvPr/>
        </p:nvSpPr>
        <p:spPr>
          <a:xfrm>
            <a:off x="895350" y="3524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Prevent insert anomalies: needing unrelated data before adding a fact.</a:t>
            </a:r>
          </a:p>
        </p:txBody>
      </p:sp>
      <p:sp>
        <p:nvSpPr>
          <p:cNvPr id="11" name="">
            <a:extLst>
              <a:ext uri="{FF2B5EF4-FFF2-40B4-BE49-F238E27FC236}">
                <ns2:creationId id="{57AAA1FB-8322-4081-83D9-5163A9F2F18C}"/>
              </a:ext>
            </a:extLst>
          </p:cNvPr>
          <p:cNvSpPr>
            <a:spLocks noGrp="1"/>
          </p:cNvSpPr>
          <p:nvPr/>
        </p:nvSpPr>
        <p:spPr>
          <a:xfrm>
            <a:off x="895350" y="4000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Prevent delete anomalies: deleting a row and losing an important fact.</a:t>
            </a:r>
          </a:p>
        </p:txBody>
      </p:sp>
      <p:sp>
        <p:nvSpPr>
          <p:cNvPr id="12" name="">
            <a:extLst>
              <a:ext uri="{FF2B5EF4-FFF2-40B4-BE49-F238E27FC236}">
                <ns2:creationId id="{0ED4B56B-EAAB-45AF-A093-7906987D4393}"/>
              </a:ext>
            </a:extLst>
          </p:cNvPr>
          <p:cNvSpPr>
            <a:spLocks noGrp="1"/>
          </p:cNvSpPr>
          <p:nvPr/>
        </p:nvSpPr>
        <p:spPr>
          <a:xfrm>
            <a:off x="6610350" y="2000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07900"/>
                </a:solidFill>
              </a:defRPr>
            </a:pPr>
            <a:r>
              <a:rPr sz="1800" b="1">
                <a:solidFill>
                  <a:srgbClr val="E07900"/>
                </a:solidFill>
              </a:rPr>
              <a:t>Quick example</a:t>
            </a:r>
          </a:p>
        </p:txBody>
      </p:sp>
      <p:sp>
        <p:nvSpPr>
          <p:cNvPr id="13" name="">
            <a:extLst>
              <a:ext uri="{FF2B5EF4-FFF2-40B4-BE49-F238E27FC236}">
                <ns2:creationId id="{2F35E1E3-3A14-4271-A808-EB3CAE986864}"/>
              </a:ext>
            </a:extLst>
          </p:cNvPr>
          <p:cNvSpPr>
            <a:spLocks noGrp="1"/>
          </p:cNvSpPr>
          <p:nvPr/>
        </p:nvSpPr>
        <p:spPr>
          <a:xfrm>
            <a:off x="6610350" y="2571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One table: Borrow_ID, Member_Name, Book_Title, Author.</a:t>
            </a:r>
          </a:p>
        </p:txBody>
      </p:sp>
      <p:sp>
        <p:nvSpPr>
          <p:cNvPr id="14" name="">
            <a:extLst>
              <a:ext uri="{FF2B5EF4-FFF2-40B4-BE49-F238E27FC236}">
                <ns2:creationId id="{B03BECDA-B07E-4954-8626-4E07A0ADD5E6}"/>
              </a:ext>
            </a:extLst>
          </p:cNvPr>
          <p:cNvSpPr>
            <a:spLocks noGrp="1"/>
          </p:cNvSpPr>
          <p:nvPr/>
        </p:nvSpPr>
        <p:spPr>
          <a:xfrm>
            <a:off x="6610350" y="3048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The member name repeats with every borrowing row.</a:t>
            </a:r>
          </a:p>
        </p:txBody>
      </p:sp>
      <p:sp>
        <p:nvSpPr>
          <p:cNvPr id="15" name="">
            <a:extLst>
              <a:ext uri="{FF2B5EF4-FFF2-40B4-BE49-F238E27FC236}">
                <ns2:creationId id="{4A31E8C1-27AA-4251-A6BA-2CCC8FFE2338}"/>
              </a:ext>
            </a:extLst>
          </p:cNvPr>
          <p:cNvSpPr>
            <a:spLocks noGrp="1"/>
          </p:cNvSpPr>
          <p:nvPr/>
        </p:nvSpPr>
        <p:spPr>
          <a:xfrm>
            <a:off x="6610350" y="3524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Book details repeat with every member.</a:t>
            </a:r>
          </a:p>
        </p:txBody>
      </p:sp>
      <p:sp>
        <p:nvSpPr>
          <p:cNvPr id="16" name="">
            <a:extLst>
              <a:ext uri="{FF2B5EF4-FFF2-40B4-BE49-F238E27FC236}">
                <ns2:creationId id="{38DE96A8-9477-4E72-8E90-59B04E177AFB}"/>
              </a:ext>
            </a:extLst>
          </p:cNvPr>
          <p:cNvSpPr>
            <a:spLocks noGrp="1"/>
          </p:cNvSpPr>
          <p:nvPr/>
        </p:nvSpPr>
        <p:spPr>
          <a:xfrm>
            <a:off x="6610350" y="4000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A better design separates Member, Book, and Borrowing.</a:t>
            </a:r>
          </a:p>
        </p:txBody>
      </p:sp>
    </p:spTree>
    <p:extLst>
      <p:ext uri="{BB962C8B-B14F-4D97-AF65-F5344CB8AC3E}">
        <ns3:creationId val="562319217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C6464608-1B7C-4615-8DFC-B6FF0BDA7606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Before and after normalization</a:t>
            </a:r>
          </a:p>
        </p:txBody>
      </p:sp>
      <p:sp>
        <p:nvSpPr>
          <p:cNvPr id="2" name="">
            <a:extLst>
              <a:ext uri="{FF2B5EF4-FFF2-40B4-BE49-F238E27FC236}">
                <ns2:creationId id="{0491022F-8E5C-4FD3-A39F-65BA6754EA36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same data becomes clearer when entities and relationships are separated.</a:t>
            </a:r>
          </a:p>
        </p:txBody>
      </p:sp>
      <p:sp>
        <p:nvSpPr>
          <p:cNvPr id="3" name="">
            <a:extLst>
              <a:ext uri="{FF2B5EF4-FFF2-40B4-BE49-F238E27FC236}">
                <ns2:creationId id="{E59C5189-B3D0-4DAA-A52E-B15D2624A21C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5119D930-EB0A-437E-849B-CAE60E07BAB8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5" name="">
            <a:extLst>
              <a:ext uri="{FF2B5EF4-FFF2-40B4-BE49-F238E27FC236}">
                <ns2:creationId id="{0A2FC938-31BB-4ADE-97AB-C34729EFC915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6191250" cy="59055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E4C6A20F-E37D-4374-A786-ECB2BFD953B6}"/>
              </a:ext>
            </a:extLst>
          </p:cNvPr>
          <p:cNvSpPr>
            <a:spLocks noGrp="1"/>
          </p:cNvSpPr>
          <p:nvPr/>
        </p:nvSpPr>
        <p:spPr>
          <a:xfrm>
            <a:off x="742950" y="1838325"/>
            <a:ext cx="6038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Unnormalized design</a:t>
            </a:r>
          </a:p>
        </p:txBody>
      </p:sp>
      <p:sp>
        <p:nvSpPr>
          <p:cNvPr id="7" name="">
            <a:extLst>
              <a:ext uri="{FF2B5EF4-FFF2-40B4-BE49-F238E27FC236}">
                <ns2:creationId id="{D924C8D4-3E6D-4AAB-A67D-B9714EF18C0E}"/>
              </a:ext>
            </a:extLst>
          </p:cNvPr>
          <p:cNvSpPr>
            <a:spLocks noGrp="1"/>
          </p:cNvSpPr>
          <p:nvPr/>
        </p:nvSpPr>
        <p:spPr>
          <a:xfrm>
            <a:off x="6858000" y="1752600"/>
            <a:ext cx="4476750" cy="59055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08F0BC06-C659-4B2B-AB9E-94603FA1AE0C}"/>
              </a:ext>
            </a:extLst>
          </p:cNvPr>
          <p:cNvSpPr>
            <a:spLocks noGrp="1"/>
          </p:cNvSpPr>
          <p:nvPr/>
        </p:nvSpPr>
        <p:spPr>
          <a:xfrm>
            <a:off x="6934200" y="1838325"/>
            <a:ext cx="432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9" name="">
            <a:extLst>
              <a:ext uri="{FF2B5EF4-FFF2-40B4-BE49-F238E27FC236}">
                <ns2:creationId id="{A9FB9701-9138-4611-8F0B-2EAF9B314BB7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6191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310A5FDF-5301-4D55-81AB-32579AAB15C1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6038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Borrow_ID, Member_Name, Member_Email, Book_Title, ISBN, Author, Borrow_Date</a:t>
            </a:r>
          </a:p>
        </p:txBody>
      </p:sp>
      <p:sp>
        <p:nvSpPr>
          <p:cNvPr id="11" name="">
            <a:extLst>
              <a:ext uri="{FF2B5EF4-FFF2-40B4-BE49-F238E27FC236}">
                <ns2:creationId id="{B25CC8F3-642D-4AC6-AF60-11F20FCE253A}"/>
              </a:ext>
            </a:extLst>
          </p:cNvPr>
          <p:cNvSpPr>
            <a:spLocks noGrp="1"/>
          </p:cNvSpPr>
          <p:nvPr/>
        </p:nvSpPr>
        <p:spPr>
          <a:xfrm>
            <a:off x="6858000" y="2343150"/>
            <a:ext cx="4476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7384D2DB-A064-43D6-9F72-06B4FCED3623}"/>
              </a:ext>
            </a:extLst>
          </p:cNvPr>
          <p:cNvSpPr>
            <a:spLocks noGrp="1"/>
          </p:cNvSpPr>
          <p:nvPr/>
        </p:nvSpPr>
        <p:spPr>
          <a:xfrm>
            <a:off x="6934200" y="2428875"/>
            <a:ext cx="432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Member and book data repeat for every borrowing</a:t>
            </a:r>
          </a:p>
        </p:txBody>
      </p:sp>
      <p:sp>
        <p:nvSpPr>
          <p:cNvPr id="13" name="">
            <a:extLst>
              <a:ext uri="{FF2B5EF4-FFF2-40B4-BE49-F238E27FC236}">
                <ns2:creationId id="{C5C54659-CD96-4384-803C-B1B0F044A944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6191250" cy="590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07E1A3A3-532F-4677-B34A-A6B8D330A453}"/>
              </a:ext>
            </a:extLst>
          </p:cNvPr>
          <p:cNvSpPr>
            <a:spLocks noGrp="1"/>
          </p:cNvSpPr>
          <p:nvPr/>
        </p:nvSpPr>
        <p:spPr>
          <a:xfrm>
            <a:off x="742950" y="3019425"/>
            <a:ext cx="6038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Changing a member email requires updating many rows</a:t>
            </a:r>
          </a:p>
        </p:txBody>
      </p:sp>
      <p:sp>
        <p:nvSpPr>
          <p:cNvPr id="15" name="">
            <a:extLst>
              <a:ext uri="{FF2B5EF4-FFF2-40B4-BE49-F238E27FC236}">
                <ns2:creationId id="{F16453D7-587B-4EA2-917A-9F188292BFEC}"/>
              </a:ext>
            </a:extLst>
          </p:cNvPr>
          <p:cNvSpPr>
            <a:spLocks noGrp="1"/>
          </p:cNvSpPr>
          <p:nvPr/>
        </p:nvSpPr>
        <p:spPr>
          <a:xfrm>
            <a:off x="6858000" y="2933700"/>
            <a:ext cx="4476750" cy="590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26B80421-ADFF-446A-A6DE-67C7D5132BF4}"/>
              </a:ext>
            </a:extLst>
          </p:cNvPr>
          <p:cNvSpPr>
            <a:spLocks noGrp="1"/>
          </p:cNvSpPr>
          <p:nvPr/>
        </p:nvSpPr>
        <p:spPr>
          <a:xfrm>
            <a:off x="6934200" y="3019425"/>
            <a:ext cx="432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Data can become inconsistent</a:t>
            </a:r>
          </a:p>
        </p:txBody>
      </p:sp>
      <p:sp>
        <p:nvSpPr>
          <p:cNvPr id="17" name="">
            <a:extLst>
              <a:ext uri="{FF2B5EF4-FFF2-40B4-BE49-F238E27FC236}">
                <ns2:creationId id="{7B6F59AD-0D6F-41DA-A334-F59AC195797E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6191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6D470045-9EBF-4945-86B0-22B5C67C6242}"/>
              </a:ext>
            </a:extLst>
          </p:cNvPr>
          <p:cNvSpPr>
            <a:spLocks noGrp="1"/>
          </p:cNvSpPr>
          <p:nvPr/>
        </p:nvSpPr>
        <p:spPr>
          <a:xfrm>
            <a:off x="742950" y="3609975"/>
            <a:ext cx="6038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Deleting the last borrowing for a book can remove book information</a:t>
            </a:r>
          </a:p>
        </p:txBody>
      </p:sp>
      <p:sp>
        <p:nvSpPr>
          <p:cNvPr id="19" name="">
            <a:extLst>
              <a:ext uri="{FF2B5EF4-FFF2-40B4-BE49-F238E27FC236}">
                <ns2:creationId id="{CBF97B8F-B277-4B50-BB30-A820F9024C7E}"/>
              </a:ext>
            </a:extLst>
          </p:cNvPr>
          <p:cNvSpPr>
            <a:spLocks noGrp="1"/>
          </p:cNvSpPr>
          <p:nvPr/>
        </p:nvSpPr>
        <p:spPr>
          <a:xfrm>
            <a:off x="6858000" y="3524250"/>
            <a:ext cx="4476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6BA0C34A-CFE4-4A2D-BB17-E5DBBDCE652D}"/>
              </a:ext>
            </a:extLst>
          </p:cNvPr>
          <p:cNvSpPr>
            <a:spLocks noGrp="1"/>
          </p:cNvSpPr>
          <p:nvPr/>
        </p:nvSpPr>
        <p:spPr>
          <a:xfrm>
            <a:off x="6934200" y="3609975"/>
            <a:ext cx="432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 fact can be lost by accident</a:t>
            </a:r>
          </a:p>
        </p:txBody>
      </p:sp>
      <p:sp>
        <p:nvSpPr>
          <p:cNvPr id="21" name="">
            <a:extLst>
              <a:ext uri="{FF2B5EF4-FFF2-40B4-BE49-F238E27FC236}">
                <ns2:creationId id="{4A93C49C-49A4-429C-B12A-F940219FD04F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6191250" cy="523875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1DECCC95-7096-414E-99E3-8A94ADB24C0A}"/>
              </a:ext>
            </a:extLst>
          </p:cNvPr>
          <p:cNvSpPr>
            <a:spLocks noGrp="1"/>
          </p:cNvSpPr>
          <p:nvPr/>
        </p:nvSpPr>
        <p:spPr>
          <a:xfrm>
            <a:off x="742950" y="4181475"/>
            <a:ext cx="60388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After splitting</a:t>
            </a:r>
          </a:p>
        </p:txBody>
      </p:sp>
      <p:sp>
        <p:nvSpPr>
          <p:cNvPr id="23" name="">
            <a:extLst>
              <a:ext uri="{FF2B5EF4-FFF2-40B4-BE49-F238E27FC236}">
                <ns2:creationId id="{1A21F056-3FF4-4A65-83AB-14467116EAA3}"/>
              </a:ext>
            </a:extLst>
          </p:cNvPr>
          <p:cNvSpPr>
            <a:spLocks noGrp="1"/>
          </p:cNvSpPr>
          <p:nvPr/>
        </p:nvSpPr>
        <p:spPr>
          <a:xfrm>
            <a:off x="6858000" y="4095750"/>
            <a:ext cx="4476750" cy="523875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8DE28426-27E4-4D88-869A-739385CA7B10}"/>
              </a:ext>
            </a:extLst>
          </p:cNvPr>
          <p:cNvSpPr>
            <a:spLocks noGrp="1"/>
          </p:cNvSpPr>
          <p:nvPr/>
        </p:nvSpPr>
        <p:spPr>
          <a:xfrm>
            <a:off x="6934200" y="4181475"/>
            <a:ext cx="4324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25" name="">
            <a:extLst>
              <a:ext uri="{FF2B5EF4-FFF2-40B4-BE49-F238E27FC236}">
                <ns2:creationId id="{D07DE329-55D7-490F-92E3-4D34DF3DCF89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6191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34E85300-D657-41FA-9F5D-05C4ED7CB1CC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60388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Member(Member_ID, Name, Email)</a:t>
            </a:r>
          </a:p>
        </p:txBody>
      </p:sp>
      <p:sp>
        <p:nvSpPr>
          <p:cNvPr id="27" name="">
            <a:extLst>
              <a:ext uri="{FF2B5EF4-FFF2-40B4-BE49-F238E27FC236}">
                <ns2:creationId id="{CEEB12A0-BCDF-4AEC-91F8-AAB594C30B51}"/>
              </a:ext>
            </a:extLst>
          </p:cNvPr>
          <p:cNvSpPr>
            <a:spLocks noGrp="1"/>
          </p:cNvSpPr>
          <p:nvPr/>
        </p:nvSpPr>
        <p:spPr>
          <a:xfrm>
            <a:off x="6858000" y="4619625"/>
            <a:ext cx="44767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E1FAD173-C4F1-4307-82F7-EDE426C71EAB}"/>
              </a:ext>
            </a:extLst>
          </p:cNvPr>
          <p:cNvSpPr>
            <a:spLocks noGrp="1"/>
          </p:cNvSpPr>
          <p:nvPr/>
        </p:nvSpPr>
        <p:spPr>
          <a:xfrm>
            <a:off x="6934200" y="4705350"/>
            <a:ext cx="4324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Member data is stored once</a:t>
            </a:r>
          </a:p>
        </p:txBody>
      </p:sp>
      <p:sp>
        <p:nvSpPr>
          <p:cNvPr id="29" name="">
            <a:extLst>
              <a:ext uri="{FF2B5EF4-FFF2-40B4-BE49-F238E27FC236}">
                <ns2:creationId id="{A31A5A2B-1BFD-4333-B3A2-78E53F956F52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6191250" cy="523875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6F47CCD6-C833-4ED9-96EB-6FACDEC1E22F}"/>
              </a:ext>
            </a:extLst>
          </p:cNvPr>
          <p:cNvSpPr>
            <a:spLocks noGrp="1"/>
          </p:cNvSpPr>
          <p:nvPr/>
        </p:nvSpPr>
        <p:spPr>
          <a:xfrm>
            <a:off x="742950" y="5229225"/>
            <a:ext cx="60388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Book(Book_ID, Title, ISBN)</a:t>
            </a:r>
          </a:p>
        </p:txBody>
      </p:sp>
      <p:sp>
        <p:nvSpPr>
          <p:cNvPr id="31" name="">
            <a:extLst>
              <a:ext uri="{FF2B5EF4-FFF2-40B4-BE49-F238E27FC236}">
                <ns2:creationId id="{215DA201-4794-4E33-9873-FF3EED4804C4}"/>
              </a:ext>
            </a:extLst>
          </p:cNvPr>
          <p:cNvSpPr>
            <a:spLocks noGrp="1"/>
          </p:cNvSpPr>
          <p:nvPr/>
        </p:nvSpPr>
        <p:spPr>
          <a:xfrm>
            <a:off x="6858000" y="5143500"/>
            <a:ext cx="4476750" cy="523875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48CB365D-85B5-4378-8E79-B99ED28803DA}"/>
              </a:ext>
            </a:extLst>
          </p:cNvPr>
          <p:cNvSpPr>
            <a:spLocks noGrp="1"/>
          </p:cNvSpPr>
          <p:nvPr/>
        </p:nvSpPr>
        <p:spPr>
          <a:xfrm>
            <a:off x="6934200" y="5229225"/>
            <a:ext cx="4324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Book data is stored once</a:t>
            </a:r>
          </a:p>
        </p:txBody>
      </p:sp>
      <p:sp>
        <p:nvSpPr>
          <p:cNvPr id="33" name="">
            <a:extLst>
              <a:ext uri="{FF2B5EF4-FFF2-40B4-BE49-F238E27FC236}">
                <ns2:creationId id="{226CE27C-FCF4-4699-A06F-95BC8146FD6B}"/>
              </a:ext>
            </a:extLst>
          </p:cNvPr>
          <p:cNvSpPr>
            <a:spLocks noGrp="1"/>
          </p:cNvSpPr>
          <p:nvPr/>
        </p:nvSpPr>
        <p:spPr>
          <a:xfrm>
            <a:off x="666750" y="5667375"/>
            <a:ext cx="6191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338723E4-0202-4454-B99B-EE7D20506426}"/>
              </a:ext>
            </a:extLst>
          </p:cNvPr>
          <p:cNvSpPr>
            <a:spLocks noGrp="1"/>
          </p:cNvSpPr>
          <p:nvPr/>
        </p:nvSpPr>
        <p:spPr>
          <a:xfrm>
            <a:off x="742950" y="5753100"/>
            <a:ext cx="60388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Borrowing(Borrow_ID, Member_ID, Book_ID, Dates)</a:t>
            </a:r>
          </a:p>
        </p:txBody>
      </p:sp>
      <p:sp>
        <p:nvSpPr>
          <p:cNvPr id="35" name="">
            <a:extLst>
              <a:ext uri="{FF2B5EF4-FFF2-40B4-BE49-F238E27FC236}">
                <ns2:creationId id="{3C99A516-192D-40EC-BA40-F6C3DA685F70}"/>
              </a:ext>
            </a:extLst>
          </p:cNvPr>
          <p:cNvSpPr>
            <a:spLocks noGrp="1"/>
          </p:cNvSpPr>
          <p:nvPr/>
        </p:nvSpPr>
        <p:spPr>
          <a:xfrm>
            <a:off x="6858000" y="5667375"/>
            <a:ext cx="44767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C2E6C8D1-4447-42CD-8250-95B47177570E}"/>
              </a:ext>
            </a:extLst>
          </p:cNvPr>
          <p:cNvSpPr>
            <a:spLocks noGrp="1"/>
          </p:cNvSpPr>
          <p:nvPr/>
        </p:nvSpPr>
        <p:spPr>
          <a:xfrm>
            <a:off x="6934200" y="5753100"/>
            <a:ext cx="4324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The relationship between member and book</a:t>
            </a:r>
          </a:p>
        </p:txBody>
      </p:sp>
    </p:spTree>
    <p:extLst>
      <p:ext uri="{BB962C8B-B14F-4D97-AF65-F5344CB8AC3E}">
        <ns3:creationId val="1928288747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B1A3BCD-7C7C-420E-9A19-AA029670EE0B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1NF: every cell contains one value</a:t>
            </a:r>
          </a:p>
        </p:txBody>
      </p:sp>
      <p:sp>
        <p:nvSpPr>
          <p:cNvPr id="2" name="">
            <a:extLst>
              <a:ext uri="{FF2B5EF4-FFF2-40B4-BE49-F238E27FC236}">
                <ns2:creationId id="{69CB3D21-A129-41FB-AA68-B7028CE95887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First Normal Form prevents lists inside a cell and makes each row searchable.</a:t>
            </a:r>
          </a:p>
        </p:txBody>
      </p:sp>
      <p:sp>
        <p:nvSpPr>
          <p:cNvPr id="3" name="">
            <a:extLst>
              <a:ext uri="{FF2B5EF4-FFF2-40B4-BE49-F238E27FC236}">
                <ns2:creationId id="{76D5EC1D-AA8D-464E-A93E-FC05C8341DB6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038E6966-F28B-4E14-8AA8-805F5870FE56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5" name="">
            <a:extLst>
              <a:ext uri="{FF2B5EF4-FFF2-40B4-BE49-F238E27FC236}">
                <ns2:creationId id="{89337C2A-5762-4C31-A987-FA1797323640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5143500" cy="3905250"/>
          </a:xfrm>
          <a:prstGeom prst="roundRect">
            <a:avLst>
              <a:gd name="adj" fmla="val 976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470800BD-BC2E-4E77-9A27-0B97AA4979D8}"/>
              </a:ext>
            </a:extLst>
          </p:cNvPr>
          <p:cNvSpPr>
            <a:spLocks noGrp="1"/>
          </p:cNvSpPr>
          <p:nvPr/>
        </p:nvSpPr>
        <p:spPr>
          <a:xfrm>
            <a:off x="6381750" y="1762125"/>
            <a:ext cx="5143500" cy="390525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BA41CA6E-48D5-4F3C-8FDF-2981CA64010A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7A7A"/>
                </a:solidFill>
              </a:defRPr>
            </a:pPr>
            <a:r>
              <a:rPr sz="1800" b="1">
                <a:solidFill>
                  <a:srgbClr val="0F7A7A"/>
                </a:solidFill>
              </a:rPr>
              <a:t>1NF violation</a:t>
            </a:r>
          </a:p>
        </p:txBody>
      </p:sp>
      <p:sp>
        <p:nvSpPr>
          <p:cNvPr id="8" name="">
            <a:extLst>
              <a:ext uri="{FF2B5EF4-FFF2-40B4-BE49-F238E27FC236}">
                <ns2:creationId id="{7E6A85C6-878B-43AE-9807-2FFCBD2BCAA8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Book_ID = 10</a:t>
            </a:r>
          </a:p>
        </p:txBody>
      </p:sp>
      <p:sp>
        <p:nvSpPr>
          <p:cNvPr id="9" name="">
            <a:extLst>
              <a:ext uri="{FF2B5EF4-FFF2-40B4-BE49-F238E27FC236}">
                <ns2:creationId id="{04927A02-E34A-4692-82CF-73CB1E66E5CF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Title = SQL Basics</a:t>
            </a:r>
          </a:p>
        </p:txBody>
      </p:sp>
      <p:sp>
        <p:nvSpPr>
          <p:cNvPr id="10" name="">
            <a:extLst>
              <a:ext uri="{FF2B5EF4-FFF2-40B4-BE49-F238E27FC236}">
                <ns2:creationId id="{753BACAC-70AE-4AA9-A8FD-A323CB49826D}"/>
              </a:ext>
            </a:extLst>
          </p:cNvPr>
          <p:cNvSpPr>
            <a:spLocks noGrp="1"/>
          </p:cNvSpPr>
          <p:nvPr/>
        </p:nvSpPr>
        <p:spPr>
          <a:xfrm>
            <a:off x="895350" y="3524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Authors = Ali, Sara</a:t>
            </a:r>
          </a:p>
        </p:txBody>
      </p:sp>
      <p:sp>
        <p:nvSpPr>
          <p:cNvPr id="11" name="">
            <a:extLst>
              <a:ext uri="{FF2B5EF4-FFF2-40B4-BE49-F238E27FC236}">
                <ns2:creationId id="{1562CD8C-E699-4776-B875-3E48AE2AFABA}"/>
              </a:ext>
            </a:extLst>
          </p:cNvPr>
          <p:cNvSpPr>
            <a:spLocks noGrp="1"/>
          </p:cNvSpPr>
          <p:nvPr/>
        </p:nvSpPr>
        <p:spPr>
          <a:xfrm>
            <a:off x="895350" y="4000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Genres = Database, Education</a:t>
            </a:r>
          </a:p>
        </p:txBody>
      </p:sp>
      <p:sp>
        <p:nvSpPr>
          <p:cNvPr id="12" name="">
            <a:extLst>
              <a:ext uri="{FF2B5EF4-FFF2-40B4-BE49-F238E27FC236}">
                <ns2:creationId id="{EAEA5DAF-781F-46A8-AA4D-6959CF7F415D}"/>
              </a:ext>
            </a:extLst>
          </p:cNvPr>
          <p:cNvSpPr>
            <a:spLocks noGrp="1"/>
          </p:cNvSpPr>
          <p:nvPr/>
        </p:nvSpPr>
        <p:spPr>
          <a:xfrm>
            <a:off x="6610350" y="2000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07900"/>
                </a:solidFill>
              </a:defRPr>
            </a:pPr>
            <a:r>
              <a:rPr sz="1800" b="1">
                <a:solidFill>
                  <a:srgbClr val="E07900"/>
                </a:solidFill>
              </a:rPr>
              <a:t>1NF correction</a:t>
            </a:r>
          </a:p>
        </p:txBody>
      </p:sp>
      <p:sp>
        <p:nvSpPr>
          <p:cNvPr id="13" name="">
            <a:extLst>
              <a:ext uri="{FF2B5EF4-FFF2-40B4-BE49-F238E27FC236}">
                <ns2:creationId id="{70C9E041-3FB7-492F-824F-F90BA5D2A399}"/>
              </a:ext>
            </a:extLst>
          </p:cNvPr>
          <p:cNvSpPr>
            <a:spLocks noGrp="1"/>
          </p:cNvSpPr>
          <p:nvPr/>
        </p:nvSpPr>
        <p:spPr>
          <a:xfrm>
            <a:off x="6610350" y="2571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Book(Book_ID, Title)</a:t>
            </a:r>
          </a:p>
        </p:txBody>
      </p:sp>
      <p:sp>
        <p:nvSpPr>
          <p:cNvPr id="14" name="">
            <a:extLst>
              <a:ext uri="{FF2B5EF4-FFF2-40B4-BE49-F238E27FC236}">
                <ns2:creationId id="{87824FE6-D883-4DF9-B22A-B55C5E0F3368}"/>
              </a:ext>
            </a:extLst>
          </p:cNvPr>
          <p:cNvSpPr>
            <a:spLocks noGrp="1"/>
          </p:cNvSpPr>
          <p:nvPr/>
        </p:nvSpPr>
        <p:spPr>
          <a:xfrm>
            <a:off x="6610350" y="3048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Author(Author_ID, Name)</a:t>
            </a:r>
          </a:p>
        </p:txBody>
      </p:sp>
      <p:sp>
        <p:nvSpPr>
          <p:cNvPr id="15" name="">
            <a:extLst>
              <a:ext uri="{FF2B5EF4-FFF2-40B4-BE49-F238E27FC236}">
                <ns2:creationId id="{3C127DB2-571B-4C06-A56F-CBD872BD0290}"/>
              </a:ext>
            </a:extLst>
          </p:cNvPr>
          <p:cNvSpPr>
            <a:spLocks noGrp="1"/>
          </p:cNvSpPr>
          <p:nvPr/>
        </p:nvSpPr>
        <p:spPr>
          <a:xfrm>
            <a:off x="6610350" y="3524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BookAuthor(Book_ID, Author_ID)</a:t>
            </a:r>
          </a:p>
        </p:txBody>
      </p:sp>
      <p:sp>
        <p:nvSpPr>
          <p:cNvPr id="16" name="">
            <a:extLst>
              <a:ext uri="{FF2B5EF4-FFF2-40B4-BE49-F238E27FC236}">
                <ns2:creationId id="{5DB5207D-36F4-4343-BCB7-985C183ABDC7}"/>
              </a:ext>
            </a:extLst>
          </p:cNvPr>
          <p:cNvSpPr>
            <a:spLocks noGrp="1"/>
          </p:cNvSpPr>
          <p:nvPr/>
        </p:nvSpPr>
        <p:spPr>
          <a:xfrm>
            <a:off x="6610350" y="4000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BookGenre(Book_ID, Genre_ID)</a:t>
            </a:r>
          </a:p>
        </p:txBody>
      </p:sp>
    </p:spTree>
    <p:extLst>
      <p:ext uri="{BB962C8B-B14F-4D97-AF65-F5344CB8AC3E}">
        <ns3:creationId val="1951283789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FD04A926-9C97-496F-AE19-DC63BD0B9033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2NF: every column depends on the whole key</a:t>
            </a:r>
          </a:p>
        </p:txBody>
      </p:sp>
      <p:sp>
        <p:nvSpPr>
          <p:cNvPr id="2" name="">
            <a:extLst>
              <a:ext uri="{FF2B5EF4-FFF2-40B4-BE49-F238E27FC236}">
                <ns2:creationId id="{F9BBED61-1DC8-4E44-A85A-43DD8C073145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This matters when the primary key is made from more than one column.</a:t>
            </a:r>
          </a:p>
        </p:txBody>
      </p:sp>
      <p:sp>
        <p:nvSpPr>
          <p:cNvPr id="3" name="">
            <a:extLst>
              <a:ext uri="{FF2B5EF4-FFF2-40B4-BE49-F238E27FC236}">
                <ns2:creationId id="{C1E2E94F-B4E6-47EC-90D5-8A1602074AF4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84F43E2-4936-43EB-A3D6-4D7A5A403F59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5" name="">
            <a:extLst>
              <a:ext uri="{FF2B5EF4-FFF2-40B4-BE49-F238E27FC236}">
                <ns2:creationId id="{C016424C-432E-4E2B-87E8-79B20EA567A0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5143500" cy="3905250"/>
          </a:xfrm>
          <a:prstGeom prst="roundRect">
            <a:avLst>
              <a:gd name="adj" fmla="val 976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D25C20A4-DE7E-4D79-8712-8643DF175575}"/>
              </a:ext>
            </a:extLst>
          </p:cNvPr>
          <p:cNvSpPr>
            <a:spLocks noGrp="1"/>
          </p:cNvSpPr>
          <p:nvPr/>
        </p:nvSpPr>
        <p:spPr>
          <a:xfrm>
            <a:off x="6381750" y="1762125"/>
            <a:ext cx="5143500" cy="390525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5ED91A2F-9168-4DE7-91B1-41914ACDBB4F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7A7A"/>
                </a:solidFill>
              </a:defRPr>
            </a:pPr>
            <a:r>
              <a:rPr sz="1800" b="1">
                <a:solidFill>
                  <a:srgbClr val="0F7A7A"/>
                </a:solidFill>
              </a:rPr>
              <a:t>The problem</a:t>
            </a:r>
          </a:p>
        </p:txBody>
      </p:sp>
      <p:sp>
        <p:nvSpPr>
          <p:cNvPr id="8" name="">
            <a:extLst>
              <a:ext uri="{FF2B5EF4-FFF2-40B4-BE49-F238E27FC236}">
                <ns2:creationId id="{AB56DB67-5DBA-48F7-BADB-2926F1541F4F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Enrollment(Student_ID, Course_ID, Student_Name, Course_Name, Grade)</a:t>
            </a:r>
          </a:p>
        </p:txBody>
      </p:sp>
      <p:sp>
        <p:nvSpPr>
          <p:cNvPr id="9" name="">
            <a:extLst>
              <a:ext uri="{FF2B5EF4-FFF2-40B4-BE49-F238E27FC236}">
                <ns2:creationId id="{9792E3AF-6EF8-4F59-B9B1-13DE74AD8C2E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Student_Name depends only on Student_ID.</a:t>
            </a:r>
          </a:p>
        </p:txBody>
      </p:sp>
      <p:sp>
        <p:nvSpPr>
          <p:cNvPr id="10" name="">
            <a:extLst>
              <a:ext uri="{FF2B5EF4-FFF2-40B4-BE49-F238E27FC236}">
                <ns2:creationId id="{C5E42AA1-4613-4437-BD5B-FC4CEFAD846F}"/>
              </a:ext>
            </a:extLst>
          </p:cNvPr>
          <p:cNvSpPr>
            <a:spLocks noGrp="1"/>
          </p:cNvSpPr>
          <p:nvPr/>
        </p:nvSpPr>
        <p:spPr>
          <a:xfrm>
            <a:off x="895350" y="3524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Course_Name depends only on Course_ID.</a:t>
            </a:r>
          </a:p>
        </p:txBody>
      </p:sp>
      <p:sp>
        <p:nvSpPr>
          <p:cNvPr id="11" name="">
            <a:extLst>
              <a:ext uri="{FF2B5EF4-FFF2-40B4-BE49-F238E27FC236}">
                <ns2:creationId id="{606F1336-3877-4A64-A35D-3065BFCE15F0}"/>
              </a:ext>
            </a:extLst>
          </p:cNvPr>
          <p:cNvSpPr>
            <a:spLocks noGrp="1"/>
          </p:cNvSpPr>
          <p:nvPr/>
        </p:nvSpPr>
        <p:spPr>
          <a:xfrm>
            <a:off x="895350" y="4000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Not every column depends on the full composite key.</a:t>
            </a:r>
          </a:p>
        </p:txBody>
      </p:sp>
      <p:sp>
        <p:nvSpPr>
          <p:cNvPr id="12" name="">
            <a:extLst>
              <a:ext uri="{FF2B5EF4-FFF2-40B4-BE49-F238E27FC236}">
                <ns2:creationId id="{36F736D1-5C58-46EE-BDCE-50BC0AD5C5D9}"/>
              </a:ext>
            </a:extLst>
          </p:cNvPr>
          <p:cNvSpPr>
            <a:spLocks noGrp="1"/>
          </p:cNvSpPr>
          <p:nvPr/>
        </p:nvSpPr>
        <p:spPr>
          <a:xfrm>
            <a:off x="6610350" y="2000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07900"/>
                </a:solidFill>
              </a:defRPr>
            </a:pPr>
            <a:r>
              <a:rPr sz="1800" b="1">
                <a:solidFill>
                  <a:srgbClr val="E07900"/>
                </a:solidFill>
              </a:rPr>
              <a:t>Better design</a:t>
            </a:r>
          </a:p>
        </p:txBody>
      </p:sp>
      <p:sp>
        <p:nvSpPr>
          <p:cNvPr id="13" name="">
            <a:extLst>
              <a:ext uri="{FF2B5EF4-FFF2-40B4-BE49-F238E27FC236}">
                <ns2:creationId id="{CD69E331-B31E-4401-A992-721948F6BF4A}"/>
              </a:ext>
            </a:extLst>
          </p:cNvPr>
          <p:cNvSpPr>
            <a:spLocks noGrp="1"/>
          </p:cNvSpPr>
          <p:nvPr/>
        </p:nvSpPr>
        <p:spPr>
          <a:xfrm>
            <a:off x="6610350" y="2571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Student(Student_ID, Student_Name)</a:t>
            </a:r>
          </a:p>
        </p:txBody>
      </p:sp>
      <p:sp>
        <p:nvSpPr>
          <p:cNvPr id="14" name="">
            <a:extLst>
              <a:ext uri="{FF2B5EF4-FFF2-40B4-BE49-F238E27FC236}">
                <ns2:creationId id="{C54E27FC-0A22-41C0-8E9B-631708FF2C95}"/>
              </a:ext>
            </a:extLst>
          </p:cNvPr>
          <p:cNvSpPr>
            <a:spLocks noGrp="1"/>
          </p:cNvSpPr>
          <p:nvPr/>
        </p:nvSpPr>
        <p:spPr>
          <a:xfrm>
            <a:off x="6610350" y="3048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Course(Course_ID, Course_Name)</a:t>
            </a:r>
          </a:p>
        </p:txBody>
      </p:sp>
      <p:sp>
        <p:nvSpPr>
          <p:cNvPr id="15" name="">
            <a:extLst>
              <a:ext uri="{FF2B5EF4-FFF2-40B4-BE49-F238E27FC236}">
                <ns2:creationId id="{C1EBCE56-0024-4566-86A1-2A628A666C03}"/>
              </a:ext>
            </a:extLst>
          </p:cNvPr>
          <p:cNvSpPr>
            <a:spLocks noGrp="1"/>
          </p:cNvSpPr>
          <p:nvPr/>
        </p:nvSpPr>
        <p:spPr>
          <a:xfrm>
            <a:off x="6610350" y="3524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Enrollment(Student_ID, Course_ID, Grade)</a:t>
            </a:r>
          </a:p>
        </p:txBody>
      </p:sp>
      <p:sp>
        <p:nvSpPr>
          <p:cNvPr id="16" name="">
            <a:extLst>
              <a:ext uri="{FF2B5EF4-FFF2-40B4-BE49-F238E27FC236}">
                <ns2:creationId id="{8230DA1E-A0E4-4DB0-A833-F6899A058CEE}"/>
              </a:ext>
            </a:extLst>
          </p:cNvPr>
          <p:cNvSpPr>
            <a:spLocks noGrp="1"/>
          </p:cNvSpPr>
          <p:nvPr/>
        </p:nvSpPr>
        <p:spPr>
          <a:xfrm>
            <a:off x="6610350" y="4000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Grade depends on the student and the course together.</a:t>
            </a:r>
          </a:p>
        </p:txBody>
      </p:sp>
    </p:spTree>
    <p:extLst>
      <p:ext uri="{BB962C8B-B14F-4D97-AF65-F5344CB8AC3E}">
        <ns3:creationId val="232498966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DC28D86-580C-4A72-A470-D0E3017B6BEB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3NF and BCNF: non-key columns should not define other facts</a:t>
            </a:r>
          </a:p>
        </p:txBody>
      </p:sp>
      <p:sp>
        <p:nvSpPr>
          <p:cNvPr id="2" name="">
            <a:extLst>
              <a:ext uri="{FF2B5EF4-FFF2-40B4-BE49-F238E27FC236}">
                <ns2:creationId id="{798436EB-BB7F-4A25-9684-587DEA8CB2F2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goal is to store every fact in its natural place.</a:t>
            </a:r>
          </a:p>
        </p:txBody>
      </p:sp>
      <p:sp>
        <p:nvSpPr>
          <p:cNvPr id="3" name="">
            <a:extLst>
              <a:ext uri="{FF2B5EF4-FFF2-40B4-BE49-F238E27FC236}">
                <ns2:creationId id="{F8F10306-D23B-437B-AF23-96004C2087EE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E15D7517-D00B-42F3-B7B7-952B771E00B2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">
            <a:extLst>
              <a:ext uri="{FF2B5EF4-FFF2-40B4-BE49-F238E27FC236}">
                <ns2:creationId id="{069D8B51-E16F-4419-B80B-1AD0D4BE435B}"/>
              </a:ext>
            </a:extLst>
          </p:cNvPr>
          <p:cNvSpPr>
            <a:spLocks noGrp="1"/>
          </p:cNvSpPr>
          <p:nvPr/>
        </p:nvSpPr>
        <p:spPr>
          <a:xfrm>
            <a:off x="800100" y="1924050"/>
            <a:ext cx="1524000" cy="68580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10DD0E5A-7571-4206-A31F-15BFCB623B95}"/>
              </a:ext>
            </a:extLst>
          </p:cNvPr>
          <p:cNvSpPr>
            <a:spLocks noGrp="1"/>
          </p:cNvSpPr>
          <p:nvPr/>
        </p:nvSpPr>
        <p:spPr>
          <a:xfrm>
            <a:off x="876300" y="2009775"/>
            <a:ext cx="1371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Form</a:t>
            </a:r>
          </a:p>
        </p:txBody>
      </p:sp>
      <p:sp>
        <p:nvSpPr>
          <p:cNvPr id="7" name="">
            <a:extLst>
              <a:ext uri="{FF2B5EF4-FFF2-40B4-BE49-F238E27FC236}">
                <ns2:creationId id="{3FF10A29-CB28-4ADA-BCCA-5ADFC594255B}"/>
              </a:ext>
            </a:extLst>
          </p:cNvPr>
          <p:cNvSpPr>
            <a:spLocks noGrp="1"/>
          </p:cNvSpPr>
          <p:nvPr/>
        </p:nvSpPr>
        <p:spPr>
          <a:xfrm>
            <a:off x="2324100" y="1924050"/>
            <a:ext cx="4953000" cy="68580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899C6E61-B090-45D7-9B17-214BBE31B37F}"/>
              </a:ext>
            </a:extLst>
          </p:cNvPr>
          <p:cNvSpPr>
            <a:spLocks noGrp="1"/>
          </p:cNvSpPr>
          <p:nvPr/>
        </p:nvSpPr>
        <p:spPr>
          <a:xfrm>
            <a:off x="2400300" y="2009775"/>
            <a:ext cx="4800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Rule</a:t>
            </a:r>
          </a:p>
        </p:txBody>
      </p:sp>
      <p:sp>
        <p:nvSpPr>
          <p:cNvPr id="9" name="">
            <a:extLst>
              <a:ext uri="{FF2B5EF4-FFF2-40B4-BE49-F238E27FC236}">
                <ns2:creationId id="{B30C87C1-5C4F-453E-BB68-EFC06A15A388}"/>
              </a:ext>
            </a:extLst>
          </p:cNvPr>
          <p:cNvSpPr>
            <a:spLocks noGrp="1"/>
          </p:cNvSpPr>
          <p:nvPr/>
        </p:nvSpPr>
        <p:spPr>
          <a:xfrm>
            <a:off x="7277100" y="1924050"/>
            <a:ext cx="4095750" cy="68580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A9B73803-A74A-4304-94CE-175BF2C0CCD1}"/>
              </a:ext>
            </a:extLst>
          </p:cNvPr>
          <p:cNvSpPr>
            <a:spLocks noGrp="1"/>
          </p:cNvSpPr>
          <p:nvPr/>
        </p:nvSpPr>
        <p:spPr>
          <a:xfrm>
            <a:off x="7353300" y="2009775"/>
            <a:ext cx="3943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Error example</a:t>
            </a:r>
          </a:p>
        </p:txBody>
      </p:sp>
      <p:sp>
        <p:nvSpPr>
          <p:cNvPr id="11" name="">
            <a:extLst>
              <a:ext uri="{FF2B5EF4-FFF2-40B4-BE49-F238E27FC236}">
                <ns2:creationId id="{6EC96A54-81F4-4B53-A04D-8C1C66D616E7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1524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D12BA7BE-6A70-4C33-B31B-39ACF3689238}"/>
              </a:ext>
            </a:extLst>
          </p:cNvPr>
          <p:cNvSpPr>
            <a:spLocks noGrp="1"/>
          </p:cNvSpPr>
          <p:nvPr/>
        </p:nvSpPr>
        <p:spPr>
          <a:xfrm>
            <a:off x="876300" y="2695575"/>
            <a:ext cx="1371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3NF</a:t>
            </a:r>
          </a:p>
        </p:txBody>
      </p:sp>
      <p:sp>
        <p:nvSpPr>
          <p:cNvPr id="13" name="">
            <a:extLst>
              <a:ext uri="{FF2B5EF4-FFF2-40B4-BE49-F238E27FC236}">
                <ns2:creationId id="{E70DB8F6-38FB-4CF4-97C3-F1AA6A1EA1CE}"/>
              </a:ext>
            </a:extLst>
          </p:cNvPr>
          <p:cNvSpPr>
            <a:spLocks noGrp="1"/>
          </p:cNvSpPr>
          <p:nvPr/>
        </p:nvSpPr>
        <p:spPr>
          <a:xfrm>
            <a:off x="2324100" y="2609850"/>
            <a:ext cx="495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B25EBDFE-CD91-4366-9EAC-0055C5D2E318}"/>
              </a:ext>
            </a:extLst>
          </p:cNvPr>
          <p:cNvSpPr>
            <a:spLocks noGrp="1"/>
          </p:cNvSpPr>
          <p:nvPr/>
        </p:nvSpPr>
        <p:spPr>
          <a:xfrm>
            <a:off x="2400300" y="2695575"/>
            <a:ext cx="4800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Every non-key column depends only on the key</a:t>
            </a:r>
          </a:p>
        </p:txBody>
      </p:sp>
      <p:sp>
        <p:nvSpPr>
          <p:cNvPr id="15" name="">
            <a:extLst>
              <a:ext uri="{FF2B5EF4-FFF2-40B4-BE49-F238E27FC236}">
                <ns2:creationId id="{49F2DEA7-0EB3-49C8-A57D-6A3C0409241C}"/>
              </a:ext>
            </a:extLst>
          </p:cNvPr>
          <p:cNvSpPr>
            <a:spLocks noGrp="1"/>
          </p:cNvSpPr>
          <p:nvPr/>
        </p:nvSpPr>
        <p:spPr>
          <a:xfrm>
            <a:off x="7277100" y="2609850"/>
            <a:ext cx="4095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53DDC9BD-9825-40C3-9B51-EBBBC712837E}"/>
              </a:ext>
            </a:extLst>
          </p:cNvPr>
          <p:cNvSpPr>
            <a:spLocks noGrp="1"/>
          </p:cNvSpPr>
          <p:nvPr/>
        </p:nvSpPr>
        <p:spPr>
          <a:xfrm>
            <a:off x="7353300" y="2695575"/>
            <a:ext cx="3943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Member_ID -&gt; City_ID -&gt; City_Name</a:t>
            </a:r>
          </a:p>
        </p:txBody>
      </p:sp>
      <p:sp>
        <p:nvSpPr>
          <p:cNvPr id="17" name="">
            <a:extLst>
              <a:ext uri="{FF2B5EF4-FFF2-40B4-BE49-F238E27FC236}">
                <ns2:creationId id="{A5512EB2-B25D-4071-B629-A23DACCA6FDD}"/>
              </a:ext>
            </a:extLst>
          </p:cNvPr>
          <p:cNvSpPr>
            <a:spLocks noGrp="1"/>
          </p:cNvSpPr>
          <p:nvPr/>
        </p:nvSpPr>
        <p:spPr>
          <a:xfrm>
            <a:off x="800100" y="3295650"/>
            <a:ext cx="1524000" cy="6858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9BEF7FE5-5A92-4540-9ECF-47F7EE66DF78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1371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BCNF</a:t>
            </a:r>
          </a:p>
        </p:txBody>
      </p:sp>
      <p:sp>
        <p:nvSpPr>
          <p:cNvPr id="19" name="">
            <a:extLst>
              <a:ext uri="{FF2B5EF4-FFF2-40B4-BE49-F238E27FC236}">
                <ns2:creationId id="{CD2EFE2B-95CE-4AA4-B4C0-202E7328253A}"/>
              </a:ext>
            </a:extLst>
          </p:cNvPr>
          <p:cNvSpPr>
            <a:spLocks noGrp="1"/>
          </p:cNvSpPr>
          <p:nvPr/>
        </p:nvSpPr>
        <p:spPr>
          <a:xfrm>
            <a:off x="2324100" y="3295650"/>
            <a:ext cx="4953000" cy="6858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4F1CBC51-FA76-4E95-8E4B-DB6F52A39E1A}"/>
              </a:ext>
            </a:extLst>
          </p:cNvPr>
          <p:cNvSpPr>
            <a:spLocks noGrp="1"/>
          </p:cNvSpPr>
          <p:nvPr/>
        </p:nvSpPr>
        <p:spPr>
          <a:xfrm>
            <a:off x="2400300" y="3381375"/>
            <a:ext cx="4800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Every determinant should be a candidate key</a:t>
            </a:r>
          </a:p>
        </p:txBody>
      </p:sp>
      <p:sp>
        <p:nvSpPr>
          <p:cNvPr id="21" name="">
            <a:extLst>
              <a:ext uri="{FF2B5EF4-FFF2-40B4-BE49-F238E27FC236}">
                <ns2:creationId id="{2A8C1B29-CD21-4FD3-A095-8EB679209516}"/>
              </a:ext>
            </a:extLst>
          </p:cNvPr>
          <p:cNvSpPr>
            <a:spLocks noGrp="1"/>
          </p:cNvSpPr>
          <p:nvPr/>
        </p:nvSpPr>
        <p:spPr>
          <a:xfrm>
            <a:off x="7277100" y="3295650"/>
            <a:ext cx="4095750" cy="6858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73FBF6A3-C7BD-4358-BA64-C9752165F394}"/>
              </a:ext>
            </a:extLst>
          </p:cNvPr>
          <p:cNvSpPr>
            <a:spLocks noGrp="1"/>
          </p:cNvSpPr>
          <p:nvPr/>
        </p:nvSpPr>
        <p:spPr>
          <a:xfrm>
            <a:off x="7353300" y="3381375"/>
            <a:ext cx="3943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Teacher determines Room, but Teacher is not a key</a:t>
            </a:r>
          </a:p>
        </p:txBody>
      </p:sp>
      <p:sp>
        <p:nvSpPr>
          <p:cNvPr id="23" name="">
            <a:extLst>
              <a:ext uri="{FF2B5EF4-FFF2-40B4-BE49-F238E27FC236}">
                <ns2:creationId id="{912B7105-437C-4788-8B8D-AFFDE22B4B1E}"/>
              </a:ext>
            </a:extLst>
          </p:cNvPr>
          <p:cNvSpPr>
            <a:spLocks noGrp="1"/>
          </p:cNvSpPr>
          <p:nvPr/>
        </p:nvSpPr>
        <p:spPr>
          <a:xfrm>
            <a:off x="800100" y="3981450"/>
            <a:ext cx="1524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546097C9-9540-4181-83CF-DAE9E24D6C69}"/>
              </a:ext>
            </a:extLst>
          </p:cNvPr>
          <p:cNvSpPr>
            <a:spLocks noGrp="1"/>
          </p:cNvSpPr>
          <p:nvPr/>
        </p:nvSpPr>
        <p:spPr>
          <a:xfrm>
            <a:off x="876300" y="4067175"/>
            <a:ext cx="1371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Practical choice</a:t>
            </a:r>
          </a:p>
        </p:txBody>
      </p:sp>
      <p:sp>
        <p:nvSpPr>
          <p:cNvPr id="25" name="">
            <a:extLst>
              <a:ext uri="{FF2B5EF4-FFF2-40B4-BE49-F238E27FC236}">
                <ns2:creationId id="{B665068C-8C77-43F0-AB09-C131246D3A54}"/>
              </a:ext>
            </a:extLst>
          </p:cNvPr>
          <p:cNvSpPr>
            <a:spLocks noGrp="1"/>
          </p:cNvSpPr>
          <p:nvPr/>
        </p:nvSpPr>
        <p:spPr>
          <a:xfrm>
            <a:off x="2324100" y="3981450"/>
            <a:ext cx="4953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12258179-FBFA-4332-8596-C294E102E0C2}"/>
              </a:ext>
            </a:extLst>
          </p:cNvPr>
          <p:cNvSpPr>
            <a:spLocks noGrp="1"/>
          </p:cNvSpPr>
          <p:nvPr/>
        </p:nvSpPr>
        <p:spPr>
          <a:xfrm>
            <a:off x="2400300" y="4067175"/>
            <a:ext cx="4800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3NF is usually enough for learning and many applications</a:t>
            </a:r>
          </a:p>
        </p:txBody>
      </p:sp>
      <p:sp>
        <p:nvSpPr>
          <p:cNvPr id="27" name="">
            <a:extLst>
              <a:ext uri="{FF2B5EF4-FFF2-40B4-BE49-F238E27FC236}">
                <ns2:creationId id="{FB565970-DD65-41FB-9E12-0C2F0E91C5E1}"/>
              </a:ext>
            </a:extLst>
          </p:cNvPr>
          <p:cNvSpPr>
            <a:spLocks noGrp="1"/>
          </p:cNvSpPr>
          <p:nvPr/>
        </p:nvSpPr>
        <p:spPr>
          <a:xfrm>
            <a:off x="7277100" y="3981450"/>
            <a:ext cx="4095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83DBBB55-9437-444C-85AF-EC6BD427A4CE}"/>
              </a:ext>
            </a:extLst>
          </p:cNvPr>
          <p:cNvSpPr>
            <a:spLocks noGrp="1"/>
          </p:cNvSpPr>
          <p:nvPr/>
        </p:nvSpPr>
        <p:spPr>
          <a:xfrm>
            <a:off x="7353300" y="4067175"/>
            <a:ext cx="3943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BCNF helps with complex dependencies</a:t>
            </a:r>
          </a:p>
        </p:txBody>
      </p:sp>
    </p:spTree>
    <p:extLst>
      <p:ext uri="{BB962C8B-B14F-4D97-AF65-F5344CB8AC3E}">
        <ns3:creationId val="582308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A8CDE0-D6DB-4DC0-9C83-B626884F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Do not over-normalize blindly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5041D-0F85-4CFA-8184-5E825F28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Good design balances clean structure, readability, and performance.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C65AE-49ED-46A9-BD87-75EB5243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2460D-E180-4CD9-B5D7-E41F2BBB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AFE94-BDA5-4FA0-A7CE-18820C57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143500" cy="390525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0B2FA-6303-4C41-B3C1-05E4F131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5143500" cy="390525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5B263-9D78-42E3-941D-8751641F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A7A"/>
                </a:solidFill>
              </a:defRPr>
            </a:pPr>
            <a:r>
              <a:rPr sz="1800" b="1">
                <a:solidFill>
                  <a:srgbClr val="0F7A7A"/>
                </a:solidFill>
              </a:rPr>
              <a:t>Normalize when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93E69-91E4-4116-A094-A127B454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Data repeats often.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44C54-57B9-42E3-9331-135786DD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Insert, update, or delete anomalies appear.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46084-D061-4AF1-B1E3-4E62A3AD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The system is OLTP with many small concurrent operations.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C5729-C09E-412C-A809-AD1B7B8A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The design needs flexibility for new relationships.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D1720-357B-444F-9628-EB32A120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7900"/>
                </a:solidFill>
              </a:defRPr>
            </a:pPr>
            <a:r>
              <a:rPr sz="1800" b="1">
                <a:solidFill>
                  <a:srgbClr val="E07900"/>
                </a:solidFill>
              </a:rPr>
              <a:t>Consider denormalization when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55BE4-14DD-4ACA-9042-EFEC55DB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Heavy reports need faster reads.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0F9B2-6F54-4E90-BD18-41D3249B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Duplication is intentional and controlled.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22498-EC55-40BD-82D6-1A0490A0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You use summary tables or caching.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7B519-EEBB-4AF0-8D88-D66BE2F1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You accept higher update cost for faster reading.</a:t>
            </a:r>
          </a:p>
        </p:txBody>
      </p:sp>
    </p:spTree>
    <p:extLst>
      <p:ext uri="{BB962C8B-B14F-4D97-AF65-F5344CB8AC3E}">
        <p14:creationId xmlns:p14="http://schemas.microsoft.com/office/powerpoint/2010/main" val="430119789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08F4023E-5E38-4FAE-8350-C501B7D41E65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Constraints are the first defense for data integrity</a:t>
            </a:r>
          </a:p>
        </p:txBody>
      </p:sp>
      <p:sp>
        <p:nvSpPr>
          <p:cNvPr id="2" name="">
            <a:extLst>
              <a:ext uri="{FF2B5EF4-FFF2-40B4-BE49-F238E27FC236}">
                <ns2:creationId id="{68B88804-CE2F-4154-8862-1746B74157C6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Instead of trusting the application only, the database rejects invalid values by itself.</a:t>
            </a:r>
          </a:p>
        </p:txBody>
      </p:sp>
      <p:sp>
        <p:nvSpPr>
          <p:cNvPr id="3" name="">
            <a:extLst>
              <a:ext uri="{FF2B5EF4-FFF2-40B4-BE49-F238E27FC236}">
                <ns2:creationId id="{9848A1CF-F1BF-4382-9F51-EC20B7B3CDF8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70985C45-D4F2-4B88-B07C-855567EAF052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5" name="">
            <a:extLst>
              <a:ext uri="{FF2B5EF4-FFF2-40B4-BE49-F238E27FC236}">
                <ns2:creationId id="{0E2A7BD0-AADD-4DBB-86A9-F17D1B7C8FAF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2000250" cy="59055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4F8CE9D8-B07E-451F-9694-B95CC35F943E}"/>
              </a:ext>
            </a:extLst>
          </p:cNvPr>
          <p:cNvSpPr>
            <a:spLocks noGrp="1"/>
          </p:cNvSpPr>
          <p:nvPr/>
        </p:nvSpPr>
        <p:spPr>
          <a:xfrm>
            <a:off x="742950" y="1781175"/>
            <a:ext cx="1847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7" name="">
            <a:extLst>
              <a:ext uri="{FF2B5EF4-FFF2-40B4-BE49-F238E27FC236}">
                <ns2:creationId id="{769637DE-0AF0-468D-B182-E46708F50733}"/>
              </a:ext>
            </a:extLst>
          </p:cNvPr>
          <p:cNvSpPr>
            <a:spLocks noGrp="1"/>
          </p:cNvSpPr>
          <p:nvPr/>
        </p:nvSpPr>
        <p:spPr>
          <a:xfrm>
            <a:off x="2667000" y="1695450"/>
            <a:ext cx="4762500" cy="59055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755A41E4-3ADF-4910-A029-F694A32BC5C1}"/>
              </a:ext>
            </a:extLst>
          </p:cNvPr>
          <p:cNvSpPr>
            <a:spLocks noGrp="1"/>
          </p:cNvSpPr>
          <p:nvPr/>
        </p:nvSpPr>
        <p:spPr>
          <a:xfrm>
            <a:off x="2743200" y="1781175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">
            <a:extLst>
              <a:ext uri="{FF2B5EF4-FFF2-40B4-BE49-F238E27FC236}">
                <ns2:creationId id="{DFAC9803-CB27-4FDD-8D7E-AD396481762A}"/>
              </a:ext>
            </a:extLst>
          </p:cNvPr>
          <p:cNvSpPr>
            <a:spLocks noGrp="1"/>
          </p:cNvSpPr>
          <p:nvPr/>
        </p:nvSpPr>
        <p:spPr>
          <a:xfrm>
            <a:off x="7429500" y="1695450"/>
            <a:ext cx="3905250" cy="59055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1085091F-33E3-4AB7-A54F-35EA1E409ED9}"/>
              </a:ext>
            </a:extLst>
          </p:cNvPr>
          <p:cNvSpPr>
            <a:spLocks noGrp="1"/>
          </p:cNvSpPr>
          <p:nvPr/>
        </p:nvSpPr>
        <p:spPr>
          <a:xfrm>
            <a:off x="7505700" y="1781175"/>
            <a:ext cx="3752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11" name="">
            <a:extLst>
              <a:ext uri="{FF2B5EF4-FFF2-40B4-BE49-F238E27FC236}">
                <ns2:creationId id="{20982BC7-41CB-48B3-AAC2-304927C0FE17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78BC05B7-B7B3-469B-A47C-4A5C38F71ACC}"/>
              </a:ext>
            </a:extLst>
          </p:cNvPr>
          <p:cNvSpPr>
            <a:spLocks noGrp="1"/>
          </p:cNvSpPr>
          <p:nvPr/>
        </p:nvSpPr>
        <p:spPr>
          <a:xfrm>
            <a:off x="742950" y="2371725"/>
            <a:ext cx="1847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PRIMARY KEY</a:t>
            </a:r>
          </a:p>
        </p:txBody>
      </p:sp>
      <p:sp>
        <p:nvSpPr>
          <p:cNvPr id="13" name="">
            <a:extLst>
              <a:ext uri="{FF2B5EF4-FFF2-40B4-BE49-F238E27FC236}">
                <ns2:creationId id="{2223E67D-EAD9-4D1F-84F0-D8A11B93B0A4}"/>
              </a:ext>
            </a:extLst>
          </p:cNvPr>
          <p:cNvSpPr>
            <a:spLocks noGrp="1"/>
          </p:cNvSpPr>
          <p:nvPr/>
        </p:nvSpPr>
        <p:spPr>
          <a:xfrm>
            <a:off x="2667000" y="2286000"/>
            <a:ext cx="4762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105983A1-0A35-4D94-B95B-46FC4F66BF83}"/>
              </a:ext>
            </a:extLst>
          </p:cNvPr>
          <p:cNvSpPr>
            <a:spLocks noGrp="1"/>
          </p:cNvSpPr>
          <p:nvPr/>
        </p:nvSpPr>
        <p:spPr>
          <a:xfrm>
            <a:off x="2743200" y="2371725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Identifies each row and does not allow NULL or duplicates</a:t>
            </a:r>
          </a:p>
        </p:txBody>
      </p:sp>
      <p:sp>
        <p:nvSpPr>
          <p:cNvPr id="15" name="">
            <a:extLst>
              <a:ext uri="{FF2B5EF4-FFF2-40B4-BE49-F238E27FC236}">
                <ns2:creationId id="{66884F65-2BF3-47FD-93D2-D09B3248E358}"/>
              </a:ext>
            </a:extLst>
          </p:cNvPr>
          <p:cNvSpPr>
            <a:spLocks noGrp="1"/>
          </p:cNvSpPr>
          <p:nvPr/>
        </p:nvSpPr>
        <p:spPr>
          <a:xfrm>
            <a:off x="7429500" y="2286000"/>
            <a:ext cx="3905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B26E9833-251D-45A1-B779-FA890C248296}"/>
              </a:ext>
            </a:extLst>
          </p:cNvPr>
          <p:cNvSpPr>
            <a:spLocks noGrp="1"/>
          </p:cNvSpPr>
          <p:nvPr/>
        </p:nvSpPr>
        <p:spPr>
          <a:xfrm>
            <a:off x="7505700" y="2371725"/>
            <a:ext cx="3752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Member_ID</a:t>
            </a:r>
          </a:p>
        </p:txBody>
      </p:sp>
      <p:sp>
        <p:nvSpPr>
          <p:cNvPr id="17" name="">
            <a:extLst>
              <a:ext uri="{FF2B5EF4-FFF2-40B4-BE49-F238E27FC236}">
                <ns2:creationId id="{08BC9D77-B61E-4AE1-9BF1-9BCA5455120A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2000250" cy="590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C4CBFD14-FFA8-4D74-BFC8-9A3ACBCA9F94}"/>
              </a:ext>
            </a:extLst>
          </p:cNvPr>
          <p:cNvSpPr>
            <a:spLocks noGrp="1"/>
          </p:cNvSpPr>
          <p:nvPr/>
        </p:nvSpPr>
        <p:spPr>
          <a:xfrm>
            <a:off x="742950" y="2962275"/>
            <a:ext cx="1847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FOREIGN KEY</a:t>
            </a:r>
          </a:p>
        </p:txBody>
      </p:sp>
      <p:sp>
        <p:nvSpPr>
          <p:cNvPr id="19" name="">
            <a:extLst>
              <a:ext uri="{FF2B5EF4-FFF2-40B4-BE49-F238E27FC236}">
                <ns2:creationId id="{EC608693-9C5B-49AE-9411-2F6377263BE4}"/>
              </a:ext>
            </a:extLst>
          </p:cNvPr>
          <p:cNvSpPr>
            <a:spLocks noGrp="1"/>
          </p:cNvSpPr>
          <p:nvPr/>
        </p:nvSpPr>
        <p:spPr>
          <a:xfrm>
            <a:off x="2667000" y="2876550"/>
            <a:ext cx="4762500" cy="590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CAA223B5-10F0-42AF-90A6-4768654B755F}"/>
              </a:ext>
            </a:extLst>
          </p:cNvPr>
          <p:cNvSpPr>
            <a:spLocks noGrp="1"/>
          </p:cNvSpPr>
          <p:nvPr/>
        </p:nvSpPr>
        <p:spPr>
          <a:xfrm>
            <a:off x="2743200" y="2962275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Preserves a relationship between two tables</a:t>
            </a:r>
          </a:p>
        </p:txBody>
      </p:sp>
      <p:sp>
        <p:nvSpPr>
          <p:cNvPr id="21" name="">
            <a:extLst>
              <a:ext uri="{FF2B5EF4-FFF2-40B4-BE49-F238E27FC236}">
                <ns2:creationId id="{BD3ED9A9-6FED-4837-A71F-46A2DF73FA34}"/>
              </a:ext>
            </a:extLst>
          </p:cNvPr>
          <p:cNvSpPr>
            <a:spLocks noGrp="1"/>
          </p:cNvSpPr>
          <p:nvPr/>
        </p:nvSpPr>
        <p:spPr>
          <a:xfrm>
            <a:off x="7429500" y="2876550"/>
            <a:ext cx="3905250" cy="590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9E937D38-8CDC-4DA6-B089-701A45E97F58}"/>
              </a:ext>
            </a:extLst>
          </p:cNvPr>
          <p:cNvSpPr>
            <a:spLocks noGrp="1"/>
          </p:cNvSpPr>
          <p:nvPr/>
        </p:nvSpPr>
        <p:spPr>
          <a:xfrm>
            <a:off x="7505700" y="2962275"/>
            <a:ext cx="3752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Borrowing.Book_ID -&gt; Book.Book_ID</a:t>
            </a:r>
          </a:p>
        </p:txBody>
      </p:sp>
      <p:sp>
        <p:nvSpPr>
          <p:cNvPr id="23" name="">
            <a:extLst>
              <a:ext uri="{FF2B5EF4-FFF2-40B4-BE49-F238E27FC236}">
                <ns2:creationId id="{0296E55B-E76D-4488-B4A4-F7FF4499823E}"/>
              </a:ext>
            </a:extLst>
          </p:cNvPr>
          <p:cNvSpPr>
            <a:spLocks noGrp="1"/>
          </p:cNvSpPr>
          <p:nvPr/>
        </p:nvSpPr>
        <p:spPr>
          <a:xfrm>
            <a:off x="666750" y="34671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E5966B08-090F-4634-A2EA-E6DBA381B64C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1847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UNIQUE</a:t>
            </a:r>
          </a:p>
        </p:txBody>
      </p:sp>
      <p:sp>
        <p:nvSpPr>
          <p:cNvPr id="25" name="">
            <a:extLst>
              <a:ext uri="{FF2B5EF4-FFF2-40B4-BE49-F238E27FC236}">
                <ns2:creationId id="{99C1CEA9-8950-4F9F-A449-9DA22FA0A953}"/>
              </a:ext>
            </a:extLst>
          </p:cNvPr>
          <p:cNvSpPr>
            <a:spLocks noGrp="1"/>
          </p:cNvSpPr>
          <p:nvPr/>
        </p:nvSpPr>
        <p:spPr>
          <a:xfrm>
            <a:off x="2667000" y="3467100"/>
            <a:ext cx="4762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9AC1E83F-CAB2-41DD-BAB3-104A3F1DFE56}"/>
              </a:ext>
            </a:extLst>
          </p:cNvPr>
          <p:cNvSpPr>
            <a:spLocks noGrp="1"/>
          </p:cNvSpPr>
          <p:nvPr/>
        </p:nvSpPr>
        <p:spPr>
          <a:xfrm>
            <a:off x="2743200" y="3552825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Prevents duplicate values for important columns</a:t>
            </a:r>
          </a:p>
        </p:txBody>
      </p:sp>
      <p:sp>
        <p:nvSpPr>
          <p:cNvPr id="27" name="">
            <a:extLst>
              <a:ext uri="{FF2B5EF4-FFF2-40B4-BE49-F238E27FC236}">
                <ns2:creationId id="{D37ACFE9-FC2B-4127-8904-E032518F94E5}"/>
              </a:ext>
            </a:extLst>
          </p:cNvPr>
          <p:cNvSpPr>
            <a:spLocks noGrp="1"/>
          </p:cNvSpPr>
          <p:nvPr/>
        </p:nvSpPr>
        <p:spPr>
          <a:xfrm>
            <a:off x="7429500" y="3467100"/>
            <a:ext cx="3905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29EC151F-3E5E-41D5-A6FA-D80DBBE4B8BB}"/>
              </a:ext>
            </a:extLst>
          </p:cNvPr>
          <p:cNvSpPr>
            <a:spLocks noGrp="1"/>
          </p:cNvSpPr>
          <p:nvPr/>
        </p:nvSpPr>
        <p:spPr>
          <a:xfrm>
            <a:off x="7505700" y="3552825"/>
            <a:ext cx="3752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Email or ISBN</a:t>
            </a:r>
          </a:p>
        </p:txBody>
      </p:sp>
      <p:sp>
        <p:nvSpPr>
          <p:cNvPr id="29" name="">
            <a:extLst>
              <a:ext uri="{FF2B5EF4-FFF2-40B4-BE49-F238E27FC236}">
                <ns2:creationId id="{F4E19CE2-7317-415B-B904-34D198EA4EDB}"/>
              </a:ext>
            </a:extLst>
          </p:cNvPr>
          <p:cNvSpPr>
            <a:spLocks noGrp="1"/>
          </p:cNvSpPr>
          <p:nvPr/>
        </p:nvSpPr>
        <p:spPr>
          <a:xfrm>
            <a:off x="666750" y="4057650"/>
            <a:ext cx="2000250" cy="590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49B569E6-6D1A-4130-B2ED-85D999C83424}"/>
              </a:ext>
            </a:extLst>
          </p:cNvPr>
          <p:cNvSpPr>
            <a:spLocks noGrp="1"/>
          </p:cNvSpPr>
          <p:nvPr/>
        </p:nvSpPr>
        <p:spPr>
          <a:xfrm>
            <a:off x="742950" y="4143375"/>
            <a:ext cx="1847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CHECK</a:t>
            </a:r>
          </a:p>
        </p:txBody>
      </p:sp>
      <p:sp>
        <p:nvSpPr>
          <p:cNvPr id="31" name="">
            <a:extLst>
              <a:ext uri="{FF2B5EF4-FFF2-40B4-BE49-F238E27FC236}">
                <ns2:creationId id="{85C4A759-ADAF-4697-969C-0BB61155297A}"/>
              </a:ext>
            </a:extLst>
          </p:cNvPr>
          <p:cNvSpPr>
            <a:spLocks noGrp="1"/>
          </p:cNvSpPr>
          <p:nvPr/>
        </p:nvSpPr>
        <p:spPr>
          <a:xfrm>
            <a:off x="2667000" y="4057650"/>
            <a:ext cx="4762500" cy="590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5C7F17FB-356A-4BA9-8474-BC141A1EFDC6}"/>
              </a:ext>
            </a:extLst>
          </p:cNvPr>
          <p:cNvSpPr>
            <a:spLocks noGrp="1"/>
          </p:cNvSpPr>
          <p:nvPr/>
        </p:nvSpPr>
        <p:spPr>
          <a:xfrm>
            <a:off x="2743200" y="4143375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Validates a logical condition</a:t>
            </a:r>
          </a:p>
        </p:txBody>
      </p:sp>
      <p:sp>
        <p:nvSpPr>
          <p:cNvPr id="33" name="">
            <a:extLst>
              <a:ext uri="{FF2B5EF4-FFF2-40B4-BE49-F238E27FC236}">
                <ns2:creationId id="{3D3CAF36-E16A-4DE0-957C-198D335BE5A2}"/>
              </a:ext>
            </a:extLst>
          </p:cNvPr>
          <p:cNvSpPr>
            <a:spLocks noGrp="1"/>
          </p:cNvSpPr>
          <p:nvPr/>
        </p:nvSpPr>
        <p:spPr>
          <a:xfrm>
            <a:off x="7429500" y="4057650"/>
            <a:ext cx="3905250" cy="590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A67E03A4-457B-4D7F-A97F-70EEF681CCC0}"/>
              </a:ext>
            </a:extLst>
          </p:cNvPr>
          <p:cNvSpPr>
            <a:spLocks noGrp="1"/>
          </p:cNvSpPr>
          <p:nvPr/>
        </p:nvSpPr>
        <p:spPr>
          <a:xfrm>
            <a:off x="7505700" y="4143375"/>
            <a:ext cx="3752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Return_Date &gt;= Borrow_Date</a:t>
            </a:r>
          </a:p>
        </p:txBody>
      </p:sp>
      <p:sp>
        <p:nvSpPr>
          <p:cNvPr id="35" name="">
            <a:extLst>
              <a:ext uri="{FF2B5EF4-FFF2-40B4-BE49-F238E27FC236}">
                <ns2:creationId id="{6FB8FAA9-27B1-4876-8972-993111E64F51}"/>
              </a:ext>
            </a:extLst>
          </p:cNvPr>
          <p:cNvSpPr>
            <a:spLocks noGrp="1"/>
          </p:cNvSpPr>
          <p:nvPr/>
        </p:nvSpPr>
        <p:spPr>
          <a:xfrm>
            <a:off x="666750" y="46482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4C11CD3B-3C57-4A4A-8ED6-57EC7A456FE7}"/>
              </a:ext>
            </a:extLst>
          </p:cNvPr>
          <p:cNvSpPr>
            <a:spLocks noGrp="1"/>
          </p:cNvSpPr>
          <p:nvPr/>
        </p:nvSpPr>
        <p:spPr>
          <a:xfrm>
            <a:off x="742950" y="4733925"/>
            <a:ext cx="1847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DEFAULT</a:t>
            </a:r>
          </a:p>
        </p:txBody>
      </p:sp>
      <p:sp>
        <p:nvSpPr>
          <p:cNvPr id="37" name="">
            <a:extLst>
              <a:ext uri="{FF2B5EF4-FFF2-40B4-BE49-F238E27FC236}">
                <ns2:creationId id="{4207CABF-3467-4F9A-8E82-672902A5117A}"/>
              </a:ext>
            </a:extLst>
          </p:cNvPr>
          <p:cNvSpPr>
            <a:spLocks noGrp="1"/>
          </p:cNvSpPr>
          <p:nvPr/>
        </p:nvSpPr>
        <p:spPr>
          <a:xfrm>
            <a:off x="2667000" y="4648200"/>
            <a:ext cx="4762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BBB2E1A6-1C29-4160-9000-37C73FEF52A8}"/>
              </a:ext>
            </a:extLst>
          </p:cNvPr>
          <p:cNvSpPr>
            <a:spLocks noGrp="1"/>
          </p:cNvSpPr>
          <p:nvPr/>
        </p:nvSpPr>
        <p:spPr>
          <a:xfrm>
            <a:off x="2743200" y="4733925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Supplies an automatic value</a:t>
            </a:r>
          </a:p>
        </p:txBody>
      </p:sp>
      <p:sp>
        <p:nvSpPr>
          <p:cNvPr id="39" name="">
            <a:extLst>
              <a:ext uri="{FF2B5EF4-FFF2-40B4-BE49-F238E27FC236}">
                <ns2:creationId id="{2720089D-2E7B-4887-A0BD-C37271C724F3}"/>
              </a:ext>
            </a:extLst>
          </p:cNvPr>
          <p:cNvSpPr>
            <a:spLocks noGrp="1"/>
          </p:cNvSpPr>
          <p:nvPr/>
        </p:nvSpPr>
        <p:spPr>
          <a:xfrm>
            <a:off x="7429500" y="4648200"/>
            <a:ext cx="3905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F1B1C313-9DEE-4E9B-AF30-6FF31C616FFC}"/>
              </a:ext>
            </a:extLst>
          </p:cNvPr>
          <p:cNvSpPr>
            <a:spLocks noGrp="1"/>
          </p:cNvSpPr>
          <p:nvPr/>
        </p:nvSpPr>
        <p:spPr>
          <a:xfrm>
            <a:off x="7505700" y="4733925"/>
            <a:ext cx="3752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Join_Date = GETDATE()</a:t>
            </a:r>
          </a:p>
        </p:txBody>
      </p:sp>
      <p:sp>
        <p:nvSpPr>
          <p:cNvPr id="41" name="">
            <a:extLst>
              <a:ext uri="{FF2B5EF4-FFF2-40B4-BE49-F238E27FC236}">
                <ns2:creationId id="{2968A3CE-C83C-4151-A741-67024BCE8354}"/>
              </a:ext>
            </a:extLst>
          </p:cNvPr>
          <p:cNvSpPr>
            <a:spLocks noGrp="1"/>
          </p:cNvSpPr>
          <p:nvPr/>
        </p:nvSpPr>
        <p:spPr>
          <a:xfrm>
            <a:off x="666750" y="5238750"/>
            <a:ext cx="2000250" cy="590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>
              <a:ext uri="{FF2B5EF4-FFF2-40B4-BE49-F238E27FC236}">
                <ns2:creationId id="{3DAEE169-74BE-44D9-9280-F4ED32C415BB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1847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NOT NULL</a:t>
            </a:r>
          </a:p>
        </p:txBody>
      </p:sp>
      <p:sp>
        <p:nvSpPr>
          <p:cNvPr id="43" name="">
            <a:extLst>
              <a:ext uri="{FF2B5EF4-FFF2-40B4-BE49-F238E27FC236}">
                <ns2:creationId id="{4623FC8E-0949-4B3A-949B-62D926305F3B}"/>
              </a:ext>
            </a:extLst>
          </p:cNvPr>
          <p:cNvSpPr>
            <a:spLocks noGrp="1"/>
          </p:cNvSpPr>
          <p:nvPr/>
        </p:nvSpPr>
        <p:spPr>
          <a:xfrm>
            <a:off x="2667000" y="5238750"/>
            <a:ext cx="4762500" cy="590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ED62C663-1519-4BF6-AD11-14089A30D6BC}"/>
              </a:ext>
            </a:extLst>
          </p:cNvPr>
          <p:cNvSpPr>
            <a:spLocks noGrp="1"/>
          </p:cNvSpPr>
          <p:nvPr/>
        </p:nvSpPr>
        <p:spPr>
          <a:xfrm>
            <a:off x="2743200" y="5324475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Requires a value</a:t>
            </a:r>
          </a:p>
        </p:txBody>
      </p:sp>
      <p:sp>
        <p:nvSpPr>
          <p:cNvPr id="45" name="">
            <a:extLst>
              <a:ext uri="{FF2B5EF4-FFF2-40B4-BE49-F238E27FC236}">
                <ns2:creationId id="{3AE7B4B1-6FD6-4331-8ABD-9EC81499FFEF}"/>
              </a:ext>
            </a:extLst>
          </p:cNvPr>
          <p:cNvSpPr>
            <a:spLocks noGrp="1"/>
          </p:cNvSpPr>
          <p:nvPr/>
        </p:nvSpPr>
        <p:spPr>
          <a:xfrm>
            <a:off x="7429500" y="5238750"/>
            <a:ext cx="3905250" cy="590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>
              <a:ext uri="{FF2B5EF4-FFF2-40B4-BE49-F238E27FC236}">
                <ns2:creationId id="{05A1F10E-B87E-4E94-A722-97DF4064C6A0}"/>
              </a:ext>
            </a:extLst>
          </p:cNvPr>
          <p:cNvSpPr>
            <a:spLocks noGrp="1"/>
          </p:cNvSpPr>
          <p:nvPr/>
        </p:nvSpPr>
        <p:spPr>
          <a:xfrm>
            <a:off x="7505700" y="5324475"/>
            <a:ext cx="3752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Title must not be empty</a:t>
            </a:r>
          </a:p>
        </p:txBody>
      </p:sp>
    </p:spTree>
    <p:extLst>
      <p:ext uri="{BB962C8B-B14F-4D97-AF65-F5344CB8AC3E}">
        <ns3:creationId val="15996953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A61C7B-9795-4266-85F0-E258733B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SQL example for constraints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B3D61-04D2-4F41-A6B3-E1362081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These rules make the Library System reject incorrect data from the start.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75A21-C08E-40BB-BCA0-8ABECD55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7494B-59CD-431E-B0B1-DC8D1F95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C63CF-7D00-4A6F-8FB4-4D1EA881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5727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6616E-6D1B-4D5D-9A69-366FB116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1015365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CREATE TABLE Member (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Member_ID INT PRIMARY KEY,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Name NVARCHAR(100) NOT NULL,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Email NVARCHAR(255) UNIQUE,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Join_Date DATE DEFAULT GETDATE()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CREATE TABLE Borrowing (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Borrow_ID INT PRIMARY KEY,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Book_ID INT NOT NULL FOREIGN KEY REFERENCES Book(Book_ID),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Member_ID INT NOT NULL FOREIGN KEY REFERENCES Member(Member_ID),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Borrow_Date DATE NOT NULL,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Return_Date DATE NULL,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CONSTRAINT CK_Return_After_Borrow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  CHECK (Return_Date IS NULL OR Return_Date &gt;= Borrow_Date)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81986532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3440EA0B-F91B-40F4-BA6C-FDBB96CB299C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Triggers run code automatically after a database event</a:t>
            </a:r>
          </a:p>
        </p:txBody>
      </p:sp>
      <p:sp>
        <p:nvSpPr>
          <p:cNvPr id="2" name="">
            <a:extLst>
              <a:ext uri="{FF2B5EF4-FFF2-40B4-BE49-F238E27FC236}">
                <ns2:creationId id="{E3565297-3A3E-446A-87D2-D0B1D36D3869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They are not a replacement for constraints, but they help with complex rules and logging.</a:t>
            </a:r>
          </a:p>
        </p:txBody>
      </p:sp>
      <p:sp>
        <p:nvSpPr>
          <p:cNvPr id="3" name="">
            <a:extLst>
              <a:ext uri="{FF2B5EF4-FFF2-40B4-BE49-F238E27FC236}">
                <ns2:creationId id="{3A02B26F-31FA-4665-B6B2-EB639A65FF9F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7EA6A123-E2AD-45C0-A1CD-CB23BBC4476D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5" name="">
            <a:extLst>
              <a:ext uri="{FF2B5EF4-FFF2-40B4-BE49-F238E27FC236}">
                <ns2:creationId id="{405433A2-DF85-459D-911F-14B2A7623588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5143500" cy="3905250"/>
          </a:xfrm>
          <a:prstGeom prst="roundRect">
            <a:avLst>
              <a:gd name="adj" fmla="val 976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45570865-D4F6-4771-A1A7-5C82455E1821}"/>
              </a:ext>
            </a:extLst>
          </p:cNvPr>
          <p:cNvSpPr>
            <a:spLocks noGrp="1"/>
          </p:cNvSpPr>
          <p:nvPr/>
        </p:nvSpPr>
        <p:spPr>
          <a:xfrm>
            <a:off x="6381750" y="1762125"/>
            <a:ext cx="5143500" cy="390525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2555C25C-70D1-48DD-A980-75D2E83A6569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7A7A"/>
                </a:solidFill>
              </a:defRPr>
            </a:pPr>
            <a:r>
              <a:rPr sz="1800" b="1">
                <a:solidFill>
                  <a:srgbClr val="0F7A7A"/>
                </a:solidFill>
              </a:rPr>
              <a:t>Important types</a:t>
            </a:r>
          </a:p>
        </p:txBody>
      </p:sp>
      <p:sp>
        <p:nvSpPr>
          <p:cNvPr id="8" name="">
            <a:extLst>
              <a:ext uri="{FF2B5EF4-FFF2-40B4-BE49-F238E27FC236}">
                <ns2:creationId id="{9970CF77-FA60-4A19-B00D-08CE588F7AE6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DML Trigger: runs on INSERT, UPDATE, or DELETE.</a:t>
            </a:r>
          </a:p>
        </p:txBody>
      </p:sp>
      <p:sp>
        <p:nvSpPr>
          <p:cNvPr id="9" name="">
            <a:extLst>
              <a:ext uri="{FF2B5EF4-FFF2-40B4-BE49-F238E27FC236}">
                <ns2:creationId id="{F3026F6C-9DBD-4130-ACAD-622F23D1BC2C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DDL Trigger: runs on CREATE, ALTER, or DROP.</a:t>
            </a:r>
          </a:p>
        </p:txBody>
      </p:sp>
      <p:sp>
        <p:nvSpPr>
          <p:cNvPr id="10" name="">
            <a:extLst>
              <a:ext uri="{FF2B5EF4-FFF2-40B4-BE49-F238E27FC236}">
                <ns2:creationId id="{2B5A3156-03EA-4552-9121-87E8CE950175}"/>
              </a:ext>
            </a:extLst>
          </p:cNvPr>
          <p:cNvSpPr>
            <a:spLocks noGrp="1"/>
          </p:cNvSpPr>
          <p:nvPr/>
        </p:nvSpPr>
        <p:spPr>
          <a:xfrm>
            <a:off x="895350" y="3524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Logon Trigger: runs when a user session starts.</a:t>
            </a:r>
          </a:p>
        </p:txBody>
      </p:sp>
      <p:sp>
        <p:nvSpPr>
          <p:cNvPr id="11" name="">
            <a:extLst>
              <a:ext uri="{FF2B5EF4-FFF2-40B4-BE49-F238E27FC236}">
                <ns2:creationId id="{B2FF9CBD-CFFF-4BAF-B900-6647DF73BD22}"/>
              </a:ext>
            </a:extLst>
          </p:cNvPr>
          <p:cNvSpPr>
            <a:spLocks noGrp="1"/>
          </p:cNvSpPr>
          <p:nvPr/>
        </p:nvSpPr>
        <p:spPr>
          <a:xfrm>
            <a:off x="895350" y="4000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AFTER runs after success, while INSTEAD OF replaces the action.</a:t>
            </a:r>
          </a:p>
        </p:txBody>
      </p:sp>
      <p:sp>
        <p:nvSpPr>
          <p:cNvPr id="12" name="">
            <a:extLst>
              <a:ext uri="{FF2B5EF4-FFF2-40B4-BE49-F238E27FC236}">
                <ns2:creationId id="{F57794A9-4DA2-4220-896E-7763816F5001}"/>
              </a:ext>
            </a:extLst>
          </p:cNvPr>
          <p:cNvSpPr>
            <a:spLocks noGrp="1"/>
          </p:cNvSpPr>
          <p:nvPr/>
        </p:nvSpPr>
        <p:spPr>
          <a:xfrm>
            <a:off x="6610350" y="2000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07900"/>
                </a:solidFill>
              </a:defRPr>
            </a:pPr>
            <a:r>
              <a:rPr sz="1800" b="1">
                <a:solidFill>
                  <a:srgbClr val="E07900"/>
                </a:solidFill>
              </a:rPr>
              <a:t>Good use cases</a:t>
            </a:r>
          </a:p>
        </p:txBody>
      </p:sp>
      <p:sp>
        <p:nvSpPr>
          <p:cNvPr id="13" name="">
            <a:extLst>
              <a:ext uri="{FF2B5EF4-FFF2-40B4-BE49-F238E27FC236}">
                <ns2:creationId id="{F5B0E485-FA30-44C1-B93D-0788C7A9B2AE}"/>
              </a:ext>
            </a:extLst>
          </p:cNvPr>
          <p:cNvSpPr>
            <a:spLocks noGrp="1"/>
          </p:cNvSpPr>
          <p:nvPr/>
        </p:nvSpPr>
        <p:spPr>
          <a:xfrm>
            <a:off x="6610350" y="2571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Audit logs and change history.</a:t>
            </a:r>
          </a:p>
        </p:txBody>
      </p:sp>
      <p:sp>
        <p:nvSpPr>
          <p:cNvPr id="14" name="">
            <a:extLst>
              <a:ext uri="{FF2B5EF4-FFF2-40B4-BE49-F238E27FC236}">
                <ns2:creationId id="{25C98BEB-18F2-4A2A-AA18-B9BE1553C1A9}"/>
              </a:ext>
            </a:extLst>
          </p:cNvPr>
          <p:cNvSpPr>
            <a:spLocks noGrp="1"/>
          </p:cNvSpPr>
          <p:nvPr/>
        </p:nvSpPr>
        <p:spPr>
          <a:xfrm>
            <a:off x="6610350" y="3048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Preventing an update based on a complex rule.</a:t>
            </a:r>
          </a:p>
        </p:txBody>
      </p:sp>
      <p:sp>
        <p:nvSpPr>
          <p:cNvPr id="15" name="">
            <a:extLst>
              <a:ext uri="{FF2B5EF4-FFF2-40B4-BE49-F238E27FC236}">
                <ns2:creationId id="{A8E2D347-0006-4481-97A9-9984611D4825}"/>
              </a:ext>
            </a:extLst>
          </p:cNvPr>
          <p:cNvSpPr>
            <a:spLocks noGrp="1"/>
          </p:cNvSpPr>
          <p:nvPr/>
        </p:nvSpPr>
        <p:spPr>
          <a:xfrm>
            <a:off x="6610350" y="3524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Carefully updating summary tables.</a:t>
            </a:r>
          </a:p>
        </p:txBody>
      </p:sp>
      <p:sp>
        <p:nvSpPr>
          <p:cNvPr id="16" name="">
            <a:extLst>
              <a:ext uri="{FF2B5EF4-FFF2-40B4-BE49-F238E27FC236}">
                <ns2:creationId id="{8CE6EB01-21F7-4448-A9E2-6F5F77B2A78E}"/>
              </a:ext>
            </a:extLst>
          </p:cNvPr>
          <p:cNvSpPr>
            <a:spLocks noGrp="1"/>
          </p:cNvSpPr>
          <p:nvPr/>
        </p:nvSpPr>
        <p:spPr>
          <a:xfrm>
            <a:off x="6610350" y="4000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Alerting or protecting DDL operations.</a:t>
            </a:r>
          </a:p>
        </p:txBody>
      </p:sp>
    </p:spTree>
    <p:extLst>
      <p:ext uri="{BB962C8B-B14F-4D97-AF65-F5344CB8AC3E}">
        <ns3:creationId val="19675139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4F459D-3E3F-452C-A881-FC45751D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Trigger example: log a returned 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35194-20EC-4F3D-BA1E-849B156A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Use a trigger when a data change needs an immediate database-side reaction.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452AF-AF88-4D01-96DD-89F0097F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FE7A3-C474-44A5-8ACB-6FE38B80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0D7DD-5215-4316-B1D8-0A697900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102870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23DB8-32EA-4031-9E59-487D70E8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98679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CREATE TRIGGER trg_Borrowing_Return_Audit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ON Borrowing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AFTER UPDATE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AS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BEGIN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SET NOCOUNT ON;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INSERT INTO BorrowingAudit(Borrow_ID, ActionName, ActionDate)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SELECT i.Borrow_ID, 'Returned', GETDATE()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FROM inserted i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JOIN deleted d ON i.Borrow_ID = d.Borrow_ID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WHERE d.Return_Date IS NULL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  AND i.Return_Date IS NOT NULL;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11403061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76692-6DC4-48FF-8D75-A88EEE56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Triggers are powerful, but careless triggers create problems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98C09-B3C8-4B38-9EA0-0F427DE3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 trigger usually runs inside the same transaction and can keep locks open for longer.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39D08-5512-48DC-8C6E-7F4AEE4C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D4487-C829-4679-8398-510E9E88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F1AF5-D109-4DEA-95AD-D74FED57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143500" cy="390525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C774D-9856-4582-9A0D-9BB0AECA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5143500" cy="390525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DCE40-8D25-4F03-919B-C4CF9BD5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A7A"/>
                </a:solidFill>
              </a:defRPr>
            </a:pPr>
            <a:r>
              <a:rPr sz="1800" b="1">
                <a:solidFill>
                  <a:srgbClr val="0F7A7A"/>
                </a:solidFill>
              </a:rPr>
              <a:t>Common risks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084A3-67B2-4F5E-A152-94297B45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They can hide important logic from developers.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DFF06-E419-4448-B373-3C3695D9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They run on sets of rows, not only one row.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0F849-5151-4DF6-948F-1AA4F42C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They can cause blocking because they run inside the transaction.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E5070-FA79-46E4-82ED-F6DC5C93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They can become difficult to test and debug.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ECEAF-CE12-4715-BF27-621268DC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7900"/>
                </a:solidFill>
              </a:defRPr>
            </a:pPr>
            <a:r>
              <a:rPr sz="1800" b="1">
                <a:solidFill>
                  <a:srgbClr val="E07900"/>
                </a:solidFill>
              </a:rPr>
              <a:t>Best practices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576AE-5DF2-422A-B048-889459B5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Keep them short and clear.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88D3B-1382-4677-A989-F5BA7210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Use inserted and deleted in a set-based way.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FF795-6F50-425E-A5CA-BDFFAEDC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Use SET NOCOUNT 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85595-0D64-44CA-9E05-1D089BB8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Do not return SELECT results to the user.</a:t>
            </a:r>
          </a:p>
        </p:txBody>
      </p:sp>
    </p:spTree>
    <p:extLst>
      <p:ext uri="{BB962C8B-B14F-4D97-AF65-F5344CB8AC3E}">
        <p14:creationId xmlns:p14="http://schemas.microsoft.com/office/powerpoint/2010/main" val="1736412322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1937EF4B-2E46-4F38-A1FC-7E09DA453AA1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Jobs run scheduled tasks outside the user request</a:t>
            </a:r>
          </a:p>
        </p:txBody>
      </p:sp>
      <p:sp>
        <p:nvSpPr>
          <p:cNvPr id="2" name="">
            <a:extLst>
              <a:ext uri="{FF2B5EF4-FFF2-40B4-BE49-F238E27FC236}">
                <ns2:creationId id="{B8DA9BF4-917C-4788-8BC0-A99FF9373100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 SQL Server, this usually means a SQL Server Agent Job.</a:t>
            </a:r>
          </a:p>
        </p:txBody>
      </p:sp>
      <p:sp>
        <p:nvSpPr>
          <p:cNvPr id="3" name="">
            <a:extLst>
              <a:ext uri="{FF2B5EF4-FFF2-40B4-BE49-F238E27FC236}">
                <ns2:creationId id="{4E96B368-B08A-41E2-A1BF-69775011F0B5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C4057169-80B7-4965-9FCE-0B771B975CF4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5" name="">
            <a:extLst>
              <a:ext uri="{FF2B5EF4-FFF2-40B4-BE49-F238E27FC236}">
                <ns2:creationId id="{2FF9B5CD-F0F0-4461-8BA4-1A2CBFDD43B8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5143500" cy="3905250"/>
          </a:xfrm>
          <a:prstGeom prst="roundRect">
            <a:avLst>
              <a:gd name="adj" fmla="val 976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3133C241-A489-4DEA-9631-9080E8678B4D}"/>
              </a:ext>
            </a:extLst>
          </p:cNvPr>
          <p:cNvSpPr>
            <a:spLocks noGrp="1"/>
          </p:cNvSpPr>
          <p:nvPr/>
        </p:nvSpPr>
        <p:spPr>
          <a:xfrm>
            <a:off x="6381750" y="1762125"/>
            <a:ext cx="5143500" cy="390525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89DE785B-13D0-4036-BDE7-319C944C3615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7A7A"/>
                </a:solidFill>
              </a:defRPr>
            </a:pPr>
            <a:r>
              <a:rPr sz="1800" b="1">
                <a:solidFill>
                  <a:srgbClr val="0F7A7A"/>
                </a:solidFill>
              </a:rPr>
              <a:t>A job contains</a:t>
            </a:r>
          </a:p>
        </p:txBody>
      </p:sp>
      <p:sp>
        <p:nvSpPr>
          <p:cNvPr id="8" name="">
            <a:extLst>
              <a:ext uri="{FF2B5EF4-FFF2-40B4-BE49-F238E27FC236}">
                <ns2:creationId id="{A1E60504-00AC-4C64-890C-56EFCD61FFE1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Steps: T-SQL, SSIS, PowerShell, or other commands.</a:t>
            </a:r>
          </a:p>
        </p:txBody>
      </p:sp>
      <p:sp>
        <p:nvSpPr>
          <p:cNvPr id="9" name="">
            <a:extLst>
              <a:ext uri="{FF2B5EF4-FFF2-40B4-BE49-F238E27FC236}">
                <ns2:creationId id="{0C553CB9-1ADA-425F-B362-CB227308B456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Schedule: daily, weekly, hourly, or when the service starts.</a:t>
            </a:r>
          </a:p>
        </p:txBody>
      </p:sp>
      <p:sp>
        <p:nvSpPr>
          <p:cNvPr id="10" name="">
            <a:extLst>
              <a:ext uri="{FF2B5EF4-FFF2-40B4-BE49-F238E27FC236}">
                <ns2:creationId id="{0A2879DD-D346-41EB-BF1C-BE0A42A37B72}"/>
              </a:ext>
            </a:extLst>
          </p:cNvPr>
          <p:cNvSpPr>
            <a:spLocks noGrp="1"/>
          </p:cNvSpPr>
          <p:nvPr/>
        </p:nvSpPr>
        <p:spPr>
          <a:xfrm>
            <a:off x="895350" y="3524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Alerts and notifications for success or failure.</a:t>
            </a:r>
          </a:p>
        </p:txBody>
      </p:sp>
      <p:sp>
        <p:nvSpPr>
          <p:cNvPr id="11" name="">
            <a:extLst>
              <a:ext uri="{FF2B5EF4-FFF2-40B4-BE49-F238E27FC236}">
                <ns2:creationId id="{CAE5D2C2-F63A-40B6-A736-E5ECA47FB0C0}"/>
              </a:ext>
            </a:extLst>
          </p:cNvPr>
          <p:cNvSpPr>
            <a:spLocks noGrp="1"/>
          </p:cNvSpPr>
          <p:nvPr/>
        </p:nvSpPr>
        <p:spPr>
          <a:xfrm>
            <a:off x="895350" y="4000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History that records each run and its result.</a:t>
            </a:r>
          </a:p>
        </p:txBody>
      </p:sp>
      <p:sp>
        <p:nvSpPr>
          <p:cNvPr id="12" name="">
            <a:extLst>
              <a:ext uri="{FF2B5EF4-FFF2-40B4-BE49-F238E27FC236}">
                <ns2:creationId id="{D6514C42-188A-43C4-A684-81641B8F3A19}"/>
              </a:ext>
            </a:extLst>
          </p:cNvPr>
          <p:cNvSpPr>
            <a:spLocks noGrp="1"/>
          </p:cNvSpPr>
          <p:nvPr/>
        </p:nvSpPr>
        <p:spPr>
          <a:xfrm>
            <a:off x="6610350" y="2000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07900"/>
                </a:solidFill>
              </a:defRPr>
            </a:pPr>
            <a:r>
              <a:rPr sz="1800" b="1">
                <a:solidFill>
                  <a:srgbClr val="E07900"/>
                </a:solidFill>
              </a:rPr>
              <a:t>Practical examples</a:t>
            </a:r>
          </a:p>
        </p:txBody>
      </p:sp>
      <p:sp>
        <p:nvSpPr>
          <p:cNvPr id="13" name="">
            <a:extLst>
              <a:ext uri="{FF2B5EF4-FFF2-40B4-BE49-F238E27FC236}">
                <ns2:creationId id="{969AE544-1446-4AE5-BD30-39AFE5C1161A}"/>
              </a:ext>
            </a:extLst>
          </p:cNvPr>
          <p:cNvSpPr>
            <a:spLocks noGrp="1"/>
          </p:cNvSpPr>
          <p:nvPr/>
        </p:nvSpPr>
        <p:spPr>
          <a:xfrm>
            <a:off x="6610350" y="2571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Daily database backup.</a:t>
            </a:r>
          </a:p>
        </p:txBody>
      </p:sp>
      <p:sp>
        <p:nvSpPr>
          <p:cNvPr id="14" name="">
            <a:extLst>
              <a:ext uri="{FF2B5EF4-FFF2-40B4-BE49-F238E27FC236}">
                <ns2:creationId id="{4EEFDC4A-3747-4F74-9FF4-BF45F4B16D8B}"/>
              </a:ext>
            </a:extLst>
          </p:cNvPr>
          <p:cNvSpPr>
            <a:spLocks noGrp="1"/>
          </p:cNvSpPr>
          <p:nvPr/>
        </p:nvSpPr>
        <p:spPr>
          <a:xfrm>
            <a:off x="6610350" y="3048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Cleaning old audit logs.</a:t>
            </a:r>
          </a:p>
        </p:txBody>
      </p:sp>
      <p:sp>
        <p:nvSpPr>
          <p:cNvPr id="15" name="">
            <a:extLst>
              <a:ext uri="{FF2B5EF4-FFF2-40B4-BE49-F238E27FC236}">
                <ns2:creationId id="{10289267-4E35-4E7F-ABBE-3384D73C4612}"/>
              </a:ext>
            </a:extLst>
          </p:cNvPr>
          <p:cNvSpPr>
            <a:spLocks noGrp="1"/>
          </p:cNvSpPr>
          <p:nvPr/>
        </p:nvSpPr>
        <p:spPr>
          <a:xfrm>
            <a:off x="6610350" y="3524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Rebuilding indexes during quiet hours.</a:t>
            </a:r>
          </a:p>
        </p:txBody>
      </p:sp>
      <p:sp>
        <p:nvSpPr>
          <p:cNvPr id="16" name="">
            <a:extLst>
              <a:ext uri="{FF2B5EF4-FFF2-40B4-BE49-F238E27FC236}">
                <ns2:creationId id="{77AD4F3B-495D-4686-A9BF-7B0731DB13F2}"/>
              </a:ext>
            </a:extLst>
          </p:cNvPr>
          <p:cNvSpPr>
            <a:spLocks noGrp="1"/>
          </p:cNvSpPr>
          <p:nvPr/>
        </p:nvSpPr>
        <p:spPr>
          <a:xfrm>
            <a:off x="6610350" y="4000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Generating monthly reports or refreshing summary tables.</a:t>
            </a:r>
          </a:p>
        </p:txBody>
      </p:sp>
    </p:spTree>
    <p:extLst>
      <p:ext uri="{BB962C8B-B14F-4D97-AF65-F5344CB8AC3E}">
        <ns3:creationId val="7680399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946984-FEE5-498E-9413-6EB397DC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Trigger vs. 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E8278-CED0-4C14-9A18-F508AD32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Both automate work, but their timing and reason are completely different.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1EAD2-6F1B-48C9-8C42-9B6D7AC7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A03D6-3CE6-49CB-9C6F-193D36BD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7AD89-E448-4D92-9A57-DDB5E924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7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1AEC1-DB32-4534-B01E-2B31BAA0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D9DDD-6FB3-4A73-8CCB-49308AD6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5260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7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39597-A13E-4A66-B898-26CDC734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3832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F3CC3-53E0-4C4D-9FD3-3B31B215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7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C5ABC-4AFD-40A4-ABBB-120BF5CE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3832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Job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13F35-CEF2-407B-89B3-044B730E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E63CE-DD87-41C0-AEAA-4A7D05DF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When does it run?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22FC8-E610-462E-A679-B4FD9350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73A37-6A4B-4DDC-B272-3C73D5F4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6697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Immediately after a database 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6AF1B-42CB-4D10-AD0A-E932D343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70F0C-B62A-42CC-A756-40C84751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6697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On a schedule or manually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A11F3-BD49-46C7-A6EF-D82791D0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645C0-6349-41D0-A298-A23898C7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What is it attached to?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3DCD6-9EEE-4E46-9350-C5B2C02E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0990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B3706-5A7A-4FC5-A2EA-011C109C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 table, view, or database event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742A6-8C3E-431D-976F-AD403787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5BC40-D642-4C36-9D87-79B4E8C8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9562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An independent operational task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23F57-FAFB-4D29-8E47-ED9C68E2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7CC30-DC8A-4537-8359-D74D9C9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2427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Inside a transaction?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588267-1617-4113-B765-BCF4342C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5E1E3A-5F41-4EB2-B60B-191F86BE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2427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Usually inside the same transaction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6863C-0A44-4CC1-B1C1-18391F17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BC5A8F-152F-4F4A-BEC1-8F046904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2427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Runs as a separate process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785BCC-45F6-4503-8786-ED754DA0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0EDF21-396F-45AC-B850-9409B2A7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Example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E15C35-5DBF-44FF-B42D-9B237418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BCD2FA-AD9B-48FA-BC64-AFE6D04D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5292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Log an UPDATE on a table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96B9B1-0C33-4AB5-A433-0D4D00EB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1B23F5-448B-4DE6-ABB9-EC024D4C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5292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Backup at 2 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9F6473-DB6F-4261-A53A-FB9A0B42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9F2059-A537-44CB-A836-62F1F61A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8157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Main risk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72DA91-020E-496B-8787-3441B13B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9585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98BCEC-433D-43D4-89B3-C2C61D6D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8157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Can slow the user operation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552D6D-250E-4219-AB96-7D8BE787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CD6C00-9102-4217-86B7-C4E4DBB5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8157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Can fail silently without history monitoring</a:t>
            </a:r>
          </a:p>
        </p:txBody>
      </p:sp>
    </p:spTree>
    <p:extLst>
      <p:ext uri="{BB962C8B-B14F-4D97-AF65-F5344CB8AC3E}">
        <p14:creationId xmlns:p14="http://schemas.microsoft.com/office/powerpoint/2010/main" val="1527351109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6870E10-248E-4DC0-80A3-A590DF2A77A5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Locks protect data consistency when many users work together</a:t>
            </a:r>
          </a:p>
        </p:txBody>
      </p:sp>
      <p:sp>
        <p:nvSpPr>
          <p:cNvPr id="2" name="">
            <a:extLst>
              <a:ext uri="{FF2B5EF4-FFF2-40B4-BE49-F238E27FC236}">
                <ns2:creationId id="{7F6BFAC1-A185-4E8A-B4F5-19EEFA6011E8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 lock means SQL Server blocks or delays some operations so conflicting changes do not happen.</a:t>
            </a:r>
          </a:p>
        </p:txBody>
      </p:sp>
      <p:sp>
        <p:nvSpPr>
          <p:cNvPr id="3" name="">
            <a:extLst>
              <a:ext uri="{FF2B5EF4-FFF2-40B4-BE49-F238E27FC236}">
                <ns2:creationId id="{8BB0AFE6-E331-4F6D-BCCD-06BE0845F1E1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12A6F9CA-6AC5-45F5-A5F1-6A729CFDBCD9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5" name="">
            <a:extLst>
              <a:ext uri="{FF2B5EF4-FFF2-40B4-BE49-F238E27FC236}">
                <ns2:creationId id="{658BA6DD-6A9A-4ED7-BBE5-10C4F740E628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5143500" cy="3905250"/>
          </a:xfrm>
          <a:prstGeom prst="roundRect">
            <a:avLst>
              <a:gd name="adj" fmla="val 976"/>
            </a:avLst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5295412A-8089-470D-BBD4-23326A639CAB}"/>
              </a:ext>
            </a:extLst>
          </p:cNvPr>
          <p:cNvSpPr>
            <a:spLocks noGrp="1"/>
          </p:cNvSpPr>
          <p:nvPr/>
        </p:nvSpPr>
        <p:spPr>
          <a:xfrm>
            <a:off x="6381750" y="1762125"/>
            <a:ext cx="5143500" cy="390525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71E862E4-EF34-4437-9224-90533E56B10C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7A7A"/>
                </a:solidFill>
              </a:defRPr>
            </a:pPr>
            <a:r>
              <a:rPr sz="1800" b="1">
                <a:solidFill>
                  <a:srgbClr val="0F7A7A"/>
                </a:solidFill>
              </a:rPr>
              <a:t>Why locks matter</a:t>
            </a:r>
          </a:p>
        </p:txBody>
      </p:sp>
      <p:sp>
        <p:nvSpPr>
          <p:cNvPr id="8" name="">
            <a:extLst>
              <a:ext uri="{FF2B5EF4-FFF2-40B4-BE49-F238E27FC236}">
                <ns2:creationId id="{99B1AB34-ACD0-45FA-A9EA-1B2E4AE7858C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One user reads a row while another user changes it.</a:t>
            </a:r>
          </a:p>
        </p:txBody>
      </p:sp>
      <p:sp>
        <p:nvSpPr>
          <p:cNvPr id="9" name="">
            <a:extLst>
              <a:ext uri="{FF2B5EF4-FFF2-40B4-BE49-F238E27FC236}">
                <ns2:creationId id="{4D51596F-D55C-494D-B6B0-DFEA72635EC0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Two operations try to borrow the same book at the same time.</a:t>
            </a:r>
          </a:p>
        </p:txBody>
      </p:sp>
      <p:sp>
        <p:nvSpPr>
          <p:cNvPr id="10" name="">
            <a:extLst>
              <a:ext uri="{FF2B5EF4-FFF2-40B4-BE49-F238E27FC236}">
                <ns2:creationId id="{A6C1D468-0C0C-4AB0-8C81-54DB3E55E5B8}"/>
              </a:ext>
            </a:extLst>
          </p:cNvPr>
          <p:cNvSpPr>
            <a:spLocks noGrp="1"/>
          </p:cNvSpPr>
          <p:nvPr/>
        </p:nvSpPr>
        <p:spPr>
          <a:xfrm>
            <a:off x="895350" y="3524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A transaction needs a consistent view of data.</a:t>
            </a:r>
          </a:p>
        </p:txBody>
      </p:sp>
      <p:sp>
        <p:nvSpPr>
          <p:cNvPr id="11" name="">
            <a:extLst>
              <a:ext uri="{FF2B5EF4-FFF2-40B4-BE49-F238E27FC236}">
                <ns2:creationId id="{5C046FDB-3B62-4D8C-88C8-2B014C10BCB7}"/>
              </a:ext>
            </a:extLst>
          </p:cNvPr>
          <p:cNvSpPr>
            <a:spLocks noGrp="1"/>
          </p:cNvSpPr>
          <p:nvPr/>
        </p:nvSpPr>
        <p:spPr>
          <a:xfrm>
            <a:off x="895350" y="4000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Locks help prevent lost updates and dirty reads depending on isolation level.</a:t>
            </a:r>
          </a:p>
        </p:txBody>
      </p:sp>
      <p:sp>
        <p:nvSpPr>
          <p:cNvPr id="12" name="">
            <a:extLst>
              <a:ext uri="{FF2B5EF4-FFF2-40B4-BE49-F238E27FC236}">
                <ns2:creationId id="{54972BF2-AA34-4070-9452-F7DF2B107BFD}"/>
              </a:ext>
            </a:extLst>
          </p:cNvPr>
          <p:cNvSpPr>
            <a:spLocks noGrp="1"/>
          </p:cNvSpPr>
          <p:nvPr/>
        </p:nvSpPr>
        <p:spPr>
          <a:xfrm>
            <a:off x="6610350" y="20002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07900"/>
                </a:solidFill>
              </a:defRPr>
            </a:pPr>
            <a:r>
              <a:rPr sz="1800" b="1">
                <a:solidFill>
                  <a:srgbClr val="E07900"/>
                </a:solidFill>
              </a:rPr>
              <a:t>Key terms</a:t>
            </a:r>
          </a:p>
        </p:txBody>
      </p:sp>
      <p:sp>
        <p:nvSpPr>
          <p:cNvPr id="13" name="">
            <a:extLst>
              <a:ext uri="{FF2B5EF4-FFF2-40B4-BE49-F238E27FC236}">
                <ns2:creationId id="{FFB345B6-2C3B-45E1-A90F-0391CA52C418}"/>
              </a:ext>
            </a:extLst>
          </p:cNvPr>
          <p:cNvSpPr>
            <a:spLocks noGrp="1"/>
          </p:cNvSpPr>
          <p:nvPr/>
        </p:nvSpPr>
        <p:spPr>
          <a:xfrm>
            <a:off x="6610350" y="2571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Shared Lock is used for reading.</a:t>
            </a:r>
          </a:p>
        </p:txBody>
      </p:sp>
      <p:sp>
        <p:nvSpPr>
          <p:cNvPr id="14" name="">
            <a:extLst>
              <a:ext uri="{FF2B5EF4-FFF2-40B4-BE49-F238E27FC236}">
                <ns2:creationId id="{E1CDEBD3-C45B-43B0-8D6C-A915B1FAADA1}"/>
              </a:ext>
            </a:extLst>
          </p:cNvPr>
          <p:cNvSpPr>
            <a:spLocks noGrp="1"/>
          </p:cNvSpPr>
          <p:nvPr/>
        </p:nvSpPr>
        <p:spPr>
          <a:xfrm>
            <a:off x="6610350" y="3048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Exclusive Lock is used for data modification.</a:t>
            </a:r>
          </a:p>
        </p:txBody>
      </p:sp>
      <p:sp>
        <p:nvSpPr>
          <p:cNvPr id="15" name="">
            <a:extLst>
              <a:ext uri="{FF2B5EF4-FFF2-40B4-BE49-F238E27FC236}">
                <ns2:creationId id="{64D52966-C53C-4BC2-8D27-F9160F0629C6}"/>
              </a:ext>
            </a:extLst>
          </p:cNvPr>
          <p:cNvSpPr>
            <a:spLocks noGrp="1"/>
          </p:cNvSpPr>
          <p:nvPr/>
        </p:nvSpPr>
        <p:spPr>
          <a:xfrm>
            <a:off x="6610350" y="3524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Update Lock helps reduce deadlocks before a modification.</a:t>
            </a:r>
          </a:p>
        </p:txBody>
      </p:sp>
      <p:sp>
        <p:nvSpPr>
          <p:cNvPr id="16" name="">
            <a:extLst>
              <a:ext uri="{FF2B5EF4-FFF2-40B4-BE49-F238E27FC236}">
                <ns2:creationId id="{73F291A7-5AA0-4C96-9BD3-5D52E169146C}"/>
              </a:ext>
            </a:extLst>
          </p:cNvPr>
          <p:cNvSpPr>
            <a:spLocks noGrp="1"/>
          </p:cNvSpPr>
          <p:nvPr/>
        </p:nvSpPr>
        <p:spPr>
          <a:xfrm>
            <a:off x="6610350" y="4000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Intent Lock announces a planned lower-level lock.</a:t>
            </a:r>
          </a:p>
        </p:txBody>
      </p:sp>
    </p:spTree>
    <p:extLst>
      <p:ext uri="{BB962C8B-B14F-4D97-AF65-F5344CB8AC3E}">
        <ns3:creationId val="276145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728FD1-30F4-4180-9134-AFF3C8BF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Lock modes and lock granularity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F147F-9FE2-4E10-BA13-02CB9FCC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lock type and level decide who waits for whom.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28A90-F2DF-4A33-A89F-B4830920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7D70F-EB2B-40CC-B63C-67C7298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326CD-E6D2-477D-BBF2-777776BE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7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9D47D-3F5D-4DBB-9C38-2B7BD11C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76425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97A22-DB65-4626-8F04-AA6CBD57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907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7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0292F-FFAA-4094-94DC-A0207633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76425"/>
            <a:ext cx="318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D2677-FB55-44EC-BD1E-3A5BF107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7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F1E15-0EE7-4F6D-97A5-BBB0EECB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76425"/>
            <a:ext cx="499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44635-962F-486E-B0C5-D9CAE6EE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A1E66-9CCE-4455-B587-D89716B5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Lock Mode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8370F-7E00-4252-BD6D-6192C048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384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7EA24-13D7-47DE-93D7-AEAB548E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24125"/>
            <a:ext cx="318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S, X, U, IS, 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61330-074C-4952-A2CB-281495BD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384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46B2B-E339-4B27-9ED9-A759B796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24125"/>
            <a:ext cx="499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The operation type: read, modify, or intent to modify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AF1D1-1024-4747-BF64-143B3C6F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B2A61-BC70-41C0-BFA8-C6688E49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71825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Granularity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406B3-05EE-48BD-9B8B-3572D17D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861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0E97C-2125-4714-9DC9-2C846B6C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71825"/>
            <a:ext cx="318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Row, Page, Table, Database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850400-E8B2-42DB-BB68-7381C914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0179E-3E35-4C02-9439-9958159A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99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The size of the locked data area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07AA66-785B-4BB5-82BB-6C7FD7E2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43FDE-F098-4119-AA19-C6EF4124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9525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Blocking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BC522B-51C7-4B31-9277-2E3FDF97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338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E93FF-6578-46AF-8394-B4008AA4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19525"/>
            <a:ext cx="318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One session waits for another session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28872-6BEA-4E35-8DE3-0B5AE502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DFE30E-CD94-48FC-B123-01B43CAF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9525"/>
            <a:ext cx="499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Normal, but long waits can become a problem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B7FCDD-B6A4-418A-85FF-8338D629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46198E-D482-414D-A198-FCE3060A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67225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Deadlock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D2CE8D-2FDA-4EB7-BCE5-F66E9CD6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A1C8E5-8648-4544-A545-62C458CD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67225"/>
            <a:ext cx="318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Each process waits for the other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1C57C9-DE06-41BC-ABDE-731FD47D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8AD045-DF95-4AEB-8F8D-243BC5F6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67225"/>
            <a:ext cx="499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SQL Server chooses a victim and returns an error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287A07-7FFC-49F5-8CB7-B620A972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A319B9-E684-4DC9-9793-BFB0565D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14925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Escalation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49341B-8DB0-4345-9CE3-A7DF811D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292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6BC6E5-4662-4928-8F5B-7AE7B52C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14925"/>
            <a:ext cx="318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Many small locks become a larger lock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E92512-78D8-440D-AE79-A105C7EB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292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F4E7DD-44EA-4876-8D56-8527F2DC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14925"/>
            <a:ext cx="499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Improves lock management but can increase waiting</a:t>
            </a:r>
          </a:p>
        </p:txBody>
      </p:sp>
    </p:spTree>
    <p:extLst>
      <p:ext uri="{BB962C8B-B14F-4D97-AF65-F5344CB8AC3E}">
        <p14:creationId xmlns:p14="http://schemas.microsoft.com/office/powerpoint/2010/main" val="5594885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AC54BE-A0D9-4F00-A17C-2BEE3797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Transactions and isolation levels control reading and waiting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F2178-0EB4-424A-84D5-C513D8EF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Each level solves different consistency problems with a different cost.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7613B-5242-4A47-B681-FB5F41BD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BE381-5AD2-44AB-B308-599E139B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51E1A-4D48-40BE-90CC-628912A8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7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267D7-96D6-497A-8A86-28721418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Isolation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CA2ED-226B-4F6C-B8F3-6C9849F4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526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7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8A911-9A93-4A5A-A1B1-9FB441EB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38325"/>
            <a:ext cx="432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What it allows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AA2C6-5066-4E71-8CFD-6AA83E77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52600"/>
            <a:ext cx="390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7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E7120-D71E-4BC3-9500-008D6A3B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38325"/>
            <a:ext cx="3752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D0ED0-8463-40D0-A9D3-E365A778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F4ADC-9C73-4A46-885A-85B40E0E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READ UNCOMMITTED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EA382-E184-4A18-93B5-6FC255E4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CDBDF-6B2C-4CC4-8357-9BA1E93B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432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Can read uncommitted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F8461-E42D-4B75-ABDB-0CBA473C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390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91829-8287-43EC-B1CF-23E3BA5B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86025"/>
            <a:ext cx="3752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Dirty reads are possible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CE8A5-E2F5-4482-9F80-8C1A2FD1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7EC49-092F-4CDD-BD2C-A624A1EE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READ COMMITTED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51AE7-7CCF-4CD3-A0CA-1AEAB7A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D116D-02D2-46FB-A7CA-098C8AFD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33725"/>
            <a:ext cx="432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Reads committed data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766443-9828-4550-91B7-2901E268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0"/>
            <a:ext cx="390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A862A-34FD-49D5-A65D-AB66B6F6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33725"/>
            <a:ext cx="3752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Often the SQL Server default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88207-C5FF-4F36-8422-509125BB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FA326-E76F-43EB-BEC2-B989CA6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REPEATABLE 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D4149B-1A4D-4CA9-9E7A-F1BDF1F8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957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646C29-F23A-474F-940C-F7964251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81425"/>
            <a:ext cx="432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Protects read rows from changes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D0F9D5-BBA3-4D7F-8974-44A1A34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95700"/>
            <a:ext cx="390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34D85A-1331-4B1A-8D84-63C11F7D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81425"/>
            <a:ext cx="3752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Can increase blocking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77CD38-80EA-4F3A-8354-EEB5FDF6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C60B10-30AE-45CA-A85B-FFF4F098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SERIALIZABLE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50CF63-9789-4735-B5EB-9620CAC9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434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7CACB-31ED-47B6-A65C-AF58E11B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29125"/>
            <a:ext cx="432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Strongest protection for read ranges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0B93C0-0000-4871-8CBB-6AC1D5AA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43400"/>
            <a:ext cx="390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AFBA8E-61A2-47BA-AE24-A16FE793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29125"/>
            <a:ext cx="3752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Lower concurrency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CF78F9-EBF1-4A33-99CE-E2B2889B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E8D1DC-6A77-4A86-9A28-BB750E14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76825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SNAPSHOT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99F2A1-1771-4C90-9A74-45FA608A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911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51E734-699F-4DC0-84B7-9EE2E135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76825"/>
            <a:ext cx="432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Reads from row versions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EF0071-14B3-4EC8-A1E9-8D193E23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991100"/>
            <a:ext cx="390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FB0D40-9A51-4F31-AE82-6F830ED3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76825"/>
            <a:ext cx="3752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Reduces read blocking</a:t>
            </a:r>
          </a:p>
        </p:txBody>
      </p:sp>
    </p:spTree>
    <p:extLst>
      <p:ext uri="{BB962C8B-B14F-4D97-AF65-F5344CB8AC3E}">
        <p14:creationId xmlns:p14="http://schemas.microsoft.com/office/powerpoint/2010/main" val="21311103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71B575-A13B-4C46-8AF1-6621519D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Concurrency example in the Library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373B9-E1E7-42D4-AFE5-05D95768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Without a suitable transaction, two members may borrow the same copy at the same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E7F37-D567-4C7B-A9E0-606EE12F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4667C-E530-457A-BD47-CF3CDEA0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16F19-49B8-4BD9-B3EC-05B5EC7A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53340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86AC2-AAB5-4138-A146-6D71627D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49149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BEGIN TRAN;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-- Reserve the book if there is no open borrowing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IF NOT EXISTS (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SELECT 1 FROM Borrowing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WHERE Book_ID = @Book_ID AND Return_Date IS NULL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)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BEGIN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INSERT INTO Borrowing(Book_ID, Member_ID, Borrow_Date)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VALUES (@Book_ID, @Member_ID, GETDATE());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COMMIT;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0BD22-F43A-40D7-905F-F66CC892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A7A"/>
                </a:solidFill>
              </a:defRPr>
            </a:pPr>
            <a:r>
              <a:rPr sz="1950" b="1">
                <a:solidFill>
                  <a:srgbClr val="0F7A7A"/>
                </a:solidFill>
              </a:rPr>
              <a:t>The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69F38-63D9-484B-AC57-83284DD9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The check and the insert must be one unit of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0FB8F-C2A0-4102-9CEC-954F662B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A transaction with the right isolation level can help.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A56B4-519E-4CCF-897E-4A1252C3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A real design should add BookCopy, not only Book.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76F96-458C-4C71-8BCD-8C19286D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A filtered UNIQUE constraint on open borrowings adds stronger protection.</a:t>
            </a:r>
          </a:p>
        </p:txBody>
      </p:sp>
    </p:spTree>
    <p:extLst>
      <p:ext uri="{BB962C8B-B14F-4D97-AF65-F5344CB8AC3E}">
        <p14:creationId xmlns:p14="http://schemas.microsoft.com/office/powerpoint/2010/main" val="517272448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ED94FD05-4825-4B09-8E5B-F78659E868A1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The ERD uses the entities and attributes in the drawing</a:t>
            </a:r>
          </a:p>
        </p:txBody>
      </p:sp>
      <p:sp>
        <p:nvSpPr>
          <p:cNvPr id="2" name="">
            <a:extLst>
              <a:ext uri="{FF2B5EF4-FFF2-40B4-BE49-F238E27FC236}">
                <ns2:creationId id="{697F687D-3359-4715-9174-4FE901378B96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drawing contains Member, Book, and Borrowing with their keys and relationships.</a:t>
            </a:r>
          </a:p>
        </p:txBody>
      </p:sp>
      <p:sp>
        <p:nvSpPr>
          <p:cNvPr id="3" name="">
            <a:extLst>
              <a:ext uri="{FF2B5EF4-FFF2-40B4-BE49-F238E27FC236}">
                <ns2:creationId id="{FC475292-5235-4FF5-A7B4-72E8A902BBDF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B658987D-75ED-44EB-A9C3-7AE4DAE002CB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21</a:t>
            </a:r>
          </a:p>
        </p:txBody>
      </p:sp>
      <p:sp>
        <p:nvSpPr>
          <p:cNvPr id="5" name="">
            <a:extLst>
              <a:ext uri="{FF2B5EF4-FFF2-40B4-BE49-F238E27FC236}">
                <ns2:creationId id="{27E3518C-1393-4D8B-AB0C-E7224FB164E4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2000250" cy="64770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5B3F1FEC-BDB7-4676-B695-25BE1BF9ADE2}"/>
              </a:ext>
            </a:extLst>
          </p:cNvPr>
          <p:cNvSpPr>
            <a:spLocks noGrp="1"/>
          </p:cNvSpPr>
          <p:nvPr/>
        </p:nvSpPr>
        <p:spPr>
          <a:xfrm>
            <a:off x="838200" y="1838325"/>
            <a:ext cx="1847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7" name="">
            <a:extLst>
              <a:ext uri="{FF2B5EF4-FFF2-40B4-BE49-F238E27FC236}">
                <ns2:creationId id="{1F5354B1-AE82-490B-B8E1-C1A812E2DD79}"/>
              </a:ext>
            </a:extLst>
          </p:cNvPr>
          <p:cNvSpPr>
            <a:spLocks noGrp="1"/>
          </p:cNvSpPr>
          <p:nvPr/>
        </p:nvSpPr>
        <p:spPr>
          <a:xfrm>
            <a:off x="2762250" y="1752600"/>
            <a:ext cx="4191000" cy="64770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4DB3E9A5-6770-41DC-B3D5-4CB1378BFC74}"/>
              </a:ext>
            </a:extLst>
          </p:cNvPr>
          <p:cNvSpPr>
            <a:spLocks noGrp="1"/>
          </p:cNvSpPr>
          <p:nvPr/>
        </p:nvSpPr>
        <p:spPr>
          <a:xfrm>
            <a:off x="2838450" y="1838325"/>
            <a:ext cx="4038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9" name="">
            <a:extLst>
              <a:ext uri="{FF2B5EF4-FFF2-40B4-BE49-F238E27FC236}">
                <ns2:creationId id="{7BAA85B3-113B-4814-8175-CE058AAA4E0B}"/>
              </a:ext>
            </a:extLst>
          </p:cNvPr>
          <p:cNvSpPr>
            <a:spLocks noGrp="1"/>
          </p:cNvSpPr>
          <p:nvPr/>
        </p:nvSpPr>
        <p:spPr>
          <a:xfrm>
            <a:off x="6953250" y="1752600"/>
            <a:ext cx="4286250" cy="64770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5C438231-B78F-43BF-98CB-8DF241A26EF5}"/>
              </a:ext>
            </a:extLst>
          </p:cNvPr>
          <p:cNvSpPr>
            <a:spLocks noGrp="1"/>
          </p:cNvSpPr>
          <p:nvPr/>
        </p:nvSpPr>
        <p:spPr>
          <a:xfrm>
            <a:off x="7029450" y="1838325"/>
            <a:ext cx="4133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Library example</a:t>
            </a:r>
          </a:p>
        </p:txBody>
      </p:sp>
      <p:sp>
        <p:nvSpPr>
          <p:cNvPr id="11" name="">
            <a:extLst>
              <a:ext uri="{FF2B5EF4-FFF2-40B4-BE49-F238E27FC236}">
                <ns2:creationId id="{4E34BD9D-1C36-4521-A054-2C5A9921EDCE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200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7CA0D08E-09BF-4B51-8248-BDF040A162A9}"/>
              </a:ext>
            </a:extLst>
          </p:cNvPr>
          <p:cNvSpPr>
            <a:spLocks noGrp="1"/>
          </p:cNvSpPr>
          <p:nvPr/>
        </p:nvSpPr>
        <p:spPr>
          <a:xfrm>
            <a:off x="838200" y="2486025"/>
            <a:ext cx="1847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Entity</a:t>
            </a:r>
          </a:p>
        </p:txBody>
      </p:sp>
      <p:sp>
        <p:nvSpPr>
          <p:cNvPr id="13" name="">
            <a:extLst>
              <a:ext uri="{FF2B5EF4-FFF2-40B4-BE49-F238E27FC236}">
                <ns2:creationId id="{567CB821-2004-43B6-B6B6-2ABF04F80E11}"/>
              </a:ext>
            </a:extLst>
          </p:cNvPr>
          <p:cNvSpPr>
            <a:spLocks noGrp="1"/>
          </p:cNvSpPr>
          <p:nvPr/>
        </p:nvSpPr>
        <p:spPr>
          <a:xfrm>
            <a:off x="2762250" y="2400300"/>
            <a:ext cx="4191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BD0EDC70-8A25-4CE8-8050-C054BDEEEC80}"/>
              </a:ext>
            </a:extLst>
          </p:cNvPr>
          <p:cNvSpPr>
            <a:spLocks noGrp="1"/>
          </p:cNvSpPr>
          <p:nvPr/>
        </p:nvSpPr>
        <p:spPr>
          <a:xfrm>
            <a:off x="2838450" y="2486025"/>
            <a:ext cx="4038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Something we store data about</a:t>
            </a:r>
          </a:p>
        </p:txBody>
      </p:sp>
      <p:sp>
        <p:nvSpPr>
          <p:cNvPr id="15" name="">
            <a:extLst>
              <a:ext uri="{FF2B5EF4-FFF2-40B4-BE49-F238E27FC236}">
                <ns2:creationId id="{1F861158-D567-4A15-AE36-17009F1147ED}"/>
              </a:ext>
            </a:extLst>
          </p:cNvPr>
          <p:cNvSpPr>
            <a:spLocks noGrp="1"/>
          </p:cNvSpPr>
          <p:nvPr/>
        </p:nvSpPr>
        <p:spPr>
          <a:xfrm>
            <a:off x="6953250" y="2400300"/>
            <a:ext cx="4286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D59F37E2-4DD0-43BF-899E-8E1FBB3EE138}"/>
              </a:ext>
            </a:extLst>
          </p:cNvPr>
          <p:cNvSpPr>
            <a:spLocks noGrp="1"/>
          </p:cNvSpPr>
          <p:nvPr/>
        </p:nvSpPr>
        <p:spPr>
          <a:xfrm>
            <a:off x="7029450" y="2486025"/>
            <a:ext cx="4133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Book, Member, Borrowing</a:t>
            </a:r>
          </a:p>
        </p:txBody>
      </p:sp>
      <p:sp>
        <p:nvSpPr>
          <p:cNvPr id="17" name="">
            <a:extLst>
              <a:ext uri="{FF2B5EF4-FFF2-40B4-BE49-F238E27FC236}">
                <ns2:creationId id="{7BF8CDF6-B507-4C14-9514-6E85A648BD22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2000250" cy="6477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C6A92236-8354-425F-9090-8D5AE740610A}"/>
              </a:ext>
            </a:extLst>
          </p:cNvPr>
          <p:cNvSpPr>
            <a:spLocks noGrp="1"/>
          </p:cNvSpPr>
          <p:nvPr/>
        </p:nvSpPr>
        <p:spPr>
          <a:xfrm>
            <a:off x="838200" y="3133725"/>
            <a:ext cx="1847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Attribute</a:t>
            </a:r>
          </a:p>
        </p:txBody>
      </p:sp>
      <p:sp>
        <p:nvSpPr>
          <p:cNvPr id="19" name="">
            <a:extLst>
              <a:ext uri="{FF2B5EF4-FFF2-40B4-BE49-F238E27FC236}">
                <ns2:creationId id="{50976A26-8FF0-4A06-BE2B-7D9397169534}"/>
              </a:ext>
            </a:extLst>
          </p:cNvPr>
          <p:cNvSpPr>
            <a:spLocks noGrp="1"/>
          </p:cNvSpPr>
          <p:nvPr/>
        </p:nvSpPr>
        <p:spPr>
          <a:xfrm>
            <a:off x="2762250" y="3048000"/>
            <a:ext cx="4191000" cy="6477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E4A73B41-686F-4661-8896-A4710D2F0725}"/>
              </a:ext>
            </a:extLst>
          </p:cNvPr>
          <p:cNvSpPr>
            <a:spLocks noGrp="1"/>
          </p:cNvSpPr>
          <p:nvPr/>
        </p:nvSpPr>
        <p:spPr>
          <a:xfrm>
            <a:off x="2838450" y="3133725"/>
            <a:ext cx="4038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 property that describes an entity</a:t>
            </a:r>
          </a:p>
        </p:txBody>
      </p:sp>
      <p:sp>
        <p:nvSpPr>
          <p:cNvPr id="21" name="">
            <a:extLst>
              <a:ext uri="{FF2B5EF4-FFF2-40B4-BE49-F238E27FC236}">
                <ns2:creationId id="{F93B3027-CAFB-42F3-8291-DE1710AE08BB}"/>
              </a:ext>
            </a:extLst>
          </p:cNvPr>
          <p:cNvSpPr>
            <a:spLocks noGrp="1"/>
          </p:cNvSpPr>
          <p:nvPr/>
        </p:nvSpPr>
        <p:spPr>
          <a:xfrm>
            <a:off x="6953250" y="3048000"/>
            <a:ext cx="4286250" cy="6477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ADA60621-F57C-40FE-A496-2E30BC4AC85C}"/>
              </a:ext>
            </a:extLst>
          </p:cNvPr>
          <p:cNvSpPr>
            <a:spLocks noGrp="1"/>
          </p:cNvSpPr>
          <p:nvPr/>
        </p:nvSpPr>
        <p:spPr>
          <a:xfrm>
            <a:off x="7029450" y="3133725"/>
            <a:ext cx="4133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Name, Title, Borrow_Date</a:t>
            </a:r>
          </a:p>
        </p:txBody>
      </p:sp>
      <p:sp>
        <p:nvSpPr>
          <p:cNvPr id="23" name="">
            <a:extLst>
              <a:ext uri="{FF2B5EF4-FFF2-40B4-BE49-F238E27FC236}">
                <ns2:creationId id="{57331F69-98EC-423D-99BF-AC608A0B04F2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200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C24A92E4-4A24-43F6-BD64-15058AA2A973}"/>
              </a:ext>
            </a:extLst>
          </p:cNvPr>
          <p:cNvSpPr>
            <a:spLocks noGrp="1"/>
          </p:cNvSpPr>
          <p:nvPr/>
        </p:nvSpPr>
        <p:spPr>
          <a:xfrm>
            <a:off x="838200" y="3781425"/>
            <a:ext cx="1847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Primary Key</a:t>
            </a:r>
          </a:p>
        </p:txBody>
      </p:sp>
      <p:sp>
        <p:nvSpPr>
          <p:cNvPr id="25" name="">
            <a:extLst>
              <a:ext uri="{FF2B5EF4-FFF2-40B4-BE49-F238E27FC236}">
                <ns2:creationId id="{F0ADF0E8-DF8F-4B1D-BFBC-836CA072FABA}"/>
              </a:ext>
            </a:extLst>
          </p:cNvPr>
          <p:cNvSpPr>
            <a:spLocks noGrp="1"/>
          </p:cNvSpPr>
          <p:nvPr/>
        </p:nvSpPr>
        <p:spPr>
          <a:xfrm>
            <a:off x="2762250" y="3695700"/>
            <a:ext cx="4191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51FFE719-FFB7-492C-BC77-5256BF8DD398}"/>
              </a:ext>
            </a:extLst>
          </p:cNvPr>
          <p:cNvSpPr>
            <a:spLocks noGrp="1"/>
          </p:cNvSpPr>
          <p:nvPr/>
        </p:nvSpPr>
        <p:spPr>
          <a:xfrm>
            <a:off x="2838450" y="3781425"/>
            <a:ext cx="4038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 unique identifier inside the table</a:t>
            </a:r>
          </a:p>
        </p:txBody>
      </p:sp>
      <p:sp>
        <p:nvSpPr>
          <p:cNvPr id="27" name="">
            <a:extLst>
              <a:ext uri="{FF2B5EF4-FFF2-40B4-BE49-F238E27FC236}">
                <ns2:creationId id="{93BF3BA2-6E03-494C-9C31-2EDF186177D9}"/>
              </a:ext>
            </a:extLst>
          </p:cNvPr>
          <p:cNvSpPr>
            <a:spLocks noGrp="1"/>
          </p:cNvSpPr>
          <p:nvPr/>
        </p:nvSpPr>
        <p:spPr>
          <a:xfrm>
            <a:off x="6953250" y="3695700"/>
            <a:ext cx="4286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23F063F1-43A0-4CD5-BFB7-2C4EF2C62868}"/>
              </a:ext>
            </a:extLst>
          </p:cNvPr>
          <p:cNvSpPr>
            <a:spLocks noGrp="1"/>
          </p:cNvSpPr>
          <p:nvPr/>
        </p:nvSpPr>
        <p:spPr>
          <a:xfrm>
            <a:off x="7029450" y="3781425"/>
            <a:ext cx="4133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Book_ID</a:t>
            </a:r>
          </a:p>
        </p:txBody>
      </p:sp>
      <p:sp>
        <p:nvSpPr>
          <p:cNvPr id="29" name="">
            <a:extLst>
              <a:ext uri="{FF2B5EF4-FFF2-40B4-BE49-F238E27FC236}">
                <ns2:creationId id="{43031104-73E6-4EDF-9B87-43F6D92282DA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2000250" cy="6477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F601E595-0075-4586-9434-00B846C21971}"/>
              </a:ext>
            </a:extLst>
          </p:cNvPr>
          <p:cNvSpPr>
            <a:spLocks noGrp="1"/>
          </p:cNvSpPr>
          <p:nvPr/>
        </p:nvSpPr>
        <p:spPr>
          <a:xfrm>
            <a:off x="838200" y="4429125"/>
            <a:ext cx="1847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Foreign Key</a:t>
            </a:r>
          </a:p>
        </p:txBody>
      </p:sp>
      <p:sp>
        <p:nvSpPr>
          <p:cNvPr id="31" name="">
            <a:extLst>
              <a:ext uri="{FF2B5EF4-FFF2-40B4-BE49-F238E27FC236}">
                <ns2:creationId id="{F4D28648-3560-446E-8834-AD89B3F92207}"/>
              </a:ext>
            </a:extLst>
          </p:cNvPr>
          <p:cNvSpPr>
            <a:spLocks noGrp="1"/>
          </p:cNvSpPr>
          <p:nvPr/>
        </p:nvSpPr>
        <p:spPr>
          <a:xfrm>
            <a:off x="2762250" y="4343400"/>
            <a:ext cx="4191000" cy="6477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E8404D72-CE13-47A7-9B0B-3211F0902443}"/>
              </a:ext>
            </a:extLst>
          </p:cNvPr>
          <p:cNvSpPr>
            <a:spLocks noGrp="1"/>
          </p:cNvSpPr>
          <p:nvPr/>
        </p:nvSpPr>
        <p:spPr>
          <a:xfrm>
            <a:off x="2838450" y="4429125"/>
            <a:ext cx="4038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 column that points to another table</a:t>
            </a:r>
          </a:p>
        </p:txBody>
      </p:sp>
      <p:sp>
        <p:nvSpPr>
          <p:cNvPr id="33" name="">
            <a:extLst>
              <a:ext uri="{FF2B5EF4-FFF2-40B4-BE49-F238E27FC236}">
                <ns2:creationId id="{C6332DFB-9745-4165-B593-611458ED5296}"/>
              </a:ext>
            </a:extLst>
          </p:cNvPr>
          <p:cNvSpPr>
            <a:spLocks noGrp="1"/>
          </p:cNvSpPr>
          <p:nvPr/>
        </p:nvSpPr>
        <p:spPr>
          <a:xfrm>
            <a:off x="6953250" y="4343400"/>
            <a:ext cx="4286250" cy="6477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0EC5D5DA-88AE-49B8-BCAB-292AC51CF017}"/>
              </a:ext>
            </a:extLst>
          </p:cNvPr>
          <p:cNvSpPr>
            <a:spLocks noGrp="1"/>
          </p:cNvSpPr>
          <p:nvPr/>
        </p:nvSpPr>
        <p:spPr>
          <a:xfrm>
            <a:off x="7029450" y="4429125"/>
            <a:ext cx="4133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Borrowing.Member_ID, Borrowing.Book_ID</a:t>
            </a:r>
          </a:p>
        </p:txBody>
      </p:sp>
      <p:sp>
        <p:nvSpPr>
          <p:cNvPr id="35" name="">
            <a:extLst>
              <a:ext uri="{FF2B5EF4-FFF2-40B4-BE49-F238E27FC236}">
                <ns2:creationId id="{3931ADA2-5689-469A-A5B9-CEA2D6FA4D1D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2000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090A7B94-2158-4A49-B608-5EAD28317F48}"/>
              </a:ext>
            </a:extLst>
          </p:cNvPr>
          <p:cNvSpPr>
            <a:spLocks noGrp="1"/>
          </p:cNvSpPr>
          <p:nvPr/>
        </p:nvSpPr>
        <p:spPr>
          <a:xfrm>
            <a:off x="838200" y="5076825"/>
            <a:ext cx="1847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Cardinality</a:t>
            </a:r>
          </a:p>
        </p:txBody>
      </p:sp>
      <p:sp>
        <p:nvSpPr>
          <p:cNvPr id="37" name="">
            <a:extLst>
              <a:ext uri="{FF2B5EF4-FFF2-40B4-BE49-F238E27FC236}">
                <ns2:creationId id="{025FE513-2514-4395-80A3-6890803C2F55}"/>
              </a:ext>
            </a:extLst>
          </p:cNvPr>
          <p:cNvSpPr>
            <a:spLocks noGrp="1"/>
          </p:cNvSpPr>
          <p:nvPr/>
        </p:nvSpPr>
        <p:spPr>
          <a:xfrm>
            <a:off x="2762250" y="4991100"/>
            <a:ext cx="4191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38310EF9-E8ED-4DE5-9CE7-7E7F1583EEA6}"/>
              </a:ext>
            </a:extLst>
          </p:cNvPr>
          <p:cNvSpPr>
            <a:spLocks noGrp="1"/>
          </p:cNvSpPr>
          <p:nvPr/>
        </p:nvSpPr>
        <p:spPr>
          <a:xfrm>
            <a:off x="2838450" y="5076825"/>
            <a:ext cx="4038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How many records can participate in a relationship</a:t>
            </a:r>
          </a:p>
        </p:txBody>
      </p:sp>
      <p:sp>
        <p:nvSpPr>
          <p:cNvPr id="39" name="">
            <a:extLst>
              <a:ext uri="{FF2B5EF4-FFF2-40B4-BE49-F238E27FC236}">
                <ns2:creationId id="{A5194659-96FA-4D47-B128-12FEE9F4B962}"/>
              </a:ext>
            </a:extLst>
          </p:cNvPr>
          <p:cNvSpPr>
            <a:spLocks noGrp="1"/>
          </p:cNvSpPr>
          <p:nvPr/>
        </p:nvSpPr>
        <p:spPr>
          <a:xfrm>
            <a:off x="6953250" y="4991100"/>
            <a:ext cx="4286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4D389B9A-CB56-4B24-81EC-A26D209CEDA9}"/>
              </a:ext>
            </a:extLst>
          </p:cNvPr>
          <p:cNvSpPr>
            <a:spLocks noGrp="1"/>
          </p:cNvSpPr>
          <p:nvPr/>
        </p:nvSpPr>
        <p:spPr>
          <a:xfrm>
            <a:off x="7029450" y="5076825"/>
            <a:ext cx="4133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Member 1:M Borrowing; Book 1:M Borrowing</a:t>
            </a:r>
          </a:p>
        </p:txBody>
      </p:sp>
    </p:spTree>
    <p:extLst>
      <p:ext uri="{BB962C8B-B14F-4D97-AF65-F5344CB8AC3E}">
        <ns3:creationId val="2122928445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E348704-4C96-40EB-8F61-FDF46C4DB520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Exercise solution: entities and required attributes</a:t>
            </a:r>
          </a:p>
        </p:txBody>
      </p:sp>
      <p:sp>
        <p:nvSpPr>
          <p:cNvPr id="2" name="">
            <a:extLst>
              <a:ext uri="{FF2B5EF4-FFF2-40B4-BE49-F238E27FC236}">
                <ns2:creationId id="{48102BE0-98BA-4B40-8D5E-720E4D81427B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drawing contains only Book, Member, and Borrowing.</a:t>
            </a:r>
          </a:p>
        </p:txBody>
      </p:sp>
      <p:sp>
        <p:nvSpPr>
          <p:cNvPr id="3" name="">
            <a:extLst>
              <a:ext uri="{FF2B5EF4-FFF2-40B4-BE49-F238E27FC236}">
                <ns2:creationId id="{B783CCA4-4479-4D8A-B903-BBD5502BDAF8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172ACCFF-775A-40CA-BB97-9F9488C12407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5" name="">
            <a:extLst>
              <a:ext uri="{FF2B5EF4-FFF2-40B4-BE49-F238E27FC236}">
                <ns2:creationId id="{966E3CEF-B4F6-40A8-8180-858B06854051}"/>
              </a:ext>
            </a:extLst>
          </p:cNvPr>
          <p:cNvSpPr>
            <a:spLocks noGrp="1"/>
          </p:cNvSpPr>
          <p:nvPr/>
        </p:nvSpPr>
        <p:spPr>
          <a:xfrm>
            <a:off x="476250" y="1657350"/>
            <a:ext cx="1619250" cy="68580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455BA49E-8A5A-4DAE-8323-D5C783F9030D}"/>
              </a:ext>
            </a:extLst>
          </p:cNvPr>
          <p:cNvSpPr>
            <a:spLocks noGrp="1"/>
          </p:cNvSpPr>
          <p:nvPr/>
        </p:nvSpPr>
        <p:spPr>
          <a:xfrm>
            <a:off x="552450" y="1743075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Entity</a:t>
            </a:r>
          </a:p>
        </p:txBody>
      </p:sp>
      <p:sp>
        <p:nvSpPr>
          <p:cNvPr id="7" name="">
            <a:extLst>
              <a:ext uri="{FF2B5EF4-FFF2-40B4-BE49-F238E27FC236}">
                <ns2:creationId id="{779D5605-62DA-421B-ADAF-95926364C26D}"/>
              </a:ext>
            </a:extLst>
          </p:cNvPr>
          <p:cNvSpPr>
            <a:spLocks noGrp="1"/>
          </p:cNvSpPr>
          <p:nvPr/>
        </p:nvSpPr>
        <p:spPr>
          <a:xfrm>
            <a:off x="2095500" y="1657350"/>
            <a:ext cx="6096000" cy="68580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73C05F6A-ABF0-4B1F-95A0-F7D79266BDEE}"/>
              </a:ext>
            </a:extLst>
          </p:cNvPr>
          <p:cNvSpPr>
            <a:spLocks noGrp="1"/>
          </p:cNvSpPr>
          <p:nvPr/>
        </p:nvSpPr>
        <p:spPr>
          <a:xfrm>
            <a:off x="2171700" y="1743075"/>
            <a:ext cx="5943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9" name="">
            <a:extLst>
              <a:ext uri="{FF2B5EF4-FFF2-40B4-BE49-F238E27FC236}">
                <ns2:creationId id="{D8C07060-4771-47B4-AB73-52CCBD1184C5}"/>
              </a:ext>
            </a:extLst>
          </p:cNvPr>
          <p:cNvSpPr>
            <a:spLocks noGrp="1"/>
          </p:cNvSpPr>
          <p:nvPr/>
        </p:nvSpPr>
        <p:spPr>
          <a:xfrm>
            <a:off x="8191500" y="1657350"/>
            <a:ext cx="3619500" cy="68580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6C329FB0-85DD-463D-8261-50C7B020F576}"/>
              </a:ext>
            </a:extLst>
          </p:cNvPr>
          <p:cNvSpPr>
            <a:spLocks noGrp="1"/>
          </p:cNvSpPr>
          <p:nvPr/>
        </p:nvSpPr>
        <p:spPr>
          <a:xfrm>
            <a:off x="8267700" y="1743075"/>
            <a:ext cx="3467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Keys</a:t>
            </a:r>
          </a:p>
        </p:txBody>
      </p:sp>
      <p:sp>
        <p:nvSpPr>
          <p:cNvPr id="11" name="">
            <a:extLst>
              <a:ext uri="{FF2B5EF4-FFF2-40B4-BE49-F238E27FC236}">
                <ns2:creationId id="{663DEDCD-DC2F-44B0-ACB5-D6B91836DFB0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C3DC5289-8AC5-4D4C-BC8F-CB5DFC0CF2B0}"/>
              </a:ext>
            </a:extLst>
          </p:cNvPr>
          <p:cNvSpPr>
            <a:spLocks noGrp="1"/>
          </p:cNvSpPr>
          <p:nvPr/>
        </p:nvSpPr>
        <p:spPr>
          <a:xfrm>
            <a:off x="552450" y="2428875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Book</a:t>
            </a:r>
          </a:p>
        </p:txBody>
      </p:sp>
      <p:sp>
        <p:nvSpPr>
          <p:cNvPr id="13" name="">
            <a:extLst>
              <a:ext uri="{FF2B5EF4-FFF2-40B4-BE49-F238E27FC236}">
                <ns2:creationId id="{E7046DA7-54B6-4470-A3D8-4BDA14E1359B}"/>
              </a:ext>
            </a:extLst>
          </p:cNvPr>
          <p:cNvSpPr>
            <a:spLocks noGrp="1"/>
          </p:cNvSpPr>
          <p:nvPr/>
        </p:nvSpPr>
        <p:spPr>
          <a:xfrm>
            <a:off x="2095500" y="2343150"/>
            <a:ext cx="609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CCB7DA64-DBBD-44BC-9B2F-27C4BA2218E9}"/>
              </a:ext>
            </a:extLst>
          </p:cNvPr>
          <p:cNvSpPr>
            <a:spLocks noGrp="1"/>
          </p:cNvSpPr>
          <p:nvPr/>
        </p:nvSpPr>
        <p:spPr>
          <a:xfrm>
            <a:off x="2171700" y="2428875"/>
            <a:ext cx="5943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Book_ID, Title, ISBN, Publication_year, Genre</a:t>
            </a:r>
          </a:p>
        </p:txBody>
      </p:sp>
      <p:sp>
        <p:nvSpPr>
          <p:cNvPr id="15" name="">
            <a:extLst>
              <a:ext uri="{FF2B5EF4-FFF2-40B4-BE49-F238E27FC236}">
                <ns2:creationId id="{6BB10EEA-3282-4E39-B459-40E9BA2D9222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3619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19BF7E0C-FBAA-4AC7-AA28-D68F55CE620A}"/>
              </a:ext>
            </a:extLst>
          </p:cNvPr>
          <p:cNvSpPr>
            <a:spLocks noGrp="1"/>
          </p:cNvSpPr>
          <p:nvPr/>
        </p:nvSpPr>
        <p:spPr>
          <a:xfrm>
            <a:off x="8267700" y="2428875"/>
            <a:ext cx="3467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PK: Book_ID</a:t>
            </a:r>
          </a:p>
        </p:txBody>
      </p:sp>
      <p:sp>
        <p:nvSpPr>
          <p:cNvPr id="17" name="">
            <a:extLst>
              <a:ext uri="{FF2B5EF4-FFF2-40B4-BE49-F238E27FC236}">
                <ns2:creationId id="{06382657-1E55-4D30-B41C-E2AF217419F5}"/>
              </a:ext>
            </a:extLst>
          </p:cNvPr>
          <p:cNvSpPr>
            <a:spLocks noGrp="1"/>
          </p:cNvSpPr>
          <p:nvPr/>
        </p:nvSpPr>
        <p:spPr>
          <a:xfrm>
            <a:off x="476250" y="3028950"/>
            <a:ext cx="1619250" cy="6858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EED48672-8021-4411-891C-D5DB1D2CAAF7}"/>
              </a:ext>
            </a:extLst>
          </p:cNvPr>
          <p:cNvSpPr>
            <a:spLocks noGrp="1"/>
          </p:cNvSpPr>
          <p:nvPr/>
        </p:nvSpPr>
        <p:spPr>
          <a:xfrm>
            <a:off x="552450" y="3114675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Member</a:t>
            </a:r>
          </a:p>
        </p:txBody>
      </p:sp>
      <p:sp>
        <p:nvSpPr>
          <p:cNvPr id="19" name="">
            <a:extLst>
              <a:ext uri="{FF2B5EF4-FFF2-40B4-BE49-F238E27FC236}">
                <ns2:creationId id="{AEE07321-F671-4C07-8878-ECC73329D580}"/>
              </a:ext>
            </a:extLst>
          </p:cNvPr>
          <p:cNvSpPr>
            <a:spLocks noGrp="1"/>
          </p:cNvSpPr>
          <p:nvPr/>
        </p:nvSpPr>
        <p:spPr>
          <a:xfrm>
            <a:off x="2095500" y="3028950"/>
            <a:ext cx="6096000" cy="6858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6D30B3FA-DE08-4E85-88D2-CBC53B17D2B1}"/>
              </a:ext>
            </a:extLst>
          </p:cNvPr>
          <p:cNvSpPr>
            <a:spLocks noGrp="1"/>
          </p:cNvSpPr>
          <p:nvPr/>
        </p:nvSpPr>
        <p:spPr>
          <a:xfrm>
            <a:off x="2171700" y="3114675"/>
            <a:ext cx="5943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Member_ID, Name, Email, Join_date</a:t>
            </a:r>
          </a:p>
        </p:txBody>
      </p:sp>
      <p:sp>
        <p:nvSpPr>
          <p:cNvPr id="21" name="">
            <a:extLst>
              <a:ext uri="{FF2B5EF4-FFF2-40B4-BE49-F238E27FC236}">
                <ns2:creationId id="{88BE5A1D-096E-408B-828A-E1239FF79CDD}"/>
              </a:ext>
            </a:extLst>
          </p:cNvPr>
          <p:cNvSpPr>
            <a:spLocks noGrp="1"/>
          </p:cNvSpPr>
          <p:nvPr/>
        </p:nvSpPr>
        <p:spPr>
          <a:xfrm>
            <a:off x="8191500" y="3028950"/>
            <a:ext cx="3619500" cy="6858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99DA4F5F-9802-4B60-B258-E2F457FD7060}"/>
              </a:ext>
            </a:extLst>
          </p:cNvPr>
          <p:cNvSpPr>
            <a:spLocks noGrp="1"/>
          </p:cNvSpPr>
          <p:nvPr/>
        </p:nvSpPr>
        <p:spPr>
          <a:xfrm>
            <a:off x="8267700" y="3114675"/>
            <a:ext cx="3467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PK: Member_ID</a:t>
            </a:r>
          </a:p>
        </p:txBody>
      </p:sp>
      <p:sp>
        <p:nvSpPr>
          <p:cNvPr id="23" name="">
            <a:extLst>
              <a:ext uri="{FF2B5EF4-FFF2-40B4-BE49-F238E27FC236}">
                <ns2:creationId id="{567EF8D8-BF93-4018-9D81-4B97C4C450EE}"/>
              </a:ext>
            </a:extLst>
          </p:cNvPr>
          <p:cNvSpPr>
            <a:spLocks noGrp="1"/>
          </p:cNvSpPr>
          <p:nvPr/>
        </p:nvSpPr>
        <p:spPr>
          <a:xfrm>
            <a:off x="476250" y="37147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89942F17-89DB-49D7-A279-2C07FD329BBA}"/>
              </a:ext>
            </a:extLst>
          </p:cNvPr>
          <p:cNvSpPr>
            <a:spLocks noGrp="1"/>
          </p:cNvSpPr>
          <p:nvPr/>
        </p:nvSpPr>
        <p:spPr>
          <a:xfrm>
            <a:off x="552450" y="3800475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Borrowing</a:t>
            </a:r>
          </a:p>
        </p:txBody>
      </p:sp>
      <p:sp>
        <p:nvSpPr>
          <p:cNvPr id="25" name="">
            <a:extLst>
              <a:ext uri="{FF2B5EF4-FFF2-40B4-BE49-F238E27FC236}">
                <ns2:creationId id="{03FA2658-4A02-4A28-B28B-B3B15DD1B723}"/>
              </a:ext>
            </a:extLst>
          </p:cNvPr>
          <p:cNvSpPr>
            <a:spLocks noGrp="1"/>
          </p:cNvSpPr>
          <p:nvPr/>
        </p:nvSpPr>
        <p:spPr>
          <a:xfrm>
            <a:off x="2095500" y="3714750"/>
            <a:ext cx="609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D4F76901-FC6B-4C7E-9358-685D662D478E}"/>
              </a:ext>
            </a:extLst>
          </p:cNvPr>
          <p:cNvSpPr>
            <a:spLocks noGrp="1"/>
          </p:cNvSpPr>
          <p:nvPr/>
        </p:nvSpPr>
        <p:spPr>
          <a:xfrm>
            <a:off x="2171700" y="3800475"/>
            <a:ext cx="5943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Borrow_ID, Member_ID (FK), Book_ID (FK), Borrow_Date, Return_Date</a:t>
            </a:r>
          </a:p>
        </p:txBody>
      </p:sp>
      <p:sp>
        <p:nvSpPr>
          <p:cNvPr id="27" name="">
            <a:extLst>
              <a:ext uri="{FF2B5EF4-FFF2-40B4-BE49-F238E27FC236}">
                <ns2:creationId id="{33C94104-6358-4A0B-BB41-B38980EB8FD1}"/>
              </a:ext>
            </a:extLst>
          </p:cNvPr>
          <p:cNvSpPr>
            <a:spLocks noGrp="1"/>
          </p:cNvSpPr>
          <p:nvPr/>
        </p:nvSpPr>
        <p:spPr>
          <a:xfrm>
            <a:off x="8191500" y="3714750"/>
            <a:ext cx="3619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68D6C607-14A0-41E6-A523-34BE8909F5E9}"/>
              </a:ext>
            </a:extLst>
          </p:cNvPr>
          <p:cNvSpPr>
            <a:spLocks noGrp="1"/>
          </p:cNvSpPr>
          <p:nvPr/>
        </p:nvSpPr>
        <p:spPr>
          <a:xfrm>
            <a:off x="8267700" y="3800475"/>
            <a:ext cx="3467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PK: Borrow_ID; FKs: Member_ID, Book_ID</a:t>
            </a:r>
          </a:p>
        </p:txBody>
      </p:sp>
    </p:spTree>
    <p:extLst>
      <p:ext uri="{BB962C8B-B14F-4D97-AF65-F5344CB8AC3E}">
        <ns3:creationId val="1716381707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841DD15-756C-4C17-8DAC-A0008DD6D85E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76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Exercise solution: relationships and cardinality</a:t>
            </a:r>
          </a:p>
        </p:txBody>
      </p:sp>
      <p:sp>
        <p:nvSpPr>
          <p:cNvPr id="2" name="">
            <a:extLst>
              <a:ext uri="{FF2B5EF4-FFF2-40B4-BE49-F238E27FC236}">
                <ns2:creationId id="{61B5B9D5-BDE2-4642-8585-48C5195D62DC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Borrowing connects Member and Book using the two 1:M relationships shown in the drawing.</a:t>
            </a:r>
          </a:p>
        </p:txBody>
      </p:sp>
      <p:sp>
        <p:nvSpPr>
          <p:cNvPr id="3" name="">
            <a:extLst>
              <a:ext uri="{FF2B5EF4-FFF2-40B4-BE49-F238E27FC236}">
                <ns2:creationId id="{D85F4766-BE76-4F00-9D15-E71E8D2602C6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143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EF880A40-8E91-4FC1-B9A3-85DD3F767F95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5" name="">
            <a:extLst>
              <a:ext uri="{FF2B5EF4-FFF2-40B4-BE49-F238E27FC236}">
                <ns2:creationId id="{42F3B16E-A0B1-4D91-9515-D78EC2B7B58F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2952750" cy="66675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00EE8EA4-8C97-442D-AA77-FDA41547932E}"/>
              </a:ext>
            </a:extLst>
          </p:cNvPr>
          <p:cNvSpPr>
            <a:spLocks noGrp="1"/>
          </p:cNvSpPr>
          <p:nvPr/>
        </p:nvSpPr>
        <p:spPr>
          <a:xfrm>
            <a:off x="838200" y="1743075"/>
            <a:ext cx="280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Relationship</a:t>
            </a:r>
          </a:p>
        </p:txBody>
      </p:sp>
      <p:sp>
        <p:nvSpPr>
          <p:cNvPr id="7" name="">
            <a:extLst>
              <a:ext uri="{FF2B5EF4-FFF2-40B4-BE49-F238E27FC236}">
                <ns2:creationId id="{9E6ECFD3-CBC4-436B-B743-3B660AEFC64E}"/>
              </a:ext>
            </a:extLst>
          </p:cNvPr>
          <p:cNvSpPr>
            <a:spLocks noGrp="1"/>
          </p:cNvSpPr>
          <p:nvPr/>
        </p:nvSpPr>
        <p:spPr>
          <a:xfrm>
            <a:off x="3714750" y="1657350"/>
            <a:ext cx="2381250" cy="66675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17C7C7E8-1F55-4BE1-80EF-1AAC139A3F65}"/>
              </a:ext>
            </a:extLst>
          </p:cNvPr>
          <p:cNvSpPr>
            <a:spLocks noGrp="1"/>
          </p:cNvSpPr>
          <p:nvPr/>
        </p:nvSpPr>
        <p:spPr>
          <a:xfrm>
            <a:off x="3790950" y="1743075"/>
            <a:ext cx="2228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Cardinality</a:t>
            </a:r>
          </a:p>
        </p:txBody>
      </p:sp>
      <p:sp>
        <p:nvSpPr>
          <p:cNvPr id="9" name="">
            <a:extLst>
              <a:ext uri="{FF2B5EF4-FFF2-40B4-BE49-F238E27FC236}">
                <ns2:creationId id="{973CC5D2-0D5C-41C9-80DC-C6B2BD7B3AD2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5143500" cy="666750"/>
          </a:xfrm>
          <a:prstGeom prst="rect">
            <a:avLst/>
          </a:prstGeom>
          <a:solidFill>
            <a:srgbClr val="0F7A7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BCE1D9B1-8B4D-40E3-B987-9464A0FBCCD7}"/>
              </a:ext>
            </a:extLst>
          </p:cNvPr>
          <p:cNvSpPr>
            <a:spLocks noGrp="1"/>
          </p:cNvSpPr>
          <p:nvPr/>
        </p:nvSpPr>
        <p:spPr>
          <a:xfrm>
            <a:off x="6172200" y="1743075"/>
            <a:ext cx="4991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Explanation</a:t>
            </a:r>
          </a:p>
        </p:txBody>
      </p:sp>
      <p:sp>
        <p:nvSpPr>
          <p:cNvPr id="11" name="">
            <a:extLst>
              <a:ext uri="{FF2B5EF4-FFF2-40B4-BE49-F238E27FC236}">
                <ns2:creationId id="{1D08EEEE-3A26-4A15-B680-1D4053B166AE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2952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0B7F4C2B-5296-427A-B1A9-257328FF70C5}"/>
              </a:ext>
            </a:extLst>
          </p:cNvPr>
          <p:cNvSpPr>
            <a:spLocks noGrp="1"/>
          </p:cNvSpPr>
          <p:nvPr/>
        </p:nvSpPr>
        <p:spPr>
          <a:xfrm>
            <a:off x="838200" y="2409825"/>
            <a:ext cx="280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Member -&gt; Borrowing</a:t>
            </a:r>
          </a:p>
        </p:txBody>
      </p:sp>
      <p:sp>
        <p:nvSpPr>
          <p:cNvPr id="13" name="">
            <a:extLst>
              <a:ext uri="{FF2B5EF4-FFF2-40B4-BE49-F238E27FC236}">
                <ns2:creationId id="{D5108141-60DB-480C-9C65-F6BF26C5363A}"/>
              </a:ext>
            </a:extLst>
          </p:cNvPr>
          <p:cNvSpPr>
            <a:spLocks noGrp="1"/>
          </p:cNvSpPr>
          <p:nvPr/>
        </p:nvSpPr>
        <p:spPr>
          <a:xfrm>
            <a:off x="3714750" y="2324100"/>
            <a:ext cx="2381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71E45A2D-70CA-4803-8551-2066587F577E}"/>
              </a:ext>
            </a:extLst>
          </p:cNvPr>
          <p:cNvSpPr>
            <a:spLocks noGrp="1"/>
          </p:cNvSpPr>
          <p:nvPr/>
        </p:nvSpPr>
        <p:spPr>
          <a:xfrm>
            <a:off x="3790950" y="2409825"/>
            <a:ext cx="2228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 : M</a:t>
            </a:r>
          </a:p>
        </p:txBody>
      </p:sp>
      <p:sp>
        <p:nvSpPr>
          <p:cNvPr id="15" name="">
            <a:extLst>
              <a:ext uri="{FF2B5EF4-FFF2-40B4-BE49-F238E27FC236}">
                <ns2:creationId id="{8C869369-EF40-402A-81FF-6D73218F22AD}"/>
              </a:ext>
            </a:extLst>
          </p:cNvPr>
          <p:cNvSpPr>
            <a:spLocks noGrp="1"/>
          </p:cNvSpPr>
          <p:nvPr/>
        </p:nvSpPr>
        <p:spPr>
          <a:xfrm>
            <a:off x="6096000" y="2324100"/>
            <a:ext cx="5143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C3C843B5-8E87-45CA-8B8D-8F2EBB4836DF}"/>
              </a:ext>
            </a:extLst>
          </p:cNvPr>
          <p:cNvSpPr>
            <a:spLocks noGrp="1"/>
          </p:cNvSpPr>
          <p:nvPr/>
        </p:nvSpPr>
        <p:spPr>
          <a:xfrm>
            <a:off x="6172200" y="2409825"/>
            <a:ext cx="4991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One member can have many borrowing records</a:t>
            </a:r>
          </a:p>
        </p:txBody>
      </p:sp>
      <p:sp>
        <p:nvSpPr>
          <p:cNvPr id="17" name="">
            <a:extLst>
              <a:ext uri="{FF2B5EF4-FFF2-40B4-BE49-F238E27FC236}">
                <ns2:creationId id="{FD1FF673-D1D0-4C99-BF75-D990D178A6D1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2952750" cy="6667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81BF8EDB-501D-4143-A545-FB66A3053797}"/>
              </a:ext>
            </a:extLst>
          </p:cNvPr>
          <p:cNvSpPr>
            <a:spLocks noGrp="1"/>
          </p:cNvSpPr>
          <p:nvPr/>
        </p:nvSpPr>
        <p:spPr>
          <a:xfrm>
            <a:off x="838200" y="3076575"/>
            <a:ext cx="280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Book -&gt; Borrowing</a:t>
            </a:r>
          </a:p>
        </p:txBody>
      </p:sp>
      <p:sp>
        <p:nvSpPr>
          <p:cNvPr id="19" name="">
            <a:extLst>
              <a:ext uri="{FF2B5EF4-FFF2-40B4-BE49-F238E27FC236}">
                <ns2:creationId id="{B71F61A0-5E95-4B68-8583-06BCF10145ED}"/>
              </a:ext>
            </a:extLst>
          </p:cNvPr>
          <p:cNvSpPr>
            <a:spLocks noGrp="1"/>
          </p:cNvSpPr>
          <p:nvPr/>
        </p:nvSpPr>
        <p:spPr>
          <a:xfrm>
            <a:off x="3714750" y="2990850"/>
            <a:ext cx="2381250" cy="6667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F78DD728-688A-4ABD-BA5D-B38F03F4B419}"/>
              </a:ext>
            </a:extLst>
          </p:cNvPr>
          <p:cNvSpPr>
            <a:spLocks noGrp="1"/>
          </p:cNvSpPr>
          <p:nvPr/>
        </p:nvSpPr>
        <p:spPr>
          <a:xfrm>
            <a:off x="3790950" y="3076575"/>
            <a:ext cx="2228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 : M</a:t>
            </a:r>
          </a:p>
        </p:txBody>
      </p:sp>
      <p:sp>
        <p:nvSpPr>
          <p:cNvPr id="21" name="">
            <a:extLst>
              <a:ext uri="{FF2B5EF4-FFF2-40B4-BE49-F238E27FC236}">
                <ns2:creationId id="{FC480CF7-C119-4E8D-9E04-49B5CCAC77BC}"/>
              </a:ext>
            </a:extLst>
          </p:cNvPr>
          <p:cNvSpPr>
            <a:spLocks noGrp="1"/>
          </p:cNvSpPr>
          <p:nvPr/>
        </p:nvSpPr>
        <p:spPr>
          <a:xfrm>
            <a:off x="6096000" y="2990850"/>
            <a:ext cx="5143500" cy="6667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24CD33F6-1D86-4842-8E1E-4142857D2849}"/>
              </a:ext>
            </a:extLst>
          </p:cNvPr>
          <p:cNvSpPr>
            <a:spLocks noGrp="1"/>
          </p:cNvSpPr>
          <p:nvPr/>
        </p:nvSpPr>
        <p:spPr>
          <a:xfrm>
            <a:off x="6172200" y="3076575"/>
            <a:ext cx="4991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One book can have many borrowing records</a:t>
            </a:r>
          </a:p>
        </p:txBody>
      </p:sp>
    </p:spTree>
    <p:extLst>
      <p:ext uri="{BB962C8B-B14F-4D97-AF65-F5344CB8AC3E}">
        <ns3:creationId val="559790962"/>
      </p:ext>
    </p:extLst>
  </p:cSld>
</p:sld>
</file>

<file path=ppt/slides/slide2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Library ERD replacement">
            <a:extLst/>
          </p:cNvPr>
          <p:cNvPicPr/>
          <p:nvPr/>
        </p:nvPicPr>
        <p:blipFill>
          <a:blip r:embed="rId1"/>
          <a:stretch>
            <a:fillRect/>
          </a:stretch>
        </p:blipFill>
        <p:spPr>
          <a:xfrm>
            <a:off x="795338" y="0"/>
            <a:ext cx="10601325" cy="6858000"/>
          </a:xfrm>
          <a:prstGeom prst="rect">
            <a:avLst/>
          </a:prstGeom>
        </p:spPr>
      </p:pic>
      <p:sp>
        <p:nvSpPr>
          <p:cNvPr id="11" name="Slide Number">
            <a:extLst>
              <a:ext uri="{FF2B5EF4-FFF2-40B4-BE49-F238E27FC236}">
                <ns3:creationId id="{34F8B5D5-82DD-4261-824A-76BE59448E14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15</a:t>
            </a:r>
          </a:p>
        </p:txBody>
      </p:sp>
    </p:spTree>
    <p:extLst>
      <p:ext uri="{BB962C8B-B14F-4D97-AF65-F5344CB8AC3E}">
        <ns4:creationId val="10130014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74201B-B0C9-4E71-8900-5CB2CCDE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Convert the ERD into a SQL 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39C1C-5205-42ED-BDEC-9EDCCE93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This is a short practical schema for the main tables after solving the exercise.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47B29-21ED-442C-8630-049A2F71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D404F-993A-4C2B-84CB-F68F63CB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9ABEB-E146-4B09-8866-111D4CCF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759DA-C5AE-4D91-AB8C-8B25E614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104013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Book(Book_ID PK, Title, ISBN UNIQUE, Publication_Year, Category_ID FK)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Member(Member_ID PK, Name, Email UNIQUE, Join_Date)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Borrowing(Borrow_ID PK, Book_ID FK, Member_ID FK,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          Borrow_Date, Return_Date, Librarian_ID FK)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Author(Author_ID PK, Name)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BookAuthor(Book_ID FK, Author_ID FK, PK(Book_ID, Author_ID))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Category(Category_ID PK, Category_Name)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Librarian(Librarian_ID PK, Name, Email UNIQUE)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Main cardinality: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Member 1:M Borrowing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Book 1:M Borrowing</a:t>
            </a:r>
          </a:p>
          <a:p xmlns:a="http://schemas.openxmlformats.org/drawingml/2006/main">
            <a:pPr algn="l">
              <a:defRPr sz="1350" b="0">
                <a:solidFill>
                  <a:srgbClr val="F3F3F3"/>
                </a:solidFill>
              </a:defRPr>
            </a:pPr>
            <a:r>
              <a:rPr sz="1350" b="0">
                <a:solidFill>
                  <a:srgbClr val="F3F3F3"/>
                </a:solidFill>
              </a:rPr>
              <a:t>Member M:N Book through Borrowing</a:t>
            </a:r>
          </a:p>
        </p:txBody>
      </p:sp>
    </p:spTree>
    <p:extLst>
      <p:ext uri="{BB962C8B-B14F-4D97-AF65-F5344CB8AC3E}">
        <p14:creationId xmlns:p14="http://schemas.microsoft.com/office/powerpoint/2010/main" val="13656175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C96644-63C7-4089-A9CB-99812633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Quick study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AE3F-E498-4C66-B206-AB2EF114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Remember these points and you will know when to use each database tool.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6FBF2-3E6C-404C-8AAE-4F6CC350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2424E-2B86-4932-A5E2-6BDC25FF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2D882-173F-4F1F-8E16-4F0690C9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Normalization is for design: split data by meaning and dependency to reduce repetition.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8ABC0-A4D4-4704-85B8-8DE9A577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Constraints are for protection: make the database reject invalid values and relationships.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20988-6BA7-41C2-BD52-5123052A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Triggers are for immediate events: use them carefully for auditing or complex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261D6-F9E4-4BAA-837D-4AEE1FF4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Jobs are for scheduled work: backups, cleanup, maintenance, and reports.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2E1CA-B8BA-4B19-8BFF-2749C9CC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Locks and transactions are for concurrency: they preserve consistency when many users work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CDD72-2613-4429-9D21-223F7692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The ERD is the bridge between understanding the problem and building SQL tables.</a:t>
            </a:r>
          </a:p>
        </p:txBody>
      </p:sp>
    </p:spTree>
    <p:extLst>
      <p:ext uri="{BB962C8B-B14F-4D97-AF65-F5344CB8AC3E}">
        <p14:creationId xmlns:p14="http://schemas.microsoft.com/office/powerpoint/2010/main" val="161657346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922937-30F3-4346-BEE8-4CF22B8C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References used in this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27F6F-1F70-4635-923F-DD0CD582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These references are useful if you need to explain the source or study further.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7AEA1-066D-4393-A581-57A3CBAF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02CB0-9CE3-4F0F-81BD-21ECAF15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EFE7D-5B39-41EF-9824-2C018B49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Microsoft Learn: CREATE TRIGGER (Transact-SQL).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153BA-1922-48B8-B813-CA5F2B8C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Microsoft Learn: Create CHECK constraints.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3C912-E0A4-4D3C-A673-22CD25AB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Microsoft Learn: SQL Server transaction locking and row versioning guide.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65970-66A3-438E-8AC1-22D0A787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Microsoft Learn / SQL Server Agent concepts for scheduled jobs.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6D135-B4E0-4D7C-A109-0B0432FB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Database normalization theory: 1NF, 2NF, 3NF, BCNF and update/insert/delete anomalies.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8E98B-2FC3-42CB-BD57-B1815F6B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The provided exercise image: Library Management System ERD.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5032F-A0F2-4E95-AB27-F55CECD3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7A7A"/>
                </a:solidFill>
              </a:defRPr>
            </a:pPr>
            <a:r>
              <a:rPr sz="2700" b="1">
                <a:solidFill>
                  <a:srgbClr val="0F7A7A"/>
                </a:solidFill>
              </a:rPr>
              <a:t>End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918807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cp:Properties xmlns:cp="http://schemas.openxmlformats.org/officeDocument/2006/extended-properties">
  <cp:Application>Walnut Exporter</cp:Application>
  <cp:PresentationFormat>Converted Presentation</cp:PresentationFormat>
  <cp:Slides>15</cp:Slides>
  <cp:Notes>0</cp:Notes>
  <cp:HiddenSlides>0</cp:HiddenSlides>
  <cp:SharedDoc>false</cp:SharedDoc>
  <cp:DocSecurity>0</cp:DocSecurity>
</c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2026-07-08T15:04:24.0580000Z</dcterms:created>
  <dcterms:modified xsi:type="dcterms:W3CDTF">2026-07-08T15:04:24.0580000Z</dcterms:modified>
</coreProperties>
</file>