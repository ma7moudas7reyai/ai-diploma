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5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1097280"/>
            <a:ext cx="10789920" cy="4480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223760" y="1554480"/>
            <a:ext cx="3474720" cy="3474720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53035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152745"/>
                </a:solidFill>
                <a:latin typeface="Aptos"/>
              </a:defRPr>
            </a:pPr>
            <a:r>
              <a:t>Probability for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54864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0">
                <a:solidFill>
                  <a:srgbClr val="2D3441"/>
                </a:solidFill>
                <a:latin typeface="Aptos"/>
              </a:defRPr>
            </a:pPr>
            <a:r>
              <a:t>Central Tendency</a:t>
            </a:r>
            <a:br/>
            <a:r>
              <a:t>Central Limit Theorem</a:t>
            </a:r>
            <a:br/>
            <a:r>
              <a:t>Confidence Intervals</a:t>
            </a:r>
            <a:br/>
            <a:r>
              <a:t>Hypothesis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251960"/>
            <a:ext cx="55778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0">
                <a:solidFill>
                  <a:srgbClr val="636E81"/>
                </a:solidFill>
                <a:latin typeface="Aptos"/>
              </a:defRPr>
            </a:pPr>
            <a:r>
              <a:t>Prepared as a presentation-ready summary</a:t>
            </a:r>
            <a:br/>
            <a:r>
              <a:t>with examples and when to use each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2286000"/>
            <a:ext cx="210312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 b="1">
                <a:solidFill>
                  <a:srgbClr val="2D70F6"/>
                </a:solidFill>
                <a:latin typeface="Aptos"/>
              </a:defRPr>
            </a:pPr>
            <a:r>
              <a:t>STAT</a:t>
            </a:r>
            <a:br/>
            <a:r>
              <a:t>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3246120"/>
            <a:ext cx="27432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0">
                <a:solidFill>
                  <a:srgbClr val="2D3441"/>
                </a:solidFill>
                <a:latin typeface="Aptos"/>
              </a:defRPr>
            </a:pPr>
            <a:r>
              <a:t>Sampling, estimation,</a:t>
            </a:r>
            <a:br/>
            <a:r>
              <a:t>and decision-making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0" y="640080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36E81"/>
                </a:solidFill>
                <a:latin typeface="Aptos"/>
              </a:defRPr>
            </a:pPr>
            <a:r>
              <a:t>Probability for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5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52745"/>
                </a:solidFill>
                <a:latin typeface="Georgia"/>
              </a:defRPr>
            </a:pPr>
            <a:r>
              <a:t>Presentation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36E81"/>
                </a:solidFill>
                <a:latin typeface="Aptos"/>
              </a:defRPr>
            </a:pPr>
            <a:r>
              <a:t>What the deck covers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417320"/>
            <a:ext cx="2880360" cy="1783080"/>
          </a:xfrm>
          <a:prstGeom prst="roundRect">
            <a:avLst/>
          </a:prstGeom>
          <a:solidFill>
            <a:srgbClr val="E8F0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8191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745"/>
                </a:solidFill>
                <a:latin typeface="Georgia"/>
              </a:defRPr>
            </a:pPr>
            <a:r>
              <a:t>1. Central Tendency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39112"/>
            <a:ext cx="2423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D3441"/>
                </a:solidFill>
                <a:latin typeface="Aptos"/>
              </a:defRPr>
            </a:pPr>
            <a:r>
              <a:t>Mean, median, mode</a:t>
            </a:r>
          </a:p>
          <a:p>
            <a:pPr>
              <a:spcAft>
                <a:spcPts val="300"/>
              </a:spcAft>
              <a:defRPr sz="1200">
                <a:solidFill>
                  <a:srgbClr val="2D3441"/>
                </a:solidFill>
                <a:latin typeface="Aptos"/>
              </a:defRPr>
            </a:pPr>
            <a:r>
              <a:t>Which one fits the data shape?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417320"/>
            <a:ext cx="2880360" cy="1783080"/>
          </a:xfrm>
          <a:prstGeom prst="roundRect">
            <a:avLst/>
          </a:prstGeom>
          <a:solidFill>
            <a:srgbClr val="E5F8F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58191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745"/>
                </a:solidFill>
                <a:latin typeface="Georgia"/>
              </a:defRPr>
            </a:pPr>
            <a:r>
              <a:t>2. CLT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039112"/>
            <a:ext cx="2423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D3441"/>
                </a:solidFill>
                <a:latin typeface="Aptos"/>
              </a:defRPr>
            </a:pPr>
            <a:r>
              <a:t>Why sample means become normal</a:t>
            </a:r>
          </a:p>
          <a:p>
            <a:pPr>
              <a:spcAft>
                <a:spcPts val="300"/>
              </a:spcAft>
              <a:defRPr sz="1200">
                <a:solidFill>
                  <a:srgbClr val="2D3441"/>
                </a:solidFill>
                <a:latin typeface="Aptos"/>
              </a:defRPr>
            </a:pPr>
            <a:r>
              <a:t>Why this matters in AI and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2880360" cy="1783080"/>
          </a:xfrm>
          <a:prstGeom prst="roundRect">
            <a:avLst/>
          </a:prstGeom>
          <a:solidFill>
            <a:srgbClr val="FFF4D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8191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745"/>
                </a:solidFill>
                <a:latin typeface="Georgia"/>
              </a:defRPr>
            </a:pPr>
            <a:r>
              <a:t>3. Confidence Interval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39112"/>
            <a:ext cx="2423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D3441"/>
                </a:solidFill>
                <a:latin typeface="Aptos"/>
              </a:defRPr>
            </a:pPr>
            <a:r>
              <a:t>Estimate a parameter with a range</a:t>
            </a:r>
          </a:p>
          <a:p>
            <a:pPr>
              <a:spcAft>
                <a:spcPts val="300"/>
              </a:spcAft>
              <a:defRPr sz="1200">
                <a:solidFill>
                  <a:srgbClr val="2D3441"/>
                </a:solidFill>
                <a:latin typeface="Aptos"/>
              </a:defRPr>
            </a:pPr>
            <a:r>
              <a:t>Interpret 95% correctly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417320"/>
            <a:ext cx="2788920" cy="1783080"/>
          </a:xfrm>
          <a:prstGeom prst="roundRect">
            <a:avLst/>
          </a:prstGeom>
          <a:solidFill>
            <a:srgbClr val="FFEB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1581912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745"/>
                </a:solidFill>
                <a:latin typeface="Georgia"/>
              </a:defRPr>
            </a:pPr>
            <a:r>
              <a:t>4. Testing Types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2039112"/>
            <a:ext cx="2331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D3441"/>
                </a:solidFill>
                <a:latin typeface="Aptos"/>
              </a:defRPr>
            </a:pPr>
            <a:r>
              <a:t>Which test to choose</a:t>
            </a:r>
          </a:p>
          <a:p>
            <a:pPr>
              <a:spcAft>
                <a:spcPts val="300"/>
              </a:spcAft>
              <a:defRPr sz="1200">
                <a:solidFill>
                  <a:srgbClr val="2D3441"/>
                </a:solidFill>
                <a:latin typeface="Aptos"/>
              </a:defRPr>
            </a:pPr>
            <a:r>
              <a:t>When to use each 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11880"/>
            <a:ext cx="10058400" cy="182880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D3441"/>
                </a:solidFill>
                <a:latin typeface="Aptos"/>
              </a:defRPr>
            </a:pPr>
            <a:r>
              <a:t>Goal: move from describing data to making decisions from samples.</a:t>
            </a:r>
          </a:p>
          <a:p>
            <a:pPr>
              <a:spcAft>
                <a:spcPts val="800"/>
              </a:spcAft>
              <a:defRPr sz="1700">
                <a:solidFill>
                  <a:srgbClr val="2D3441"/>
                </a:solidFill>
                <a:latin typeface="Aptos"/>
              </a:defRPr>
            </a:pPr>
            <a:r>
              <a:t>These ideas are foundational for machine learning evaluation, A/B testing, model comparison, and uncertainty quantification.</a:t>
            </a:r>
          </a:p>
          <a:p>
            <a:pPr>
              <a:spcAft>
                <a:spcPts val="800"/>
              </a:spcAft>
              <a:defRPr sz="1700">
                <a:solidFill>
                  <a:srgbClr val="2D3441"/>
                </a:solidFill>
                <a:latin typeface="Aptos"/>
              </a:defRPr>
            </a:pPr>
            <a:r>
              <a:t>Each section ends with a practical example to make the idea easy to remember.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640080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36E81"/>
                </a:solidFill>
                <a:latin typeface="Aptos"/>
              </a:defRPr>
            </a:pPr>
            <a:r>
              <a:t>Probability for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5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52745"/>
                </a:solidFill>
                <a:latin typeface="Georgia"/>
              </a:defRPr>
            </a:pPr>
            <a:r>
              <a:t>Central Tendency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36E81"/>
                </a:solidFill>
                <a:latin typeface="Aptos"/>
              </a:defRPr>
            </a:pPr>
            <a:r>
              <a:t>A single value that describes the center of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474720" cy="1920240"/>
          </a:xfrm>
          <a:prstGeom prst="roundRect">
            <a:avLst/>
          </a:prstGeom>
          <a:solidFill>
            <a:srgbClr val="E8F0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8191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745"/>
                </a:solidFill>
                <a:latin typeface="Georgia"/>
              </a:defRPr>
            </a:pPr>
            <a:r>
              <a:t>Mean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39112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D3441"/>
                </a:solidFill>
                <a:latin typeface="Aptos"/>
              </a:defRPr>
            </a:pPr>
            <a:r>
              <a:t>Average of all values.</a:t>
            </a:r>
          </a:p>
          <a:p>
            <a:pPr>
              <a:spcAft>
                <a:spcPts val="300"/>
              </a:spcAft>
              <a:defRPr sz="1200">
                <a:solidFill>
                  <a:srgbClr val="2D3441"/>
                </a:solidFill>
                <a:latin typeface="Aptos"/>
              </a:defRPr>
            </a:pPr>
            <a:r>
              <a:t>Uses every observation.</a:t>
            </a:r>
          </a:p>
          <a:p>
            <a:pPr>
              <a:spcAft>
                <a:spcPts val="300"/>
              </a:spcAft>
              <a:defRPr sz="1200">
                <a:solidFill>
                  <a:srgbClr val="2D3441"/>
                </a:solidFill>
                <a:latin typeface="Aptos"/>
              </a:defRPr>
            </a:pPr>
            <a:r>
              <a:t>Sensitive to outliers.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474720" cy="1920240"/>
          </a:xfrm>
          <a:prstGeom prst="roundRect">
            <a:avLst/>
          </a:prstGeom>
          <a:solidFill>
            <a:srgbClr val="E5F8F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8191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745"/>
                </a:solidFill>
                <a:latin typeface="Georgia"/>
              </a:defRPr>
            </a:pPr>
            <a:r>
              <a:t>Median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39112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D3441"/>
                </a:solidFill>
                <a:latin typeface="Aptos"/>
              </a:defRPr>
            </a:pPr>
            <a:r>
              <a:t>Middle value after sorting.</a:t>
            </a:r>
          </a:p>
          <a:p>
            <a:pPr>
              <a:spcAft>
                <a:spcPts val="300"/>
              </a:spcAft>
              <a:defRPr sz="1200">
                <a:solidFill>
                  <a:srgbClr val="2D3441"/>
                </a:solidFill>
                <a:latin typeface="Aptos"/>
              </a:defRPr>
            </a:pPr>
            <a:r>
              <a:t>Resistant to extreme values.</a:t>
            </a:r>
          </a:p>
          <a:p>
            <a:pPr>
              <a:spcAft>
                <a:spcPts val="300"/>
              </a:spcAft>
              <a:defRPr sz="1200">
                <a:solidFill>
                  <a:srgbClr val="2D3441"/>
                </a:solidFill>
                <a:latin typeface="Aptos"/>
              </a:defRPr>
            </a:pPr>
            <a:r>
              <a:t>Best for skewed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417320"/>
            <a:ext cx="3474720" cy="1920240"/>
          </a:xfrm>
          <a:prstGeom prst="roundRect">
            <a:avLst/>
          </a:prstGeom>
          <a:solidFill>
            <a:srgbClr val="FFF4D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58191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745"/>
                </a:solidFill>
                <a:latin typeface="Georgia"/>
              </a:defRPr>
            </a:pPr>
            <a:r>
              <a:t>Mode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039112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D3441"/>
                </a:solidFill>
                <a:latin typeface="Aptos"/>
              </a:defRPr>
            </a:pPr>
            <a:r>
              <a:t>Most frequent value.</a:t>
            </a:r>
          </a:p>
          <a:p>
            <a:pPr>
              <a:spcAft>
                <a:spcPts val="300"/>
              </a:spcAft>
              <a:defRPr sz="1200">
                <a:solidFill>
                  <a:srgbClr val="2D3441"/>
                </a:solidFill>
                <a:latin typeface="Aptos"/>
              </a:defRPr>
            </a:pPr>
            <a:r>
              <a:t>Works with numeric and categorical data.</a:t>
            </a:r>
          </a:p>
          <a:p>
            <a:pPr>
              <a:spcAft>
                <a:spcPts val="300"/>
              </a:spcAft>
              <a:defRPr sz="1200">
                <a:solidFill>
                  <a:srgbClr val="2D3441"/>
                </a:solidFill>
                <a:latin typeface="Aptos"/>
              </a:defRPr>
            </a:pPr>
            <a:r>
              <a:t>Useful for most common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03320"/>
            <a:ext cx="10241280" cy="210312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3441"/>
                </a:solidFill>
                <a:latin typeface="Aptos"/>
              </a:defRPr>
            </a:pPr>
            <a:r>
              <a:t>Central tendency summarizes where data tends to cluster.</a:t>
            </a:r>
          </a:p>
          <a:p>
            <a:pPr>
              <a:spcAft>
                <a:spcPts val="800"/>
              </a:spcAft>
              <a:defRPr sz="1800">
                <a:solidFill>
                  <a:srgbClr val="2D3441"/>
                </a:solidFill>
                <a:latin typeface="Aptos"/>
              </a:defRPr>
            </a:pPr>
            <a:r>
              <a:t>In AI datasets, it helps us quickly understand a feature such as age, score, or response time.</a:t>
            </a:r>
          </a:p>
          <a:p>
            <a:pPr>
              <a:spcAft>
                <a:spcPts val="800"/>
              </a:spcAft>
              <a:defRPr sz="1800">
                <a:solidFill>
                  <a:srgbClr val="2D3441"/>
                </a:solidFill>
                <a:latin typeface="Aptos"/>
              </a:defRPr>
            </a:pPr>
            <a:r>
              <a:t>No single measure is always best; the distribution shape decides the best summary.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640080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36E81"/>
                </a:solidFill>
                <a:latin typeface="Aptos"/>
              </a:defRPr>
            </a:pPr>
            <a:r>
              <a:t>Probability for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5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52745"/>
                </a:solidFill>
                <a:latin typeface="Georgia"/>
              </a:defRPr>
            </a:pPr>
            <a:r>
              <a:t>Mean vs Median vs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36E81"/>
                </a:solidFill>
                <a:latin typeface="Aptos"/>
              </a:defRPr>
            </a:pPr>
            <a:r>
              <a:t>Example dataset: 2, 3, 3, 4, 5,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46120"/>
            <a:ext cx="6583680" cy="25400"/>
          </a:xfrm>
          <a:prstGeom prst="rect">
            <a:avLst/>
          </a:prstGeom>
          <a:solidFill>
            <a:srgbClr val="63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3172968"/>
            <a:ext cx="146304" cy="146304"/>
          </a:xfrm>
          <a:prstGeom prst="ellipse">
            <a:avLst/>
          </a:prstGeom>
          <a:solidFill>
            <a:srgbClr val="2D7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72540" y="3172968"/>
            <a:ext cx="146304" cy="146304"/>
          </a:xfrm>
          <a:prstGeom prst="ellipse">
            <a:avLst/>
          </a:prstGeom>
          <a:solidFill>
            <a:srgbClr val="25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72540" y="3172968"/>
            <a:ext cx="146304" cy="146304"/>
          </a:xfrm>
          <a:prstGeom prst="ellipse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30680" y="3172968"/>
            <a:ext cx="146304" cy="146304"/>
          </a:xfrm>
          <a:prstGeom prst="ellipse">
            <a:avLst/>
          </a:prstGeom>
          <a:solidFill>
            <a:srgbClr val="E6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988820" y="3172968"/>
            <a:ext cx="146304" cy="146304"/>
          </a:xfrm>
          <a:prstGeom prst="ellipse">
            <a:avLst/>
          </a:prstGeom>
          <a:solidFill>
            <a:srgbClr val="2D7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60920" y="3172968"/>
            <a:ext cx="146304" cy="146304"/>
          </a:xfrm>
          <a:prstGeom prst="ellipse">
            <a:avLst/>
          </a:prstGeom>
          <a:solidFill>
            <a:srgbClr val="25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wn Arrow 11"/>
          <p:cNvSpPr/>
          <p:nvPr/>
        </p:nvSpPr>
        <p:spPr>
          <a:xfrm>
            <a:off x="1325880" y="1783080"/>
            <a:ext cx="310896" cy="841248"/>
          </a:xfrm>
          <a:prstGeom prst="downArrow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1481328"/>
            <a:ext cx="10058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B347"/>
                </a:solidFill>
                <a:latin typeface="Aptos"/>
              </a:defRPr>
            </a:pPr>
            <a:r>
              <a:t>mode = 3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783080" y="1828800"/>
            <a:ext cx="310896" cy="841248"/>
          </a:xfrm>
          <a:prstGeom prst="downArrow">
            <a:avLst/>
          </a:prstGeom>
          <a:solidFill>
            <a:srgbClr val="25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1517904"/>
            <a:ext cx="13258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25B5A8"/>
                </a:solidFill>
                <a:latin typeface="Aptos"/>
              </a:defRPr>
            </a:pPr>
            <a:r>
              <a:t>median = 3.5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3611880" y="1783080"/>
            <a:ext cx="310896" cy="841248"/>
          </a:xfrm>
          <a:prstGeom prst="downArrow">
            <a:avLst/>
          </a:prstGeom>
          <a:solidFill>
            <a:srgbClr val="E6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1481328"/>
            <a:ext cx="12344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E65757"/>
                </a:solidFill>
                <a:latin typeface="Aptos"/>
              </a:defRPr>
            </a:pPr>
            <a:r>
              <a:t>mean = 6.17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70332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36E81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9616" y="370332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36E81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370332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36E81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370332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36E81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7033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36E81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1554480"/>
            <a:ext cx="3429000" cy="2103120"/>
          </a:xfrm>
          <a:prstGeom prst="roundRect">
            <a:avLst/>
          </a:prstGeom>
          <a:solidFill>
            <a:srgbClr val="FFEB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1719072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745"/>
                </a:solidFill>
                <a:latin typeface="Georgia"/>
              </a:defRPr>
            </a:pPr>
            <a:r>
              <a:t>Why are they different?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2176272"/>
            <a:ext cx="2971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D3441"/>
                </a:solidFill>
                <a:latin typeface="Aptos"/>
              </a:defRPr>
            </a:pPr>
            <a:r>
              <a:t>The outlier 20 pulls the mean to the right.</a:t>
            </a:r>
          </a:p>
          <a:p>
            <a:pPr>
              <a:spcAft>
                <a:spcPts val="300"/>
              </a:spcAft>
              <a:defRPr sz="1200">
                <a:solidFill>
                  <a:srgbClr val="2D3441"/>
                </a:solidFill>
                <a:latin typeface="Aptos"/>
              </a:defRPr>
            </a:pPr>
            <a:r>
              <a:t>Median stays closer to the center.</a:t>
            </a:r>
          </a:p>
          <a:p>
            <a:pPr>
              <a:spcAft>
                <a:spcPts val="300"/>
              </a:spcAft>
              <a:defRPr sz="1200">
                <a:solidFill>
                  <a:srgbClr val="2D3441"/>
                </a:solidFill>
                <a:latin typeface="Aptos"/>
              </a:defRPr>
            </a:pPr>
            <a:r>
              <a:t>Mode marks the most frequent value.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18120" y="3886200"/>
            <a:ext cx="3429000" cy="1234440"/>
          </a:xfrm>
          <a:prstGeom prst="roundRect">
            <a:avLst/>
          </a:prstGeom>
          <a:solidFill>
            <a:srgbClr val="FFF4D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0" y="4050792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745"/>
                </a:solidFill>
                <a:latin typeface="Georgia"/>
              </a:defRPr>
            </a:pPr>
            <a:r>
              <a:t>Takeaway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4507992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D3441"/>
                </a:solidFill>
                <a:latin typeface="Aptos"/>
              </a:defRPr>
            </a:pPr>
            <a:r>
              <a:t>For skewed data, median is often more representative than mean.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" y="4251960"/>
            <a:ext cx="2172614" cy="594360"/>
          </a:xfrm>
          <a:prstGeom prst="rect">
            <a:avLst/>
          </a:prstGeom>
          <a:solidFill>
            <a:srgbClr val="15274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315968"/>
            <a:ext cx="2081174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Situation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41294" y="4251960"/>
            <a:ext cx="1316736" cy="594360"/>
          </a:xfrm>
          <a:prstGeom prst="rect">
            <a:avLst/>
          </a:prstGeom>
          <a:solidFill>
            <a:srgbClr val="15274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87014" y="4315968"/>
            <a:ext cx="1225296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Best measure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58030" y="4251960"/>
            <a:ext cx="3094329" cy="594360"/>
          </a:xfrm>
          <a:prstGeom prst="rect">
            <a:avLst/>
          </a:prstGeom>
          <a:solidFill>
            <a:srgbClr val="15274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03750" y="4315968"/>
            <a:ext cx="3002889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Reason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80" y="4846320"/>
            <a:ext cx="2172614" cy="594360"/>
          </a:xfrm>
          <a:prstGeom prst="rect">
            <a:avLst/>
          </a:prstGeom>
          <a:solidFill>
            <a:srgbClr val="FFFF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" y="4919472"/>
            <a:ext cx="202631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441"/>
                </a:solidFill>
                <a:latin typeface="Aptos"/>
              </a:defRPr>
            </a:pPr>
            <a:r>
              <a:t>Data roughly symmetric, no strong outliers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41294" y="4846320"/>
            <a:ext cx="1316736" cy="594360"/>
          </a:xfrm>
          <a:prstGeom prst="rect">
            <a:avLst/>
          </a:prstGeom>
          <a:solidFill>
            <a:srgbClr val="FFFF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14446" y="4919472"/>
            <a:ext cx="11704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441"/>
                </a:solidFill>
                <a:latin typeface="Aptos"/>
              </a:defRPr>
            </a:pPr>
            <a:r>
              <a:t>Mean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58030" y="4846320"/>
            <a:ext cx="3094329" cy="594360"/>
          </a:xfrm>
          <a:prstGeom prst="rect">
            <a:avLst/>
          </a:prstGeom>
          <a:solidFill>
            <a:srgbClr val="FFFF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31182" y="4919472"/>
            <a:ext cx="2948025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441"/>
                </a:solidFill>
                <a:latin typeface="Aptos"/>
              </a:defRPr>
            </a:pPr>
            <a:r>
              <a:t>Uses all values and supports further analysis.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8680" y="5440680"/>
            <a:ext cx="2172614" cy="594360"/>
          </a:xfrm>
          <a:prstGeom prst="rect">
            <a:avLst/>
          </a:prstGeom>
          <a:solidFill>
            <a:srgbClr val="E8F0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1832" y="5513832"/>
            <a:ext cx="202631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441"/>
                </a:solidFill>
                <a:latin typeface="Aptos"/>
              </a:defRPr>
            </a:pPr>
            <a:r>
              <a:t>Skewed data or obvious outliers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41294" y="5440680"/>
            <a:ext cx="1316736" cy="594360"/>
          </a:xfrm>
          <a:prstGeom prst="rect">
            <a:avLst/>
          </a:prstGeom>
          <a:solidFill>
            <a:srgbClr val="E8F0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14446" y="5513832"/>
            <a:ext cx="11704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441"/>
                </a:solidFill>
                <a:latin typeface="Aptos"/>
              </a:defRPr>
            </a:pPr>
            <a:r>
              <a:t>Median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58030" y="5440680"/>
            <a:ext cx="3094329" cy="594360"/>
          </a:xfrm>
          <a:prstGeom prst="rect">
            <a:avLst/>
          </a:prstGeom>
          <a:solidFill>
            <a:srgbClr val="E8F0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31182" y="5513832"/>
            <a:ext cx="2948025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441"/>
                </a:solidFill>
                <a:latin typeface="Aptos"/>
              </a:defRPr>
            </a:pPr>
            <a:r>
              <a:t>More robust than the mean.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8680" y="6035040"/>
            <a:ext cx="2172614" cy="594360"/>
          </a:xfrm>
          <a:prstGeom prst="rect">
            <a:avLst/>
          </a:prstGeom>
          <a:solidFill>
            <a:srgbClr val="FFFF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1832" y="6108192"/>
            <a:ext cx="202631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441"/>
                </a:solidFill>
                <a:latin typeface="Aptos"/>
              </a:defRPr>
            </a:pPr>
            <a:r>
              <a:t>Most common category or repeated value matters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41294" y="6035040"/>
            <a:ext cx="1316736" cy="594360"/>
          </a:xfrm>
          <a:prstGeom prst="rect">
            <a:avLst/>
          </a:prstGeom>
          <a:solidFill>
            <a:srgbClr val="FFFF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14446" y="6108192"/>
            <a:ext cx="11704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441"/>
                </a:solidFill>
                <a:latin typeface="Aptos"/>
              </a:defRPr>
            </a:pPr>
            <a:r>
              <a:t>Mode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58030" y="6035040"/>
            <a:ext cx="3094329" cy="594360"/>
          </a:xfrm>
          <a:prstGeom prst="rect">
            <a:avLst/>
          </a:prstGeom>
          <a:solidFill>
            <a:srgbClr val="FFFF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31182" y="6108192"/>
            <a:ext cx="2948025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441"/>
                </a:solidFill>
                <a:latin typeface="Aptos"/>
              </a:defRPr>
            </a:pPr>
            <a:r>
              <a:t>Finds the most frequent class or label.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84080" y="640080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36E81"/>
                </a:solidFill>
                <a:latin typeface="Aptos"/>
              </a:defRPr>
            </a:pPr>
            <a:r>
              <a:t>Probability for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5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52745"/>
                </a:solidFill>
                <a:latin typeface="Georgia"/>
              </a:defRPr>
            </a:pPr>
            <a:r>
              <a:t>Central Limit Theorem (CLT)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36E81"/>
                </a:solidFill>
                <a:latin typeface="Aptos"/>
              </a:defRPr>
            </a:pPr>
            <a:r>
              <a:t>Why averages become predictable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5669280" cy="347472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3441"/>
                </a:solidFill>
                <a:latin typeface="Aptos"/>
              </a:defRPr>
            </a:pPr>
            <a:r>
              <a:t>If we repeatedly take random samples from any population with finite mean and variance, the sample means become approximately normal when n is large enough.</a:t>
            </a:r>
          </a:p>
          <a:p>
            <a:pPr>
              <a:spcAft>
                <a:spcPts val="800"/>
              </a:spcAft>
              <a:defRPr sz="1800">
                <a:solidFill>
                  <a:srgbClr val="2D3441"/>
                </a:solidFill>
                <a:latin typeface="Aptos"/>
              </a:defRPr>
            </a:pPr>
            <a:r>
              <a:t>The sampling distribution of the sample mean has center equal to the population mean.</a:t>
            </a:r>
          </a:p>
          <a:p>
            <a:pPr>
              <a:spcAft>
                <a:spcPts val="800"/>
              </a:spcAft>
              <a:defRPr sz="1800">
                <a:solidFill>
                  <a:srgbClr val="2D3441"/>
                </a:solidFill>
                <a:latin typeface="Aptos"/>
              </a:defRPr>
            </a:pPr>
            <a:r>
              <a:t>Its spread gets smaller as sample size grows: standard error = sigma / sqrt(n).</a:t>
            </a:r>
          </a:p>
          <a:p>
            <a:pPr>
              <a:spcAft>
                <a:spcPts val="800"/>
              </a:spcAft>
              <a:defRPr sz="1800">
                <a:solidFill>
                  <a:srgbClr val="2D3441"/>
                </a:solidFill>
                <a:latin typeface="Aptos"/>
              </a:defRPr>
            </a:pPr>
            <a:r>
              <a:t>This is the reason we can use normal-based inference even when the original data is not perfectly normal.</a:t>
            </a:r>
          </a:p>
        </p:txBody>
      </p:sp>
      <p:sp>
        <p:nvSpPr>
          <p:cNvPr id="6" name="Straight Connector 5"/>
          <p:cNvSpPr/>
          <p:nvPr/>
        </p:nvSpPr>
        <p:spPr>
          <a:xfrm>
            <a:off x="6903720" y="3748578"/>
            <a:ext cx="98298" cy="-578"/>
          </a:xfrm>
          <a:prstGeom prst="lineInv">
            <a:avLst/>
          </a:prstGeom>
          <a:ln w="27940">
            <a:solidFill>
              <a:srgbClr val="2D7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raight Connector 6"/>
          <p:cNvSpPr/>
          <p:nvPr/>
        </p:nvSpPr>
        <p:spPr>
          <a:xfrm>
            <a:off x="7002018" y="3747999"/>
            <a:ext cx="98298" cy="-1208"/>
          </a:xfrm>
          <a:prstGeom prst="lineInv">
            <a:avLst/>
          </a:prstGeom>
          <a:ln w="27940">
            <a:solidFill>
              <a:srgbClr val="2D7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raight Connector 7"/>
          <p:cNvSpPr/>
          <p:nvPr/>
        </p:nvSpPr>
        <p:spPr>
          <a:xfrm>
            <a:off x="7100316" y="3746791"/>
            <a:ext cx="98298" cy="-2413"/>
          </a:xfrm>
          <a:prstGeom prst="lineInv">
            <a:avLst/>
          </a:prstGeom>
          <a:ln w="27940">
            <a:solidFill>
              <a:srgbClr val="2D7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raight Connector 8"/>
          <p:cNvSpPr/>
          <p:nvPr/>
        </p:nvSpPr>
        <p:spPr>
          <a:xfrm>
            <a:off x="7198614" y="3744378"/>
            <a:ext cx="98298" cy="-4609"/>
          </a:xfrm>
          <a:prstGeom prst="lineInv">
            <a:avLst/>
          </a:prstGeom>
          <a:ln w="27940">
            <a:solidFill>
              <a:srgbClr val="2D7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raight Connector 9"/>
          <p:cNvSpPr/>
          <p:nvPr/>
        </p:nvSpPr>
        <p:spPr>
          <a:xfrm>
            <a:off x="7296912" y="3739769"/>
            <a:ext cx="98298" cy="-8413"/>
          </a:xfrm>
          <a:prstGeom prst="lineInv">
            <a:avLst/>
          </a:prstGeom>
          <a:ln w="27940">
            <a:solidFill>
              <a:srgbClr val="2D7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raight Connector 10"/>
          <p:cNvSpPr/>
          <p:nvPr/>
        </p:nvSpPr>
        <p:spPr>
          <a:xfrm>
            <a:off x="7395210" y="3731355"/>
            <a:ext cx="98298" cy="-14673"/>
          </a:xfrm>
          <a:prstGeom prst="lineInv">
            <a:avLst/>
          </a:prstGeom>
          <a:ln w="27940">
            <a:solidFill>
              <a:srgbClr val="2D7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raight Connector 11"/>
          <p:cNvSpPr/>
          <p:nvPr/>
        </p:nvSpPr>
        <p:spPr>
          <a:xfrm>
            <a:off x="7493508" y="3716681"/>
            <a:ext cx="98298" cy="-24432"/>
          </a:xfrm>
          <a:prstGeom prst="lineInv">
            <a:avLst/>
          </a:prstGeom>
          <a:ln w="27940">
            <a:solidFill>
              <a:srgbClr val="2D7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raight Connector 12"/>
          <p:cNvSpPr/>
          <p:nvPr/>
        </p:nvSpPr>
        <p:spPr>
          <a:xfrm>
            <a:off x="7591806" y="3692249"/>
            <a:ext cx="98298" cy="-38812"/>
          </a:xfrm>
          <a:prstGeom prst="lineInv">
            <a:avLst/>
          </a:prstGeom>
          <a:ln w="27940">
            <a:solidFill>
              <a:srgbClr val="2D7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raight Connector 13"/>
          <p:cNvSpPr/>
          <p:nvPr/>
        </p:nvSpPr>
        <p:spPr>
          <a:xfrm>
            <a:off x="7690104" y="3653436"/>
            <a:ext cx="98298" cy="-58769"/>
          </a:xfrm>
          <a:prstGeom prst="lineInv">
            <a:avLst/>
          </a:prstGeom>
          <a:ln w="27940">
            <a:solidFill>
              <a:srgbClr val="2D7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raight Connector 14"/>
          <p:cNvSpPr/>
          <p:nvPr/>
        </p:nvSpPr>
        <p:spPr>
          <a:xfrm>
            <a:off x="7788402" y="3594666"/>
            <a:ext cx="98298" cy="-84724"/>
          </a:xfrm>
          <a:prstGeom prst="lineInv">
            <a:avLst/>
          </a:prstGeom>
          <a:ln w="27940">
            <a:solidFill>
              <a:srgbClr val="2D7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raight Connector 15"/>
          <p:cNvSpPr/>
          <p:nvPr/>
        </p:nvSpPr>
        <p:spPr>
          <a:xfrm>
            <a:off x="7886700" y="3509942"/>
            <a:ext cx="98298" cy="-116111"/>
          </a:xfrm>
          <a:prstGeom prst="lineInv">
            <a:avLst/>
          </a:prstGeom>
          <a:ln w="27940">
            <a:solidFill>
              <a:srgbClr val="2D7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raight Connector 16"/>
          <p:cNvSpPr/>
          <p:nvPr/>
        </p:nvSpPr>
        <p:spPr>
          <a:xfrm>
            <a:off x="7984998" y="3393831"/>
            <a:ext cx="98298" cy="-150961"/>
          </a:xfrm>
          <a:prstGeom prst="lineInv">
            <a:avLst/>
          </a:prstGeom>
          <a:ln w="27940">
            <a:solidFill>
              <a:srgbClr val="2D7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raight Connector 17"/>
          <p:cNvSpPr/>
          <p:nvPr/>
        </p:nvSpPr>
        <p:spPr>
          <a:xfrm>
            <a:off x="8083296" y="3242870"/>
            <a:ext cx="98298" cy="-185682"/>
          </a:xfrm>
          <a:prstGeom prst="lineInv">
            <a:avLst/>
          </a:prstGeom>
          <a:ln w="27940">
            <a:solidFill>
              <a:srgbClr val="2D7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raight Connector 18"/>
          <p:cNvSpPr/>
          <p:nvPr/>
        </p:nvSpPr>
        <p:spPr>
          <a:xfrm>
            <a:off x="8181594" y="3057187"/>
            <a:ext cx="98298" cy="-215205"/>
          </a:xfrm>
          <a:prstGeom prst="lineInv">
            <a:avLst/>
          </a:prstGeom>
          <a:ln w="27940">
            <a:solidFill>
              <a:srgbClr val="2D7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raight Connector 19"/>
          <p:cNvSpPr/>
          <p:nvPr/>
        </p:nvSpPr>
        <p:spPr>
          <a:xfrm>
            <a:off x="8279892" y="2841982"/>
            <a:ext cx="98298" cy="-233614"/>
          </a:xfrm>
          <a:prstGeom prst="lineInv">
            <a:avLst/>
          </a:prstGeom>
          <a:ln w="27940">
            <a:solidFill>
              <a:srgbClr val="2D7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raight Connector 20"/>
          <p:cNvSpPr/>
          <p:nvPr/>
        </p:nvSpPr>
        <p:spPr>
          <a:xfrm>
            <a:off x="8378190" y="2608368"/>
            <a:ext cx="98298" cy="-235240"/>
          </a:xfrm>
          <a:prstGeom prst="lineInv">
            <a:avLst/>
          </a:prstGeom>
          <a:ln w="27940">
            <a:solidFill>
              <a:srgbClr val="2D7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raight Connector 21"/>
          <p:cNvSpPr/>
          <p:nvPr/>
        </p:nvSpPr>
        <p:spPr>
          <a:xfrm>
            <a:off x="8476488" y="2373127"/>
            <a:ext cx="98298" cy="-216022"/>
          </a:xfrm>
          <a:prstGeom prst="lineInv">
            <a:avLst/>
          </a:prstGeom>
          <a:ln w="27940">
            <a:solidFill>
              <a:srgbClr val="2D7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raight Connector 22"/>
          <p:cNvSpPr/>
          <p:nvPr/>
        </p:nvSpPr>
        <p:spPr>
          <a:xfrm>
            <a:off x="8574786" y="2157105"/>
            <a:ext cx="98298" cy="-174771"/>
          </a:xfrm>
          <a:prstGeom prst="lineInv">
            <a:avLst/>
          </a:prstGeom>
          <a:ln w="27940">
            <a:solidFill>
              <a:srgbClr val="2D7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traight Connector 23"/>
          <p:cNvSpPr/>
          <p:nvPr/>
        </p:nvSpPr>
        <p:spPr>
          <a:xfrm>
            <a:off x="8673084" y="1982333"/>
            <a:ext cx="98298" cy="-113942"/>
          </a:xfrm>
          <a:prstGeom prst="lineInv">
            <a:avLst/>
          </a:prstGeom>
          <a:ln w="27940">
            <a:solidFill>
              <a:srgbClr val="2D7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raight Connector 24"/>
          <p:cNvSpPr/>
          <p:nvPr/>
        </p:nvSpPr>
        <p:spPr>
          <a:xfrm>
            <a:off x="8771382" y="1868391"/>
            <a:ext cx="98298" cy="-39591"/>
          </a:xfrm>
          <a:prstGeom prst="lineInv">
            <a:avLst/>
          </a:prstGeom>
          <a:ln w="27940">
            <a:solidFill>
              <a:srgbClr val="2D7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raight Connector 25"/>
          <p:cNvSpPr/>
          <p:nvPr/>
        </p:nvSpPr>
        <p:spPr>
          <a:xfrm>
            <a:off x="8869680" y="1828800"/>
            <a:ext cx="98298" cy="39591"/>
          </a:xfrm>
          <a:prstGeom prst="lineInv">
            <a:avLst/>
          </a:prstGeom>
          <a:ln w="27940">
            <a:solidFill>
              <a:srgbClr val="2D7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raight Connector 26"/>
          <p:cNvSpPr/>
          <p:nvPr/>
        </p:nvSpPr>
        <p:spPr>
          <a:xfrm>
            <a:off x="8967978" y="1868391"/>
            <a:ext cx="98298" cy="113942"/>
          </a:xfrm>
          <a:prstGeom prst="lineInv">
            <a:avLst/>
          </a:prstGeom>
          <a:ln w="27940">
            <a:solidFill>
              <a:srgbClr val="2D7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raight Connector 27"/>
          <p:cNvSpPr/>
          <p:nvPr/>
        </p:nvSpPr>
        <p:spPr>
          <a:xfrm>
            <a:off x="9066276" y="1982333"/>
            <a:ext cx="98298" cy="174771"/>
          </a:xfrm>
          <a:prstGeom prst="lineInv">
            <a:avLst/>
          </a:prstGeom>
          <a:ln w="27940">
            <a:solidFill>
              <a:srgbClr val="2D7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traight Connector 28"/>
          <p:cNvSpPr/>
          <p:nvPr/>
        </p:nvSpPr>
        <p:spPr>
          <a:xfrm>
            <a:off x="9164574" y="2157105"/>
            <a:ext cx="98298" cy="216022"/>
          </a:xfrm>
          <a:prstGeom prst="lineInv">
            <a:avLst/>
          </a:prstGeom>
          <a:ln w="27940">
            <a:solidFill>
              <a:srgbClr val="2D7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raight Connector 29"/>
          <p:cNvSpPr/>
          <p:nvPr/>
        </p:nvSpPr>
        <p:spPr>
          <a:xfrm>
            <a:off x="9262872" y="2373127"/>
            <a:ext cx="98298" cy="235240"/>
          </a:xfrm>
          <a:prstGeom prst="lineInv">
            <a:avLst/>
          </a:prstGeom>
          <a:ln w="27940">
            <a:solidFill>
              <a:srgbClr val="2D7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traight Connector 30"/>
          <p:cNvSpPr/>
          <p:nvPr/>
        </p:nvSpPr>
        <p:spPr>
          <a:xfrm>
            <a:off x="9361170" y="2608368"/>
            <a:ext cx="98298" cy="233614"/>
          </a:xfrm>
          <a:prstGeom prst="lineInv">
            <a:avLst/>
          </a:prstGeom>
          <a:ln w="27940">
            <a:solidFill>
              <a:srgbClr val="2D7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traight Connector 31"/>
          <p:cNvSpPr/>
          <p:nvPr/>
        </p:nvSpPr>
        <p:spPr>
          <a:xfrm>
            <a:off x="9459468" y="2841982"/>
            <a:ext cx="98298" cy="215205"/>
          </a:xfrm>
          <a:prstGeom prst="lineInv">
            <a:avLst/>
          </a:prstGeom>
          <a:ln w="27940">
            <a:solidFill>
              <a:srgbClr val="2D7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raight Connector 32"/>
          <p:cNvSpPr/>
          <p:nvPr/>
        </p:nvSpPr>
        <p:spPr>
          <a:xfrm>
            <a:off x="9557766" y="3057187"/>
            <a:ext cx="98298" cy="185682"/>
          </a:xfrm>
          <a:prstGeom prst="lineInv">
            <a:avLst/>
          </a:prstGeom>
          <a:ln w="27940">
            <a:solidFill>
              <a:srgbClr val="2D7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traight Connector 33"/>
          <p:cNvSpPr/>
          <p:nvPr/>
        </p:nvSpPr>
        <p:spPr>
          <a:xfrm>
            <a:off x="9656064" y="3242870"/>
            <a:ext cx="98298" cy="150961"/>
          </a:xfrm>
          <a:prstGeom prst="lineInv">
            <a:avLst/>
          </a:prstGeom>
          <a:ln w="27940">
            <a:solidFill>
              <a:srgbClr val="2D7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raight Connector 34"/>
          <p:cNvSpPr/>
          <p:nvPr/>
        </p:nvSpPr>
        <p:spPr>
          <a:xfrm>
            <a:off x="9754362" y="3393831"/>
            <a:ext cx="98298" cy="116111"/>
          </a:xfrm>
          <a:prstGeom prst="lineInv">
            <a:avLst/>
          </a:prstGeom>
          <a:ln w="27940">
            <a:solidFill>
              <a:srgbClr val="2D7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traight Connector 35"/>
          <p:cNvSpPr/>
          <p:nvPr/>
        </p:nvSpPr>
        <p:spPr>
          <a:xfrm>
            <a:off x="9852660" y="3509942"/>
            <a:ext cx="98298" cy="84724"/>
          </a:xfrm>
          <a:prstGeom prst="lineInv">
            <a:avLst/>
          </a:prstGeom>
          <a:ln w="27940">
            <a:solidFill>
              <a:srgbClr val="2D7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traight Connector 36"/>
          <p:cNvSpPr/>
          <p:nvPr/>
        </p:nvSpPr>
        <p:spPr>
          <a:xfrm>
            <a:off x="9950958" y="3594666"/>
            <a:ext cx="98298" cy="58769"/>
          </a:xfrm>
          <a:prstGeom prst="lineInv">
            <a:avLst/>
          </a:prstGeom>
          <a:ln w="27940">
            <a:solidFill>
              <a:srgbClr val="2D7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traight Connector 37"/>
          <p:cNvSpPr/>
          <p:nvPr/>
        </p:nvSpPr>
        <p:spPr>
          <a:xfrm>
            <a:off x="10049256" y="3653436"/>
            <a:ext cx="98298" cy="38812"/>
          </a:xfrm>
          <a:prstGeom prst="lineInv">
            <a:avLst/>
          </a:prstGeom>
          <a:ln w="27940">
            <a:solidFill>
              <a:srgbClr val="2D7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traight Connector 38"/>
          <p:cNvSpPr/>
          <p:nvPr/>
        </p:nvSpPr>
        <p:spPr>
          <a:xfrm>
            <a:off x="10147554" y="3692249"/>
            <a:ext cx="98298" cy="24432"/>
          </a:xfrm>
          <a:prstGeom prst="lineInv">
            <a:avLst/>
          </a:prstGeom>
          <a:ln w="27940">
            <a:solidFill>
              <a:srgbClr val="2D7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traight Connector 39"/>
          <p:cNvSpPr/>
          <p:nvPr/>
        </p:nvSpPr>
        <p:spPr>
          <a:xfrm>
            <a:off x="10245852" y="3716681"/>
            <a:ext cx="98298" cy="14673"/>
          </a:xfrm>
          <a:prstGeom prst="lineInv">
            <a:avLst/>
          </a:prstGeom>
          <a:ln w="27940">
            <a:solidFill>
              <a:srgbClr val="2D7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traight Connector 40"/>
          <p:cNvSpPr/>
          <p:nvPr/>
        </p:nvSpPr>
        <p:spPr>
          <a:xfrm>
            <a:off x="10344150" y="3731355"/>
            <a:ext cx="98298" cy="8413"/>
          </a:xfrm>
          <a:prstGeom prst="lineInv">
            <a:avLst/>
          </a:prstGeom>
          <a:ln w="27940">
            <a:solidFill>
              <a:srgbClr val="2D7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traight Connector 41"/>
          <p:cNvSpPr/>
          <p:nvPr/>
        </p:nvSpPr>
        <p:spPr>
          <a:xfrm>
            <a:off x="10442448" y="3739769"/>
            <a:ext cx="98298" cy="4609"/>
          </a:xfrm>
          <a:prstGeom prst="lineInv">
            <a:avLst/>
          </a:prstGeom>
          <a:ln w="27940">
            <a:solidFill>
              <a:srgbClr val="2D7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traight Connector 42"/>
          <p:cNvSpPr/>
          <p:nvPr/>
        </p:nvSpPr>
        <p:spPr>
          <a:xfrm>
            <a:off x="10540746" y="3744378"/>
            <a:ext cx="98298" cy="2413"/>
          </a:xfrm>
          <a:prstGeom prst="lineInv">
            <a:avLst/>
          </a:prstGeom>
          <a:ln w="27940">
            <a:solidFill>
              <a:srgbClr val="2D7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Straight Connector 43"/>
          <p:cNvSpPr/>
          <p:nvPr/>
        </p:nvSpPr>
        <p:spPr>
          <a:xfrm>
            <a:off x="10639044" y="3746791"/>
            <a:ext cx="98298" cy="1208"/>
          </a:xfrm>
          <a:prstGeom prst="lineInv">
            <a:avLst/>
          </a:prstGeom>
          <a:ln w="27940">
            <a:solidFill>
              <a:srgbClr val="2D7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traight Connector 44"/>
          <p:cNvSpPr/>
          <p:nvPr/>
        </p:nvSpPr>
        <p:spPr>
          <a:xfrm>
            <a:off x="10737342" y="3747999"/>
            <a:ext cx="98298" cy="578"/>
          </a:xfrm>
          <a:prstGeom prst="lineInv">
            <a:avLst/>
          </a:prstGeom>
          <a:ln w="27940">
            <a:solidFill>
              <a:srgbClr val="2D7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03720" y="3749040"/>
            <a:ext cx="3931920" cy="19050"/>
          </a:xfrm>
          <a:prstGeom prst="rect">
            <a:avLst/>
          </a:prstGeom>
          <a:solidFill>
            <a:srgbClr val="63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720840" y="4069080"/>
            <a:ext cx="4389120" cy="1234440"/>
          </a:xfrm>
          <a:prstGeom prst="roundRect">
            <a:avLst/>
          </a:prstGeom>
          <a:solidFill>
            <a:srgbClr val="E5F8F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49440" y="4233672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745"/>
                </a:solidFill>
                <a:latin typeface="Georgia"/>
              </a:defRPr>
            </a:pPr>
            <a:r>
              <a:t>Rule of thumb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0" y="4690872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D3441"/>
                </a:solidFill>
                <a:latin typeface="Aptos"/>
              </a:defRPr>
            </a:pPr>
            <a:r>
              <a:t>Often n &gt;= 30 is used as a practical guideline.</a:t>
            </a:r>
          </a:p>
          <a:p>
            <a:pPr>
              <a:spcAft>
                <a:spcPts val="300"/>
              </a:spcAft>
              <a:defRPr sz="1200">
                <a:solidFill>
                  <a:srgbClr val="2D3441"/>
                </a:solidFill>
                <a:latin typeface="Aptos"/>
              </a:defRPr>
            </a:pPr>
            <a:r>
              <a:t>More skewed populations may need larger samples.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84080" y="640080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36E81"/>
                </a:solidFill>
                <a:latin typeface="Aptos"/>
              </a:defRPr>
            </a:pPr>
            <a:r>
              <a:t>Probability for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5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52745"/>
                </a:solidFill>
                <a:latin typeface="Georgia"/>
              </a:defRPr>
            </a:pPr>
            <a:r>
              <a:t>CLT Example and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36E81"/>
                </a:solidFill>
                <a:latin typeface="Aptos"/>
              </a:defRPr>
            </a:pPr>
            <a:r>
              <a:t>Real intuition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63040"/>
            <a:ext cx="4846320" cy="2377440"/>
          </a:xfrm>
          <a:prstGeom prst="roundRect">
            <a:avLst/>
          </a:prstGeom>
          <a:solidFill>
            <a:srgbClr val="E8F0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2763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745"/>
                </a:solidFill>
                <a:latin typeface="Georgia"/>
              </a:defRPr>
            </a:pPr>
            <a:r>
              <a:t>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84832"/>
            <a:ext cx="4389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D3441"/>
                </a:solidFill>
                <a:latin typeface="Aptos"/>
              </a:defRPr>
            </a:pPr>
            <a:r>
              <a:t>Suppose individual customer waiting times are right-skewed.</a:t>
            </a:r>
          </a:p>
          <a:p>
            <a:pPr>
              <a:spcAft>
                <a:spcPts val="300"/>
              </a:spcAft>
              <a:defRPr sz="1200">
                <a:solidFill>
                  <a:srgbClr val="2D3441"/>
                </a:solidFill>
                <a:latin typeface="Aptos"/>
              </a:defRPr>
            </a:pPr>
            <a:r>
              <a:t>A single waiting time is not normal.</a:t>
            </a:r>
          </a:p>
          <a:p>
            <a:pPr>
              <a:spcAft>
                <a:spcPts val="300"/>
              </a:spcAft>
              <a:defRPr sz="1200">
                <a:solidFill>
                  <a:srgbClr val="2D3441"/>
                </a:solidFill>
                <a:latin typeface="Aptos"/>
              </a:defRPr>
            </a:pPr>
            <a:r>
              <a:t>But the average waiting time of many samples of 40 customers will be close to normal.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463040"/>
            <a:ext cx="4846320" cy="2377440"/>
          </a:xfrm>
          <a:prstGeom prst="roundRect">
            <a:avLst/>
          </a:prstGeom>
          <a:solidFill>
            <a:srgbClr val="FFF4D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62763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745"/>
                </a:solidFill>
                <a:latin typeface="Georgia"/>
              </a:defRPr>
            </a:pPr>
            <a:r>
              <a:t>Why this matters in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084832"/>
            <a:ext cx="4389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D3441"/>
                </a:solidFill>
                <a:latin typeface="Aptos"/>
              </a:defRPr>
            </a:pPr>
            <a:r>
              <a:t>Estimate average model latency.</a:t>
            </a:r>
          </a:p>
          <a:p>
            <a:pPr>
              <a:spcAft>
                <a:spcPts val="300"/>
              </a:spcAft>
              <a:defRPr sz="1200">
                <a:solidFill>
                  <a:srgbClr val="2D3441"/>
                </a:solidFill>
                <a:latin typeface="Aptos"/>
              </a:defRPr>
            </a:pPr>
            <a:r>
              <a:t>Estimate average loss or accuracy from batches.</a:t>
            </a:r>
          </a:p>
          <a:p>
            <a:pPr>
              <a:spcAft>
                <a:spcPts val="300"/>
              </a:spcAft>
              <a:defRPr sz="1200">
                <a:solidFill>
                  <a:srgbClr val="2D3441"/>
                </a:solidFill>
                <a:latin typeface="Aptos"/>
              </a:defRPr>
            </a:pPr>
            <a:r>
              <a:t>Build confidence intervals and tests using sample means.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9875520" cy="118872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3441"/>
                </a:solidFill>
                <a:latin typeface="Aptos"/>
              </a:defRPr>
            </a:pPr>
            <a:r>
              <a:t>Key message: the theorem is about the distribution of sample means, not necessarily the raw data itself.</a:t>
            </a:r>
          </a:p>
          <a:p>
            <a:pPr>
              <a:spcAft>
                <a:spcPts val="800"/>
              </a:spcAft>
              <a:defRPr sz="1800">
                <a:solidFill>
                  <a:srgbClr val="2D3441"/>
                </a:solidFill>
                <a:latin typeface="Aptos"/>
              </a:defRPr>
            </a:pPr>
            <a:r>
              <a:t>Larger samples reduce uncertainty because the standard error shrinks.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640080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36E81"/>
                </a:solidFill>
                <a:latin typeface="Aptos"/>
              </a:defRPr>
            </a:pPr>
            <a:r>
              <a:t>Probability for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5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52745"/>
                </a:solidFill>
                <a:latin typeface="Georgia"/>
              </a:defRPr>
            </a:pPr>
            <a:r>
              <a:t>Confidence Interval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36E81"/>
                </a:solidFill>
                <a:latin typeface="Aptos"/>
              </a:defRPr>
            </a:pPr>
            <a:r>
              <a:t>An estimate plus a margin of error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5852160" cy="347472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3441"/>
                </a:solidFill>
                <a:latin typeface="Aptos"/>
              </a:defRPr>
            </a:pPr>
            <a:r>
              <a:t>A confidence interval gives a plausible range for an unknown population parameter.</a:t>
            </a:r>
          </a:p>
          <a:p>
            <a:pPr>
              <a:spcAft>
                <a:spcPts val="800"/>
              </a:spcAft>
              <a:defRPr sz="1800">
                <a:solidFill>
                  <a:srgbClr val="2D3441"/>
                </a:solidFill>
                <a:latin typeface="Aptos"/>
              </a:defRPr>
            </a:pPr>
            <a:r>
              <a:t>General form: sample estimate +/- critical value x standard error.</a:t>
            </a:r>
          </a:p>
          <a:p>
            <a:pPr>
              <a:spcAft>
                <a:spcPts val="800"/>
              </a:spcAft>
              <a:defRPr sz="1800">
                <a:solidFill>
                  <a:srgbClr val="2D3441"/>
                </a:solidFill>
                <a:latin typeface="Aptos"/>
              </a:defRPr>
            </a:pPr>
            <a:r>
              <a:t>A 95% confidence level means the method captures the true parameter about 95% of the time in repeated sampling.</a:t>
            </a:r>
          </a:p>
          <a:p>
            <a:pPr>
              <a:spcAft>
                <a:spcPts val="800"/>
              </a:spcAft>
              <a:defRPr sz="1800">
                <a:solidFill>
                  <a:srgbClr val="2D3441"/>
                </a:solidFill>
                <a:latin typeface="Aptos"/>
              </a:defRPr>
            </a:pPr>
            <a:r>
              <a:t>It does not mean there is a 95% probability that the fixed parameter changes inside this single computed interval.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12280" y="2606040"/>
            <a:ext cx="4023360" cy="19050"/>
          </a:xfrm>
          <a:prstGeom prst="rect">
            <a:avLst/>
          </a:prstGeom>
          <a:solidFill>
            <a:srgbClr val="63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26680" y="2560320"/>
            <a:ext cx="4389120" cy="50800"/>
          </a:xfrm>
          <a:prstGeom prst="rect">
            <a:avLst/>
          </a:prstGeom>
          <a:solidFill>
            <a:srgbClr val="2D7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26680" y="2478024"/>
            <a:ext cx="25400" cy="256032"/>
          </a:xfrm>
          <a:prstGeom prst="rect">
            <a:avLst/>
          </a:prstGeom>
          <a:solidFill>
            <a:srgbClr val="2D7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15800" y="2478024"/>
            <a:ext cx="25400" cy="256032"/>
          </a:xfrm>
          <a:prstGeom prst="rect">
            <a:avLst/>
          </a:prstGeom>
          <a:solidFill>
            <a:srgbClr val="2D7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875520" y="2404872"/>
            <a:ext cx="25400" cy="402336"/>
          </a:xfrm>
          <a:prstGeom prst="rect">
            <a:avLst/>
          </a:prstGeom>
          <a:solidFill>
            <a:srgbClr val="E6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79792" y="2770632"/>
            <a:ext cx="5486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2D70F6"/>
                </a:solidFill>
                <a:latin typeface="Aptos"/>
              </a:defRPr>
            </a:pPr>
            <a:r>
              <a:t>lower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2770632"/>
            <a:ext cx="14630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E65757"/>
                </a:solidFill>
                <a:latin typeface="Aptos"/>
              </a:defRPr>
            </a:pPr>
            <a:r>
              <a:t>sample estimate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68912" y="2770632"/>
            <a:ext cx="5486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2D70F6"/>
                </a:solidFill>
                <a:latin typeface="Aptos"/>
              </a:defRPr>
            </a:pPr>
            <a:r>
              <a:t>upper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3886200"/>
            <a:ext cx="4572000" cy="1417320"/>
          </a:xfrm>
          <a:prstGeom prst="roundRect">
            <a:avLst/>
          </a:prstGeom>
          <a:solidFill>
            <a:srgbClr val="FFF4D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405079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745"/>
                </a:solidFill>
                <a:latin typeface="Georgia"/>
              </a:defRPr>
            </a:pPr>
            <a:r>
              <a:t>Typical confidence levels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4507992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D3441"/>
                </a:solidFill>
                <a:latin typeface="Aptos"/>
              </a:defRPr>
            </a:pPr>
            <a:r>
              <a:t>90%: narrower interval</a:t>
            </a:r>
          </a:p>
          <a:p>
            <a:pPr>
              <a:spcAft>
                <a:spcPts val="300"/>
              </a:spcAft>
              <a:defRPr sz="1200">
                <a:solidFill>
                  <a:srgbClr val="2D3441"/>
                </a:solidFill>
                <a:latin typeface="Aptos"/>
              </a:defRPr>
            </a:pPr>
            <a:r>
              <a:t>95%: common default</a:t>
            </a:r>
          </a:p>
          <a:p>
            <a:pPr>
              <a:spcAft>
                <a:spcPts val="300"/>
              </a:spcAft>
              <a:defRPr sz="1200">
                <a:solidFill>
                  <a:srgbClr val="2D3441"/>
                </a:solidFill>
                <a:latin typeface="Aptos"/>
              </a:defRPr>
            </a:pPr>
            <a:r>
              <a:t>99%: wider interval, more confidence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40080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36E81"/>
                </a:solidFill>
                <a:latin typeface="Aptos"/>
              </a:defRPr>
            </a:pPr>
            <a:r>
              <a:t>Probability for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5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52745"/>
                </a:solidFill>
                <a:latin typeface="Georgia"/>
              </a:defRPr>
            </a:pPr>
            <a:r>
              <a:t>Confidence Interval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36E81"/>
                </a:solidFill>
                <a:latin typeface="Aptos"/>
              </a:defRPr>
            </a:pPr>
            <a:r>
              <a:t>Average exam score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5120640" cy="2011680"/>
          </a:xfrm>
          <a:prstGeom prst="roundRect">
            <a:avLst/>
          </a:prstGeom>
          <a:solidFill>
            <a:srgbClr val="E8F0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81912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745"/>
                </a:solidFill>
                <a:latin typeface="Georgia"/>
              </a:defRPr>
            </a:pPr>
            <a:r>
              <a:t>Given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39112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D3441"/>
                </a:solidFill>
                <a:latin typeface="Aptos"/>
              </a:defRPr>
            </a:pPr>
            <a:r>
              <a:t>Sample mean = 72</a:t>
            </a:r>
          </a:p>
          <a:p>
            <a:pPr>
              <a:spcAft>
                <a:spcPts val="300"/>
              </a:spcAft>
              <a:defRPr sz="1200">
                <a:solidFill>
                  <a:srgbClr val="2D3441"/>
                </a:solidFill>
                <a:latin typeface="Aptos"/>
              </a:defRPr>
            </a:pPr>
            <a:r>
              <a:t>Standard error = 3</a:t>
            </a:r>
          </a:p>
          <a:p>
            <a:pPr>
              <a:spcAft>
                <a:spcPts val="300"/>
              </a:spcAft>
              <a:defRPr sz="1200">
                <a:solidFill>
                  <a:srgbClr val="2D3441"/>
                </a:solidFill>
                <a:latin typeface="Aptos"/>
              </a:defRPr>
            </a:pPr>
            <a:r>
              <a:t>Use 95% confidence with critical value about 1.96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17320"/>
            <a:ext cx="4572000" cy="2011680"/>
          </a:xfrm>
          <a:prstGeom prst="roundRect">
            <a:avLst/>
          </a:prstGeom>
          <a:solidFill>
            <a:srgbClr val="E5F8F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8191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745"/>
                </a:solidFill>
                <a:latin typeface="Georgia"/>
              </a:defRPr>
            </a:pPr>
            <a:r>
              <a:t>Compute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039112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D3441"/>
                </a:solidFill>
                <a:latin typeface="Aptos"/>
              </a:defRPr>
            </a:pPr>
            <a:r>
              <a:t>Margin of error = 1.96 x 3 = 5.88</a:t>
            </a:r>
          </a:p>
          <a:p>
            <a:pPr>
              <a:spcAft>
                <a:spcPts val="300"/>
              </a:spcAft>
              <a:defRPr sz="1200">
                <a:solidFill>
                  <a:srgbClr val="2D3441"/>
                </a:solidFill>
                <a:latin typeface="Aptos"/>
              </a:defRPr>
            </a:pPr>
            <a:r>
              <a:t>Confidence interval = 72 +/- 5.88</a:t>
            </a:r>
          </a:p>
          <a:p>
            <a:pPr>
              <a:spcAft>
                <a:spcPts val="300"/>
              </a:spcAft>
              <a:defRPr sz="1200">
                <a:solidFill>
                  <a:srgbClr val="2D3441"/>
                </a:solidFill>
                <a:latin typeface="Aptos"/>
              </a:defRPr>
            </a:pPr>
            <a:r>
              <a:t>So the interval is about (66.12, 77.88)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86200"/>
            <a:ext cx="10058400" cy="164592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3441"/>
                </a:solidFill>
                <a:latin typeface="Aptos"/>
              </a:defRPr>
            </a:pPr>
            <a:r>
              <a:t>Interpretation: we are using a method that would capture the true mean in about 95% of repeated samples.</a:t>
            </a:r>
          </a:p>
          <a:p>
            <a:pPr>
              <a:spcAft>
                <a:spcPts val="800"/>
              </a:spcAft>
              <a:defRPr sz="1800">
                <a:solidFill>
                  <a:srgbClr val="2D3441"/>
                </a:solidFill>
                <a:latin typeface="Aptos"/>
              </a:defRPr>
            </a:pPr>
            <a:r>
              <a:t>Wider intervals happen when confidence level is higher, data is noisier, or sample size is smaller.</a:t>
            </a:r>
          </a:p>
          <a:p>
            <a:pPr>
              <a:spcAft>
                <a:spcPts val="800"/>
              </a:spcAft>
              <a:defRPr sz="1800">
                <a:solidFill>
                  <a:srgbClr val="2D3441"/>
                </a:solidFill>
                <a:latin typeface="Aptos"/>
              </a:defRPr>
            </a:pPr>
            <a:r>
              <a:t>More data usually narrows the interval.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640080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36E81"/>
                </a:solidFill>
                <a:latin typeface="Aptos"/>
              </a:defRPr>
            </a:pPr>
            <a:r>
              <a:t>Probability for 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5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52745"/>
                </a:solidFill>
                <a:latin typeface="Georgia"/>
              </a:defRPr>
            </a:pPr>
            <a:r>
              <a:t>Hypothesis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36E81"/>
                </a:solidFill>
                <a:latin typeface="Aptos"/>
              </a:defRPr>
            </a:pPr>
            <a:r>
              <a:t>A structured way to make decisions from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5669280" cy="310896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3441"/>
                </a:solidFill>
                <a:latin typeface="Aptos"/>
              </a:defRPr>
            </a:pPr>
            <a:r>
              <a:t>Start with a null hypothesis H0 and an alternative hypothesis H1.</a:t>
            </a:r>
          </a:p>
          <a:p>
            <a:pPr>
              <a:spcAft>
                <a:spcPts val="800"/>
              </a:spcAft>
              <a:defRPr sz="1800">
                <a:solidFill>
                  <a:srgbClr val="2D3441"/>
                </a:solidFill>
                <a:latin typeface="Aptos"/>
              </a:defRPr>
            </a:pPr>
            <a:r>
              <a:t>Use sample data to calculate a test statistic and a p-value.</a:t>
            </a:r>
          </a:p>
          <a:p>
            <a:pPr>
              <a:spcAft>
                <a:spcPts val="800"/>
              </a:spcAft>
              <a:defRPr sz="1800">
                <a:solidFill>
                  <a:srgbClr val="2D3441"/>
                </a:solidFill>
                <a:latin typeface="Aptos"/>
              </a:defRPr>
            </a:pPr>
            <a:r>
              <a:t>If the p-value is small enough (often below 0.05), reject H0.</a:t>
            </a:r>
          </a:p>
          <a:p>
            <a:pPr>
              <a:spcAft>
                <a:spcPts val="800"/>
              </a:spcAft>
              <a:defRPr sz="1800">
                <a:solidFill>
                  <a:srgbClr val="2D3441"/>
                </a:solidFill>
                <a:latin typeface="Aptos"/>
              </a:defRPr>
            </a:pPr>
            <a:r>
              <a:t>Testing is used to compare groups, check model improvements, and validate claims.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1554480"/>
            <a:ext cx="4480560" cy="1188720"/>
          </a:xfrm>
          <a:prstGeom prst="roundRect">
            <a:avLst/>
          </a:prstGeom>
          <a:solidFill>
            <a:srgbClr val="FFF4D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719072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745"/>
                </a:solidFill>
                <a:latin typeface="Georgia"/>
              </a:defRPr>
            </a:pPr>
            <a:r>
              <a:t>Two directions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17627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D3441"/>
                </a:solidFill>
                <a:latin typeface="Aptos"/>
              </a:defRPr>
            </a:pPr>
            <a:r>
              <a:t>Two-sided test: checks for any difference.</a:t>
            </a:r>
          </a:p>
          <a:p>
            <a:pPr>
              <a:spcAft>
                <a:spcPts val="300"/>
              </a:spcAft>
              <a:defRPr sz="1200">
                <a:solidFill>
                  <a:srgbClr val="2D3441"/>
                </a:solidFill>
                <a:latin typeface="Aptos"/>
              </a:defRPr>
            </a:pPr>
            <a:r>
              <a:t>One-sided test: checks increase only or decrease only.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3017520"/>
            <a:ext cx="4480560" cy="1600200"/>
          </a:xfrm>
          <a:prstGeom prst="roundRect">
            <a:avLst/>
          </a:prstGeom>
          <a:solidFill>
            <a:srgbClr val="FFEB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3182112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745"/>
                </a:solidFill>
                <a:latin typeface="Georgia"/>
              </a:defRPr>
            </a:pPr>
            <a:r>
              <a:t>Simple A/B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3639312"/>
            <a:ext cx="4023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D3441"/>
                </a:solidFill>
                <a:latin typeface="Aptos"/>
              </a:defRPr>
            </a:pPr>
            <a:r>
              <a:t>H0: model A and B have the same mean accuracy.</a:t>
            </a:r>
          </a:p>
          <a:p>
            <a:pPr>
              <a:spcAft>
                <a:spcPts val="300"/>
              </a:spcAft>
              <a:defRPr sz="1200">
                <a:solidFill>
                  <a:srgbClr val="2D3441"/>
                </a:solidFill>
                <a:latin typeface="Aptos"/>
              </a:defRPr>
            </a:pPr>
            <a:r>
              <a:t>H1: model B has higher mean accuracy.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640080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36E81"/>
                </a:solidFill>
                <a:latin typeface="Aptos"/>
              </a:defRPr>
            </a:pPr>
            <a:r>
              <a:t>Probability for 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5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52745"/>
                </a:solidFill>
                <a:latin typeface="Georgia"/>
              </a:defRPr>
            </a:pPr>
            <a:r>
              <a:t>Common Tests and When to Use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36E81"/>
                </a:solidFill>
                <a:latin typeface="Aptos"/>
              </a:defRPr>
            </a:pPr>
            <a:r>
              <a:t>Continuous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1975104" cy="594360"/>
          </a:xfrm>
          <a:prstGeom prst="rect">
            <a:avLst/>
          </a:prstGeom>
          <a:solidFill>
            <a:srgbClr val="15274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883664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9464" y="1417320"/>
            <a:ext cx="4389120" cy="594360"/>
          </a:xfrm>
          <a:prstGeom prst="rect">
            <a:avLst/>
          </a:prstGeom>
          <a:solidFill>
            <a:srgbClr val="15274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15184" y="1481328"/>
            <a:ext cx="42976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Use it when</a:t>
            </a:r>
          </a:p>
        </p:txBody>
      </p:sp>
      <p:sp>
        <p:nvSpPr>
          <p:cNvPr id="9" name="Rectangle 8"/>
          <p:cNvSpPr/>
          <p:nvPr/>
        </p:nvSpPr>
        <p:spPr>
          <a:xfrm>
            <a:off x="6958584" y="1417320"/>
            <a:ext cx="4608576" cy="594360"/>
          </a:xfrm>
          <a:prstGeom prst="rect">
            <a:avLst/>
          </a:prstGeom>
          <a:solidFill>
            <a:srgbClr val="15274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04304" y="1481328"/>
            <a:ext cx="4517136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011680"/>
            <a:ext cx="1975104" cy="594360"/>
          </a:xfrm>
          <a:prstGeom prst="rect">
            <a:avLst/>
          </a:prstGeom>
          <a:solidFill>
            <a:srgbClr val="FFFF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2084832"/>
            <a:ext cx="18288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441"/>
                </a:solidFill>
                <a:latin typeface="Aptos"/>
              </a:defRPr>
            </a:pPr>
            <a:r>
              <a:t>One-sample t-test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9464" y="2011680"/>
            <a:ext cx="43891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42616" y="2084832"/>
            <a:ext cx="424281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441"/>
                </a:solidFill>
                <a:latin typeface="Aptos"/>
              </a:defRPr>
            </a:pPr>
            <a:r>
              <a:t>Compare one sample mean to a known value.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58584" y="2011680"/>
            <a:ext cx="4608576" cy="594360"/>
          </a:xfrm>
          <a:prstGeom prst="rect">
            <a:avLst/>
          </a:prstGeom>
          <a:solidFill>
            <a:srgbClr val="FFFF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31736" y="2084832"/>
            <a:ext cx="446227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441"/>
                </a:solidFill>
                <a:latin typeface="Aptos"/>
              </a:defRPr>
            </a:pPr>
            <a:r>
              <a:t>Is average model latency different from 200 ms?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606040"/>
            <a:ext cx="1975104" cy="594360"/>
          </a:xfrm>
          <a:prstGeom prst="rect">
            <a:avLst/>
          </a:prstGeom>
          <a:solidFill>
            <a:srgbClr val="E8F0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2679192"/>
            <a:ext cx="18288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441"/>
                </a:solidFill>
                <a:latin typeface="Aptos"/>
              </a:defRPr>
            </a:pPr>
            <a:r>
              <a:t>Independent t-test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9464" y="2606040"/>
            <a:ext cx="4389120" cy="594360"/>
          </a:xfrm>
          <a:prstGeom prst="rect">
            <a:avLst/>
          </a:prstGeom>
          <a:solidFill>
            <a:srgbClr val="E8F0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42616" y="2679192"/>
            <a:ext cx="424281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441"/>
                </a:solidFill>
                <a:latin typeface="Aptos"/>
              </a:defRPr>
            </a:pPr>
            <a:r>
              <a:t>Compare means of two independent groups.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58584" y="2606040"/>
            <a:ext cx="4608576" cy="594360"/>
          </a:xfrm>
          <a:prstGeom prst="rect">
            <a:avLst/>
          </a:prstGeom>
          <a:solidFill>
            <a:srgbClr val="E8F0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31736" y="2679192"/>
            <a:ext cx="446227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441"/>
                </a:solidFill>
                <a:latin typeface="Aptos"/>
              </a:defRPr>
            </a:pPr>
            <a:r>
              <a:t>Do model A and model B have different accuracies?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3200400"/>
            <a:ext cx="1975104" cy="594360"/>
          </a:xfrm>
          <a:prstGeom prst="rect">
            <a:avLst/>
          </a:prstGeom>
          <a:solidFill>
            <a:srgbClr val="FFFF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3273552"/>
            <a:ext cx="18288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441"/>
                </a:solidFill>
                <a:latin typeface="Aptos"/>
              </a:defRPr>
            </a:pPr>
            <a:r>
              <a:t>Paired t-test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9464" y="3200400"/>
            <a:ext cx="43891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42616" y="3273552"/>
            <a:ext cx="424281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441"/>
                </a:solidFill>
                <a:latin typeface="Aptos"/>
              </a:defRPr>
            </a:pPr>
            <a:r>
              <a:t>Compare before vs after on the same items.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58584" y="3200400"/>
            <a:ext cx="4608576" cy="594360"/>
          </a:xfrm>
          <a:prstGeom prst="rect">
            <a:avLst/>
          </a:prstGeom>
          <a:solidFill>
            <a:srgbClr val="FFFF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31736" y="3273552"/>
            <a:ext cx="446227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441"/>
                </a:solidFill>
                <a:latin typeface="Aptos"/>
              </a:defRPr>
            </a:pPr>
            <a:r>
              <a:t>Accuracy on the same dataset before and after tuning.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3794760"/>
            <a:ext cx="1975104" cy="594360"/>
          </a:xfrm>
          <a:prstGeom prst="rect">
            <a:avLst/>
          </a:prstGeom>
          <a:solidFill>
            <a:srgbClr val="E8F0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3867912"/>
            <a:ext cx="18288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441"/>
                </a:solidFill>
                <a:latin typeface="Aptos"/>
              </a:defRPr>
            </a:pPr>
            <a:r>
              <a:t>ANOVA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69464" y="3794760"/>
            <a:ext cx="4389120" cy="594360"/>
          </a:xfrm>
          <a:prstGeom prst="rect">
            <a:avLst/>
          </a:prstGeom>
          <a:solidFill>
            <a:srgbClr val="E8F0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42616" y="3867912"/>
            <a:ext cx="424281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441"/>
                </a:solidFill>
                <a:latin typeface="Aptos"/>
              </a:defRPr>
            </a:pPr>
            <a:r>
              <a:t>Compare means of 3 or more independent groups.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58584" y="3794760"/>
            <a:ext cx="4608576" cy="594360"/>
          </a:xfrm>
          <a:prstGeom prst="rect">
            <a:avLst/>
          </a:prstGeom>
          <a:solidFill>
            <a:srgbClr val="E8F0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31736" y="3867912"/>
            <a:ext cx="446227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441"/>
                </a:solidFill>
                <a:latin typeface="Aptos"/>
              </a:defRPr>
            </a:pPr>
            <a:r>
              <a:t>Compare 4 model versions at once.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4389120"/>
            <a:ext cx="1975104" cy="594360"/>
          </a:xfrm>
          <a:prstGeom prst="rect">
            <a:avLst/>
          </a:prstGeom>
          <a:solidFill>
            <a:srgbClr val="FFFF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" y="4462272"/>
            <a:ext cx="18288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441"/>
                </a:solidFill>
                <a:latin typeface="Aptos"/>
              </a:defRPr>
            </a:pPr>
            <a:r>
              <a:t>Z-test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69464" y="4389120"/>
            <a:ext cx="43891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42616" y="4462272"/>
            <a:ext cx="424281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441"/>
                </a:solidFill>
                <a:latin typeface="Aptos"/>
              </a:defRPr>
            </a:pPr>
            <a:r>
              <a:t>Population standard deviation is known or large-sample special cases.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58584" y="4389120"/>
            <a:ext cx="4608576" cy="594360"/>
          </a:xfrm>
          <a:prstGeom prst="rect">
            <a:avLst/>
          </a:prstGeom>
          <a:solidFill>
            <a:srgbClr val="FFFF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31736" y="4462272"/>
            <a:ext cx="446227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441"/>
                </a:solidFill>
                <a:latin typeface="Aptos"/>
              </a:defRPr>
            </a:pPr>
            <a:r>
              <a:t>Rare in practice, but possible in quality control.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8680" y="4709160"/>
            <a:ext cx="10058400" cy="1143000"/>
          </a:xfrm>
          <a:prstGeom prst="roundRect">
            <a:avLst/>
          </a:prstGeom>
          <a:solidFill>
            <a:srgbClr val="FFF4D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24712" y="4873752"/>
            <a:ext cx="95463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52745"/>
                </a:solidFill>
                <a:latin typeface="Georgia"/>
              </a:defRPr>
            </a:pPr>
            <a:r>
              <a:t>Tip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" y="5422392"/>
            <a:ext cx="95463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D3441"/>
                </a:solidFill>
                <a:latin typeface="Aptos"/>
              </a:defRPr>
            </a:pPr>
            <a:r>
              <a:t>If data is strongly non-normal or full of outliers, nonparametric alternatives may be better.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84080" y="640080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36E81"/>
                </a:solidFill>
                <a:latin typeface="Aptos"/>
              </a:defRPr>
            </a:pPr>
            <a:r>
              <a:t>Probability for 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5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52745"/>
                </a:solidFill>
                <a:latin typeface="Georgia"/>
              </a:defRPr>
            </a:pPr>
            <a:r>
              <a:t>More Test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36E81"/>
                </a:solidFill>
                <a:latin typeface="Aptos"/>
              </a:defRPr>
            </a:pPr>
            <a:r>
              <a:t>Categorical data and nonparametric choices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2194560" cy="594360"/>
          </a:xfrm>
          <a:prstGeom prst="rect">
            <a:avLst/>
          </a:prstGeom>
          <a:solidFill>
            <a:srgbClr val="15274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210312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88920" y="1417320"/>
            <a:ext cx="4608576" cy="594360"/>
          </a:xfrm>
          <a:prstGeom prst="rect">
            <a:avLst/>
          </a:prstGeom>
          <a:solidFill>
            <a:srgbClr val="15274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1481328"/>
            <a:ext cx="4517136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Use it when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97496" y="1417320"/>
            <a:ext cx="4169664" cy="594360"/>
          </a:xfrm>
          <a:prstGeom prst="rect">
            <a:avLst/>
          </a:prstGeom>
          <a:solidFill>
            <a:srgbClr val="15274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43216" y="1481328"/>
            <a:ext cx="4078224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011680"/>
            <a:ext cx="219456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2084832"/>
            <a:ext cx="204825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441"/>
                </a:solidFill>
                <a:latin typeface="Aptos"/>
              </a:defRPr>
            </a:pPr>
            <a:r>
              <a:t>Chi-square test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8920" y="2011680"/>
            <a:ext cx="4608576" cy="594360"/>
          </a:xfrm>
          <a:prstGeom prst="rect">
            <a:avLst/>
          </a:prstGeom>
          <a:solidFill>
            <a:srgbClr val="FFFF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62072" y="2084832"/>
            <a:ext cx="446227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441"/>
                </a:solidFill>
                <a:latin typeface="Aptos"/>
              </a:defRPr>
            </a:pPr>
            <a:r>
              <a:t>Check association between categorical variables.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97496" y="2011680"/>
            <a:ext cx="4169664" cy="594360"/>
          </a:xfrm>
          <a:prstGeom prst="rect">
            <a:avLst/>
          </a:prstGeom>
          <a:solidFill>
            <a:srgbClr val="FFFF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70648" y="2084832"/>
            <a:ext cx="40233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441"/>
                </a:solidFill>
                <a:latin typeface="Aptos"/>
              </a:defRPr>
            </a:pPr>
            <a:r>
              <a:t>Is prediction class related to user segment?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606040"/>
            <a:ext cx="2194560" cy="594360"/>
          </a:xfrm>
          <a:prstGeom prst="rect">
            <a:avLst/>
          </a:prstGeom>
          <a:solidFill>
            <a:srgbClr val="E8F0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2679192"/>
            <a:ext cx="204825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441"/>
                </a:solidFill>
                <a:latin typeface="Aptos"/>
              </a:defRPr>
            </a:pPr>
            <a:r>
              <a:t>Fisher exact test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88920" y="2606040"/>
            <a:ext cx="4608576" cy="594360"/>
          </a:xfrm>
          <a:prstGeom prst="rect">
            <a:avLst/>
          </a:prstGeom>
          <a:solidFill>
            <a:srgbClr val="E8F0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62072" y="2679192"/>
            <a:ext cx="446227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441"/>
                </a:solidFill>
                <a:latin typeface="Aptos"/>
              </a:defRPr>
            </a:pPr>
            <a:r>
              <a:t>Like chi-square, but small sample counts.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97496" y="2606040"/>
            <a:ext cx="4169664" cy="594360"/>
          </a:xfrm>
          <a:prstGeom prst="rect">
            <a:avLst/>
          </a:prstGeom>
          <a:solidFill>
            <a:srgbClr val="E8F0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70648" y="2679192"/>
            <a:ext cx="40233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441"/>
                </a:solidFill>
                <a:latin typeface="Aptos"/>
              </a:defRPr>
            </a:pPr>
            <a:r>
              <a:t>Small contingency table with rare events.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3200400"/>
            <a:ext cx="219456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3273552"/>
            <a:ext cx="204825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441"/>
                </a:solidFill>
                <a:latin typeface="Aptos"/>
              </a:defRPr>
            </a:pPr>
            <a:r>
              <a:t>Mann-Whitney 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88920" y="3200400"/>
            <a:ext cx="4608576" cy="594360"/>
          </a:xfrm>
          <a:prstGeom prst="rect">
            <a:avLst/>
          </a:prstGeom>
          <a:solidFill>
            <a:srgbClr val="FFFF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62072" y="3273552"/>
            <a:ext cx="446227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441"/>
                </a:solidFill>
                <a:latin typeface="Aptos"/>
              </a:defRPr>
            </a:pPr>
            <a:r>
              <a:t>Two independent groups, but data is not normal.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97496" y="3200400"/>
            <a:ext cx="4169664" cy="594360"/>
          </a:xfrm>
          <a:prstGeom prst="rect">
            <a:avLst/>
          </a:prstGeom>
          <a:solidFill>
            <a:srgbClr val="FFFF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70648" y="3273552"/>
            <a:ext cx="40233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441"/>
                </a:solidFill>
                <a:latin typeface="Aptos"/>
              </a:defRPr>
            </a:pPr>
            <a:r>
              <a:t>Compare median response times for two systems.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3794760"/>
            <a:ext cx="2194560" cy="594360"/>
          </a:xfrm>
          <a:prstGeom prst="rect">
            <a:avLst/>
          </a:prstGeom>
          <a:solidFill>
            <a:srgbClr val="E8F0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3867912"/>
            <a:ext cx="204825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441"/>
                </a:solidFill>
                <a:latin typeface="Aptos"/>
              </a:defRPr>
            </a:pPr>
            <a:r>
              <a:t>Wilcoxon signed-rank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88920" y="3794760"/>
            <a:ext cx="4608576" cy="594360"/>
          </a:xfrm>
          <a:prstGeom prst="rect">
            <a:avLst/>
          </a:prstGeom>
          <a:solidFill>
            <a:srgbClr val="E8F0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62072" y="3867912"/>
            <a:ext cx="446227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441"/>
                </a:solidFill>
                <a:latin typeface="Aptos"/>
              </a:defRPr>
            </a:pPr>
            <a:r>
              <a:t>Paired data, but not normal.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97496" y="3794760"/>
            <a:ext cx="4169664" cy="594360"/>
          </a:xfrm>
          <a:prstGeom prst="rect">
            <a:avLst/>
          </a:prstGeom>
          <a:solidFill>
            <a:srgbClr val="E8F0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70648" y="3867912"/>
            <a:ext cx="40233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441"/>
                </a:solidFill>
                <a:latin typeface="Aptos"/>
              </a:defRPr>
            </a:pPr>
            <a:r>
              <a:t>Before vs after scores for the same users.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4389120"/>
            <a:ext cx="219456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" y="4462272"/>
            <a:ext cx="204825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441"/>
                </a:solidFill>
                <a:latin typeface="Aptos"/>
              </a:defRPr>
            </a:pPr>
            <a:r>
              <a:t>Proportion test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88920" y="4389120"/>
            <a:ext cx="4608576" cy="594360"/>
          </a:xfrm>
          <a:prstGeom prst="rect">
            <a:avLst/>
          </a:prstGeom>
          <a:solidFill>
            <a:srgbClr val="FFFF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62072" y="4462272"/>
            <a:ext cx="446227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441"/>
                </a:solidFill>
                <a:latin typeface="Aptos"/>
              </a:defRPr>
            </a:pPr>
            <a:r>
              <a:t>Compare one or two proportions.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97496" y="4389120"/>
            <a:ext cx="4169664" cy="594360"/>
          </a:xfrm>
          <a:prstGeom prst="rect">
            <a:avLst/>
          </a:prstGeom>
          <a:solidFill>
            <a:srgbClr val="FFFFFF"/>
          </a:solidFill>
          <a:ln>
            <a:solidFill>
              <a:srgbClr val="E1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70648" y="4462272"/>
            <a:ext cx="40233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441"/>
                </a:solidFill>
                <a:latin typeface="Aptos"/>
              </a:defRPr>
            </a:pPr>
            <a:r>
              <a:t>Did click-through rate improve after a UI change?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0" y="640080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36E81"/>
                </a:solidFill>
                <a:latin typeface="Aptos"/>
              </a:defRPr>
            </a:pPr>
            <a:r>
              <a:t>Probability for 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5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52745"/>
                </a:solidFill>
                <a:latin typeface="Georgia"/>
              </a:defRPr>
            </a:pPr>
            <a:r>
              <a:t>Fast Decision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36E81"/>
                </a:solidFill>
                <a:latin typeface="Aptos"/>
              </a:defRPr>
            </a:pPr>
            <a:r>
              <a:t>How to choose a test quickly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566160" cy="3291840"/>
          </a:xfrm>
          <a:prstGeom prst="roundRect">
            <a:avLst/>
          </a:prstGeom>
          <a:solidFill>
            <a:srgbClr val="E8F0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8191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745"/>
                </a:solidFill>
                <a:latin typeface="Georgia"/>
              </a:defRPr>
            </a:pPr>
            <a:r>
              <a:t>1. What type of outcome?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39112"/>
            <a:ext cx="31089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D3441"/>
                </a:solidFill>
                <a:latin typeface="Aptos"/>
              </a:defRPr>
            </a:pPr>
            <a:r>
              <a:t>Continuous: score, loss, time, age.</a:t>
            </a:r>
          </a:p>
          <a:p>
            <a:pPr>
              <a:spcAft>
                <a:spcPts val="300"/>
              </a:spcAft>
              <a:defRPr sz="1200">
                <a:solidFill>
                  <a:srgbClr val="2D3441"/>
                </a:solidFill>
                <a:latin typeface="Aptos"/>
              </a:defRPr>
            </a:pPr>
            <a:r>
              <a:t>Categorical: yes/no, class label, clicked/not clicked.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566160" cy="3291840"/>
          </a:xfrm>
          <a:prstGeom prst="roundRect">
            <a:avLst/>
          </a:prstGeom>
          <a:solidFill>
            <a:srgbClr val="E5F8F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8191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745"/>
                </a:solidFill>
                <a:latin typeface="Georgia"/>
              </a:defRPr>
            </a:pPr>
            <a:r>
              <a:t>2. How many groups?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39112"/>
            <a:ext cx="31089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D3441"/>
                </a:solidFill>
                <a:latin typeface="Aptos"/>
              </a:defRPr>
            </a:pPr>
            <a:r>
              <a:t>One group vs known value.</a:t>
            </a:r>
          </a:p>
          <a:p>
            <a:pPr>
              <a:spcAft>
                <a:spcPts val="300"/>
              </a:spcAft>
              <a:defRPr sz="1200">
                <a:solidFill>
                  <a:srgbClr val="2D3441"/>
                </a:solidFill>
                <a:latin typeface="Aptos"/>
              </a:defRPr>
            </a:pPr>
            <a:r>
              <a:t>Two groups.</a:t>
            </a:r>
          </a:p>
          <a:p>
            <a:pPr>
              <a:spcAft>
                <a:spcPts val="300"/>
              </a:spcAft>
              <a:defRPr sz="1200">
                <a:solidFill>
                  <a:srgbClr val="2D3441"/>
                </a:solidFill>
                <a:latin typeface="Aptos"/>
              </a:defRPr>
            </a:pPr>
            <a:r>
              <a:t>Three or more groups.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417320"/>
            <a:ext cx="3566160" cy="3291840"/>
          </a:xfrm>
          <a:prstGeom prst="roundRect">
            <a:avLst/>
          </a:prstGeom>
          <a:solidFill>
            <a:srgbClr val="FFF4D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58191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2745"/>
                </a:solidFill>
                <a:latin typeface="Georgia"/>
              </a:defRPr>
            </a:pPr>
            <a:r>
              <a:t>3. Independent or paired?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039112"/>
            <a:ext cx="31089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D3441"/>
                </a:solidFill>
                <a:latin typeface="Aptos"/>
              </a:defRPr>
            </a:pPr>
            <a:r>
              <a:t>Independent: different samples.</a:t>
            </a:r>
          </a:p>
          <a:p>
            <a:pPr>
              <a:spcAft>
                <a:spcPts val="300"/>
              </a:spcAft>
              <a:defRPr sz="1200">
                <a:solidFill>
                  <a:srgbClr val="2D3441"/>
                </a:solidFill>
                <a:latin typeface="Aptos"/>
              </a:defRPr>
            </a:pPr>
            <a:r>
              <a:t>Paired: same subjects measured twice or matched observations.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983480"/>
            <a:ext cx="10241280" cy="10058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D3441"/>
                </a:solidFill>
                <a:latin typeface="Aptos"/>
              </a:defRPr>
            </a:pPr>
            <a:r>
              <a:t>Then check assumptions: randomness, approximate normality for parametric tests, equal variance when required, and sample size.</a:t>
            </a:r>
          </a:p>
          <a:p>
            <a:pPr>
              <a:spcAft>
                <a:spcPts val="800"/>
              </a:spcAft>
              <a:defRPr sz="1700">
                <a:solidFill>
                  <a:srgbClr val="2D3441"/>
                </a:solidFill>
                <a:latin typeface="Aptos"/>
              </a:defRPr>
            </a:pPr>
            <a:r>
              <a:t>Choosing the correct test protects us from wrong conclusions.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640080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36E81"/>
                </a:solidFill>
                <a:latin typeface="Aptos"/>
              </a:defRPr>
            </a:pPr>
            <a:r>
              <a:t>Probability for 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5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52745"/>
                </a:solidFill>
                <a:latin typeface="Georgia"/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36E81"/>
                </a:solidFill>
                <a:latin typeface="Aptos"/>
              </a:defRPr>
            </a:pPr>
            <a:r>
              <a:t>What to remember for your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9966960" cy="347472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D3441"/>
                </a:solidFill>
                <a:latin typeface="Aptos"/>
              </a:defRPr>
            </a:pPr>
            <a:r>
              <a:t>Central tendency describes the center: mean, median, and mode are useful in different situations.</a:t>
            </a:r>
          </a:p>
          <a:p>
            <a:pPr>
              <a:spcAft>
                <a:spcPts val="800"/>
              </a:spcAft>
              <a:defRPr sz="2000">
                <a:solidFill>
                  <a:srgbClr val="2D3441"/>
                </a:solidFill>
                <a:latin typeface="Aptos"/>
              </a:defRPr>
            </a:pPr>
            <a:r>
              <a:t>The CLT explains why sample means tend to follow a normal distribution as sample size grows.</a:t>
            </a:r>
          </a:p>
          <a:p>
            <a:pPr>
              <a:spcAft>
                <a:spcPts val="800"/>
              </a:spcAft>
              <a:defRPr sz="2000">
                <a:solidFill>
                  <a:srgbClr val="2D3441"/>
                </a:solidFill>
                <a:latin typeface="Aptos"/>
              </a:defRPr>
            </a:pPr>
            <a:r>
              <a:t>Confidence intervals estimate unknown parameters with a range of plausible values.</a:t>
            </a:r>
          </a:p>
          <a:p>
            <a:pPr>
              <a:spcAft>
                <a:spcPts val="800"/>
              </a:spcAft>
              <a:defRPr sz="2000">
                <a:solidFill>
                  <a:srgbClr val="2D3441"/>
                </a:solidFill>
                <a:latin typeface="Aptos"/>
              </a:defRPr>
            </a:pPr>
            <a:r>
              <a:t>Hypothesis tests help decide whether an observed effect is likely real or due to sampling variability.</a:t>
            </a:r>
          </a:p>
          <a:p>
            <a:pPr>
              <a:spcAft>
                <a:spcPts val="800"/>
              </a:spcAft>
              <a:defRPr sz="2000">
                <a:solidFill>
                  <a:srgbClr val="2D3441"/>
                </a:solidFill>
                <a:latin typeface="Aptos"/>
              </a:defRPr>
            </a:pPr>
            <a:r>
              <a:t>In AI, these tools support model evaluation, A/B tests, uncertainty reporting, and data understanding.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26679" y="4251960"/>
            <a:ext cx="3429000" cy="1325880"/>
          </a:xfrm>
          <a:prstGeom prst="roundRect">
            <a:avLst/>
          </a:prstGeom>
          <a:solidFill>
            <a:srgbClr val="FFEB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82711" y="4416552"/>
            <a:ext cx="29169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52745"/>
                </a:solidFill>
                <a:latin typeface="Georgia"/>
              </a:defRPr>
            </a:pPr>
            <a:r>
              <a:t>Remember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2711" y="4965192"/>
            <a:ext cx="29169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441"/>
                </a:solidFill>
                <a:latin typeface="Aptos"/>
              </a:defRPr>
            </a:pPr>
            <a:r>
              <a:t>Good statistics means choosing the right summary and the right test.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640080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36E81"/>
                </a:solidFill>
                <a:latin typeface="Aptos"/>
              </a:defRPr>
            </a:pPr>
            <a:r>
              <a:t>Probability for AI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5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52745"/>
                </a:solidFill>
                <a:latin typeface="Georgia"/>
              </a:defRPr>
            </a:pPr>
            <a: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36E81"/>
                </a:solidFill>
                <a:latin typeface="Aptos"/>
              </a:defRPr>
            </a:pPr>
            <a:r>
              <a:t>Educational references used to build the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52745"/>
                </a:solidFill>
                <a:latin typeface="Aptos"/>
              </a:defRPr>
            </a:pPr>
            <a:r>
              <a:t>Penn State STAT 200: Measures of Central Tendency</a:t>
            </a:r>
          </a:p>
          <a:p>
            <a:pPr>
              <a:spcAft>
                <a:spcPts val="400"/>
              </a:spcAft>
              <a:defRPr sz="1300">
                <a:solidFill>
                  <a:srgbClr val="636E81"/>
                </a:solidFill>
                <a:latin typeface="Aptos"/>
              </a:defRPr>
            </a:pPr>
            <a:r>
              <a:t>https://online.stat.psu.edu/stat200/lesson/2/2.2/2.2.4</a:t>
            </a:r>
          </a:p>
          <a:p>
            <a:pPr>
              <a:spcAft>
                <a:spcPts val="400"/>
              </a:spcAft>
              <a:defRPr sz="1600">
                <a:solidFill>
                  <a:srgbClr val="152745"/>
                </a:solidFill>
                <a:latin typeface="Aptos"/>
              </a:defRPr>
            </a:pPr>
            <a:r>
              <a:t>Penn State STAT 414: The Central Limit Theorem</a:t>
            </a:r>
          </a:p>
          <a:p>
            <a:pPr>
              <a:spcAft>
                <a:spcPts val="400"/>
              </a:spcAft>
              <a:defRPr sz="1300">
                <a:solidFill>
                  <a:srgbClr val="636E81"/>
                </a:solidFill>
                <a:latin typeface="Aptos"/>
              </a:defRPr>
            </a:pPr>
            <a:r>
              <a:t>https://online.stat.psu.edu/stat414/Lesson27.html</a:t>
            </a:r>
          </a:p>
          <a:p>
            <a:pPr>
              <a:spcAft>
                <a:spcPts val="400"/>
              </a:spcAft>
              <a:defRPr sz="1600">
                <a:solidFill>
                  <a:srgbClr val="152745"/>
                </a:solidFill>
                <a:latin typeface="Aptos"/>
              </a:defRPr>
            </a:pPr>
            <a:r>
              <a:t>Penn State STAT Program Review: Confidence Intervals</a:t>
            </a:r>
          </a:p>
          <a:p>
            <a:pPr>
              <a:spcAft>
                <a:spcPts val="400"/>
              </a:spcAft>
              <a:defRPr sz="1300">
                <a:solidFill>
                  <a:srgbClr val="636E81"/>
                </a:solidFill>
                <a:latin typeface="Aptos"/>
              </a:defRPr>
            </a:pPr>
            <a:r>
              <a:t>https://online.stat.psu.edu/statprogram/reviews/statistical-concepts/confidence-intervals</a:t>
            </a:r>
          </a:p>
          <a:p>
            <a:pPr>
              <a:spcAft>
                <a:spcPts val="400"/>
              </a:spcAft>
              <a:defRPr sz="1600">
                <a:solidFill>
                  <a:srgbClr val="152745"/>
                </a:solidFill>
                <a:latin typeface="Aptos"/>
              </a:defRPr>
            </a:pPr>
            <a:r>
              <a:t>Penn State STAT Program Review: Hypothesis Testing</a:t>
            </a:r>
          </a:p>
          <a:p>
            <a:pPr>
              <a:spcAft>
                <a:spcPts val="400"/>
              </a:spcAft>
              <a:defRPr sz="1300">
                <a:solidFill>
                  <a:srgbClr val="636E81"/>
                </a:solidFill>
                <a:latin typeface="Aptos"/>
              </a:defRPr>
            </a:pPr>
            <a:r>
              <a:t>https://online.stat.psu.edu/statprogram/reviews/statistical-concepts/hypothesis-testing</a:t>
            </a:r>
          </a:p>
          <a:p>
            <a:pPr>
              <a:spcAft>
                <a:spcPts val="400"/>
              </a:spcAft>
              <a:defRPr sz="1600">
                <a:solidFill>
                  <a:srgbClr val="152745"/>
                </a:solidFill>
                <a:latin typeface="Aptos"/>
              </a:defRPr>
            </a:pPr>
            <a:r>
              <a:t>Khan Academy: Confidence Intervals and Significance Tests units</a:t>
            </a:r>
          </a:p>
          <a:p>
            <a:pPr>
              <a:spcAft>
                <a:spcPts val="400"/>
              </a:spcAft>
              <a:defRPr sz="1300">
                <a:solidFill>
                  <a:srgbClr val="636E81"/>
                </a:solidFill>
                <a:latin typeface="Aptos"/>
              </a:defRPr>
            </a:pPr>
            <a:r>
              <a:t>https://www.khanacademy.org/math/statistics-probability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0" y="640080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36E81"/>
                </a:solidFill>
                <a:latin typeface="Aptos"/>
              </a:defRPr>
            </a:pPr>
            <a:r>
              <a:t>Probability for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