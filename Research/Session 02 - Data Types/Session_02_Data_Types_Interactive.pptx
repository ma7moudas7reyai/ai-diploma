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0a4a78b0844ec" /><Relationship Type="http://schemas.openxmlformats.org/officeDocument/2006/relationships/extended-properties" Target="/docProps/app.xml" Id="R99b3ecf08ed643f6" /><Relationship Type="http://schemas.openxmlformats.org/officeDocument/2006/relationships/officeDocument" Target="/ppt/presentation.xml" Id="R52f92adbf2034a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3413b83db54ab8"/>
  </p:sldMasterIdLst>
  <p:notesMasterIdLst>
    <p:notesMasterId xmlns:r="http://schemas.openxmlformats.org/officeDocument/2006/relationships" r:id="R62d63d047e7e445f"/>
  </p:notesMasterIdLst>
  <p:sldIdLst>
    <p:sldId xmlns:r="http://schemas.openxmlformats.org/officeDocument/2006/relationships" id="256" r:id="Re40d2d4f26c54110"/>
    <p:sldId xmlns:r="http://schemas.openxmlformats.org/officeDocument/2006/relationships" id="257" r:id="R79ab1e66ac8a48c2"/>
    <p:sldId xmlns:r="http://schemas.openxmlformats.org/officeDocument/2006/relationships" id="258" r:id="R7f075ed6903340c9"/>
    <p:sldId xmlns:r="http://schemas.openxmlformats.org/officeDocument/2006/relationships" id="259" r:id="Re37c0fc369c34a13"/>
    <p:sldId xmlns:r="http://schemas.openxmlformats.org/officeDocument/2006/relationships" id="260" r:id="R92395fc5eed04488"/>
    <p:sldId xmlns:r="http://schemas.openxmlformats.org/officeDocument/2006/relationships" id="261" r:id="Re237c196e5a1483d"/>
    <p:sldId xmlns:r="http://schemas.openxmlformats.org/officeDocument/2006/relationships" id="262" r:id="R42c4a735df4944a1"/>
    <p:sldId xmlns:r="http://schemas.openxmlformats.org/officeDocument/2006/relationships" id="263" r:id="R21f877acad204049"/>
    <p:sldId xmlns:r="http://schemas.openxmlformats.org/officeDocument/2006/relationships" id="264" r:id="R9f7ec959d83f42a3"/>
    <p:sldId xmlns:r="http://schemas.openxmlformats.org/officeDocument/2006/relationships" id="265" r:id="R73d31a7be9cc4b8a"/>
    <p:sldId xmlns:r="http://schemas.openxmlformats.org/officeDocument/2006/relationships" id="266" r:id="Ree6c25bcdd6d476c"/>
    <p:sldId xmlns:r="http://schemas.openxmlformats.org/officeDocument/2006/relationships" id="267" r:id="R789c4c7500024372"/>
    <p:sldId xmlns:r="http://schemas.openxmlformats.org/officeDocument/2006/relationships" id="268" r:id="R7b87368333724822"/>
    <p:sldId xmlns:r="http://schemas.openxmlformats.org/officeDocument/2006/relationships" id="269" r:id="R4ccce18f5d454fd0"/>
    <p:sldId xmlns:r="http://schemas.openxmlformats.org/officeDocument/2006/relationships" id="270" r:id="Rc7ce1108938c4270"/>
    <p:sldId xmlns:r="http://schemas.openxmlformats.org/officeDocument/2006/relationships" id="271" r:id="Rf56d88e385884b60"/>
    <p:sldId xmlns:r="http://schemas.openxmlformats.org/officeDocument/2006/relationships" id="272" r:id="R8c36045af14c4a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7a9af70624734" /><Relationship Type="http://schemas.openxmlformats.org/officeDocument/2006/relationships/slideMaster" Target="/ppt/slideMasters/slideMaster1.xml" Id="Rd33413b83db54ab8" /><Relationship Type="http://schemas.openxmlformats.org/officeDocument/2006/relationships/notesMaster" Target="/ppt/notesMasters/notesMaster1.xml" Id="R62d63d047e7e445f" /><Relationship Type="http://schemas.openxmlformats.org/officeDocument/2006/relationships/presProps" Target="/ppt/presProps.xml" Id="R2bbf3d8afd224531" /><Relationship Type="http://schemas.openxmlformats.org/officeDocument/2006/relationships/tableStyles" Target="/ppt/tableStyles.xml" Id="R2858e8ff8dba4df9" /><Relationship Type="http://schemas.openxmlformats.org/officeDocument/2006/relationships/slide" Target="/ppt/slides/slide1.xml" Id="Re40d2d4f26c54110" /><Relationship Type="http://schemas.openxmlformats.org/officeDocument/2006/relationships/slide" Target="/ppt/slides/slide2.xml" Id="R79ab1e66ac8a48c2" /><Relationship Type="http://schemas.openxmlformats.org/officeDocument/2006/relationships/slide" Target="/ppt/slides/slide3.xml" Id="R7f075ed6903340c9" /><Relationship Type="http://schemas.openxmlformats.org/officeDocument/2006/relationships/slide" Target="/ppt/slides/slide4.xml" Id="Re37c0fc369c34a13" /><Relationship Type="http://schemas.openxmlformats.org/officeDocument/2006/relationships/slide" Target="/ppt/slides/slide5.xml" Id="R92395fc5eed04488" /><Relationship Type="http://schemas.openxmlformats.org/officeDocument/2006/relationships/slide" Target="/ppt/slides/slide6.xml" Id="Re237c196e5a1483d" /><Relationship Type="http://schemas.openxmlformats.org/officeDocument/2006/relationships/slide" Target="/ppt/slides/slide7.xml" Id="R42c4a735df4944a1" /><Relationship Type="http://schemas.openxmlformats.org/officeDocument/2006/relationships/slide" Target="/ppt/slides/slide8.xml" Id="R21f877acad204049" /><Relationship Type="http://schemas.openxmlformats.org/officeDocument/2006/relationships/slide" Target="/ppt/slides/slide9.xml" Id="R9f7ec959d83f42a3" /><Relationship Type="http://schemas.openxmlformats.org/officeDocument/2006/relationships/slide" Target="/ppt/slides/slide10.xml" Id="R73d31a7be9cc4b8a" /><Relationship Type="http://schemas.openxmlformats.org/officeDocument/2006/relationships/slide" Target="/ppt/slides/slide11.xml" Id="Ree6c25bcdd6d476c" /><Relationship Type="http://schemas.openxmlformats.org/officeDocument/2006/relationships/slide" Target="/ppt/slides/slide12.xml" Id="R789c4c7500024372" /><Relationship Type="http://schemas.openxmlformats.org/officeDocument/2006/relationships/slide" Target="/ppt/slides/slide13.xml" Id="R7b87368333724822" /><Relationship Type="http://schemas.openxmlformats.org/officeDocument/2006/relationships/slide" Target="/ppt/slides/slide14.xml" Id="R4ccce18f5d454fd0" /><Relationship Type="http://schemas.openxmlformats.org/officeDocument/2006/relationships/slide" Target="/ppt/slides/slide15.xml" Id="Rc7ce1108938c4270" /><Relationship Type="http://schemas.openxmlformats.org/officeDocument/2006/relationships/slide" Target="/ppt/slides/slide16.xml" Id="Rf56d88e385884b60" /><Relationship Type="http://schemas.openxmlformats.org/officeDocument/2006/relationships/slide" Target="/ppt/slides/slide17.xml" Id="R8c36045af14c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56bdd6f67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de3e93fa74481" /><Relationship Type="http://schemas.openxmlformats.org/officeDocument/2006/relationships/notesMaster" Target="/ppt/notesMasters/notesMaster1.xml" Id="R23524091fdc7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57cf9f4a724f33" /><Relationship Type="http://schemas.openxmlformats.org/officeDocument/2006/relationships/notesMaster" Target="/ppt/notesMasters/notesMaster1.xml" Id="R2934ac75cf39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99c1106af43ef" /><Relationship Type="http://schemas.openxmlformats.org/officeDocument/2006/relationships/notesMaster" Target="/ppt/notesMasters/notesMaster1.xml" Id="R28d94dd641204a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beeed889cd49b3" /><Relationship Type="http://schemas.openxmlformats.org/officeDocument/2006/relationships/notesMaster" Target="/ppt/notesMasters/notesMaster1.xml" Id="R61e39bb561fb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e640fc0a5845f0" /><Relationship Type="http://schemas.openxmlformats.org/officeDocument/2006/relationships/notesMaster" Target="/ppt/notesMasters/notesMaster1.xml" Id="R97ab050f392f48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5c934560e4788" /><Relationship Type="http://schemas.openxmlformats.org/officeDocument/2006/relationships/notesMaster" Target="/ppt/notesMasters/notesMaster1.xml" Id="R17c1fb1e631d4b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0ae99acd04a19" /><Relationship Type="http://schemas.openxmlformats.org/officeDocument/2006/relationships/notesMaster" Target="/ppt/notesMasters/notesMaster1.xml" Id="Rb4b83a14cf2049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5623e145bd47f2" /><Relationship Type="http://schemas.openxmlformats.org/officeDocument/2006/relationships/notesMaster" Target="/ppt/notesMasters/notesMaster1.xml" Id="R455bfa32154c40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8ce666d85f449a" /><Relationship Type="http://schemas.openxmlformats.org/officeDocument/2006/relationships/notesMaster" Target="/ppt/notesMasters/notesMaster1.xml" Id="R3ff1dbba943c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0875d87cb24f77" /><Relationship Type="http://schemas.openxmlformats.org/officeDocument/2006/relationships/notesMaster" Target="/ppt/notesMasters/notesMaster1.xml" Id="R3ac2c56f5fc544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29fd6048014541" /><Relationship Type="http://schemas.openxmlformats.org/officeDocument/2006/relationships/notesMaster" Target="/ppt/notesMasters/notesMaster1.xml" Id="R2bc7013093f248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705a7cdc5e4eee" /><Relationship Type="http://schemas.openxmlformats.org/officeDocument/2006/relationships/notesMaster" Target="/ppt/notesMasters/notesMaster1.xml" Id="R573e0766ab704a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bce8073f2e4f5e" /><Relationship Type="http://schemas.openxmlformats.org/officeDocument/2006/relationships/notesMaster" Target="/ppt/notesMasters/notesMaster1.xml" Id="Rb622df57a7e340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9b0adc222f4def" /><Relationship Type="http://schemas.openxmlformats.org/officeDocument/2006/relationships/notesMaster" Target="/ppt/notesMasters/notesMaster1.xml" Id="R9943cbbffc724c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64894d49f6478b" /><Relationship Type="http://schemas.openxmlformats.org/officeDocument/2006/relationships/notesMaster" Target="/ppt/notesMasters/notesMaster1.xml" Id="Raf746325dac847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39b057ffbc4f87" /><Relationship Type="http://schemas.openxmlformats.org/officeDocument/2006/relationships/notesMaster" Target="/ppt/notesMasters/notesMaster1.xml" Id="R5baad4d0de1f4c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c63a65991647af" /><Relationship Type="http://schemas.openxmlformats.org/officeDocument/2006/relationships/notesMaster" Target="/ppt/notesMasters/notesMaster1.xml" Id="Racee36ea9924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D:/AI-Diploma/Tasks/Task 2/Task 2.txt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https://en.cppreference.com/cpp/language/types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https://docs.python.org/3.14/c-api/long.html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https://docs.python.org/3.14/c-api/long.html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https://en.cppreference.com/cpp/language/types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https://docs.python.org/3.13/library/sys.html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https://docs.python.org/3.13/library/sys.html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https://en.cppreference.com/cpp/language/types</a:t>
            </a:r>
          </a:p>
          <a:p xmlns:a="http://schemas.openxmlformats.org/drawingml/2006/main">
            <a:r>
              <a:t>https://www.unicode.org/glossary/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https://www.unicode.org/glossary/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https://en.cppreference.com/cpp/language/types</a:t>
            </a:r>
          </a:p>
          <a:p xmlns:a="http://schemas.openxmlformats.org/drawingml/2006/main">
            <a:r>
              <a:t>https://docs.python.org/3/library/stdtypes.html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https://en.cppreference.com/cpp/language/types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https://docs.oracle.com/javase/tutorial/java/nutsandbolts/datatypes.html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https://docs.oracle.com/javase/specs/jls/se22/html/jls-4.html</a:t>
            </a:r>
          </a:p>
          <a:p xmlns:a="http://schemas.openxmlformats.org/drawingml/2006/main">
            <a:r>
              <a:t>https://en.cppreference.com/cpp/language/types</a:t>
            </a:r>
          </a:p>
          <a:p xmlns:a="http://schemas.openxmlformats.org/drawingml/2006/main">
            <a:r>
              <a:t>https://docs.python.org/3/library/datatypes.html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cb0fd62a049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83db54a1a84b4c" /><Relationship Type="http://schemas.openxmlformats.org/officeDocument/2006/relationships/slideLayout" Target="/ppt/slideLayouts/slideLayout1.xml" Id="R5debd5f56634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ebd5f56634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f4e4f79f4ab42e0" /><Relationship Type="http://schemas.openxmlformats.org/officeDocument/2006/relationships/notesSlide" Target="/ppt/notesSlides/notesSlide1.xml" Id="R354ed4f9933a4b27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a3bcc5b50364063" /><Relationship Type="http://schemas.openxmlformats.org/officeDocument/2006/relationships/notesSlide" Target="/ppt/notesSlides/notesSlide2.xml" Id="Re7bc55c6267d441d" /><Relationship Id="rId1" Type="http://schemas.openxmlformats.org/officeDocument/2006/relationships/slide" Target="slide4.xml" /><Relationship Id="rId2" Type="http://schemas.openxmlformats.org/officeDocument/2006/relationships/slide" Target="slide7.xml" /><Relationship Id="rId3" Type="http://schemas.openxmlformats.org/officeDocument/2006/relationships/slide" Target="slide9.xml" /><Relationship Id="rId4" Type="http://schemas.openxmlformats.org/officeDocument/2006/relationships/slide" Target="slide11.xml" /><Relationship Id="rId5" Type="http://schemas.openxmlformats.org/officeDocument/2006/relationships/slide" Target="slide12.xml" /><Relationship Id="rId6" Type="http://schemas.openxmlformats.org/officeDocument/2006/relationships/slide" Target="slide14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4d6ec3e6c8547d6" /><Relationship Type="http://schemas.openxmlformats.org/officeDocument/2006/relationships/notesSlide" Target="/ppt/notesSlides/notesSlide3.xml" Id="R6c28c54183b44997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c5e49c0c0f44e8c" /><Relationship Type="http://schemas.openxmlformats.org/officeDocument/2006/relationships/notesSlide" Target="/ppt/notesSlides/notesSlide4.xml" Id="R7aadc81b58d54f14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fe2f75aa9fd402a" /><Relationship Type="http://schemas.openxmlformats.org/officeDocument/2006/relationships/notesSlide" Target="/ppt/notesSlides/notesSlide5.xml" Id="R39a5e9dc8bf64567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86a41ded21348a0" /><Relationship Type="http://schemas.openxmlformats.org/officeDocument/2006/relationships/notesSlide" Target="/ppt/notesSlides/notesSlide6.xml" Id="R7f98213e61a54c88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b7ef1f878c94d65" /><Relationship Type="http://schemas.openxmlformats.org/officeDocument/2006/relationships/notesSlide" Target="/ppt/notesSlides/notesSlide7.xml" Id="R7295e1c08e634cc6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4131e42aaea435a" /><Relationship Type="http://schemas.openxmlformats.org/officeDocument/2006/relationships/notesSlide" Target="/ppt/notesSlides/notesSlide8.xml" Id="Rd3346a12dbe5411e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68b7aaaeffc4b78" /><Relationship Type="http://schemas.openxmlformats.org/officeDocument/2006/relationships/notesSlide" Target="/ppt/notesSlides/notesSlide9.xml" Id="Rc3a6136df0654225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8524e28c2f0468c" /><Relationship Type="http://schemas.openxmlformats.org/officeDocument/2006/relationships/notesSlide" Target="/ppt/notesSlides/notesSlide10.xml" Id="R01f1cf9f8748415f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0f01ebe96204cf6" /><Relationship Type="http://schemas.openxmlformats.org/officeDocument/2006/relationships/notesSlide" Target="/ppt/notesSlides/notesSlide11.xml" Id="R313d534598be4c7b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8598810422c495b" /><Relationship Type="http://schemas.openxmlformats.org/officeDocument/2006/relationships/notesSlide" Target="/ppt/notesSlides/notesSlide12.xml" Id="R4869ae683fc6411e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0329ce1ef5c48e0" /><Relationship Type="http://schemas.openxmlformats.org/officeDocument/2006/relationships/notesSlide" Target="/ppt/notesSlides/notesSlide13.xml" Id="R7dc2b43e097d4e1c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1a0eb6698124579" /><Relationship Type="http://schemas.openxmlformats.org/officeDocument/2006/relationships/notesSlide" Target="/ppt/notesSlides/notesSlide14.xml" Id="R7a198d3ad2ba4a87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Relationship Id="rId4" Type="http://schemas.openxmlformats.org/officeDocument/2006/relationships/slide" Target="slide15.xml" /><Relationship Id="rId5" Type="http://schemas.openxmlformats.org/officeDocument/2006/relationships/slide" Target="slide16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73667ff507a4155" /><Relationship Type="http://schemas.openxmlformats.org/officeDocument/2006/relationships/notesSlide" Target="/ppt/notesSlides/notesSlide15.xml" Id="R4e0f02169c914421" /><Relationship Id="rId1" Type="http://schemas.openxmlformats.org/officeDocument/2006/relationships/slide" Target="slide14.xml" /><Relationship Id="rId2" Type="http://schemas.openxmlformats.org/officeDocument/2006/relationships/slide" Target="slide2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5fcf9a7da054a64" /><Relationship Type="http://schemas.openxmlformats.org/officeDocument/2006/relationships/notesSlide" Target="/ppt/notesSlides/notesSlide16.xml" Id="R69fbb8d450204cd3" /><Relationship Id="rId1" Type="http://schemas.openxmlformats.org/officeDocument/2006/relationships/slide" Target="slide17.xml" /><Relationship Id="rId2" Type="http://schemas.openxmlformats.org/officeDocument/2006/relationships/slide" Target="slide2.xml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2bbca80a9314482" /><Relationship Type="http://schemas.openxmlformats.org/officeDocument/2006/relationships/notesSlide" Target="/ppt/notesSlides/notesSlide17.xml" Id="R773c5ea1967a4abe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low-cyan">
            <a:extLst xmlns:a="http://schemas.openxmlformats.org/drawingml/2006/main">
              <a:ext uri="{FF2B5EF4-FFF2-40B4-BE49-F238E27FC236}">
                <a16:creationId xmlns:a16="http://schemas.microsoft.com/office/drawing/2014/main" id="{BE09FEE7-94A6-474C-9CA8-4D87AE30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low-violet">
            <a:extLst xmlns:a="http://schemas.openxmlformats.org/drawingml/2006/main">
              <a:ext uri="{FF2B5EF4-FFF2-40B4-BE49-F238E27FC236}">
                <a16:creationId xmlns:a16="http://schemas.microsoft.com/office/drawing/2014/main" id="{EB90A0B1-B5A8-482D-97D3-BD1CCEA5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28575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5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71594880-4D55-4763-9BBB-72E97F81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RESEARCH • TASK 02</a:t>
            </a:r>
          </a:p>
        </p:txBody>
      </p:sp>
      <p:sp>
        <p:nvSpPr>
          <p:cNvPr id="4" name="txt-0.8376757568441597">
            <a:extLst xmlns:a="http://schemas.openxmlformats.org/drawingml/2006/main">
              <a:ext uri="{FF2B5EF4-FFF2-40B4-BE49-F238E27FC236}">
                <a16:creationId xmlns:a16="http://schemas.microsoft.com/office/drawing/2014/main" id="{47DE16F1-61DE-4E8F-81E6-4318C3D7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676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Choosing the Right</a:t>
            </a:r>
          </a:p>
          <a:p xmlns:a="http://schemas.openxmlformats.org/drawingml/2006/main">
            <a:pPr algn="l">
              <a:defRPr sz="49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Data Type</a:t>
            </a:r>
          </a:p>
        </p:txBody>
      </p:sp>
      <p:sp>
        <p:nvSpPr>
          <p:cNvPr id="5" name="txt-0.6256074037969718">
            <a:extLst xmlns:a="http://schemas.openxmlformats.org/drawingml/2006/main">
              <a:ext uri="{FF2B5EF4-FFF2-40B4-BE49-F238E27FC236}">
                <a16:creationId xmlns:a16="http://schemas.microsoft.com/office/drawing/2014/main" id="{D3E718E6-3BAF-4041-B27E-CF1C4831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Size. Range. Precision. Meaning.</a:t>
            </a:r>
          </a:p>
        </p:txBody>
      </p:sp>
      <p:sp>
        <p:nvSpPr>
          <p:cNvPr id="6" name="txt-0.2094971258038929">
            <a:extLst xmlns:a="http://schemas.openxmlformats.org/drawingml/2006/main">
              <a:ext uri="{FF2B5EF4-FFF2-40B4-BE49-F238E27FC236}">
                <a16:creationId xmlns:a16="http://schemas.microsoft.com/office/drawing/2014/main" id="{F2D06748-B615-4700-90C8-AEF80ECF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614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A clickable guide to integers, floating point, text, characters, and booleans across Java, C/C++, and Python.</a:t>
            </a:r>
          </a:p>
        </p:txBody>
      </p:sp>
      <p:sp>
        <p:nvSpPr>
          <p:cNvPr id="7" name="bit">
            <a:extLst xmlns:a="http://schemas.openxmlformats.org/drawingml/2006/main">
              <a:ext uri="{FF2B5EF4-FFF2-40B4-BE49-F238E27FC236}">
                <a16:creationId xmlns:a16="http://schemas.microsoft.com/office/drawing/2014/main" id="{0564E2B9-5CBB-427B-8515-A660F7D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B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bit">
            <a:extLst xmlns:a="http://schemas.openxmlformats.org/drawingml/2006/main">
              <a:ext uri="{FF2B5EF4-FFF2-40B4-BE49-F238E27FC236}">
                <a16:creationId xmlns:a16="http://schemas.microsoft.com/office/drawing/2014/main" id="{34938ECB-DED3-4A13-8113-6565015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14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bit">
            <a:extLst xmlns:a="http://schemas.openxmlformats.org/drawingml/2006/main">
              <a:ext uri="{FF2B5EF4-FFF2-40B4-BE49-F238E27FC236}">
                <a16:creationId xmlns:a16="http://schemas.microsoft.com/office/drawing/2014/main" id="{D3D80C73-BC48-428C-B503-AC180D58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bit">
            <a:extLst xmlns:a="http://schemas.openxmlformats.org/drawingml/2006/main">
              <a:ext uri="{FF2B5EF4-FFF2-40B4-BE49-F238E27FC236}">
                <a16:creationId xmlns:a16="http://schemas.microsoft.com/office/drawing/2014/main" id="{03D11312-880E-4F65-9FD6-F14F7C39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7145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B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bit">
            <a:extLst xmlns:a="http://schemas.openxmlformats.org/drawingml/2006/main">
              <a:ext uri="{FF2B5EF4-FFF2-40B4-BE49-F238E27FC236}">
                <a16:creationId xmlns:a16="http://schemas.microsoft.com/office/drawing/2014/main" id="{CD3C06E5-9CB1-4707-8EEE-629D0B7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bit">
            <a:extLst xmlns:a="http://schemas.openxmlformats.org/drawingml/2006/main">
              <a:ext uri="{FF2B5EF4-FFF2-40B4-BE49-F238E27FC236}">
                <a16:creationId xmlns:a16="http://schemas.microsoft.com/office/drawing/2014/main" id="{266AE59E-9186-4C81-82A0-EE13F3F3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bit">
            <a:extLst xmlns:a="http://schemas.openxmlformats.org/drawingml/2006/main">
              <a:ext uri="{FF2B5EF4-FFF2-40B4-BE49-F238E27FC236}">
                <a16:creationId xmlns:a16="http://schemas.microsoft.com/office/drawing/2014/main" id="{587699D3-3DF7-468B-9D10-3EF959FF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B34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bit">
            <a:extLst xmlns:a="http://schemas.openxmlformats.org/drawingml/2006/main">
              <a:ext uri="{FF2B5EF4-FFF2-40B4-BE49-F238E27FC236}">
                <a16:creationId xmlns:a16="http://schemas.microsoft.com/office/drawing/2014/main" id="{EA67FCBD-E41E-47EF-B5BE-9DFD1593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0985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xt-0.6745850114230385">
            <a:extLst xmlns:a="http://schemas.openxmlformats.org/drawingml/2006/main">
              <a:ext uri="{FF2B5EF4-FFF2-40B4-BE49-F238E27FC236}">
                <a16:creationId xmlns:a16="http://schemas.microsoft.com/office/drawing/2014/main" id="{0D3E861A-271A-4A21-B484-E27B191A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8 bits = 1 byte</a:t>
            </a:r>
          </a:p>
        </p:txBody>
      </p:sp>
      <p:sp>
        <p:nvSpPr>
          <p:cNvPr id="16" name="start">
            <a:extLst xmlns:a="http://schemas.openxmlformats.org/drawingml/2006/main">
              <a:ext uri="{FF2B5EF4-FFF2-40B4-BE49-F238E27FC236}">
                <a16:creationId xmlns:a16="http://schemas.microsoft.com/office/drawing/2014/main" id="{CCF2EFF6-83DD-4FF4-83B9-0A69A907D40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START EXPLORING  →</a:t>
            </a:r>
          </a:p>
        </p:txBody>
      </p:sp>
      <p:sp>
        <p:nvSpPr>
          <p:cNvPr id="17" name="txt-0.5844026862380808">
            <a:extLst xmlns:a="http://schemas.openxmlformats.org/drawingml/2006/main">
              <a:ext uri="{FF2B5EF4-FFF2-40B4-BE49-F238E27FC236}">
                <a16:creationId xmlns:a16="http://schemas.microsoft.com/office/drawing/2014/main" id="{62AE68C5-024F-4FDA-AE84-31E9D33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AI Diploma • Session 02</a:t>
            </a:r>
          </a:p>
        </p:txBody>
      </p:sp>
    </p:spTree>
    <p:extLst>
      <p:ext uri="{BB962C8B-B14F-4D97-AF65-F5344CB8AC3E}">
        <p14:creationId xmlns:p14="http://schemas.microsoft.com/office/powerpoint/2010/main" val="435636752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FBB0C393-D475-468B-B354-8B9288C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INTERACTIVE TYPE MAP</a:t>
            </a:r>
          </a:p>
        </p:txBody>
      </p:sp>
      <p:sp>
        <p:nvSpPr>
          <p:cNvPr id="2" name="txt-0.6898184729379228">
            <a:extLst xmlns:a="http://schemas.openxmlformats.org/drawingml/2006/main">
              <a:ext uri="{FF2B5EF4-FFF2-40B4-BE49-F238E27FC236}">
                <a16:creationId xmlns:a16="http://schemas.microsoft.com/office/drawing/2014/main" id="{DBD8B793-EA41-47A4-AE6A-E31C0FEE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Choose what you want to understand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B770B9D-5755-4541-A583-22F0B388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049920959347340865">
            <a:extLst xmlns:a="http://schemas.openxmlformats.org/drawingml/2006/main">
              <a:ext uri="{FF2B5EF4-FFF2-40B4-BE49-F238E27FC236}">
                <a16:creationId xmlns:a16="http://schemas.microsoft.com/office/drawing/2014/main" id="{DED4BBC4-E192-4414-A266-FAF0CC38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xt-0.9662038437255912">
            <a:extLst xmlns:a="http://schemas.openxmlformats.org/drawingml/2006/main">
              <a:ext uri="{FF2B5EF4-FFF2-40B4-BE49-F238E27FC236}">
                <a16:creationId xmlns:a16="http://schemas.microsoft.com/office/drawing/2014/main" id="{20056893-B362-4077-814D-9C0611E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The same type name can mean different things in different languages.</a:t>
            </a:r>
          </a:p>
        </p:txBody>
      </p:sp>
      <p:sp>
        <p:nvSpPr>
          <p:cNvPr id="6" name="menu-integers">
            <a:extLst xmlns:a="http://schemas.openxmlformats.org/drawingml/2006/main">
              <a:ext uri="{FF2B5EF4-FFF2-40B4-BE49-F238E27FC236}">
                <a16:creationId xmlns:a16="http://schemas.microsoft.com/office/drawing/2014/main" id="{024282F5-B235-457F-A1F4-AF532570DE4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INTEGERS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byte • short • int • long</a:t>
            </a:r>
          </a:p>
        </p:txBody>
      </p:sp>
      <p:sp>
        <p:nvSpPr>
          <p:cNvPr id="7" name="top">
            <a:extLst xmlns:a="http://schemas.openxmlformats.org/drawingml/2006/main">
              <a:ext uri="{FF2B5EF4-FFF2-40B4-BE49-F238E27FC236}">
                <a16:creationId xmlns:a16="http://schemas.microsoft.com/office/drawing/2014/main" id="{1839A58B-A403-46C3-9153-76C23EA4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8" name="menu-floats">
            <a:extLst xmlns:a="http://schemas.openxmlformats.org/drawingml/2006/main">
              <a:ext uri="{FF2B5EF4-FFF2-40B4-BE49-F238E27FC236}">
                <a16:creationId xmlns:a16="http://schemas.microsoft.com/office/drawing/2014/main" id="{5E86A741-4C7E-4BAC-9FF9-8C8FC969973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FLOATING POINT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float • double</a:t>
            </a:r>
          </a:p>
        </p:txBody>
      </p:sp>
      <p:sp>
        <p:nvSpPr>
          <p:cNvPr id="9" name="top">
            <a:extLst xmlns:a="http://schemas.openxmlformats.org/drawingml/2006/main">
              <a:ext uri="{FF2B5EF4-FFF2-40B4-BE49-F238E27FC236}">
                <a16:creationId xmlns:a16="http://schemas.microsoft.com/office/drawing/2014/main" id="{752574AB-C174-4130-BD30-091633F9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28875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0" name="menu-text">
            <a:extLst xmlns:a="http://schemas.openxmlformats.org/drawingml/2006/main">
              <a:ext uri="{FF2B5EF4-FFF2-40B4-BE49-F238E27FC236}">
                <a16:creationId xmlns:a16="http://schemas.microsoft.com/office/drawing/2014/main" id="{5FCACDAE-06F6-4F06-B4F9-A19ACECA020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char • string • Unicode</a:t>
            </a:r>
          </a:p>
        </p:txBody>
      </p:sp>
      <p:sp>
        <p:nvSpPr>
          <p:cNvPr id="11" name="top">
            <a:extLst xmlns:a="http://schemas.openxmlformats.org/drawingml/2006/main">
              <a:ext uri="{FF2B5EF4-FFF2-40B4-BE49-F238E27FC236}">
                <a16:creationId xmlns:a16="http://schemas.microsoft.com/office/drawing/2014/main" id="{33F54C90-C315-40B1-8529-99003FAE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2" name="menu-bool">
            <a:extLst xmlns:a="http://schemas.openxmlformats.org/drawingml/2006/main">
              <a:ext uri="{FF2B5EF4-FFF2-40B4-BE49-F238E27FC236}">
                <a16:creationId xmlns:a16="http://schemas.microsoft.com/office/drawing/2014/main" id="{38046CD3-0DC5-430E-9070-E6619F3707D7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BOOLEAN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true • false • logic</a:t>
            </a:r>
          </a:p>
        </p:txBody>
      </p:sp>
      <p:sp>
        <p:nvSpPr>
          <p:cNvPr id="13" name="top">
            <a:extLst xmlns:a="http://schemas.openxmlformats.org/drawingml/2006/main">
              <a:ext uri="{FF2B5EF4-FFF2-40B4-BE49-F238E27FC236}">
                <a16:creationId xmlns:a16="http://schemas.microsoft.com/office/drawing/2014/main" id="{DE148BF9-AAC4-4642-9110-86ABA55F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4" name="menu-map">
            <a:extLst xmlns:a="http://schemas.openxmlformats.org/drawingml/2006/main">
              <a:ext uri="{FF2B5EF4-FFF2-40B4-BE49-F238E27FC236}">
                <a16:creationId xmlns:a16="http://schemas.microsoft.com/office/drawing/2014/main" id="{06A04A8B-8E6C-4A35-8606-3E9989D4F4F4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txBody>
          <a:bodyPr xmlns:a="http://schemas.openxmlformats.org/drawingml/2006/main" lIns="190500" tIns="171450" rIns="152400" bIns="1714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05</a:t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LANGUAGE 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Java • C++ • Python</a:t>
            </a:r>
          </a:p>
        </p:txBody>
      </p:sp>
      <p:sp>
        <p:nvSpPr>
          <p:cNvPr id="15" name="top">
            <a:extLst xmlns:a="http://schemas.openxmlformats.org/drawingml/2006/main">
              <a:ext uri="{FF2B5EF4-FFF2-40B4-BE49-F238E27FC236}">
                <a16:creationId xmlns:a16="http://schemas.microsoft.com/office/drawing/2014/main" id="{E3E14275-F82D-42DF-B586-59CA9943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20288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6" name="menu-quiz">
            <a:extLst xmlns:a="http://schemas.openxmlformats.org/drawingml/2006/main">
              <a:ext uri="{FF2B5EF4-FFF2-40B4-BE49-F238E27FC236}">
                <a16:creationId xmlns:a16="http://schemas.microsoft.com/office/drawing/2014/main" id="{1AFF1AF3-79FD-449F-9EF8-37EF0E6C1BE6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67350"/>
            <a:ext cx="32289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TAKE THE TYPE CHALLENGE  →</a:t>
            </a:r>
          </a:p>
        </p:txBody>
      </p:sp>
    </p:spTree>
    <p:extLst>
      <p:ext uri="{BB962C8B-B14F-4D97-AF65-F5344CB8AC3E}">
        <p14:creationId xmlns:p14="http://schemas.microsoft.com/office/powerpoint/2010/main" val="1943677661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ill">
            <a:extLst xmlns:a="http://schemas.openxmlformats.org/drawingml/2006/main">
              <a:ext uri="{FF2B5EF4-FFF2-40B4-BE49-F238E27FC236}">
                <a16:creationId xmlns:a16="http://schemas.microsoft.com/office/drawing/2014/main" id="{72A1CF5E-31E7-4E9D-8E3D-329CF7DB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THE CORE IDEA</a:t>
            </a:r>
          </a:p>
        </p:txBody>
      </p:sp>
      <p:sp>
        <p:nvSpPr>
          <p:cNvPr id="2" name="txt-0.45038408610356706">
            <a:extLst xmlns:a="http://schemas.openxmlformats.org/drawingml/2006/main">
              <a:ext uri="{FF2B5EF4-FFF2-40B4-BE49-F238E27FC236}">
                <a16:creationId xmlns:a16="http://schemas.microsoft.com/office/drawing/2014/main" id="{4ACB9A6D-D0C2-46EF-A385-680815C7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 data type is a contract with five clauses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97FBF20-6A62-4F2E-8707-DE10B0B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6183804148701924">
            <a:extLst xmlns:a="http://schemas.openxmlformats.org/drawingml/2006/main">
              <a:ext uri="{FF2B5EF4-FFF2-40B4-BE49-F238E27FC236}">
                <a16:creationId xmlns:a16="http://schemas.microsoft.com/office/drawing/2014/main" id="{42E6ACF5-AE92-4DDA-8B4B-1F56E2CE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clause">
            <a:extLst xmlns:a="http://schemas.openxmlformats.org/drawingml/2006/main">
              <a:ext uri="{FF2B5EF4-FFF2-40B4-BE49-F238E27FC236}">
                <a16:creationId xmlns:a16="http://schemas.microsoft.com/office/drawing/2014/main" id="{9FF3E913-7692-4370-9D6B-C7C124A4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028825" cy="24288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EF2A7884-DD57-45FD-9EA0-10D8840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xt-0.2191554108150474">
            <a:extLst xmlns:a="http://schemas.openxmlformats.org/drawingml/2006/main">
              <a:ext uri="{FF2B5EF4-FFF2-40B4-BE49-F238E27FC236}">
                <a16:creationId xmlns:a16="http://schemas.microsoft.com/office/drawing/2014/main" id="{BF97A105-18E3-490E-B797-FC2C61B2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8" name="txt-0.2460387463953172">
            <a:extLst xmlns:a="http://schemas.openxmlformats.org/drawingml/2006/main">
              <a:ext uri="{FF2B5EF4-FFF2-40B4-BE49-F238E27FC236}">
                <a16:creationId xmlns:a16="http://schemas.microsoft.com/office/drawing/2014/main" id="{F424D975-974E-4D2E-A6AF-A640C1D6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What can it represent?</a:t>
            </a:r>
          </a:p>
        </p:txBody>
      </p:sp>
      <p:sp>
        <p:nvSpPr>
          <p:cNvPr id="9" name="clause">
            <a:extLst xmlns:a="http://schemas.openxmlformats.org/drawingml/2006/main">
              <a:ext uri="{FF2B5EF4-FFF2-40B4-BE49-F238E27FC236}">
                <a16:creationId xmlns:a16="http://schemas.microsoft.com/office/drawing/2014/main" id="{41A253D8-B55A-46A5-8383-7828E5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43125"/>
            <a:ext cx="2028825" cy="24288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E6C05E61-4713-4B4E-8B7C-80127BDE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4315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xt-0.5317642262470464">
            <a:extLst xmlns:a="http://schemas.openxmlformats.org/drawingml/2006/main">
              <a:ext uri="{FF2B5EF4-FFF2-40B4-BE49-F238E27FC236}">
                <a16:creationId xmlns:a16="http://schemas.microsoft.com/office/drawing/2014/main" id="{37DDB34C-0863-42C8-B6E5-BA4507C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28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SIZE</a:t>
            </a:r>
          </a:p>
        </p:txBody>
      </p:sp>
      <p:sp>
        <p:nvSpPr>
          <p:cNvPr id="12" name="txt-0.8580506089697006">
            <a:extLst xmlns:a="http://schemas.openxmlformats.org/drawingml/2006/main">
              <a:ext uri="{FF2B5EF4-FFF2-40B4-BE49-F238E27FC236}">
                <a16:creationId xmlns:a16="http://schemas.microsoft.com/office/drawing/2014/main" id="{871A1BC9-FF48-4126-B39C-9E3E49F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2425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How much storage?</a:t>
            </a:r>
          </a:p>
        </p:txBody>
      </p:sp>
      <p:sp>
        <p:nvSpPr>
          <p:cNvPr id="13" name="clause">
            <a:extLst xmlns:a="http://schemas.openxmlformats.org/drawingml/2006/main">
              <a:ext uri="{FF2B5EF4-FFF2-40B4-BE49-F238E27FC236}">
                <a16:creationId xmlns:a16="http://schemas.microsoft.com/office/drawing/2014/main" id="{84C9FE7F-9EAE-44B6-BD19-89F4A454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2028825" cy="24288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14" name="pill">
            <a:extLst xmlns:a="http://schemas.openxmlformats.org/drawingml/2006/main">
              <a:ext uri="{FF2B5EF4-FFF2-40B4-BE49-F238E27FC236}">
                <a16:creationId xmlns:a16="http://schemas.microsoft.com/office/drawing/2014/main" id="{6E076E11-7CE3-4B45-A06C-9D77F618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xt-0.7362625524167257">
            <a:extLst xmlns:a="http://schemas.openxmlformats.org/drawingml/2006/main">
              <a:ext uri="{FF2B5EF4-FFF2-40B4-BE49-F238E27FC236}">
                <a16:creationId xmlns:a16="http://schemas.microsoft.com/office/drawing/2014/main" id="{91102905-4F60-40A9-A40B-D280B2A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RANGE</a:t>
            </a:r>
          </a:p>
        </p:txBody>
      </p:sp>
      <p:sp>
        <p:nvSpPr>
          <p:cNvPr id="16" name="txt-0.5299298616515652">
            <a:extLst xmlns:a="http://schemas.openxmlformats.org/drawingml/2006/main">
              <a:ext uri="{FF2B5EF4-FFF2-40B4-BE49-F238E27FC236}">
                <a16:creationId xmlns:a16="http://schemas.microsoft.com/office/drawing/2014/main" id="{2222E15A-FB66-44FF-B0C0-2430E152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Smallest to largest?</a:t>
            </a:r>
          </a:p>
        </p:txBody>
      </p:sp>
      <p:sp>
        <p:nvSpPr>
          <p:cNvPr id="17" name="clause">
            <a:extLst xmlns:a="http://schemas.openxmlformats.org/drawingml/2006/main">
              <a:ext uri="{FF2B5EF4-FFF2-40B4-BE49-F238E27FC236}">
                <a16:creationId xmlns:a16="http://schemas.microsoft.com/office/drawing/2014/main" id="{ED8C0E09-B20C-4799-B304-C6AEB6E7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43125"/>
            <a:ext cx="2028825" cy="24288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FD36C353-510A-47B6-947C-A4C287E8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4315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xt-0.7510508278319898">
            <a:extLst xmlns:a="http://schemas.openxmlformats.org/drawingml/2006/main">
              <a:ext uri="{FF2B5EF4-FFF2-40B4-BE49-F238E27FC236}">
                <a16:creationId xmlns:a16="http://schemas.microsoft.com/office/drawing/2014/main" id="{824179AB-ECE7-4AFF-8D4B-2CEEF3B2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28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20" name="txt-0.5548766599420132">
            <a:extLst xmlns:a="http://schemas.openxmlformats.org/drawingml/2006/main">
              <a:ext uri="{FF2B5EF4-FFF2-40B4-BE49-F238E27FC236}">
                <a16:creationId xmlns:a16="http://schemas.microsoft.com/office/drawing/2014/main" id="{53FE915A-E9BB-4ECF-86CE-3911877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2425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How accurately?</a:t>
            </a:r>
          </a:p>
        </p:txBody>
      </p:sp>
      <p:sp>
        <p:nvSpPr>
          <p:cNvPr id="21" name="clause">
            <a:extLst xmlns:a="http://schemas.openxmlformats.org/drawingml/2006/main">
              <a:ext uri="{FF2B5EF4-FFF2-40B4-BE49-F238E27FC236}">
                <a16:creationId xmlns:a16="http://schemas.microsoft.com/office/drawing/2014/main" id="{9E374D0A-C5D2-4F12-98B2-0A9DAFDF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2028825" cy="24288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2" name="pill">
            <a:extLst xmlns:a="http://schemas.openxmlformats.org/drawingml/2006/main">
              <a:ext uri="{FF2B5EF4-FFF2-40B4-BE49-F238E27FC236}">
                <a16:creationId xmlns:a16="http://schemas.microsoft.com/office/drawing/2014/main" id="{DC368138-A28A-43B7-A65C-30EC6BBC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43150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xt-0.8894254779333737">
            <a:extLst xmlns:a="http://schemas.openxmlformats.org/drawingml/2006/main">
              <a:ext uri="{FF2B5EF4-FFF2-40B4-BE49-F238E27FC236}">
                <a16:creationId xmlns:a16="http://schemas.microsoft.com/office/drawing/2014/main" id="{E1AFA055-B59F-49DD-A887-3C9728D6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24" name="txt-0.6665541860829451">
            <a:extLst xmlns:a="http://schemas.openxmlformats.org/drawingml/2006/main">
              <a:ext uri="{FF2B5EF4-FFF2-40B4-BE49-F238E27FC236}">
                <a16:creationId xmlns:a16="http://schemas.microsoft.com/office/drawing/2014/main" id="{F397042E-BB9C-477F-9EB6-6A64878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Which operations?</a:t>
            </a:r>
          </a:p>
        </p:txBody>
      </p:sp>
      <p:sp>
        <p:nvSpPr>
          <p:cNvPr id="25" name="rule-callout">
            <a:extLst xmlns:a="http://schemas.openxmlformats.org/drawingml/2006/main">
              <a:ext uri="{FF2B5EF4-FFF2-40B4-BE49-F238E27FC236}">
                <a16:creationId xmlns:a16="http://schemas.microsoft.com/office/drawing/2014/main" id="{D4682840-7F8A-4451-AA93-86BF43A9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1118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6" name="txt-0.7916564362748448">
            <a:extLst xmlns:a="http://schemas.openxmlformats.org/drawingml/2006/main">
              <a:ext uri="{FF2B5EF4-FFF2-40B4-BE49-F238E27FC236}">
                <a16:creationId xmlns:a16="http://schemas.microsoft.com/office/drawing/2014/main" id="{9B342CD6-3F45-4F18-BC71-2FECE751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Never ask ‘How many bytes is int?’ without first asking ‘In which language and implementation?’</a:t>
            </a:r>
          </a:p>
        </p:txBody>
      </p:sp>
      <p:sp>
        <p:nvSpPr>
          <p:cNvPr id="27" name="nav-home">
            <a:extLst xmlns:a="http://schemas.openxmlformats.org/drawingml/2006/main">
              <a:ext uri="{FF2B5EF4-FFF2-40B4-BE49-F238E27FC236}">
                <a16:creationId xmlns:a16="http://schemas.microsoft.com/office/drawing/2014/main" id="{4E45AD5C-F6C5-4D7B-8256-8D777259222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0607CCF5-D0ED-451D-A7DB-736DF871605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68651507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ill">
            <a:extLst xmlns:a="http://schemas.openxmlformats.org/drawingml/2006/main">
              <a:ext uri="{FF2B5EF4-FFF2-40B4-BE49-F238E27FC236}">
                <a16:creationId xmlns:a16="http://schemas.microsoft.com/office/drawing/2014/main" id="{F02F3B15-A9C8-47D5-8406-DE520980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INTEGERS • JAVA</a:t>
            </a:r>
          </a:p>
        </p:txBody>
      </p:sp>
      <p:sp>
        <p:nvSpPr>
          <p:cNvPr id="2" name="txt-0.5119639906418874">
            <a:extLst xmlns:a="http://schemas.openxmlformats.org/drawingml/2006/main">
              <a:ext uri="{FF2B5EF4-FFF2-40B4-BE49-F238E27FC236}">
                <a16:creationId xmlns:a16="http://schemas.microsoft.com/office/drawing/2014/main" id="{86DCA1F4-BE47-4CB2-9229-1C55E70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Java fixes the width of its four signed integer types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7A3CA8F-7964-4D65-AAE3-D1136DD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7967872894791301">
            <a:extLst xmlns:a="http://schemas.openxmlformats.org/drawingml/2006/main">
              <a:ext uri="{FF2B5EF4-FFF2-40B4-BE49-F238E27FC236}">
                <a16:creationId xmlns:a16="http://schemas.microsoft.com/office/drawing/2014/main" id="{85CB51C1-2677-4582-98BD-3037CE3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t-card">
            <a:extLst xmlns:a="http://schemas.openxmlformats.org/drawingml/2006/main">
              <a:ext uri="{FF2B5EF4-FFF2-40B4-BE49-F238E27FC236}">
                <a16:creationId xmlns:a16="http://schemas.microsoft.com/office/drawing/2014/main" id="{F1F2DD15-DB72-4670-8F87-37A23461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33650" cy="27146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pill">
            <a:extLst xmlns:a="http://schemas.openxmlformats.org/drawingml/2006/main">
              <a:ext uri="{FF2B5EF4-FFF2-40B4-BE49-F238E27FC236}">
                <a16:creationId xmlns:a16="http://schemas.microsoft.com/office/drawing/2014/main" id="{0B2C38A5-AEC1-43AF-B0A1-A1BBBF15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BYTE</a:t>
            </a:r>
          </a:p>
        </p:txBody>
      </p:sp>
      <p:sp>
        <p:nvSpPr>
          <p:cNvPr id="7" name="txt-0.03775718866383759">
            <a:extLst xmlns:a="http://schemas.openxmlformats.org/drawingml/2006/main">
              <a:ext uri="{FF2B5EF4-FFF2-40B4-BE49-F238E27FC236}">
                <a16:creationId xmlns:a16="http://schemas.microsoft.com/office/drawing/2014/main" id="{30377379-81EE-433D-97FC-18E9904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8 bits</a:t>
            </a:r>
          </a:p>
        </p:txBody>
      </p:sp>
      <p:sp>
        <p:nvSpPr>
          <p:cNvPr id="8" name="txt-0.8853583489372853">
            <a:extLst xmlns:a="http://schemas.openxmlformats.org/drawingml/2006/main">
              <a:ext uri="{FF2B5EF4-FFF2-40B4-BE49-F238E27FC236}">
                <a16:creationId xmlns:a16="http://schemas.microsoft.com/office/drawing/2014/main" id="{F1B20814-2D24-4279-BDEA-5C32B05D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−128 → 127</a:t>
            </a:r>
          </a:p>
        </p:txBody>
      </p:sp>
      <p:sp>
        <p:nvSpPr>
          <p:cNvPr id="9" name="txt-0.783997671549139">
            <a:extLst xmlns:a="http://schemas.openxmlformats.org/drawingml/2006/main">
              <a:ext uri="{FF2B5EF4-FFF2-40B4-BE49-F238E27FC236}">
                <a16:creationId xmlns:a16="http://schemas.microsoft.com/office/drawing/2014/main" id="{4F2C2AE8-EA1A-481C-959C-6BC5C1CA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Use when the narrow range is meaningful or arrays are huge.</a:t>
            </a:r>
          </a:p>
        </p:txBody>
      </p:sp>
      <p:sp>
        <p:nvSpPr>
          <p:cNvPr id="10" name="int-card">
            <a:extLst xmlns:a="http://schemas.openxmlformats.org/drawingml/2006/main">
              <a:ext uri="{FF2B5EF4-FFF2-40B4-BE49-F238E27FC236}">
                <a16:creationId xmlns:a16="http://schemas.microsoft.com/office/drawing/2014/main" id="{8CA1DD90-1DAA-46EE-8A4A-24A2EBBC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95500"/>
            <a:ext cx="2533650" cy="27146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1" name="pill">
            <a:extLst xmlns:a="http://schemas.openxmlformats.org/drawingml/2006/main">
              <a:ext uri="{FF2B5EF4-FFF2-40B4-BE49-F238E27FC236}">
                <a16:creationId xmlns:a16="http://schemas.microsoft.com/office/drawing/2014/main" id="{ABC8DB71-54C7-4B75-BE50-5A7DFFF6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241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SHORT</a:t>
            </a:r>
          </a:p>
        </p:txBody>
      </p:sp>
      <p:sp>
        <p:nvSpPr>
          <p:cNvPr id="12" name="txt-0.4751789959692274">
            <a:extLst xmlns:a="http://schemas.openxmlformats.org/drawingml/2006/main">
              <a:ext uri="{FF2B5EF4-FFF2-40B4-BE49-F238E27FC236}">
                <a16:creationId xmlns:a16="http://schemas.microsoft.com/office/drawing/2014/main" id="{871C37D2-F875-4952-9E67-114B23B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16 bits</a:t>
            </a:r>
          </a:p>
        </p:txBody>
      </p:sp>
      <p:sp>
        <p:nvSpPr>
          <p:cNvPr id="13" name="txt-0.3093591919809422">
            <a:extLst xmlns:a="http://schemas.openxmlformats.org/drawingml/2006/main">
              <a:ext uri="{FF2B5EF4-FFF2-40B4-BE49-F238E27FC236}">
                <a16:creationId xmlns:a16="http://schemas.microsoft.com/office/drawing/2014/main" id="{76CB2712-431E-4424-BC15-4C30066F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−32,768 → 32,767</a:t>
            </a:r>
          </a:p>
        </p:txBody>
      </p:sp>
      <p:sp>
        <p:nvSpPr>
          <p:cNvPr id="14" name="txt-0.7895793899492245">
            <a:extLst xmlns:a="http://schemas.openxmlformats.org/drawingml/2006/main">
              <a:ext uri="{FF2B5EF4-FFF2-40B4-BE49-F238E27FC236}">
                <a16:creationId xmlns:a16="http://schemas.microsoft.com/office/drawing/2014/main" id="{9BA0C730-9025-43CD-83A3-C1A780F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295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Use when the narrow range is meaningful or arrays are huge.</a:t>
            </a:r>
          </a:p>
        </p:txBody>
      </p:sp>
      <p:sp>
        <p:nvSpPr>
          <p:cNvPr id="15" name="int-card">
            <a:extLst xmlns:a="http://schemas.openxmlformats.org/drawingml/2006/main">
              <a:ext uri="{FF2B5EF4-FFF2-40B4-BE49-F238E27FC236}">
                <a16:creationId xmlns:a16="http://schemas.microsoft.com/office/drawing/2014/main" id="{54717286-0F92-4034-B9D4-E14326F9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533650" cy="27146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16" name="pill">
            <a:extLst xmlns:a="http://schemas.openxmlformats.org/drawingml/2006/main">
              <a:ext uri="{FF2B5EF4-FFF2-40B4-BE49-F238E27FC236}">
                <a16:creationId xmlns:a16="http://schemas.microsoft.com/office/drawing/2014/main" id="{28409DBD-4C78-4588-8729-72B1671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7" name="txt-0.8236989191761528">
            <a:extLst xmlns:a="http://schemas.openxmlformats.org/drawingml/2006/main">
              <a:ext uri="{FF2B5EF4-FFF2-40B4-BE49-F238E27FC236}">
                <a16:creationId xmlns:a16="http://schemas.microsoft.com/office/drawing/2014/main" id="{D009194E-3797-42F9-B331-E8490C1A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32 bits</a:t>
            </a:r>
          </a:p>
        </p:txBody>
      </p:sp>
      <p:sp>
        <p:nvSpPr>
          <p:cNvPr id="18" name="txt-0.010751974879164239">
            <a:extLst xmlns:a="http://schemas.openxmlformats.org/drawingml/2006/main">
              <a:ext uri="{FF2B5EF4-FFF2-40B4-BE49-F238E27FC236}">
                <a16:creationId xmlns:a16="http://schemas.microsoft.com/office/drawing/2014/main" id="{B49C2777-935A-4F8E-857E-407C5947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−2³¹ → 2³¹−1</a:t>
            </a:r>
          </a:p>
        </p:txBody>
      </p:sp>
      <p:sp>
        <p:nvSpPr>
          <p:cNvPr id="19" name="txt-0.991303465262169">
            <a:extLst xmlns:a="http://schemas.openxmlformats.org/drawingml/2006/main">
              <a:ext uri="{FF2B5EF4-FFF2-40B4-BE49-F238E27FC236}">
                <a16:creationId xmlns:a16="http://schemas.microsoft.com/office/drawing/2014/main" id="{9D2E736E-2E86-4061-9C51-E7E422E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95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Default choice for ordinary whole numbers.</a:t>
            </a:r>
          </a:p>
        </p:txBody>
      </p:sp>
      <p:sp>
        <p:nvSpPr>
          <p:cNvPr id="20" name="int-card">
            <a:extLst xmlns:a="http://schemas.openxmlformats.org/drawingml/2006/main">
              <a:ext uri="{FF2B5EF4-FFF2-40B4-BE49-F238E27FC236}">
                <a16:creationId xmlns:a16="http://schemas.microsoft.com/office/drawing/2014/main" id="{52E14D5E-62E7-4D12-9037-0FCD61E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095500"/>
            <a:ext cx="2533650" cy="2714625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F9BA7961-732A-41AC-AC10-7233EFFA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LONG</a:t>
            </a:r>
          </a:p>
        </p:txBody>
      </p:sp>
      <p:sp>
        <p:nvSpPr>
          <p:cNvPr id="22" name="txt-0.6059355009790373">
            <a:extLst xmlns:a="http://schemas.openxmlformats.org/drawingml/2006/main">
              <a:ext uri="{FF2B5EF4-FFF2-40B4-BE49-F238E27FC236}">
                <a16:creationId xmlns:a16="http://schemas.microsoft.com/office/drawing/2014/main" id="{9F6F75C2-28A2-4549-A0A7-EF73AD7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48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64 bits</a:t>
            </a:r>
          </a:p>
        </p:txBody>
      </p:sp>
      <p:sp>
        <p:nvSpPr>
          <p:cNvPr id="23" name="txt-0.18518439386488184">
            <a:extLst xmlns:a="http://schemas.openxmlformats.org/drawingml/2006/main">
              <a:ext uri="{FF2B5EF4-FFF2-40B4-BE49-F238E27FC236}">
                <a16:creationId xmlns:a16="http://schemas.microsoft.com/office/drawing/2014/main" id="{46DB6607-5CBC-4611-974F-FC68484C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95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−2⁶³ → 2⁶³−1</a:t>
            </a:r>
          </a:p>
        </p:txBody>
      </p:sp>
      <p:sp>
        <p:nvSpPr>
          <p:cNvPr id="24" name="txt-0.24273640398504515">
            <a:extLst xmlns:a="http://schemas.openxmlformats.org/drawingml/2006/main">
              <a:ext uri="{FF2B5EF4-FFF2-40B4-BE49-F238E27FC236}">
                <a16:creationId xmlns:a16="http://schemas.microsoft.com/office/drawing/2014/main" id="{81550EE8-B2A6-4724-9444-01016DF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957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Use when int is not wide enough.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001F1FE9-5437-478A-90B9-295B39000A9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41D2998F-B0A8-42FD-BD84-25CD13E9186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7" name="nav-next">
            <a:extLst xmlns:a="http://schemas.openxmlformats.org/drawingml/2006/main">
              <a:ext uri="{FF2B5EF4-FFF2-40B4-BE49-F238E27FC236}">
                <a16:creationId xmlns:a16="http://schemas.microsoft.com/office/drawing/2014/main" id="{33B5270B-68A6-4BF7-AC05-63D81394E2F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972983827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00C900AF-0BEB-4B6C-9D7E-9F64D91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INTEGERS • PYTHON</a:t>
            </a:r>
          </a:p>
        </p:txBody>
      </p:sp>
      <p:sp>
        <p:nvSpPr>
          <p:cNvPr id="2" name="txt-0.7611593325702272">
            <a:extLst xmlns:a="http://schemas.openxmlformats.org/drawingml/2006/main">
              <a:ext uri="{FF2B5EF4-FFF2-40B4-BE49-F238E27FC236}">
                <a16:creationId xmlns:a16="http://schemas.microsoft.com/office/drawing/2014/main" id="{4CD058B6-242B-46DB-A9D7-7F75AC40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Python int grows with the value instead of overflowing at 32 bits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ABBDC7F-81C5-4A30-BA63-F366BED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6796246580487469">
            <a:extLst xmlns:a="http://schemas.openxmlformats.org/drawingml/2006/main">
              <a:ext uri="{FF2B5EF4-FFF2-40B4-BE49-F238E27FC236}">
                <a16:creationId xmlns:a16="http://schemas.microsoft.com/office/drawing/2014/main" id="{B0E208EA-E0F6-400C-A29A-3E16A8C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C96D3655-E06F-48BF-A1DB-A16F1A99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953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8EC5568A-D4FE-44F3-825B-56442683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7" name="txt-0.7757757500398682">
            <a:extLst xmlns:a="http://schemas.openxmlformats.org/drawingml/2006/main">
              <a:ext uri="{FF2B5EF4-FFF2-40B4-BE49-F238E27FC236}">
                <a16:creationId xmlns:a16="http://schemas.microsoft.com/office/drawing/2014/main" id="{85227586-D928-4C8D-B4F2-4F9FA62F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457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small = 42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large = 10 ** 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print(type(small))  # int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print(type(large))  # int</a:t>
            </a:r>
          </a:p>
        </p:txBody>
      </p:sp>
      <p:sp>
        <p:nvSpPr>
          <p:cNvPr id="8" name="grow">
            <a:extLst xmlns:a="http://schemas.openxmlformats.org/drawingml/2006/main">
              <a:ext uri="{FF2B5EF4-FFF2-40B4-BE49-F238E27FC236}">
                <a16:creationId xmlns:a16="http://schemas.microsoft.com/office/drawing/2014/main" id="{6005AAC6-90A3-4676-AB13-A3271CF0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6959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9" name="txt-0.809980230508161">
            <a:extLst xmlns:a="http://schemas.openxmlformats.org/drawingml/2006/main">
              <a:ext uri="{FF2B5EF4-FFF2-40B4-BE49-F238E27FC236}">
                <a16:creationId xmlns:a16="http://schemas.microsoft.com/office/drawing/2014/main" id="{59BF464F-195C-465C-A59F-352FBFD0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ARBITRARY PRECISION</a:t>
            </a:r>
          </a:p>
        </p:txBody>
      </p:sp>
      <p:sp>
        <p:nvSpPr>
          <p:cNvPr id="10" name="txt-0.3782732976058021">
            <a:extLst xmlns:a="http://schemas.openxmlformats.org/drawingml/2006/main">
              <a:ext uri="{FF2B5EF4-FFF2-40B4-BE49-F238E27FC236}">
                <a16:creationId xmlns:a16="http://schemas.microsoft.com/office/drawing/2014/main" id="{45C45A86-239D-44C7-B8BB-964C002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CPython stores integers using multiple internal digits (“limbs”) when the value grows.</a:t>
            </a:r>
          </a:p>
        </p:txBody>
      </p:sp>
      <p:sp>
        <p:nvSpPr>
          <p:cNvPr id="11" name="txt-0.35202574244310136">
            <a:extLst xmlns:a="http://schemas.openxmlformats.org/drawingml/2006/main">
              <a:ext uri="{FF2B5EF4-FFF2-40B4-BE49-F238E27FC236}">
                <a16:creationId xmlns:a16="http://schemas.microsoft.com/office/drawing/2014/main" id="{6D8EB8FC-53E3-4862-9B08-8B67EDD0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Trade-off</a:t>
            </a:r>
          </a:p>
        </p:txBody>
      </p:sp>
      <p:sp>
        <p:nvSpPr>
          <p:cNvPr id="12" name="txt-0.026202110802701295">
            <a:extLst xmlns:a="http://schemas.openxmlformats.org/drawingml/2006/main">
              <a:ext uri="{FF2B5EF4-FFF2-40B4-BE49-F238E27FC236}">
                <a16:creationId xmlns:a16="http://schemas.microsoft.com/office/drawing/2014/main" id="{287914E2-AF67-437C-B101-AB52794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Larger values consume more memory and arithmetic time.</a:t>
            </a:r>
          </a:p>
        </p:txBody>
      </p:sp>
      <p:sp>
        <p:nvSpPr>
          <p:cNvPr id="13" name="take">
            <a:extLst xmlns:a="http://schemas.openxmlformats.org/drawingml/2006/main">
              <a:ext uri="{FF2B5EF4-FFF2-40B4-BE49-F238E27FC236}">
                <a16:creationId xmlns:a16="http://schemas.microsoft.com/office/drawing/2014/main" id="{4049368C-5CE4-41C5-8A5A-AC1AE6E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E1920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txt-0.42626514365279633">
            <a:extLst xmlns:a="http://schemas.openxmlformats.org/drawingml/2006/main">
              <a:ext uri="{FF2B5EF4-FFF2-40B4-BE49-F238E27FC236}">
                <a16:creationId xmlns:a16="http://schemas.microsoft.com/office/drawing/2014/main" id="{AD5699B7-34A9-4610-B8D2-5709492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Python has no separate byte, short, int, and long integer types for ordinary variables.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3D07B244-4995-4C79-8EC5-AAD0695BDB7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A101EF85-B3C1-4944-9188-D22DFAE99E8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C1948BC6-5E5F-4B37-ACC8-7EF3BBD2F788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550302632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ill">
            <a:extLst xmlns:a="http://schemas.openxmlformats.org/drawingml/2006/main">
              <a:ext uri="{FF2B5EF4-FFF2-40B4-BE49-F238E27FC236}">
                <a16:creationId xmlns:a16="http://schemas.microsoft.com/office/drawing/2014/main" id="{57707117-5D89-469A-BC9E-E914F380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INTEGERS • C++</a:t>
            </a:r>
          </a:p>
        </p:txBody>
      </p:sp>
      <p:sp>
        <p:nvSpPr>
          <p:cNvPr id="2" name="txt-0.20557686934045338">
            <a:extLst xmlns:a="http://schemas.openxmlformats.org/drawingml/2006/main">
              <a:ext uri="{FF2B5EF4-FFF2-40B4-BE49-F238E27FC236}">
                <a16:creationId xmlns:a16="http://schemas.microsoft.com/office/drawing/2014/main" id="{0935866D-5D3B-4085-A56B-6CA61A0C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In C++, names define minimum relationships—not universal byte counts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C0FAAB2-D967-4EE8-879A-A6D6C929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8247546532298509">
            <a:extLst xmlns:a="http://schemas.openxmlformats.org/drawingml/2006/main">
              <a:ext uri="{FF2B5EF4-FFF2-40B4-BE49-F238E27FC236}">
                <a16:creationId xmlns:a16="http://schemas.microsoft.com/office/drawing/2014/main" id="{845ACBB3-C84E-4A09-9F15-A4F55481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xt-0.337086164291619">
            <a:extLst xmlns:a="http://schemas.openxmlformats.org/drawingml/2006/main">
              <a:ext uri="{FF2B5EF4-FFF2-40B4-BE49-F238E27FC236}">
                <a16:creationId xmlns:a16="http://schemas.microsoft.com/office/drawing/2014/main" id="{37BAB818-B601-4408-B3EC-EEFE613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The standard guarantees an ordering of sizes:</a:t>
            </a:r>
          </a:p>
        </p:txBody>
      </p:sp>
      <p:sp>
        <p:nvSpPr>
          <p:cNvPr id="6" name="order">
            <a:extLst xmlns:a="http://schemas.openxmlformats.org/drawingml/2006/main">
              <a:ext uri="{FF2B5EF4-FFF2-40B4-BE49-F238E27FC236}">
                <a16:creationId xmlns:a16="http://schemas.microsoft.com/office/drawing/2014/main" id="{A2991D2C-80FB-4348-A4F5-87E34DC1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20288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txt-0.35438071182700903">
            <a:extLst xmlns:a="http://schemas.openxmlformats.org/drawingml/2006/main">
              <a:ext uri="{FF2B5EF4-FFF2-40B4-BE49-F238E27FC236}">
                <a16:creationId xmlns:a16="http://schemas.microsoft.com/office/drawing/2014/main" id="{2B37E52A-A5E4-427E-85E7-A63F29C6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char</a:t>
            </a:r>
          </a:p>
        </p:txBody>
      </p:sp>
      <p:sp>
        <p:nvSpPr>
          <p:cNvPr id="8" name="txt-0.5728247903013365">
            <a:extLst xmlns:a="http://schemas.openxmlformats.org/drawingml/2006/main">
              <a:ext uri="{FF2B5EF4-FFF2-40B4-BE49-F238E27FC236}">
                <a16:creationId xmlns:a16="http://schemas.microsoft.com/office/drawing/2014/main" id="{F35B5CFA-0F77-4E1B-BDB1-EEBF567E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 × sizeof(char)</a:t>
            </a:r>
          </a:p>
        </p:txBody>
      </p:sp>
      <p:sp>
        <p:nvSpPr>
          <p:cNvPr id="9" name="txt-0.49447926438416634">
            <a:extLst xmlns:a="http://schemas.openxmlformats.org/drawingml/2006/main">
              <a:ext uri="{FF2B5EF4-FFF2-40B4-BE49-F238E27FC236}">
                <a16:creationId xmlns:a16="http://schemas.microsoft.com/office/drawing/2014/main" id="{33B0F2FD-94DB-4189-8A6D-F01C08F6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480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≤</a:t>
            </a:r>
          </a:p>
        </p:txBody>
      </p:sp>
      <p:sp>
        <p:nvSpPr>
          <p:cNvPr id="10" name="order">
            <a:extLst xmlns:a="http://schemas.openxmlformats.org/drawingml/2006/main">
              <a:ext uri="{FF2B5EF4-FFF2-40B4-BE49-F238E27FC236}">
                <a16:creationId xmlns:a16="http://schemas.microsoft.com/office/drawing/2014/main" id="{144A2B53-E870-4346-AD34-298DB3FC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71750"/>
            <a:ext cx="20288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1" name="txt-0.09821164099872515">
            <a:extLst xmlns:a="http://schemas.openxmlformats.org/drawingml/2006/main">
              <a:ext uri="{FF2B5EF4-FFF2-40B4-BE49-F238E27FC236}">
                <a16:creationId xmlns:a16="http://schemas.microsoft.com/office/drawing/2014/main" id="{80C7BF55-72E5-43C0-8E7D-330522EC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09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short</a:t>
            </a:r>
          </a:p>
        </p:txBody>
      </p:sp>
      <p:sp>
        <p:nvSpPr>
          <p:cNvPr id="12" name="txt-0.6316373078163681">
            <a:extLst xmlns:a="http://schemas.openxmlformats.org/drawingml/2006/main">
              <a:ext uri="{FF2B5EF4-FFF2-40B4-BE49-F238E27FC236}">
                <a16:creationId xmlns:a16="http://schemas.microsoft.com/office/drawing/2014/main" id="{457223DD-B5BA-448F-BC4A-E3348E8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≥ char</a:t>
            </a:r>
          </a:p>
        </p:txBody>
      </p:sp>
      <p:sp>
        <p:nvSpPr>
          <p:cNvPr id="13" name="txt-0.07213636249302136">
            <a:extLst xmlns:a="http://schemas.openxmlformats.org/drawingml/2006/main">
              <a:ext uri="{FF2B5EF4-FFF2-40B4-BE49-F238E27FC236}">
                <a16:creationId xmlns:a16="http://schemas.microsoft.com/office/drawing/2014/main" id="{764B5AF3-C364-463A-867D-C6CF76F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≤</a:t>
            </a:r>
          </a:p>
        </p:txBody>
      </p:sp>
      <p:sp>
        <p:nvSpPr>
          <p:cNvPr id="14" name="order">
            <a:extLst xmlns:a="http://schemas.openxmlformats.org/drawingml/2006/main">
              <a:ext uri="{FF2B5EF4-FFF2-40B4-BE49-F238E27FC236}">
                <a16:creationId xmlns:a16="http://schemas.microsoft.com/office/drawing/2014/main" id="{39E00FB1-5CED-4587-87ED-B5AEB80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288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15" name="txt-0.3855936310490521">
            <a:extLst xmlns:a="http://schemas.openxmlformats.org/drawingml/2006/main">
              <a:ext uri="{FF2B5EF4-FFF2-40B4-BE49-F238E27FC236}">
                <a16:creationId xmlns:a16="http://schemas.microsoft.com/office/drawing/2014/main" id="{5CC99570-B9A0-4CC0-B05C-C7CE1259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09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6" name="txt-0.02055292833216804">
            <a:extLst xmlns:a="http://schemas.openxmlformats.org/drawingml/2006/main">
              <a:ext uri="{FF2B5EF4-FFF2-40B4-BE49-F238E27FC236}">
                <a16:creationId xmlns:a16="http://schemas.microsoft.com/office/drawing/2014/main" id="{7A4F9503-993F-43B6-B8E9-0B636AA2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≥ short</a:t>
            </a:r>
          </a:p>
        </p:txBody>
      </p:sp>
      <p:sp>
        <p:nvSpPr>
          <p:cNvPr id="17" name="txt-0.3235945949047394">
            <a:extLst xmlns:a="http://schemas.openxmlformats.org/drawingml/2006/main">
              <a:ext uri="{FF2B5EF4-FFF2-40B4-BE49-F238E27FC236}">
                <a16:creationId xmlns:a16="http://schemas.microsoft.com/office/drawing/2014/main" id="{D67A80DF-25D9-4BE8-894B-CEC147A6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≤</a:t>
            </a:r>
          </a:p>
        </p:txBody>
      </p:sp>
      <p:sp>
        <p:nvSpPr>
          <p:cNvPr id="18" name="order">
            <a:extLst xmlns:a="http://schemas.openxmlformats.org/drawingml/2006/main">
              <a:ext uri="{FF2B5EF4-FFF2-40B4-BE49-F238E27FC236}">
                <a16:creationId xmlns:a16="http://schemas.microsoft.com/office/drawing/2014/main" id="{A9CE386E-29D1-42E5-87C3-AB19CC47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20288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9" name="txt-0.7585510712335722">
            <a:extLst xmlns:a="http://schemas.openxmlformats.org/drawingml/2006/main">
              <a:ext uri="{FF2B5EF4-FFF2-40B4-BE49-F238E27FC236}">
                <a16:creationId xmlns:a16="http://schemas.microsoft.com/office/drawing/2014/main" id="{73BD62E7-3B8F-4C3B-BA5E-AE6F8F83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long</a:t>
            </a:r>
          </a:p>
        </p:txBody>
      </p:sp>
      <p:sp>
        <p:nvSpPr>
          <p:cNvPr id="20" name="txt-0.4622616650048087">
            <a:extLst xmlns:a="http://schemas.openxmlformats.org/drawingml/2006/main">
              <a:ext uri="{FF2B5EF4-FFF2-40B4-BE49-F238E27FC236}">
                <a16:creationId xmlns:a16="http://schemas.microsoft.com/office/drawing/2014/main" id="{8BB10FEE-D6E1-4184-9A55-B51FAB0E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≥ int</a:t>
            </a:r>
          </a:p>
        </p:txBody>
      </p:sp>
      <p:sp>
        <p:nvSpPr>
          <p:cNvPr id="21" name="txt-0.9113197760502376">
            <a:extLst xmlns:a="http://schemas.openxmlformats.org/drawingml/2006/main">
              <a:ext uri="{FF2B5EF4-FFF2-40B4-BE49-F238E27FC236}">
                <a16:creationId xmlns:a16="http://schemas.microsoft.com/office/drawing/2014/main" id="{6CB15CD6-AF8F-4352-8383-997471F2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≤</a:t>
            </a:r>
          </a:p>
        </p:txBody>
      </p:sp>
      <p:sp>
        <p:nvSpPr>
          <p:cNvPr id="22" name="order">
            <a:extLst xmlns:a="http://schemas.openxmlformats.org/drawingml/2006/main">
              <a:ext uri="{FF2B5EF4-FFF2-40B4-BE49-F238E27FC236}">
                <a16:creationId xmlns:a16="http://schemas.microsoft.com/office/drawing/2014/main" id="{21D1C425-F638-410F-B913-4EFB0BE7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20288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3" name="txt-0.6658550749702006">
            <a:extLst xmlns:a="http://schemas.openxmlformats.org/drawingml/2006/main">
              <a:ext uri="{FF2B5EF4-FFF2-40B4-BE49-F238E27FC236}">
                <a16:creationId xmlns:a16="http://schemas.microsoft.com/office/drawing/2014/main" id="{37BD2218-19DE-403A-BBDE-AD1402A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09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long long</a:t>
            </a:r>
          </a:p>
        </p:txBody>
      </p:sp>
      <p:sp>
        <p:nvSpPr>
          <p:cNvPr id="24" name="txt-0.9126571019205456">
            <a:extLst xmlns:a="http://schemas.openxmlformats.org/drawingml/2006/main">
              <a:ext uri="{FF2B5EF4-FFF2-40B4-BE49-F238E27FC236}">
                <a16:creationId xmlns:a16="http://schemas.microsoft.com/office/drawing/2014/main" id="{6DFD359C-3645-4CAF-91E7-C3121A74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≥ long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84A7C58F-F1E0-42D8-BF7C-3ADB9F4D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7239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5AACFAD-C9C9-4333-AC11-D2FE0690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7" name="txt-0.9646218666599361">
            <a:extLst xmlns:a="http://schemas.openxmlformats.org/drawingml/2006/main">
              <a:ext uri="{FF2B5EF4-FFF2-40B4-BE49-F238E27FC236}">
                <a16:creationId xmlns:a16="http://schemas.microsoft.com/office/drawing/2014/main" id="{C55C0B1D-9EAB-4D75-A4B4-BAEA1A96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DATA MODEL MATTERS</a:t>
            </a:r>
          </a:p>
        </p:txBody>
      </p:sp>
      <p:sp>
        <p:nvSpPr>
          <p:cNvPr id="28" name="txt-0.21313752688492094">
            <a:extLst xmlns:a="http://schemas.openxmlformats.org/drawingml/2006/main">
              <a:ext uri="{FF2B5EF4-FFF2-40B4-BE49-F238E27FC236}">
                <a16:creationId xmlns:a16="http://schemas.microsoft.com/office/drawing/2014/main" id="{9676B60B-13C7-43D2-AA4D-8EB670F1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676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On 64-bit Windows (LLP64), long is commonly 32 bits. On many 64-bit Unix-like systems (LP64), long is commonly 64 bits.</a:t>
            </a:r>
          </a:p>
        </p:txBody>
      </p: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350B2273-75A4-4D4C-9E4D-3DFCD785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72000"/>
            <a:ext cx="38385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8357882-71A8-4A7B-89CD-5546E679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720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txt-0.02734789595978193">
            <a:extLst xmlns:a="http://schemas.openxmlformats.org/drawingml/2006/main">
              <a:ext uri="{FF2B5EF4-FFF2-40B4-BE49-F238E27FC236}">
                <a16:creationId xmlns:a16="http://schemas.microsoft.com/office/drawing/2014/main" id="{361870F0-2D09-45E7-B5C8-0E40A73A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3362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VERIFY, DON’T GUESS</a:t>
            </a:r>
          </a:p>
        </p:txBody>
      </p:sp>
      <p:sp>
        <p:nvSpPr>
          <p:cNvPr id="32" name="txt-0.8046485168979624">
            <a:extLst xmlns:a="http://schemas.openxmlformats.org/drawingml/2006/main">
              <a:ext uri="{FF2B5EF4-FFF2-40B4-BE49-F238E27FC236}">
                <a16:creationId xmlns:a16="http://schemas.microsoft.com/office/drawing/2014/main" id="{3EE94D3C-DE43-4C26-AFD6-2AA465B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86375"/>
            <a:ext cx="3362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Use sizeof(type), &lt;limits&gt;, or fixed-width integers such as std::int32_t when exact width matters.</a:t>
            </a:r>
          </a:p>
        </p:txBody>
      </p:sp>
      <p:sp>
        <p:nvSpPr>
          <p:cNvPr id="33" name="nav-home">
            <a:extLst xmlns:a="http://schemas.openxmlformats.org/drawingml/2006/main">
              <a:ext uri="{FF2B5EF4-FFF2-40B4-BE49-F238E27FC236}">
                <a16:creationId xmlns:a16="http://schemas.microsoft.com/office/drawing/2014/main" id="{D6C7EA88-D922-432A-9900-1965CE66994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34" name="nav-back">
            <a:extLst xmlns:a="http://schemas.openxmlformats.org/drawingml/2006/main">
              <a:ext uri="{FF2B5EF4-FFF2-40B4-BE49-F238E27FC236}">
                <a16:creationId xmlns:a16="http://schemas.microsoft.com/office/drawing/2014/main" id="{CED7F770-C2FA-405C-A064-3A88E4FAFFB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35" name="nav-next">
            <a:extLst xmlns:a="http://schemas.openxmlformats.org/drawingml/2006/main">
              <a:ext uri="{FF2B5EF4-FFF2-40B4-BE49-F238E27FC236}">
                <a16:creationId xmlns:a16="http://schemas.microsoft.com/office/drawing/2014/main" id="{A2B13A7B-B39F-4C91-A263-13C12E8DDE7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316476918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ill">
            <a:extLst xmlns:a="http://schemas.openxmlformats.org/drawingml/2006/main">
              <a:ext uri="{FF2B5EF4-FFF2-40B4-BE49-F238E27FC236}">
                <a16:creationId xmlns:a16="http://schemas.microsoft.com/office/drawing/2014/main" id="{402651EE-C89D-4F3A-90F3-D00D4FA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FLOATING POINT</a:t>
            </a:r>
          </a:p>
        </p:txBody>
      </p:sp>
      <p:sp>
        <p:nvSpPr>
          <p:cNvPr id="2" name="txt-0.6933323735604607">
            <a:extLst xmlns:a="http://schemas.openxmlformats.org/drawingml/2006/main">
              <a:ext uri="{FF2B5EF4-FFF2-40B4-BE49-F238E27FC236}">
                <a16:creationId xmlns:a16="http://schemas.microsoft.com/office/drawing/2014/main" id="{BD6DCA6B-F6D8-435E-9BA7-06C11FC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float and double trade storage for precision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44E125D-C07C-402E-B929-7EE4FBB4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8512096902341996">
            <a:extLst xmlns:a="http://schemas.openxmlformats.org/drawingml/2006/main">
              <a:ext uri="{FF2B5EF4-FFF2-40B4-BE49-F238E27FC236}">
                <a16:creationId xmlns:a16="http://schemas.microsoft.com/office/drawing/2014/main" id="{8E938DDD-2B81-49D6-814F-27A53615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64C4BFCC-6790-468F-BC6B-47D0CF5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76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8A0EA67-9B85-4546-A3C8-450FE9F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txt-0.29512073244386317">
            <a:extLst xmlns:a="http://schemas.openxmlformats.org/drawingml/2006/main">
              <a:ext uri="{FF2B5EF4-FFF2-40B4-BE49-F238E27FC236}">
                <a16:creationId xmlns:a16="http://schemas.microsoft.com/office/drawing/2014/main" id="{09010B69-EB98-47A2-8254-48DF047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FLOAT • binary32</a:t>
            </a:r>
          </a:p>
        </p:txBody>
      </p:sp>
      <p:sp>
        <p:nvSpPr>
          <p:cNvPr id="8" name="txt-0.7126352954854125">
            <a:extLst xmlns:a="http://schemas.openxmlformats.org/drawingml/2006/main">
              <a:ext uri="{FF2B5EF4-FFF2-40B4-BE49-F238E27FC236}">
                <a16:creationId xmlns:a16="http://schemas.microsoft.com/office/drawing/2014/main" id="{6DDB39C0-B4D3-416E-947B-65BC344F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32 bits: 1 sign, 8 exponent, 23 fraction bits. Roughly 6–7 reliable decimal digits.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71D81796-69D8-4761-A96C-8F1B79E2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5476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322E4CF-F69D-4EE3-A3F5-6AFDDDDC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txt-0.4391010466695191">
            <a:extLst xmlns:a="http://schemas.openxmlformats.org/drawingml/2006/main">
              <a:ext uri="{FF2B5EF4-FFF2-40B4-BE49-F238E27FC236}">
                <a16:creationId xmlns:a16="http://schemas.microsoft.com/office/drawing/2014/main" id="{A7F29C36-1125-4EA5-8D98-5AE846D8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DOUBLE • binary64</a:t>
            </a:r>
          </a:p>
        </p:txBody>
      </p:sp>
      <p:sp>
        <p:nvSpPr>
          <p:cNvPr id="12" name="txt-0.7157363226828343">
            <a:extLst xmlns:a="http://schemas.openxmlformats.org/drawingml/2006/main">
              <a:ext uri="{FF2B5EF4-FFF2-40B4-BE49-F238E27FC236}">
                <a16:creationId xmlns:a16="http://schemas.microsoft.com/office/drawing/2014/main" id="{A4458A63-9E9B-4600-8D62-5CA28B86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500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64 bits: 1 sign, 11 exponent, 52 fraction bits. Roughly 15–16 reliable decimal digits.</a:t>
            </a:r>
          </a:p>
        </p:txBody>
      </p:sp>
      <p:sp>
        <p:nvSpPr>
          <p:cNvPr id="13" name="float-seg">
            <a:extLst xmlns:a="http://schemas.openxmlformats.org/drawingml/2006/main">
              <a:ext uri="{FF2B5EF4-FFF2-40B4-BE49-F238E27FC236}">
                <a16:creationId xmlns:a16="http://schemas.microsoft.com/office/drawing/2014/main" id="{068BEA9B-2C15-43C2-81CB-9F783DF5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76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4" name="txt-0.12132332863617845">
            <a:extLst xmlns:a="http://schemas.openxmlformats.org/drawingml/2006/main">
              <a:ext uri="{FF2B5EF4-FFF2-40B4-BE49-F238E27FC236}">
                <a16:creationId xmlns:a16="http://schemas.microsoft.com/office/drawing/2014/main" id="{6F63EC5C-07DF-419D-B256-079789A1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SIGN</a:t>
            </a:r>
          </a:p>
        </p:txBody>
      </p:sp>
      <p:sp>
        <p:nvSpPr>
          <p:cNvPr id="15" name="txt-0.9667337384580459">
            <a:extLst xmlns:a="http://schemas.openxmlformats.org/drawingml/2006/main">
              <a:ext uri="{FF2B5EF4-FFF2-40B4-BE49-F238E27FC236}">
                <a16:creationId xmlns:a16="http://schemas.microsoft.com/office/drawing/2014/main" id="{C2B49CDA-E15D-485D-BFE8-BD72BBE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1 bit</a:t>
            </a:r>
          </a:p>
        </p:txBody>
      </p:sp>
      <p:sp>
        <p:nvSpPr>
          <p:cNvPr id="16" name="float-seg">
            <a:extLst xmlns:a="http://schemas.openxmlformats.org/drawingml/2006/main">
              <a:ext uri="{FF2B5EF4-FFF2-40B4-BE49-F238E27FC236}">
                <a16:creationId xmlns:a16="http://schemas.microsoft.com/office/drawing/2014/main" id="{C0FB4BF1-8A26-4775-94C4-8DD34BFC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7" name="txt-0.4330973577357823">
            <a:extLst xmlns:a="http://schemas.openxmlformats.org/drawingml/2006/main">
              <a:ext uri="{FF2B5EF4-FFF2-40B4-BE49-F238E27FC236}">
                <a16:creationId xmlns:a16="http://schemas.microsoft.com/office/drawing/2014/main" id="{FA6EF30C-9999-41BE-B099-ADAC5D97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EXPONENT</a:t>
            </a:r>
          </a:p>
        </p:txBody>
      </p:sp>
      <p:sp>
        <p:nvSpPr>
          <p:cNvPr id="18" name="txt-0.7187770852198732">
            <a:extLst xmlns:a="http://schemas.openxmlformats.org/drawingml/2006/main">
              <a:ext uri="{FF2B5EF4-FFF2-40B4-BE49-F238E27FC236}">
                <a16:creationId xmlns:a16="http://schemas.microsoft.com/office/drawing/2014/main" id="{ACE272EA-26E6-4239-8B74-A01602F7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8 bits</a:t>
            </a:r>
          </a:p>
        </p:txBody>
      </p:sp>
      <p:sp>
        <p:nvSpPr>
          <p:cNvPr id="19" name="float-seg">
            <a:extLst xmlns:a="http://schemas.openxmlformats.org/drawingml/2006/main">
              <a:ext uri="{FF2B5EF4-FFF2-40B4-BE49-F238E27FC236}">
                <a16:creationId xmlns:a16="http://schemas.microsoft.com/office/drawing/2014/main" id="{F9863D38-32DE-44D9-811F-06E77BB7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38625"/>
            <a:ext cx="6334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0" name="txt-0.9068038756860711">
            <a:extLst xmlns:a="http://schemas.openxmlformats.org/drawingml/2006/main">
              <a:ext uri="{FF2B5EF4-FFF2-40B4-BE49-F238E27FC236}">
                <a16:creationId xmlns:a16="http://schemas.microsoft.com/office/drawing/2014/main" id="{680B2E00-195D-4EDE-BA7E-83C90D4C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0055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FRACTION</a:t>
            </a:r>
          </a:p>
        </p:txBody>
      </p:sp>
      <p:sp>
        <p:nvSpPr>
          <p:cNvPr id="21" name="txt-0.4621721685203428">
            <a:extLst xmlns:a="http://schemas.openxmlformats.org/drawingml/2006/main">
              <a:ext uri="{FF2B5EF4-FFF2-40B4-BE49-F238E27FC236}">
                <a16:creationId xmlns:a16="http://schemas.microsoft.com/office/drawing/2014/main" id="{E6165681-0962-46D7-9C38-8F32C18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67250"/>
            <a:ext cx="633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23 bits</a:t>
            </a:r>
          </a:p>
        </p:txBody>
      </p:sp>
      <p:sp>
        <p:nvSpPr>
          <p:cNvPr id="22" name="txt-0.03591055761630613">
            <a:extLst xmlns:a="http://schemas.openxmlformats.org/drawingml/2006/main">
              <a:ext uri="{FF2B5EF4-FFF2-40B4-BE49-F238E27FC236}">
                <a16:creationId xmlns:a16="http://schemas.microsoft.com/office/drawing/2014/main" id="{7A7C8061-53A3-420A-9F1A-E9E242A9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IEEE 754 binary32 layout</a:t>
            </a:r>
          </a:p>
        </p:txBody>
      </p:sp>
      <p:sp>
        <p:nvSpPr>
          <p:cNvPr id="23" name="nav-home">
            <a:extLst xmlns:a="http://schemas.openxmlformats.org/drawingml/2006/main">
              <a:ext uri="{FF2B5EF4-FFF2-40B4-BE49-F238E27FC236}">
                <a16:creationId xmlns:a16="http://schemas.microsoft.com/office/drawing/2014/main" id="{F328AD29-F281-4CEE-906A-D070EA18C8F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4" name="nav-back">
            <a:extLst xmlns:a="http://schemas.openxmlformats.org/drawingml/2006/main">
              <a:ext uri="{FF2B5EF4-FFF2-40B4-BE49-F238E27FC236}">
                <a16:creationId xmlns:a16="http://schemas.microsoft.com/office/drawing/2014/main" id="{BF4C16A1-9A2D-4B09-944B-72B4E21766A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5" name="nav-next">
            <a:extLst xmlns:a="http://schemas.openxmlformats.org/drawingml/2006/main">
              <a:ext uri="{FF2B5EF4-FFF2-40B4-BE49-F238E27FC236}">
                <a16:creationId xmlns:a16="http://schemas.microsoft.com/office/drawing/2014/main" id="{10F45BBA-7119-4B71-9A04-D55C8253B35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9744456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ll">
            <a:extLst xmlns:a="http://schemas.openxmlformats.org/drawingml/2006/main">
              <a:ext uri="{FF2B5EF4-FFF2-40B4-BE49-F238E27FC236}">
                <a16:creationId xmlns:a16="http://schemas.microsoft.com/office/drawing/2014/main" id="{B4685F6B-3A37-4497-B48C-ED7181D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FLOATING POINT • PRECISION</a:t>
            </a:r>
          </a:p>
        </p:txBody>
      </p:sp>
      <p:sp>
        <p:nvSpPr>
          <p:cNvPr id="2" name="txt-0.5987320311176723">
            <a:extLst xmlns:a="http://schemas.openxmlformats.org/drawingml/2006/main">
              <a:ext uri="{FF2B5EF4-FFF2-40B4-BE49-F238E27FC236}">
                <a16:creationId xmlns:a16="http://schemas.microsoft.com/office/drawing/2014/main" id="{5E77D64C-78A6-488A-8E57-FD1C088A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More digits do not make binary floating point exact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5167320-A40B-4E16-AF10-1777099B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6505501130027195">
            <a:extLst xmlns:a="http://schemas.openxmlformats.org/drawingml/2006/main">
              <a:ext uri="{FF2B5EF4-FFF2-40B4-BE49-F238E27FC236}">
                <a16:creationId xmlns:a16="http://schemas.microsoft.com/office/drawing/2014/main" id="{37C585F5-A5CE-42EC-B139-53669F71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0A86DBE5-E469-489D-A996-9AF27FC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6" name="accent">
            <a:extLst xmlns:a="http://schemas.openxmlformats.org/drawingml/2006/main">
              <a:ext uri="{FF2B5EF4-FFF2-40B4-BE49-F238E27FC236}">
                <a16:creationId xmlns:a16="http://schemas.microsoft.com/office/drawing/2014/main" id="{057AEED7-F60D-4A75-9CFE-EF66D59A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txt-0.23559296294705645">
            <a:extLst xmlns:a="http://schemas.openxmlformats.org/drawingml/2006/main">
              <a:ext uri="{FF2B5EF4-FFF2-40B4-BE49-F238E27FC236}">
                <a16:creationId xmlns:a16="http://schemas.microsoft.com/office/drawing/2014/main" id="{7C242BFE-996E-439F-A4D6-93226A51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42672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0.1 + 0.2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# often displays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0.30000000000000004</a:t>
            </a:r>
          </a:p>
        </p:txBody>
      </p:sp>
      <p:sp>
        <p:nvSpPr>
          <p:cNvPr id="8" name="why">
            <a:extLst xmlns:a="http://schemas.openxmlformats.org/drawingml/2006/main">
              <a:ext uri="{FF2B5EF4-FFF2-40B4-BE49-F238E27FC236}">
                <a16:creationId xmlns:a16="http://schemas.microsoft.com/office/drawing/2014/main" id="{874A0CC8-8D5E-444D-A259-C425171C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60769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9" name="pill">
            <a:extLst xmlns:a="http://schemas.openxmlformats.org/drawingml/2006/main">
              <a:ext uri="{FF2B5EF4-FFF2-40B4-BE49-F238E27FC236}">
                <a16:creationId xmlns:a16="http://schemas.microsoft.com/office/drawing/2014/main" id="{D125782C-80AA-44B9-A84D-FD4B739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8600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10" name="txt-0.276611311379519">
            <a:extLst xmlns:a="http://schemas.openxmlformats.org/drawingml/2006/main">
              <a:ext uri="{FF2B5EF4-FFF2-40B4-BE49-F238E27FC236}">
                <a16:creationId xmlns:a16="http://schemas.microsoft.com/office/drawing/2014/main" id="{B716EF73-9F46-4310-A63C-43AE1BF7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05125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Many decimal fractions have no finite binary representation—just as ⅓ has no finite decimal representation.</a:t>
            </a:r>
          </a:p>
        </p:txBody>
      </p:sp>
      <p:sp>
        <p:nvSpPr>
          <p:cNvPr id="11" name="txt-0.875590873254011">
            <a:extLst xmlns:a="http://schemas.openxmlformats.org/drawingml/2006/main">
              <a:ext uri="{FF2B5EF4-FFF2-40B4-BE49-F238E27FC236}">
                <a16:creationId xmlns:a16="http://schemas.microsoft.com/office/drawing/2014/main" id="{AFFA36B6-C37D-472C-9DF7-33ACAD1F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Measurements</a:t>
            </a:r>
          </a:p>
        </p:txBody>
      </p:sp>
      <p:sp>
        <p:nvSpPr>
          <p:cNvPr id="12" name="txt-0.5448994848841096">
            <a:extLst xmlns:a="http://schemas.openxmlformats.org/drawingml/2006/main">
              <a:ext uri="{FF2B5EF4-FFF2-40B4-BE49-F238E27FC236}">
                <a16:creationId xmlns:a16="http://schemas.microsoft.com/office/drawing/2014/main" id="{191F16C5-E3C0-49C4-86F7-899415EC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double / float may be fine</a:t>
            </a:r>
          </a:p>
        </p:txBody>
      </p:sp>
      <p:sp>
        <p:nvSpPr>
          <p:cNvPr id="13" name="txt-0.6632476759016114">
            <a:extLst xmlns:a="http://schemas.openxmlformats.org/drawingml/2006/main">
              <a:ext uri="{FF2B5EF4-FFF2-40B4-BE49-F238E27FC236}">
                <a16:creationId xmlns:a16="http://schemas.microsoft.com/office/drawing/2014/main" id="{C2BB15F0-DF97-47F7-8CF8-CD80D290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95300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Money</a:t>
            </a:r>
          </a:p>
        </p:txBody>
      </p:sp>
      <p:sp>
        <p:nvSpPr>
          <p:cNvPr id="14" name="txt-0.36505085219681854">
            <a:extLst xmlns:a="http://schemas.openxmlformats.org/drawingml/2006/main">
              <a:ext uri="{FF2B5EF4-FFF2-40B4-BE49-F238E27FC236}">
                <a16:creationId xmlns:a16="http://schemas.microsoft.com/office/drawing/2014/main" id="{33748D31-EEF7-4FB9-962E-DBC3DA8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2387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Use decimal / BigDecimal</a:t>
            </a:r>
          </a:p>
        </p:txBody>
      </p:sp>
      <p:sp>
        <p:nvSpPr>
          <p:cNvPr id="15" name="txt-0.3388565341125972">
            <a:extLst xmlns:a="http://schemas.openxmlformats.org/drawingml/2006/main">
              <a:ext uri="{FF2B5EF4-FFF2-40B4-BE49-F238E27FC236}">
                <a16:creationId xmlns:a16="http://schemas.microsoft.com/office/drawing/2014/main" id="{17F88343-B9A0-46CD-8A1F-186A2C3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Equality</a:t>
            </a:r>
          </a:p>
        </p:txBody>
      </p:sp>
      <p:sp>
        <p:nvSpPr>
          <p:cNvPr id="16" name="txt-0.9038604407975694">
            <a:extLst xmlns:a="http://schemas.openxmlformats.org/drawingml/2006/main">
              <a:ext uri="{FF2B5EF4-FFF2-40B4-BE49-F238E27FC236}">
                <a16:creationId xmlns:a16="http://schemas.microsoft.com/office/drawing/2014/main" id="{B416BA30-AE88-46E0-8578-FE0D452E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Compare with tolerance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2404395C-EA58-4B7D-A0D5-EAB16286624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4CC8235B-D7E5-4AFE-9037-3D73FA72E887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861F9EE4-C73C-4B34-9D55-05638341B206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863726752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ill">
            <a:extLst xmlns:a="http://schemas.openxmlformats.org/drawingml/2006/main">
              <a:ext uri="{FF2B5EF4-FFF2-40B4-BE49-F238E27FC236}">
                <a16:creationId xmlns:a16="http://schemas.microsoft.com/office/drawing/2014/main" id="{D0842C09-C526-4F1F-80DC-0867E69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TEXT • CHARACTER</a:t>
            </a:r>
          </a:p>
        </p:txBody>
      </p:sp>
      <p:sp>
        <p:nvSpPr>
          <p:cNvPr id="2" name="txt-0.5684470067054929">
            <a:extLst xmlns:a="http://schemas.openxmlformats.org/drawingml/2006/main">
              <a:ext uri="{FF2B5EF4-FFF2-40B4-BE49-F238E27FC236}">
                <a16:creationId xmlns:a16="http://schemas.microsoft.com/office/drawing/2014/main" id="{4DB5C382-209E-4C3B-9E1F-92064812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char does not mean the same thing everywhere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1B12225-FAAF-4C39-87E7-84A2D836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6355156146272197">
            <a:extLst xmlns:a="http://schemas.openxmlformats.org/drawingml/2006/main">
              <a:ext uri="{FF2B5EF4-FFF2-40B4-BE49-F238E27FC236}">
                <a16:creationId xmlns:a16="http://schemas.microsoft.com/office/drawing/2014/main" id="{76D950F9-F129-493B-B0BC-F40A0A1E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BD5F4B91-1168-44D6-B2E7-098914BE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9DA8D77-493A-450A-96F0-3DF2CA5A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7" name="txt-0.9750988234674386">
            <a:extLst xmlns:a="http://schemas.openxmlformats.org/drawingml/2006/main">
              <a:ext uri="{FF2B5EF4-FFF2-40B4-BE49-F238E27FC236}">
                <a16:creationId xmlns:a16="http://schemas.microsoft.com/office/drawing/2014/main" id="{4856512A-C699-46D7-A551-A69D4857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JAVA char</a:t>
            </a:r>
          </a:p>
        </p:txBody>
      </p:sp>
      <p:sp>
        <p:nvSpPr>
          <p:cNvPr id="8" name="txt-0.14641600773504404">
            <a:extLst xmlns:a="http://schemas.openxmlformats.org/drawingml/2006/main">
              <a:ext uri="{FF2B5EF4-FFF2-40B4-BE49-F238E27FC236}">
                <a16:creationId xmlns:a16="http://schemas.microsoft.com/office/drawing/2014/main" id="{8EAB8EE7-E155-48C2-830A-36ED4B48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16-bit UTF-16 code unit—not always a complete user-perceived character.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83B6E51E-8A84-4B0D-A805-3F8311DD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47875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965B7E6-EBFE-4997-9DE2-DB2AD67D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txt-0.8505785490351415">
            <a:extLst xmlns:a="http://schemas.openxmlformats.org/drawingml/2006/main">
              <a:ext uri="{FF2B5EF4-FFF2-40B4-BE49-F238E27FC236}">
                <a16:creationId xmlns:a16="http://schemas.microsoft.com/office/drawing/2014/main" id="{15B15A5D-B353-4BDE-8F64-4F23CC3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C / C++ char</a:t>
            </a:r>
          </a:p>
        </p:txBody>
      </p:sp>
      <p:sp>
        <p:nvSpPr>
          <p:cNvPr id="12" name="txt-0.08914994173205637">
            <a:extLst xmlns:a="http://schemas.openxmlformats.org/drawingml/2006/main">
              <a:ext uri="{FF2B5EF4-FFF2-40B4-BE49-F238E27FC236}">
                <a16:creationId xmlns:a16="http://schemas.microsoft.com/office/drawing/2014/main" id="{F3BC79C0-A754-4284-BE7D-4A9431A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Exactly one byte by definition; that byte is not guaranteed to be 8 bits by the language standard.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E4B0217E-C285-4314-86AD-68B90B7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3524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62FDAF9-81E0-4E2E-9824-DACC14BA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5" name="txt-0.0013224851496711487">
            <a:extLst xmlns:a="http://schemas.openxmlformats.org/drawingml/2006/main">
              <a:ext uri="{FF2B5EF4-FFF2-40B4-BE49-F238E27FC236}">
                <a16:creationId xmlns:a16="http://schemas.microsoft.com/office/drawing/2014/main" id="{17E21388-840D-4290-AE76-9484F119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86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6" name="txt-0.38377803039362757">
            <a:extLst xmlns:a="http://schemas.openxmlformats.org/drawingml/2006/main">
              <a:ext uri="{FF2B5EF4-FFF2-40B4-BE49-F238E27FC236}">
                <a16:creationId xmlns:a16="http://schemas.microsoft.com/office/drawing/2014/main" id="{B40EEFD2-B4DF-4A93-A54A-6B88019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No separate char type. A one-character value is still a str.</a:t>
            </a:r>
          </a:p>
        </p:txBody>
      </p:sp>
      <p:sp>
        <p:nvSpPr>
          <p:cNvPr id="17" name="unicode">
            <a:extLst xmlns:a="http://schemas.openxmlformats.org/drawingml/2006/main">
              <a:ext uri="{FF2B5EF4-FFF2-40B4-BE49-F238E27FC236}">
                <a16:creationId xmlns:a16="http://schemas.microsoft.com/office/drawing/2014/main" id="{B384FE61-5ADC-4C27-BA22-5DA86E0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1A14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18" name="txt-0.2657096564877298">
            <a:extLst xmlns:a="http://schemas.openxmlformats.org/drawingml/2006/main">
              <a:ext uri="{FF2B5EF4-FFF2-40B4-BE49-F238E27FC236}">
                <a16:creationId xmlns:a16="http://schemas.microsoft.com/office/drawing/2014/main" id="{B65D2D4A-7B69-4CC6-ADE8-0AD5707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100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Character ≠ byte ≠ Unicode code point ≠ UTF-16 code unit ≠ what a user sees as one symbol.</a:t>
            </a:r>
          </a:p>
        </p:txBody>
      </p:sp>
      <p:sp>
        <p:nvSpPr>
          <p:cNvPr id="19" name="nav-home">
            <a:extLst xmlns:a="http://schemas.openxmlformats.org/drawingml/2006/main">
              <a:ext uri="{FF2B5EF4-FFF2-40B4-BE49-F238E27FC236}">
                <a16:creationId xmlns:a16="http://schemas.microsoft.com/office/drawing/2014/main" id="{9A1D4CA4-FE17-430A-AA0D-EB996847491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0" name="nav-back">
            <a:extLst xmlns:a="http://schemas.openxmlformats.org/drawingml/2006/main">
              <a:ext uri="{FF2B5EF4-FFF2-40B4-BE49-F238E27FC236}">
                <a16:creationId xmlns:a16="http://schemas.microsoft.com/office/drawing/2014/main" id="{7CE8FD6C-E747-47F3-B5D3-39E16722C0D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1" name="nav-next">
            <a:extLst xmlns:a="http://schemas.openxmlformats.org/drawingml/2006/main">
              <a:ext uri="{FF2B5EF4-FFF2-40B4-BE49-F238E27FC236}">
                <a16:creationId xmlns:a16="http://schemas.microsoft.com/office/drawing/2014/main" id="{3FE6A60B-2730-4CCD-852E-BCAE5BE4C76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916489948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ll">
            <a:extLst xmlns:a="http://schemas.openxmlformats.org/drawingml/2006/main">
              <a:ext uri="{FF2B5EF4-FFF2-40B4-BE49-F238E27FC236}">
                <a16:creationId xmlns:a16="http://schemas.microsoft.com/office/drawing/2014/main" id="{6C923358-56A1-424E-8312-3C57586F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TEXT • STRING</a:t>
            </a:r>
          </a:p>
        </p:txBody>
      </p:sp>
      <p:sp>
        <p:nvSpPr>
          <p:cNvPr id="2" name="txt-0.8564283149867546">
            <a:extLst xmlns:a="http://schemas.openxmlformats.org/drawingml/2006/main">
              <a:ext uri="{FF2B5EF4-FFF2-40B4-BE49-F238E27FC236}">
                <a16:creationId xmlns:a16="http://schemas.microsoft.com/office/drawing/2014/main" id="{2CC4339D-4DB7-4E4D-AB97-579F4412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String stores text, but its representation is language-specific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DEFDB3A-E967-40B0-B9F4-7335556A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7818779825222572">
            <a:extLst xmlns:a="http://schemas.openxmlformats.org/drawingml/2006/main">
              <a:ext uri="{FF2B5EF4-FFF2-40B4-BE49-F238E27FC236}">
                <a16:creationId xmlns:a16="http://schemas.microsoft.com/office/drawing/2014/main" id="{513F7802-4D73-487A-9355-34CD6CC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7B437697-6A49-4C38-8150-50787C8C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76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4702CDC-8A68-4BCB-B5EC-49784F2F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7" name="txt-0.01130128742699199">
            <a:extLst xmlns:a="http://schemas.openxmlformats.org/drawingml/2006/main">
              <a:ext uri="{FF2B5EF4-FFF2-40B4-BE49-F238E27FC236}">
                <a16:creationId xmlns:a16="http://schemas.microsoft.com/office/drawing/2014/main" id="{B6AF57EA-973B-4439-B90F-53969D7B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JAVA String</a:t>
            </a:r>
          </a:p>
        </p:txBody>
      </p:sp>
      <p:sp>
        <p:nvSpPr>
          <p:cNvPr id="8" name="txt-0.4636856003089629">
            <a:extLst xmlns:a="http://schemas.openxmlformats.org/drawingml/2006/main">
              <a:ext uri="{FF2B5EF4-FFF2-40B4-BE49-F238E27FC236}">
                <a16:creationId xmlns:a16="http://schemas.microsoft.com/office/drawing/2014/main" id="{DC5EE1EB-0851-4518-A3B2-31A05240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A reference type and immutable object. Java char values are UTF-16 code units.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5E0F4395-4A8C-4E82-8C95-73CD873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5476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1336CEC-123C-4E9F-BF46-ED86F6D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5262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1" name="txt-0.19685414722618955">
            <a:extLst xmlns:a="http://schemas.openxmlformats.org/drawingml/2006/main">
              <a:ext uri="{FF2B5EF4-FFF2-40B4-BE49-F238E27FC236}">
                <a16:creationId xmlns:a16="http://schemas.microsoft.com/office/drawing/2014/main" id="{44D6538F-77D1-405D-8AF6-58412531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907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C++ std::string</a:t>
            </a:r>
          </a:p>
        </p:txBody>
      </p:sp>
      <p:sp>
        <p:nvSpPr>
          <p:cNvPr id="12" name="txt-0.11919443044954747">
            <a:extLst xmlns:a="http://schemas.openxmlformats.org/drawingml/2006/main">
              <a:ext uri="{FF2B5EF4-FFF2-40B4-BE49-F238E27FC236}">
                <a16:creationId xmlns:a16="http://schemas.microsoft.com/office/drawing/2014/main" id="{D9EC8204-1FB0-4D51-B1B4-D077F1E8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67000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A class that stores a sequence of char values—often bytes encoded as UTF-8 by convention.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DD76A2EC-0D19-4487-B91B-7EA60833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476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B4C61F7-07EA-4539-8EA0-0156351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5" name="txt-0.5263214904618472">
            <a:extLst xmlns:a="http://schemas.openxmlformats.org/drawingml/2006/main">
              <a:ext uri="{FF2B5EF4-FFF2-40B4-BE49-F238E27FC236}">
                <a16:creationId xmlns:a16="http://schemas.microsoft.com/office/drawing/2014/main" id="{C68C3CCA-12B5-4792-BB51-75150F67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C STRING</a:t>
            </a:r>
          </a:p>
        </p:txBody>
      </p:sp>
      <p:sp>
        <p:nvSpPr>
          <p:cNvPr id="16" name="txt-0.6536169347486664">
            <a:extLst xmlns:a="http://schemas.openxmlformats.org/drawingml/2006/main">
              <a:ext uri="{FF2B5EF4-FFF2-40B4-BE49-F238E27FC236}">
                <a16:creationId xmlns:a16="http://schemas.microsoft.com/office/drawing/2014/main" id="{956E1F16-91E2-4939-B7B9-C87DB72A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A convention: a sequence of char terminated by a null byte. Length and capacity must be managed carefully.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D8B2DFE1-95AB-427D-A9E5-173BE8FB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48125"/>
            <a:ext cx="5476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AA6B54D-77FE-4F4A-9338-FC8B50B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48125"/>
            <a:ext cx="762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9" name="txt-0.06641485585522544">
            <a:extLst xmlns:a="http://schemas.openxmlformats.org/drawingml/2006/main">
              <a:ext uri="{FF2B5EF4-FFF2-40B4-BE49-F238E27FC236}">
                <a16:creationId xmlns:a16="http://schemas.microsoft.com/office/drawing/2014/main" id="{264A151F-3B72-4AD1-9DD9-C4B64F4F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8625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PYTHON str</a:t>
            </a:r>
          </a:p>
        </p:txBody>
      </p:sp>
      <p:sp>
        <p:nvSpPr>
          <p:cNvPr id="20" name="txt-0.37814233760278604">
            <a:extLst xmlns:a="http://schemas.openxmlformats.org/drawingml/2006/main">
              <a:ext uri="{FF2B5EF4-FFF2-40B4-BE49-F238E27FC236}">
                <a16:creationId xmlns:a16="http://schemas.microsoft.com/office/drawing/2014/main" id="{D81D8C39-31BF-48D3-9A76-68E8B1A2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625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An immutable sequence of Unicode code points. Binary data belongs in bytes or bytearray.</a:t>
            </a:r>
          </a:p>
        </p:txBody>
      </p:sp>
      <p:sp>
        <p:nvSpPr>
          <p:cNvPr id="21" name="nav-home">
            <a:extLst xmlns:a="http://schemas.openxmlformats.org/drawingml/2006/main">
              <a:ext uri="{FF2B5EF4-FFF2-40B4-BE49-F238E27FC236}">
                <a16:creationId xmlns:a16="http://schemas.microsoft.com/office/drawing/2014/main" id="{81B82F50-1153-4B5F-AC64-04C36C381F1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2" name="nav-back">
            <a:extLst xmlns:a="http://schemas.openxmlformats.org/drawingml/2006/main">
              <a:ext uri="{FF2B5EF4-FFF2-40B4-BE49-F238E27FC236}">
                <a16:creationId xmlns:a16="http://schemas.microsoft.com/office/drawing/2014/main" id="{7C9CAE46-B9A6-4A08-85E6-4EE911846F6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3" name="nav-next">
            <a:extLst xmlns:a="http://schemas.openxmlformats.org/drawingml/2006/main">
              <a:ext uri="{FF2B5EF4-FFF2-40B4-BE49-F238E27FC236}">
                <a16:creationId xmlns:a16="http://schemas.microsoft.com/office/drawing/2014/main" id="{4F8AB37F-B8AD-42E7-B438-EFA869714D6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2056436178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ill">
            <a:extLst xmlns:a="http://schemas.openxmlformats.org/drawingml/2006/main">
              <a:ext uri="{FF2B5EF4-FFF2-40B4-BE49-F238E27FC236}">
                <a16:creationId xmlns:a16="http://schemas.microsoft.com/office/drawing/2014/main" id="{01E5E03C-9C01-48A4-A2A3-03E02988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2" name="txt-0.7697780713057005">
            <a:extLst xmlns:a="http://schemas.openxmlformats.org/drawingml/2006/main">
              <a:ext uri="{FF2B5EF4-FFF2-40B4-BE49-F238E27FC236}">
                <a16:creationId xmlns:a16="http://schemas.microsoft.com/office/drawing/2014/main" id="{1529DAE6-B023-4C96-B5D8-B3C7A97B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Boolean models logic—not a guaranteed storage size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864B454-0396-4C57-95BD-471536F2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7955783418464366">
            <a:extLst xmlns:a="http://schemas.openxmlformats.org/drawingml/2006/main">
              <a:ext uri="{FF2B5EF4-FFF2-40B4-BE49-F238E27FC236}">
                <a16:creationId xmlns:a16="http://schemas.microsoft.com/office/drawing/2014/main" id="{24438BA3-49DF-4B7A-A3C3-2FA31A30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rue-box">
            <a:extLst xmlns:a="http://schemas.openxmlformats.org/drawingml/2006/main">
              <a:ext uri="{FF2B5EF4-FFF2-40B4-BE49-F238E27FC236}">
                <a16:creationId xmlns:a16="http://schemas.microsoft.com/office/drawing/2014/main" id="{F47E0615-5A80-499F-9DB7-64DD998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71E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txt-0.04359388611162407">
            <a:extLst xmlns:a="http://schemas.openxmlformats.org/drawingml/2006/main">
              <a:ext uri="{FF2B5EF4-FFF2-40B4-BE49-F238E27FC236}">
                <a16:creationId xmlns:a16="http://schemas.microsoft.com/office/drawing/2014/main" id="{7DDD3658-433C-4065-85E7-CD27C10F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TRUE</a:t>
            </a:r>
          </a:p>
        </p:txBody>
      </p:sp>
      <p:sp>
        <p:nvSpPr>
          <p:cNvPr id="7" name="false-box">
            <a:extLst xmlns:a="http://schemas.openxmlformats.org/drawingml/2006/main">
              <a:ext uri="{FF2B5EF4-FFF2-40B4-BE49-F238E27FC236}">
                <a16:creationId xmlns:a16="http://schemas.microsoft.com/office/drawing/2014/main" id="{7F8D7C00-7D53-49CC-9F46-E29E39CF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A1118"/>
          </a:solidFill>
          <a:ln xmlns:a="http://schemas.openxmlformats.org/drawingml/2006/main" w="19050">
            <a:solidFill>
              <a:srgbClr val="F87171"/>
            </a:solidFill>
            <a:prstDash val="solid"/>
          </a:ln>
        </p:spPr>
      </p:sp>
      <p:sp>
        <p:nvSpPr>
          <p:cNvPr id="8" name="txt-0.37286908923082396">
            <a:extLst xmlns:a="http://schemas.openxmlformats.org/drawingml/2006/main">
              <a:ext uri="{FF2B5EF4-FFF2-40B4-BE49-F238E27FC236}">
                <a16:creationId xmlns:a16="http://schemas.microsoft.com/office/drawing/2014/main" id="{E50EA8F9-5D38-4DE1-9B4F-F1C8B2F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8717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7171"/>
                </a:solidFill>
                <a:latin typeface="Arial"/>
                <a:ea typeface="Arial"/>
                <a:cs typeface="Arial"/>
              </a:rPr>
              <a:t>FALSE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70066D4F-F381-4DD7-9D6D-532B24DD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810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68AF18F-0AD4-43C1-92A5-A3BF67C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1" name="txt-0.6186533915981343">
            <a:extLst xmlns:a="http://schemas.openxmlformats.org/drawingml/2006/main">
              <a:ext uri="{FF2B5EF4-FFF2-40B4-BE49-F238E27FC236}">
                <a16:creationId xmlns:a16="http://schemas.microsoft.com/office/drawing/2014/main" id="{D6E8BAF6-6B18-40EF-98E6-1BA9B6B0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SIZE IS CONTEXTUAL</a:t>
            </a:r>
          </a:p>
        </p:txBody>
      </p:sp>
      <p:sp>
        <p:nvSpPr>
          <p:cNvPr id="12" name="txt-0.22135102457535505">
            <a:extLst xmlns:a="http://schemas.openxmlformats.org/drawingml/2006/main">
              <a:ext uri="{FF2B5EF4-FFF2-40B4-BE49-F238E27FC236}">
                <a16:creationId xmlns:a16="http://schemas.microsoft.com/office/drawing/2014/main" id="{3FA90A80-81D5-4323-9447-D87869C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987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Java defines only the two values; the language does not define a precise storage size. C++ sizeof(bool) is implementation-defined. In CPython, bool is an object and a subclass of int.</a:t>
            </a:r>
          </a:p>
        </p:txBody>
      </p:sp>
      <p:sp>
        <p:nvSpPr>
          <p:cNvPr id="13" name="code">
            <a:extLst xmlns:a="http://schemas.openxmlformats.org/drawingml/2006/main">
              <a:ext uri="{FF2B5EF4-FFF2-40B4-BE49-F238E27FC236}">
                <a16:creationId xmlns:a16="http://schemas.microsoft.com/office/drawing/2014/main" id="{AE7B2AEC-5B7E-4104-9D39-3A22AB0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2863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C0E13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</p:sp>
      <p:sp>
        <p:nvSpPr>
          <p:cNvPr id="14" name="accent">
            <a:extLst xmlns:a="http://schemas.openxmlformats.org/drawingml/2006/main">
              <a:ext uri="{FF2B5EF4-FFF2-40B4-BE49-F238E27FC236}">
                <a16:creationId xmlns:a16="http://schemas.microsoft.com/office/drawing/2014/main" id="{FFA418A6-69D1-4A98-9659-62E6FDF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5" name="txt-0.30986009985061613">
            <a:extLst xmlns:a="http://schemas.openxmlformats.org/drawingml/2006/main">
              <a:ext uri="{FF2B5EF4-FFF2-40B4-BE49-F238E27FC236}">
                <a16:creationId xmlns:a16="http://schemas.microsoft.com/office/drawing/2014/main" id="{60CAFCDF-7EB5-4EB0-B9A5-774EC208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4791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if (isPassed &amp;&amp; !isBlocked) {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    showSuccess();</a:t>
            </a:r>
          </a:p>
          <a:p xmlns:a="http://schemas.openxmlformats.org/drawingml/2006/main">
            <a:pPr algn="l">
              <a:defRPr sz="1425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6" name="txt-0.1253171376528952">
            <a:extLst xmlns:a="http://schemas.openxmlformats.org/drawingml/2006/main">
              <a:ext uri="{FF2B5EF4-FFF2-40B4-BE49-F238E27FC236}">
                <a16:creationId xmlns:a16="http://schemas.microsoft.com/office/drawing/2014/main" id="{B869038D-DE73-443D-8836-F6C4414B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7ADBC"/>
                </a:solidFill>
                <a:latin typeface="Arial"/>
                <a:ea typeface="Arial"/>
                <a:cs typeface="Arial"/>
              </a:rPr>
              <a:t>Use Boolean for conditions, flags, loop control, and logical expressions.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8676FA05-D0C9-472F-9A72-994AFFA1EDF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DA5E0324-60E9-4287-95CE-D234466E49FE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BB929CBA-7B68-4BA0-BC56-8D69A2E1338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823812007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ill">
            <a:extLst xmlns:a="http://schemas.openxmlformats.org/drawingml/2006/main">
              <a:ext uri="{FF2B5EF4-FFF2-40B4-BE49-F238E27FC236}">
                <a16:creationId xmlns:a16="http://schemas.microsoft.com/office/drawing/2014/main" id="{5F535229-8069-4FD9-9A19-B69C4B05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CROSS-LANGUAGE MAP</a:t>
            </a:r>
          </a:p>
        </p:txBody>
      </p:sp>
      <p:sp>
        <p:nvSpPr>
          <p:cNvPr id="2" name="txt-0.625075003345013">
            <a:extLst xmlns:a="http://schemas.openxmlformats.org/drawingml/2006/main">
              <a:ext uri="{FF2B5EF4-FFF2-40B4-BE49-F238E27FC236}">
                <a16:creationId xmlns:a16="http://schemas.microsoft.com/office/drawing/2014/main" id="{392908CB-DB68-4FAA-B30D-078E1399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The same concept maps to different type systems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95D1B76-3CC0-4873-979D-5BAA0924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5068469707053599">
            <a:extLst xmlns:a="http://schemas.openxmlformats.org/drawingml/2006/main">
              <a:ext uri="{FF2B5EF4-FFF2-40B4-BE49-F238E27FC236}">
                <a16:creationId xmlns:a16="http://schemas.microsoft.com/office/drawing/2014/main" id="{A9BCF726-2222-4E1C-9CE4-99E4660C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header">
            <a:extLst xmlns:a="http://schemas.openxmlformats.org/drawingml/2006/main">
              <a:ext uri="{FF2B5EF4-FFF2-40B4-BE49-F238E27FC236}">
                <a16:creationId xmlns:a16="http://schemas.microsoft.com/office/drawing/2014/main" id="{5597BFD6-AD74-46E7-8254-2E4E80D7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6" name="txt-0.5640414588293003">
            <a:extLst xmlns:a="http://schemas.openxmlformats.org/drawingml/2006/main">
              <a:ext uri="{FF2B5EF4-FFF2-40B4-BE49-F238E27FC236}">
                <a16:creationId xmlns:a16="http://schemas.microsoft.com/office/drawing/2014/main" id="{38B8A2D4-C10D-49FA-A95D-7D30E4AD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7" name="txt-0.7784001635746955">
            <a:extLst xmlns:a="http://schemas.openxmlformats.org/drawingml/2006/main">
              <a:ext uri="{FF2B5EF4-FFF2-40B4-BE49-F238E27FC236}">
                <a16:creationId xmlns:a16="http://schemas.microsoft.com/office/drawing/2014/main" id="{E1D0260A-8473-402B-B6AE-8EAE58D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47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JAVA</a:t>
            </a:r>
          </a:p>
        </p:txBody>
      </p:sp>
      <p:sp>
        <p:nvSpPr>
          <p:cNvPr id="8" name="txt-0.31836510013173847">
            <a:extLst xmlns:a="http://schemas.openxmlformats.org/drawingml/2006/main">
              <a:ext uri="{FF2B5EF4-FFF2-40B4-BE49-F238E27FC236}">
                <a16:creationId xmlns:a16="http://schemas.microsoft.com/office/drawing/2014/main" id="{7986A4ED-2748-49DB-BD17-94DC9CD7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C++</a:t>
            </a:r>
          </a:p>
        </p:txBody>
      </p:sp>
      <p:sp>
        <p:nvSpPr>
          <p:cNvPr id="9" name="txt-0.06484717426931641">
            <a:extLst xmlns:a="http://schemas.openxmlformats.org/drawingml/2006/main">
              <a:ext uri="{FF2B5EF4-FFF2-40B4-BE49-F238E27FC236}">
                <a16:creationId xmlns:a16="http://schemas.microsoft.com/office/drawing/2014/main" id="{307CF839-865D-4B7A-BC42-0CFD37C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47850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0" name="txt-0.7964895418830239">
            <a:extLst xmlns:a="http://schemas.openxmlformats.org/drawingml/2006/main">
              <a:ext uri="{FF2B5EF4-FFF2-40B4-BE49-F238E27FC236}">
                <a16:creationId xmlns:a16="http://schemas.microsoft.com/office/drawing/2014/main" id="{A5B9CE12-8E58-4EE1-A49E-6408EACE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Whole number</a:t>
            </a:r>
          </a:p>
        </p:txBody>
      </p:sp>
      <p:sp>
        <p:nvSpPr>
          <p:cNvPr id="11" name="txt-0.8938691912546795">
            <a:extLst xmlns:a="http://schemas.openxmlformats.org/drawingml/2006/main">
              <a:ext uri="{FF2B5EF4-FFF2-40B4-BE49-F238E27FC236}">
                <a16:creationId xmlns:a16="http://schemas.microsoft.com/office/drawing/2014/main" id="{8CFAD250-DFAC-450E-967E-708B97D4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14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byte/short/int/long</a:t>
            </a:r>
          </a:p>
        </p:txBody>
      </p:sp>
      <p:sp>
        <p:nvSpPr>
          <p:cNvPr id="12" name="txt-0.40089264957862514">
            <a:extLst xmlns:a="http://schemas.openxmlformats.org/drawingml/2006/main">
              <a:ext uri="{FF2B5EF4-FFF2-40B4-BE49-F238E27FC236}">
                <a16:creationId xmlns:a16="http://schemas.microsoft.com/office/drawing/2014/main" id="{1F46F7A1-4F74-4702-A8C6-625CE7E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char/short/int/long…</a:t>
            </a:r>
          </a:p>
        </p:txBody>
      </p:sp>
      <p:sp>
        <p:nvSpPr>
          <p:cNvPr id="13" name="txt-0.17640467703472895">
            <a:extLst xmlns:a="http://schemas.openxmlformats.org/drawingml/2006/main">
              <a:ext uri="{FF2B5EF4-FFF2-40B4-BE49-F238E27FC236}">
                <a16:creationId xmlns:a16="http://schemas.microsoft.com/office/drawing/2014/main" id="{6BF737D1-6E7D-40BF-82B7-70F813C3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14600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4" name="row">
            <a:extLst xmlns:a="http://schemas.openxmlformats.org/drawingml/2006/main">
              <a:ext uri="{FF2B5EF4-FFF2-40B4-BE49-F238E27FC236}">
                <a16:creationId xmlns:a16="http://schemas.microsoft.com/office/drawing/2014/main" id="{FDD90F7E-12C6-4755-B9CE-86E7B0E6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D27"/>
          </a:solidFill>
          <a:ln xmlns:a="http://schemas.openxmlformats.org/drawingml/2006/main" w="0">
            <a:solidFill>
              <a:srgbClr val="191D27"/>
            </a:solidFill>
            <a:prstDash val="solid"/>
          </a:ln>
        </p:spPr>
      </p:sp>
      <p:sp>
        <p:nvSpPr>
          <p:cNvPr id="15" name="txt-0.7506477290924854">
            <a:extLst xmlns:a="http://schemas.openxmlformats.org/drawingml/2006/main">
              <a:ext uri="{FF2B5EF4-FFF2-40B4-BE49-F238E27FC236}">
                <a16:creationId xmlns:a16="http://schemas.microsoft.com/office/drawing/2014/main" id="{9A661B5E-9315-4D59-A71E-9F52F998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Decimal</a:t>
            </a:r>
          </a:p>
        </p:txBody>
      </p:sp>
      <p:sp>
        <p:nvSpPr>
          <p:cNvPr id="16" name="txt-0.4426902068498446">
            <a:extLst xmlns:a="http://schemas.openxmlformats.org/drawingml/2006/main">
              <a:ext uri="{FF2B5EF4-FFF2-40B4-BE49-F238E27FC236}">
                <a16:creationId xmlns:a16="http://schemas.microsoft.com/office/drawing/2014/main" id="{C4C3081C-BA87-4F96-8F9D-E6170213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813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float/double</a:t>
            </a:r>
          </a:p>
        </p:txBody>
      </p:sp>
      <p:sp>
        <p:nvSpPr>
          <p:cNvPr id="17" name="txt-0.3479229102076101">
            <a:extLst xmlns:a="http://schemas.openxmlformats.org/drawingml/2006/main">
              <a:ext uri="{FF2B5EF4-FFF2-40B4-BE49-F238E27FC236}">
                <a16:creationId xmlns:a16="http://schemas.microsoft.com/office/drawing/2014/main" id="{5F3CC9AD-54B2-4EDE-94DE-DE183DF8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float/double/long double</a:t>
            </a:r>
          </a:p>
        </p:txBody>
      </p:sp>
      <p:sp>
        <p:nvSpPr>
          <p:cNvPr id="18" name="txt-0.028508923498666405">
            <a:extLst xmlns:a="http://schemas.openxmlformats.org/drawingml/2006/main">
              <a:ext uri="{FF2B5EF4-FFF2-40B4-BE49-F238E27FC236}">
                <a16:creationId xmlns:a16="http://schemas.microsoft.com/office/drawing/2014/main" id="{1E09D940-CA73-4937-8376-ED08485B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81350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float</a:t>
            </a:r>
          </a:p>
        </p:txBody>
      </p:sp>
      <p:sp>
        <p:nvSpPr>
          <p:cNvPr id="19" name="txt-0.09111085955737641">
            <a:extLst xmlns:a="http://schemas.openxmlformats.org/drawingml/2006/main">
              <a:ext uri="{FF2B5EF4-FFF2-40B4-BE49-F238E27FC236}">
                <a16:creationId xmlns:a16="http://schemas.microsoft.com/office/drawing/2014/main" id="{7D061829-E3B0-48A1-A41A-532C4AC9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Single text unit</a:t>
            </a:r>
          </a:p>
        </p:txBody>
      </p:sp>
      <p:sp>
        <p:nvSpPr>
          <p:cNvPr id="20" name="txt-0.2977081966414835">
            <a:extLst xmlns:a="http://schemas.openxmlformats.org/drawingml/2006/main">
              <a:ext uri="{FF2B5EF4-FFF2-40B4-BE49-F238E27FC236}">
                <a16:creationId xmlns:a16="http://schemas.microsoft.com/office/drawing/2014/main" id="{A615F01F-43D4-474F-AD21-CC6AE338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48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char (UTF-16 unit)</a:t>
            </a:r>
          </a:p>
        </p:txBody>
      </p:sp>
      <p:sp>
        <p:nvSpPr>
          <p:cNvPr id="21" name="txt-0.3765225685319108">
            <a:extLst xmlns:a="http://schemas.openxmlformats.org/drawingml/2006/main">
              <a:ext uri="{FF2B5EF4-FFF2-40B4-BE49-F238E27FC236}">
                <a16:creationId xmlns:a16="http://schemas.microsoft.com/office/drawing/2014/main" id="{CAA73327-4F12-4D9F-B50D-2B846019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48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char / char8_t / char32_t…</a:t>
            </a:r>
          </a:p>
        </p:txBody>
      </p:sp>
      <p:sp>
        <p:nvSpPr>
          <p:cNvPr id="22" name="txt-0.3465834324942674">
            <a:extLst xmlns:a="http://schemas.openxmlformats.org/drawingml/2006/main">
              <a:ext uri="{FF2B5EF4-FFF2-40B4-BE49-F238E27FC236}">
                <a16:creationId xmlns:a16="http://schemas.microsoft.com/office/drawing/2014/main" id="{07246337-2D08-43D3-87FB-21B9F493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48100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str of length 1</a:t>
            </a:r>
          </a:p>
        </p:txBody>
      </p:sp>
      <p:sp>
        <p:nvSpPr>
          <p:cNvPr id="23" name="row">
            <a:extLst xmlns:a="http://schemas.openxmlformats.org/drawingml/2006/main">
              <a:ext uri="{FF2B5EF4-FFF2-40B4-BE49-F238E27FC236}">
                <a16:creationId xmlns:a16="http://schemas.microsoft.com/office/drawing/2014/main" id="{92EA6BB6-1CE8-4DA4-8DFA-EAF5655D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D27"/>
          </a:solidFill>
          <a:ln xmlns:a="http://schemas.openxmlformats.org/drawingml/2006/main" w="0">
            <a:solidFill>
              <a:srgbClr val="191D27"/>
            </a:solidFill>
            <a:prstDash val="solid"/>
          </a:ln>
        </p:spPr>
      </p:sp>
      <p:sp>
        <p:nvSpPr>
          <p:cNvPr id="24" name="txt-0.5609780826254253">
            <a:extLst xmlns:a="http://schemas.openxmlformats.org/drawingml/2006/main">
              <a:ext uri="{FF2B5EF4-FFF2-40B4-BE49-F238E27FC236}">
                <a16:creationId xmlns:a16="http://schemas.microsoft.com/office/drawing/2014/main" id="{7434BD69-BE98-4CB1-B728-8E1B0D79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5" name="txt-0.8492363757724686">
            <a:extLst xmlns:a="http://schemas.openxmlformats.org/drawingml/2006/main">
              <a:ext uri="{FF2B5EF4-FFF2-40B4-BE49-F238E27FC236}">
                <a16:creationId xmlns:a16="http://schemas.microsoft.com/office/drawing/2014/main" id="{0059FD58-DD5C-401F-BB32-D1674B54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String</a:t>
            </a:r>
          </a:p>
        </p:txBody>
      </p:sp>
      <p:sp>
        <p:nvSpPr>
          <p:cNvPr id="26" name="txt-0.4600769445469083">
            <a:extLst xmlns:a="http://schemas.openxmlformats.org/drawingml/2006/main">
              <a:ext uri="{FF2B5EF4-FFF2-40B4-BE49-F238E27FC236}">
                <a16:creationId xmlns:a16="http://schemas.microsoft.com/office/drawing/2014/main" id="{ED1A6750-D2DA-4EC5-9A21-DCB70541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std::string</a:t>
            </a:r>
          </a:p>
        </p:txBody>
      </p:sp>
      <p:sp>
        <p:nvSpPr>
          <p:cNvPr id="27" name="txt-0.14490694260323533">
            <a:extLst xmlns:a="http://schemas.openxmlformats.org/drawingml/2006/main">
              <a:ext uri="{FF2B5EF4-FFF2-40B4-BE49-F238E27FC236}">
                <a16:creationId xmlns:a16="http://schemas.microsoft.com/office/drawing/2014/main" id="{BD8030DF-8279-4211-99BD-D57888E6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514850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28" name="txt-0.4479609888271586">
            <a:extLst xmlns:a="http://schemas.openxmlformats.org/drawingml/2006/main">
              <a:ext uri="{FF2B5EF4-FFF2-40B4-BE49-F238E27FC236}">
                <a16:creationId xmlns:a16="http://schemas.microsoft.com/office/drawing/2014/main" id="{3DDE2F0C-57EC-4706-BF62-353B6E04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8FC"/>
                </a:solidFill>
                <a:latin typeface="Arial"/>
                <a:ea typeface="Arial"/>
                <a:cs typeface="Arial"/>
              </a:rPr>
              <a:t>True/false</a:t>
            </a:r>
          </a:p>
        </p:txBody>
      </p:sp>
      <p:sp>
        <p:nvSpPr>
          <p:cNvPr id="29" name="txt-0.2158290599285544">
            <a:extLst xmlns:a="http://schemas.openxmlformats.org/drawingml/2006/main">
              <a:ext uri="{FF2B5EF4-FFF2-40B4-BE49-F238E27FC236}">
                <a16:creationId xmlns:a16="http://schemas.microsoft.com/office/drawing/2014/main" id="{F2F03BD9-44F0-41A6-90EC-1B0A246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181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boolean</a:t>
            </a:r>
          </a:p>
        </p:txBody>
      </p:sp>
      <p:sp>
        <p:nvSpPr>
          <p:cNvPr id="30" name="txt-0.048952375256753">
            <a:extLst xmlns:a="http://schemas.openxmlformats.org/drawingml/2006/main">
              <a:ext uri="{FF2B5EF4-FFF2-40B4-BE49-F238E27FC236}">
                <a16:creationId xmlns:a16="http://schemas.microsoft.com/office/drawing/2014/main" id="{00D52F18-26F4-4E55-9F25-DF25B26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816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31" name="txt-0.4862203931849878">
            <a:extLst xmlns:a="http://schemas.openxmlformats.org/drawingml/2006/main">
              <a:ext uri="{FF2B5EF4-FFF2-40B4-BE49-F238E27FC236}">
                <a16:creationId xmlns:a16="http://schemas.microsoft.com/office/drawing/2014/main" id="{2E831D56-7846-405D-9131-6687A354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81600"/>
            <a:ext cx="2752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bool</a:t>
            </a:r>
          </a:p>
        </p:txBody>
      </p:sp>
      <p:sp>
        <p:nvSpPr>
          <p:cNvPr id="32" name="nav-home">
            <a:extLst xmlns:a="http://schemas.openxmlformats.org/drawingml/2006/main">
              <a:ext uri="{FF2B5EF4-FFF2-40B4-BE49-F238E27FC236}">
                <a16:creationId xmlns:a16="http://schemas.microsoft.com/office/drawing/2014/main" id="{6BE9B56B-6228-4974-AE45-A5518BDF99F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33" name="nav-back">
            <a:extLst xmlns:a="http://schemas.openxmlformats.org/drawingml/2006/main">
              <a:ext uri="{FF2B5EF4-FFF2-40B4-BE49-F238E27FC236}">
                <a16:creationId xmlns:a16="http://schemas.microsoft.com/office/drawing/2014/main" id="{52CEE214-F149-4536-8B74-690C07C42B9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34" name="nav-next">
            <a:extLst xmlns:a="http://schemas.openxmlformats.org/drawingml/2006/main">
              <a:ext uri="{FF2B5EF4-FFF2-40B4-BE49-F238E27FC236}">
                <a16:creationId xmlns:a16="http://schemas.microsoft.com/office/drawing/2014/main" id="{F28E7E77-15C1-418B-9B12-6E0A62599B70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1446137794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ill">
            <a:extLst xmlns:a="http://schemas.openxmlformats.org/drawingml/2006/main">
              <a:ext uri="{FF2B5EF4-FFF2-40B4-BE49-F238E27FC236}">
                <a16:creationId xmlns:a16="http://schemas.microsoft.com/office/drawing/2014/main" id="{8B8A6D6F-C47D-471B-8861-5C8CFDA9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DECISION GUIDE</a:t>
            </a:r>
          </a:p>
        </p:txBody>
      </p:sp>
      <p:sp>
        <p:nvSpPr>
          <p:cNvPr id="2" name="txt-0.026391094696620043">
            <a:extLst xmlns:a="http://schemas.openxmlformats.org/drawingml/2006/main">
              <a:ext uri="{FF2B5EF4-FFF2-40B4-BE49-F238E27FC236}">
                <a16:creationId xmlns:a16="http://schemas.microsoft.com/office/drawing/2014/main" id="{ACEE8FE1-1476-4C0F-A6EC-BBEF9AB6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Choose the type from the meaning and constraints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CAD7B38-9558-4BA6-B1FC-445D0D9A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5030309487742306">
            <a:extLst xmlns:a="http://schemas.openxmlformats.org/drawingml/2006/main">
              <a:ext uri="{FF2B5EF4-FFF2-40B4-BE49-F238E27FC236}">
                <a16:creationId xmlns:a16="http://schemas.microsoft.com/office/drawing/2014/main" id="{00120AFE-4108-4608-9A87-33E836E3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xt-0.11253721769081382">
            <a:extLst xmlns:a="http://schemas.openxmlformats.org/drawingml/2006/main">
              <a:ext uri="{FF2B5EF4-FFF2-40B4-BE49-F238E27FC236}">
                <a16:creationId xmlns:a16="http://schemas.microsoft.com/office/drawing/2014/main" id="{7A077B16-34EC-46DB-8A3D-DAC9F8EB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E47AD64-CFA9-41D0-B303-951B6715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7" name="txt-0.8185036543302807">
            <a:extLst xmlns:a="http://schemas.openxmlformats.org/drawingml/2006/main">
              <a:ext uri="{FF2B5EF4-FFF2-40B4-BE49-F238E27FC236}">
                <a16:creationId xmlns:a16="http://schemas.microsoft.com/office/drawing/2014/main" id="{2838D576-72D1-4E1F-9D24-29F4541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Counting ordinary items?</a:t>
            </a:r>
          </a:p>
        </p:txBody>
      </p:sp>
      <p:sp>
        <p:nvSpPr>
          <p:cNvPr id="8" name="txt-0.4589790963682978">
            <a:extLst xmlns:a="http://schemas.openxmlformats.org/drawingml/2006/main">
              <a:ext uri="{FF2B5EF4-FFF2-40B4-BE49-F238E27FC236}">
                <a16:creationId xmlns:a16="http://schemas.microsoft.com/office/drawing/2014/main" id="{D57C0A19-7C22-4D0F-93E2-A28ECCC2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62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int / Python int</a:t>
            </a:r>
          </a:p>
        </p:txBody>
      </p:sp>
      <p:sp>
        <p:nvSpPr>
          <p:cNvPr id="9" name="txt-0.22817201848370905">
            <a:extLst xmlns:a="http://schemas.openxmlformats.org/drawingml/2006/main">
              <a:ext uri="{FF2B5EF4-FFF2-40B4-BE49-F238E27FC236}">
                <a16:creationId xmlns:a16="http://schemas.microsoft.com/office/drawing/2014/main" id="{48A974C7-8BFB-48FC-B4E0-9DF6A6DB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088CA44-9B46-4B22-B993-7D5B38C0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1" name="txt-0.4417965701130676">
            <a:extLst xmlns:a="http://schemas.openxmlformats.org/drawingml/2006/main">
              <a:ext uri="{FF2B5EF4-FFF2-40B4-BE49-F238E27FC236}">
                <a16:creationId xmlns:a16="http://schemas.microsoft.com/office/drawing/2014/main" id="{9DE263CE-F268-407E-8ECA-DF99A3C0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May exceed 32-bit range?</a:t>
            </a:r>
          </a:p>
        </p:txBody>
      </p:sp>
      <p:sp>
        <p:nvSpPr>
          <p:cNvPr id="12" name="txt-0.35943723817194084">
            <a:extLst xmlns:a="http://schemas.openxmlformats.org/drawingml/2006/main">
              <a:ext uri="{FF2B5EF4-FFF2-40B4-BE49-F238E27FC236}">
                <a16:creationId xmlns:a16="http://schemas.microsoft.com/office/drawing/2014/main" id="{DF77419C-EE01-4A40-BB68-C6C7D9A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431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long or arbitrary-precision int</a:t>
            </a:r>
          </a:p>
        </p:txBody>
      </p:sp>
      <p:sp>
        <p:nvSpPr>
          <p:cNvPr id="13" name="txt-0.8218207356972101">
            <a:extLst xmlns:a="http://schemas.openxmlformats.org/drawingml/2006/main">
              <a:ext uri="{FF2B5EF4-FFF2-40B4-BE49-F238E27FC236}">
                <a16:creationId xmlns:a16="http://schemas.microsoft.com/office/drawing/2014/main" id="{001650AD-874A-4217-B0E6-D9CF47A8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CD9BCB84-7338-456A-8B91-328E5E39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5" name="txt-0.6124222365346053">
            <a:extLst xmlns:a="http://schemas.openxmlformats.org/drawingml/2006/main">
              <a:ext uri="{FF2B5EF4-FFF2-40B4-BE49-F238E27FC236}">
                <a16:creationId xmlns:a16="http://schemas.microsoft.com/office/drawing/2014/main" id="{138BB115-045D-4293-A68E-37ED83E0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24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Scientific measurement?</a:t>
            </a:r>
          </a:p>
        </p:txBody>
      </p:sp>
      <p:sp>
        <p:nvSpPr>
          <p:cNvPr id="16" name="txt-0.4909043549826946">
            <a:extLst xmlns:a="http://schemas.openxmlformats.org/drawingml/2006/main">
              <a:ext uri="{FF2B5EF4-FFF2-40B4-BE49-F238E27FC236}">
                <a16:creationId xmlns:a16="http://schemas.microsoft.com/office/drawing/2014/main" id="{BD0867EE-BB42-4F06-A235-78680895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242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double by default</a:t>
            </a:r>
          </a:p>
        </p:txBody>
      </p:sp>
      <p:sp>
        <p:nvSpPr>
          <p:cNvPr id="17" name="txt-0.29376550500475485">
            <a:extLst xmlns:a="http://schemas.openxmlformats.org/drawingml/2006/main">
              <a:ext uri="{FF2B5EF4-FFF2-40B4-BE49-F238E27FC236}">
                <a16:creationId xmlns:a16="http://schemas.microsoft.com/office/drawing/2014/main" id="{2787D8D2-A227-43F8-997E-BC781A7F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C9A8867-045E-4308-8BF9-C28965D0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9" name="txt-0.2463330074977711">
            <a:extLst xmlns:a="http://schemas.openxmlformats.org/drawingml/2006/main">
              <a:ext uri="{FF2B5EF4-FFF2-40B4-BE49-F238E27FC236}">
                <a16:creationId xmlns:a16="http://schemas.microsoft.com/office/drawing/2014/main" id="{04CA83B3-FCA6-4651-BB05-E227E0D3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Exact currency?</a:t>
            </a:r>
          </a:p>
        </p:txBody>
      </p:sp>
      <p:sp>
        <p:nvSpPr>
          <p:cNvPr id="20" name="txt-0.43170465284414217">
            <a:extLst xmlns:a="http://schemas.openxmlformats.org/drawingml/2006/main">
              <a:ext uri="{FF2B5EF4-FFF2-40B4-BE49-F238E27FC236}">
                <a16:creationId xmlns:a16="http://schemas.microsoft.com/office/drawing/2014/main" id="{4AD92587-3EC5-40A5-9827-AA6CC660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052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Decimal / BigDecimal</a:t>
            </a:r>
          </a:p>
        </p:txBody>
      </p:sp>
      <p:sp>
        <p:nvSpPr>
          <p:cNvPr id="21" name="txt-0.5173563761541353">
            <a:extLst xmlns:a="http://schemas.openxmlformats.org/drawingml/2006/main">
              <a:ext uri="{FF2B5EF4-FFF2-40B4-BE49-F238E27FC236}">
                <a16:creationId xmlns:a16="http://schemas.microsoft.com/office/drawing/2014/main" id="{12C7E1E6-7801-40A0-83B0-15B9976B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F409F170-9BEB-4436-A744-B7B02E1A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23" name="txt-0.2911413463244622">
            <a:extLst xmlns:a="http://schemas.openxmlformats.org/drawingml/2006/main">
              <a:ext uri="{FF2B5EF4-FFF2-40B4-BE49-F238E27FC236}">
                <a16:creationId xmlns:a16="http://schemas.microsoft.com/office/drawing/2014/main" id="{BC637DE8-6B98-4FA2-8BCF-37FA0BA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863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User-facing text?</a:t>
            </a:r>
          </a:p>
        </p:txBody>
      </p:sp>
      <p:sp>
        <p:nvSpPr>
          <p:cNvPr id="24" name="txt-0.07842670144401742">
            <a:extLst xmlns:a="http://schemas.openxmlformats.org/drawingml/2006/main">
              <a:ext uri="{FF2B5EF4-FFF2-40B4-BE49-F238E27FC236}">
                <a16:creationId xmlns:a16="http://schemas.microsoft.com/office/drawing/2014/main" id="{87B0FBBB-983D-4E5D-90BF-240588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86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Unicode-aware string</a:t>
            </a:r>
          </a:p>
        </p:txBody>
      </p:sp>
      <p:sp>
        <p:nvSpPr>
          <p:cNvPr id="25" name="nav-home">
            <a:extLst xmlns:a="http://schemas.openxmlformats.org/drawingml/2006/main">
              <a:ext uri="{FF2B5EF4-FFF2-40B4-BE49-F238E27FC236}">
                <a16:creationId xmlns:a16="http://schemas.microsoft.com/office/drawing/2014/main" id="{11EB8402-059F-4E33-B9F5-9F099EB29B1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26" name="nav-back">
            <a:extLst xmlns:a="http://schemas.openxmlformats.org/drawingml/2006/main">
              <a:ext uri="{FF2B5EF4-FFF2-40B4-BE49-F238E27FC236}">
                <a16:creationId xmlns:a16="http://schemas.microsoft.com/office/drawing/2014/main" id="{8000E827-D33D-4398-B40E-22927FA3B8F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  <p:sp>
        <p:nvSpPr>
          <p:cNvPr id="27" name="nav-next">
            <a:extLst xmlns:a="http://schemas.openxmlformats.org/drawingml/2006/main">
              <a:ext uri="{FF2B5EF4-FFF2-40B4-BE49-F238E27FC236}">
                <a16:creationId xmlns:a16="http://schemas.microsoft.com/office/drawing/2014/main" id="{067E7CE9-32E8-4C37-BFC3-08AFA7FDC9F9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1524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9525">
            <a:solidFill>
              <a:srgbClr val="F7F8FC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NEXT  →</a:t>
            </a:r>
          </a:p>
        </p:txBody>
      </p:sp>
    </p:spTree>
    <p:extLst>
      <p:ext uri="{BB962C8B-B14F-4D97-AF65-F5344CB8AC3E}">
        <p14:creationId xmlns:p14="http://schemas.microsoft.com/office/powerpoint/2010/main" val="2071246981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39D7F6CF-4EFD-4935-9A54-07C998E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CLICK YOUR ANSWER</a:t>
            </a:r>
          </a:p>
        </p:txBody>
      </p:sp>
      <p:sp>
        <p:nvSpPr>
          <p:cNvPr id="2" name="txt-0.3767415051531139">
            <a:extLst xmlns:a="http://schemas.openxmlformats.org/drawingml/2006/main">
              <a:ext uri="{FF2B5EF4-FFF2-40B4-BE49-F238E27FC236}">
                <a16:creationId xmlns:a16="http://schemas.microsoft.com/office/drawing/2014/main" id="{19E9F91D-5AFB-4BEE-91A6-38632E12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Challenge: choose the safest type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D42D5EE-E891-477C-AECE-1CC6B1EB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8108579024288538">
            <a:extLst xmlns:a="http://schemas.openxmlformats.org/drawingml/2006/main">
              <a:ext uri="{FF2B5EF4-FFF2-40B4-BE49-F238E27FC236}">
                <a16:creationId xmlns:a16="http://schemas.microsoft.com/office/drawing/2014/main" id="{FE6D7CAB-5929-4BFA-8D01-7380E42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cenario">
            <a:extLst xmlns:a="http://schemas.openxmlformats.org/drawingml/2006/main">
              <a:ext uri="{FF2B5EF4-FFF2-40B4-BE49-F238E27FC236}">
                <a16:creationId xmlns:a16="http://schemas.microsoft.com/office/drawing/2014/main" id="{660015D3-2E38-43B0-8FBC-A4F2D1C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txt-0.5201964577673559">
            <a:extLst xmlns:a="http://schemas.openxmlformats.org/drawingml/2006/main">
              <a:ext uri="{FF2B5EF4-FFF2-40B4-BE49-F238E27FC236}">
                <a16:creationId xmlns:a16="http://schemas.microsoft.com/office/drawing/2014/main" id="{270B7B76-FA49-4ACC-BD79-4D45C24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 Java application stores money values such as 19.99 and must calculate totals exactly.</a:t>
            </a:r>
          </a:p>
        </p:txBody>
      </p:sp>
      <p:sp>
        <p:nvSpPr>
          <p:cNvPr id="7" name="txt-0.9351794299877006">
            <a:extLst xmlns:a="http://schemas.openxmlformats.org/drawingml/2006/main">
              <a:ext uri="{FF2B5EF4-FFF2-40B4-BE49-F238E27FC236}">
                <a16:creationId xmlns:a16="http://schemas.microsoft.com/office/drawing/2014/main" id="{FF708700-3ED9-45AD-8C82-C0E852C2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Which choice is the safest?</a:t>
            </a:r>
          </a:p>
        </p:txBody>
      </p:sp>
      <p:sp>
        <p:nvSpPr>
          <p:cNvPr id="8" name="quiz-a">
            <a:extLst xmlns:a="http://schemas.openxmlformats.org/drawingml/2006/main">
              <a:ext uri="{FF2B5EF4-FFF2-40B4-BE49-F238E27FC236}">
                <a16:creationId xmlns:a16="http://schemas.microsoft.com/office/drawing/2014/main" id="{A637CE15-9355-4FE3-85B4-BFE24A8C99D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A  •  float, because it uses less memory.</a:t>
            </a:r>
          </a:p>
        </p:txBody>
      </p:sp>
      <p:sp>
        <p:nvSpPr>
          <p:cNvPr id="9" name="quiz-b">
            <a:extLst xmlns:a="http://schemas.openxmlformats.org/drawingml/2006/main">
              <a:ext uri="{FF2B5EF4-FFF2-40B4-BE49-F238E27FC236}">
                <a16:creationId xmlns:a16="http://schemas.microsoft.com/office/drawing/2014/main" id="{8DF63F32-BC33-4268-A8E9-579BD8CE24D9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B  •  double, because it has more precision.</a:t>
            </a:r>
          </a:p>
        </p:txBody>
      </p:sp>
      <p:sp>
        <p:nvSpPr>
          <p:cNvPr id="10" name="quiz-c">
            <a:extLst xmlns:a="http://schemas.openxmlformats.org/drawingml/2006/main">
              <a:ext uri="{FF2B5EF4-FFF2-40B4-BE49-F238E27FC236}">
                <a16:creationId xmlns:a16="http://schemas.microsoft.com/office/drawing/2014/main" id="{A7661EE0-B7EF-4828-96B6-667620AEAF6E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51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C  •  BigDecimal (or integer minor units), because decimal money must be exact.</a:t>
            </a:r>
          </a:p>
        </p:txBody>
      </p:sp>
      <p:sp>
        <p:nvSpPr>
          <p:cNvPr id="11" name="nav-home">
            <a:extLst xmlns:a="http://schemas.openxmlformats.org/drawingml/2006/main">
              <a:ext uri="{FF2B5EF4-FFF2-40B4-BE49-F238E27FC236}">
                <a16:creationId xmlns:a16="http://schemas.microsoft.com/office/drawing/2014/main" id="{93AF2BF8-AD57-4B2F-BB8F-0059309F9A91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  <p:sp>
        <p:nvSpPr>
          <p:cNvPr id="12" name="nav-back">
            <a:extLst xmlns:a="http://schemas.openxmlformats.org/drawingml/2006/main">
              <a:ext uri="{FF2B5EF4-FFF2-40B4-BE49-F238E27FC236}">
                <a16:creationId xmlns:a16="http://schemas.microsoft.com/office/drawing/2014/main" id="{37FCA325-D7D1-4929-84DE-04F88890FEA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1620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←  BACK</a:t>
            </a:r>
          </a:p>
        </p:txBody>
      </p:sp>
    </p:spTree>
    <p:extLst>
      <p:ext uri="{BB962C8B-B14F-4D97-AF65-F5344CB8AC3E}">
        <p14:creationId xmlns:p14="http://schemas.microsoft.com/office/powerpoint/2010/main" val="1557902054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rong-ring">
            <a:extLst xmlns:a="http://schemas.openxmlformats.org/drawingml/2006/main">
              <a:ext uri="{FF2B5EF4-FFF2-40B4-BE49-F238E27FC236}">
                <a16:creationId xmlns:a16="http://schemas.microsoft.com/office/drawing/2014/main" id="{BF61E480-7C11-4F89-9374-2CC700D0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118"/>
          </a:solidFill>
          <a:ln xmlns:a="http://schemas.openxmlformats.org/drawingml/2006/main" w="28575">
            <a:solidFill>
              <a:srgbClr val="F87171"/>
            </a:solidFill>
            <a:prstDash val="solid"/>
          </a:ln>
        </p:spPr>
      </p:sp>
      <p:sp>
        <p:nvSpPr>
          <p:cNvPr id="2" name="txt-0.3268859604360901">
            <a:extLst xmlns:a="http://schemas.openxmlformats.org/drawingml/2006/main">
              <a:ext uri="{FF2B5EF4-FFF2-40B4-BE49-F238E27FC236}">
                <a16:creationId xmlns:a16="http://schemas.microsoft.com/office/drawing/2014/main" id="{C707826A-4BD3-4F5D-A7C8-A8AC0D30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62050"/>
            <a:ext cx="171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0" b="1">
                <a:solidFill>
                  <a:srgbClr val="F87171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F87171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716543A7-1260-41B5-BDDB-69FF2F08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192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7171"/>
          </a:solidFill>
          <a:ln xmlns:a="http://schemas.openxmlformats.org/drawingml/2006/main" w="0">
            <a:solidFill>
              <a:srgbClr val="F8717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NOT QUITE</a:t>
            </a:r>
          </a:p>
        </p:txBody>
      </p:sp>
      <p:sp>
        <p:nvSpPr>
          <p:cNvPr id="4" name="txt-0.955931807454114">
            <a:extLst xmlns:a="http://schemas.openxmlformats.org/drawingml/2006/main">
              <a:ext uri="{FF2B5EF4-FFF2-40B4-BE49-F238E27FC236}">
                <a16:creationId xmlns:a16="http://schemas.microsoft.com/office/drawing/2014/main" id="{0A0051EF-56F6-47E3-B2B9-3618A8C1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Precision is not the same as decimal exactness.</a:t>
            </a:r>
          </a:p>
        </p:txBody>
      </p:sp>
      <p:sp>
        <p:nvSpPr>
          <p:cNvPr id="5" name="txt-0.24802334252871605">
            <a:extLst xmlns:a="http://schemas.openxmlformats.org/drawingml/2006/main">
              <a:ext uri="{FF2B5EF4-FFF2-40B4-BE49-F238E27FC236}">
                <a16:creationId xmlns:a16="http://schemas.microsoft.com/office/drawing/2014/main" id="{FC78B970-34C7-4CC7-9991-5EF5A04D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Both float and double use binary fractions. Values such as 0.1 usually require approximation.</a:t>
            </a:r>
          </a:p>
        </p:txBody>
      </p:sp>
      <p:sp>
        <p:nvSpPr>
          <p:cNvPr id="6" name="try-again">
            <a:extLst xmlns:a="http://schemas.openxmlformats.org/drawingml/2006/main">
              <a:ext uri="{FF2B5EF4-FFF2-40B4-BE49-F238E27FC236}">
                <a16:creationId xmlns:a16="http://schemas.microsoft.com/office/drawing/2014/main" id="{90D1D417-0967-4A6B-A2A1-64F1320C3B0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7171"/>
          </a:solidFill>
          <a:ln xmlns:a="http://schemas.openxmlformats.org/drawingml/2006/main" w="9525">
            <a:solidFill>
              <a:srgbClr val="F87171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←  TRY AGAIN</a:t>
            </a:r>
          </a:p>
        </p:txBody>
      </p:sp>
      <p:sp>
        <p:nvSpPr>
          <p:cNvPr id="7" name="wrong-menu">
            <a:extLst xmlns:a="http://schemas.openxmlformats.org/drawingml/2006/main">
              <a:ext uri="{FF2B5EF4-FFF2-40B4-BE49-F238E27FC236}">
                <a16:creationId xmlns:a16="http://schemas.microsoft.com/office/drawing/2014/main" id="{6BA434E5-0D0E-4C9F-A515-670CBF4C68D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2437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RETURN TO MENU</a:t>
            </a:r>
          </a:p>
        </p:txBody>
      </p:sp>
    </p:spTree>
    <p:extLst>
      <p:ext uri="{BB962C8B-B14F-4D97-AF65-F5344CB8AC3E}">
        <p14:creationId xmlns:p14="http://schemas.microsoft.com/office/powerpoint/2010/main" val="1224901111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rrect-ring">
            <a:extLst xmlns:a="http://schemas.openxmlformats.org/drawingml/2006/main">
              <a:ext uri="{FF2B5EF4-FFF2-40B4-BE49-F238E27FC236}">
                <a16:creationId xmlns:a16="http://schemas.microsoft.com/office/drawing/2014/main" id="{9548D16A-FF4A-4F6D-B213-B7EB5927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1E"/>
          </a:solidFill>
          <a:ln xmlns:a="http://schemas.openxmlformats.org/drawingml/2006/main" w="28575">
            <a:solidFill>
              <a:srgbClr val="34D399"/>
            </a:solidFill>
            <a:prstDash val="solid"/>
          </a:ln>
        </p:spPr>
      </p:sp>
      <p:sp>
        <p:nvSpPr>
          <p:cNvPr id="2" name="txt-0.7794856856037405">
            <a:extLst xmlns:a="http://schemas.openxmlformats.org/drawingml/2006/main">
              <a:ext uri="{FF2B5EF4-FFF2-40B4-BE49-F238E27FC236}">
                <a16:creationId xmlns:a16="http://schemas.microsoft.com/office/drawing/2014/main" id="{D1CFC588-B29D-4C87-8204-504166A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71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AC5C5732-B189-46A6-9E75-AC6CD820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19200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4" name="txt-0.9673487038617317">
            <a:extLst xmlns:a="http://schemas.openxmlformats.org/drawingml/2006/main">
              <a:ext uri="{FF2B5EF4-FFF2-40B4-BE49-F238E27FC236}">
                <a16:creationId xmlns:a16="http://schemas.microsoft.com/office/drawing/2014/main" id="{D699A438-F57F-4EE9-B863-DFD3015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790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The data meaning determines the representation.</a:t>
            </a:r>
          </a:p>
        </p:txBody>
      </p:sp>
      <p:sp>
        <p:nvSpPr>
          <p:cNvPr id="5" name="txt-0.90668712193434">
            <a:extLst xmlns:a="http://schemas.openxmlformats.org/drawingml/2006/main">
              <a:ext uri="{FF2B5EF4-FFF2-40B4-BE49-F238E27FC236}">
                <a16:creationId xmlns:a16="http://schemas.microsoft.com/office/drawing/2014/main" id="{7DAFB4FF-7A3C-4CB2-A830-ABC81CBA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For exact currency, use decimal arithmetic such as BigDecimal—or store integer minor units when the business rules allow it.</a:t>
            </a:r>
          </a:p>
        </p:txBody>
      </p:sp>
      <p:sp>
        <p:nvSpPr>
          <p:cNvPr id="6" name="continue-summary">
            <a:extLst xmlns:a="http://schemas.openxmlformats.org/drawingml/2006/main">
              <a:ext uri="{FF2B5EF4-FFF2-40B4-BE49-F238E27FC236}">
                <a16:creationId xmlns:a16="http://schemas.microsoft.com/office/drawing/2014/main" id="{1B5CA23A-C0C8-4EA8-8644-BA20D584160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SEE THE FINAL MODEL  →</a:t>
            </a:r>
          </a:p>
        </p:txBody>
      </p:sp>
      <p:sp>
        <p:nvSpPr>
          <p:cNvPr id="7" name="correct-menu">
            <a:extLst xmlns:a="http://schemas.openxmlformats.org/drawingml/2006/main">
              <a:ext uri="{FF2B5EF4-FFF2-40B4-BE49-F238E27FC236}">
                <a16:creationId xmlns:a16="http://schemas.microsoft.com/office/drawing/2014/main" id="{09311E6B-CF4D-4ADD-A0C5-0F6D169436D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524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MENU</a:t>
            </a:r>
          </a:p>
        </p:txBody>
      </p:sp>
    </p:spTree>
    <p:extLst>
      <p:ext uri="{BB962C8B-B14F-4D97-AF65-F5344CB8AC3E}">
        <p14:creationId xmlns:p14="http://schemas.microsoft.com/office/powerpoint/2010/main" val="296649448"/>
      </p:ext>
    </p:extLst>
  </p:cSld>
  <p:transition spd="fast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ill">
            <a:extLst xmlns:a="http://schemas.openxmlformats.org/drawingml/2006/main">
              <a:ext uri="{FF2B5EF4-FFF2-40B4-BE49-F238E27FC236}">
                <a16:creationId xmlns:a16="http://schemas.microsoft.com/office/drawing/2014/main" id="{62C806AE-952E-4CDE-9539-7C19A8A6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070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6070A"/>
                </a:solidFill>
                <a:latin typeface="Arial"/>
                <a:ea typeface="Arial"/>
                <a:cs typeface="Arial"/>
              </a:rPr>
              <a:t>FINAL MODEL</a:t>
            </a:r>
          </a:p>
        </p:txBody>
      </p:sp>
      <p:sp>
        <p:nvSpPr>
          <p:cNvPr id="2" name="txt-0.5184779167732153">
            <a:extLst xmlns:a="http://schemas.openxmlformats.org/drawingml/2006/main">
              <a:ext uri="{FF2B5EF4-FFF2-40B4-BE49-F238E27FC236}">
                <a16:creationId xmlns:a16="http://schemas.microsoft.com/office/drawing/2014/main" id="{056F6607-6F08-43EB-9C6D-6FF98F62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Five rules beat memorizing one universal size table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14A069B-87B3-4EE7-9F12-3BF62991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4" name="txt-0.05202864358523873">
            <a:extLst xmlns:a="http://schemas.openxmlformats.org/drawingml/2006/main">
              <a:ext uri="{FF2B5EF4-FFF2-40B4-BE49-F238E27FC236}">
                <a16:creationId xmlns:a16="http://schemas.microsoft.com/office/drawing/2014/main" id="{07AB735A-5E78-4DD0-8B6F-DC69A132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xt-0.41965244827830595">
            <a:extLst xmlns:a="http://schemas.openxmlformats.org/drawingml/2006/main">
              <a:ext uri="{FF2B5EF4-FFF2-40B4-BE49-F238E27FC236}">
                <a16:creationId xmlns:a16="http://schemas.microsoft.com/office/drawing/2014/main" id="{B1136A08-B03F-4736-B5E2-309CF4CE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40E3FF2E-5EAA-4538-8092-4BC81C7B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7" name="txt-0.2134203094127376">
            <a:extLst xmlns:a="http://schemas.openxmlformats.org/drawingml/2006/main">
              <a:ext uri="{FF2B5EF4-FFF2-40B4-BE49-F238E27FC236}">
                <a16:creationId xmlns:a16="http://schemas.microsoft.com/office/drawing/2014/main" id="{A9D31143-F9F8-4C75-946D-761BAC5B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D3EE"/>
                </a:solidFill>
                <a:latin typeface="Arial"/>
                <a:ea typeface="Arial"/>
                <a:cs typeface="Arial"/>
              </a:rPr>
              <a:t>NAME THE LANGUAGE</a:t>
            </a:r>
          </a:p>
        </p:txBody>
      </p:sp>
      <p:sp>
        <p:nvSpPr>
          <p:cNvPr id="8" name="txt-0.6511499860735943">
            <a:extLst xmlns:a="http://schemas.openxmlformats.org/drawingml/2006/main">
              <a:ext uri="{FF2B5EF4-FFF2-40B4-BE49-F238E27FC236}">
                <a16:creationId xmlns:a16="http://schemas.microsoft.com/office/drawing/2014/main" id="{45C3286D-8DCE-4396-9165-184D6042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Sizes and semantics vary</a:t>
            </a:r>
          </a:p>
        </p:txBody>
      </p:sp>
      <p:sp>
        <p:nvSpPr>
          <p:cNvPr id="9" name="txt-0.014018604309088634">
            <a:extLst xmlns:a="http://schemas.openxmlformats.org/drawingml/2006/main">
              <a:ext uri="{FF2B5EF4-FFF2-40B4-BE49-F238E27FC236}">
                <a16:creationId xmlns:a16="http://schemas.microsoft.com/office/drawing/2014/main" id="{B90B12F8-CBDB-4602-BAE8-5407DC2F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1F4C374-653C-45E0-A5F4-E5699F21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1" name="txt-0.32412957766257244">
            <a:extLst xmlns:a="http://schemas.openxmlformats.org/drawingml/2006/main">
              <a:ext uri="{FF2B5EF4-FFF2-40B4-BE49-F238E27FC236}">
                <a16:creationId xmlns:a16="http://schemas.microsoft.com/office/drawing/2014/main" id="{3A583899-C1EC-4153-9ECC-E10F5D9C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MATCH THE MEANING</a:t>
            </a:r>
          </a:p>
        </p:txBody>
      </p:sp>
      <p:sp>
        <p:nvSpPr>
          <p:cNvPr id="12" name="txt-0.6827681062956513">
            <a:extLst xmlns:a="http://schemas.openxmlformats.org/drawingml/2006/main">
              <a:ext uri="{FF2B5EF4-FFF2-40B4-BE49-F238E27FC236}">
                <a16:creationId xmlns:a16="http://schemas.microsoft.com/office/drawing/2014/main" id="{85A2B586-6654-4528-A58E-7E610BF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Count, measure, text, or logic</a:t>
            </a:r>
          </a:p>
        </p:txBody>
      </p:sp>
      <p:sp>
        <p:nvSpPr>
          <p:cNvPr id="13" name="txt-0.6147625899515026">
            <a:extLst xmlns:a="http://schemas.openxmlformats.org/drawingml/2006/main">
              <a:ext uri="{FF2B5EF4-FFF2-40B4-BE49-F238E27FC236}">
                <a16:creationId xmlns:a16="http://schemas.microsoft.com/office/drawing/2014/main" id="{331ADB8F-E5F8-4DA3-AB1F-6E6F091D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369D9654-9966-42F4-A41B-D50D8A0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5" name="txt-0.47818020440702724">
            <a:extLst xmlns:a="http://schemas.openxmlformats.org/drawingml/2006/main">
              <a:ext uri="{FF2B5EF4-FFF2-40B4-BE49-F238E27FC236}">
                <a16:creationId xmlns:a16="http://schemas.microsoft.com/office/drawing/2014/main" id="{B51FA6F9-111B-43FA-927C-E369FC65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3E6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3E635"/>
                </a:solidFill>
                <a:latin typeface="Arial"/>
                <a:ea typeface="Arial"/>
                <a:cs typeface="Arial"/>
              </a:rPr>
              <a:t>CHECK RANGE</a:t>
            </a:r>
          </a:p>
        </p:txBody>
      </p:sp>
      <p:sp>
        <p:nvSpPr>
          <p:cNvPr id="16" name="txt-0.3318570498376422">
            <a:extLst xmlns:a="http://schemas.openxmlformats.org/drawingml/2006/main">
              <a:ext uri="{FF2B5EF4-FFF2-40B4-BE49-F238E27FC236}">
                <a16:creationId xmlns:a16="http://schemas.microsoft.com/office/drawing/2014/main" id="{800F8289-6239-46EB-B927-20B2A5B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Avoid overflow</a:t>
            </a:r>
          </a:p>
        </p:txBody>
      </p:sp>
      <p:sp>
        <p:nvSpPr>
          <p:cNvPr id="17" name="txt-0.590616431866052">
            <a:extLst xmlns:a="http://schemas.openxmlformats.org/drawingml/2006/main">
              <a:ext uri="{FF2B5EF4-FFF2-40B4-BE49-F238E27FC236}">
                <a16:creationId xmlns:a16="http://schemas.microsoft.com/office/drawing/2014/main" id="{EF6E3147-0462-4BBE-8D8E-C9F19E98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AA586AB3-938D-4753-9414-CECBF5A1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19" name="txt-0.9281523443591165">
            <a:extLst xmlns:a="http://schemas.openxmlformats.org/drawingml/2006/main">
              <a:ext uri="{FF2B5EF4-FFF2-40B4-BE49-F238E27FC236}">
                <a16:creationId xmlns:a16="http://schemas.microsoft.com/office/drawing/2014/main" id="{3EEFFCD3-8D05-4B25-8079-C2637E2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CHECK PRECISION</a:t>
            </a:r>
          </a:p>
        </p:txBody>
      </p:sp>
      <p:sp>
        <p:nvSpPr>
          <p:cNvPr id="20" name="txt-0.22545340802510883">
            <a:extLst xmlns:a="http://schemas.openxmlformats.org/drawingml/2006/main">
              <a:ext uri="{FF2B5EF4-FFF2-40B4-BE49-F238E27FC236}">
                <a16:creationId xmlns:a16="http://schemas.microsoft.com/office/drawing/2014/main" id="{BFF9E5C3-13F8-47E3-9B91-16DD81FB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Binary vs decimal exactness</a:t>
            </a:r>
          </a:p>
        </p:txBody>
      </p:sp>
      <p:sp>
        <p:nvSpPr>
          <p:cNvPr id="21" name="txt-0.25687582322055325">
            <a:extLst xmlns:a="http://schemas.openxmlformats.org/drawingml/2006/main">
              <a:ext uri="{FF2B5EF4-FFF2-40B4-BE49-F238E27FC236}">
                <a16:creationId xmlns:a16="http://schemas.microsoft.com/office/drawing/2014/main" id="{8DF3B929-301A-4E1B-A44B-DCBA8E3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07A471C2-C7B4-4C96-A0CC-84AF98E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040"/>
          </a:solidFill>
          <a:ln xmlns:a="http://schemas.openxmlformats.org/drawingml/2006/main" w="0">
            <a:solidFill>
              <a:srgbClr val="2A3040"/>
            </a:solidFill>
            <a:prstDash val="solid"/>
          </a:ln>
        </p:spPr>
      </p:sp>
      <p:sp>
        <p:nvSpPr>
          <p:cNvPr id="23" name="txt-0.07722347029104037">
            <a:extLst xmlns:a="http://schemas.openxmlformats.org/drawingml/2006/main">
              <a:ext uri="{FF2B5EF4-FFF2-40B4-BE49-F238E27FC236}">
                <a16:creationId xmlns:a16="http://schemas.microsoft.com/office/drawing/2014/main" id="{1353DCA0-12DF-449E-847F-F644E85A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MEASURE WHEN NEEDED</a:t>
            </a:r>
          </a:p>
        </p:txBody>
      </p:sp>
      <p:sp>
        <p:nvSpPr>
          <p:cNvPr id="24" name="txt-0.6971305461801991">
            <a:extLst xmlns:a="http://schemas.openxmlformats.org/drawingml/2006/main">
              <a:ext uri="{FF2B5EF4-FFF2-40B4-BE49-F238E27FC236}">
                <a16:creationId xmlns:a16="http://schemas.microsoft.com/office/drawing/2014/main" id="{EFAC1408-0DEA-4465-97EC-57917A1C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81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ADB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DBC"/>
                </a:solidFill>
                <a:latin typeface="Arial"/>
                <a:ea typeface="Arial"/>
                <a:cs typeface="Arial"/>
              </a:rPr>
              <a:t>sizeof, limits, documentation</a:t>
            </a:r>
          </a:p>
        </p:txBody>
      </p:sp>
      <p:sp>
        <p:nvSpPr>
          <p:cNvPr id="25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A606C9C2-DD19-4F7A-B5C9-59CF2F69774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91D27"/>
          </a:solidFill>
          <a:ln xmlns:a="http://schemas.openxmlformats.org/drawingml/2006/main" w="9525">
            <a:solidFill>
              <a:srgbClr val="2A30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015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8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8FC"/>
                </a:solidFill>
                <a:latin typeface="Arial"/>
                <a:ea typeface="Arial"/>
                <a:cs typeface="Arial"/>
              </a:rPr>
              <a:t>⌂  EXPLORE AGAIN</a:t>
            </a:r>
          </a:p>
        </p:txBody>
      </p:sp>
    </p:spTree>
    <p:extLst>
      <p:ext uri="{BB962C8B-B14F-4D97-AF65-F5344CB8AC3E}">
        <p14:creationId xmlns:p14="http://schemas.microsoft.com/office/powerpoint/2010/main" val="912015730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2026-08-07T19:31:13.7370000Z</dcterms:created>
  <dcterms:modified xsi:type="dcterms:W3CDTF">2026-08-07T19:31:13.7370000Z</dcterms:modified>
</coreProperties>
</file>