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6e4a3615e54df7" /><Relationship Type="http://schemas.openxmlformats.org/officeDocument/2006/relationships/extended-properties" Target="/docProps/app.xml" Id="R1525adb243a54086" /><Relationship Type="http://schemas.openxmlformats.org/officeDocument/2006/relationships/officeDocument" Target="/ppt/presentation.xml" Id="R430b6019df6f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0a4198e87423c"/>
  </p:sldMasterIdLst>
  <p:notesMasterIdLst>
    <p:notesMasterId xmlns:r="http://schemas.openxmlformats.org/officeDocument/2006/relationships" r:id="R7fcaa4c8d99e45f3"/>
  </p:notesMasterIdLst>
  <p:sldIdLst>
    <p:sldId xmlns:r="http://schemas.openxmlformats.org/officeDocument/2006/relationships" id="256" r:id="R08a73505cc79447c"/>
    <p:sldId xmlns:r="http://schemas.openxmlformats.org/officeDocument/2006/relationships" id="257" r:id="R1b0c58af665f4a50"/>
    <p:sldId xmlns:r="http://schemas.openxmlformats.org/officeDocument/2006/relationships" id="258" r:id="R782f126751604253"/>
    <p:sldId xmlns:r="http://schemas.openxmlformats.org/officeDocument/2006/relationships" id="259" r:id="R5f69d3bbd4a8476a"/>
    <p:sldId xmlns:r="http://schemas.openxmlformats.org/officeDocument/2006/relationships" id="260" r:id="R17cab5ba267741fc"/>
    <p:sldId xmlns:r="http://schemas.openxmlformats.org/officeDocument/2006/relationships" id="261" r:id="R5f9cb0f73a094ee7"/>
    <p:sldId xmlns:r="http://schemas.openxmlformats.org/officeDocument/2006/relationships" id="262" r:id="R20e7f948bae840e9"/>
    <p:sldId xmlns:r="http://schemas.openxmlformats.org/officeDocument/2006/relationships" id="263" r:id="R2fdc42adc17344d8"/>
    <p:sldId xmlns:r="http://schemas.openxmlformats.org/officeDocument/2006/relationships" id="264" r:id="Rd59e39e85ccc4830"/>
    <p:sldId xmlns:r="http://schemas.openxmlformats.org/officeDocument/2006/relationships" id="265" r:id="R3c0d3982646a4515"/>
    <p:sldId xmlns:r="http://schemas.openxmlformats.org/officeDocument/2006/relationships" id="266" r:id="R080f2f7bbf9d426f"/>
    <p:sldId xmlns:r="http://schemas.openxmlformats.org/officeDocument/2006/relationships" id="267" r:id="Rcbcf853d9e924d22"/>
    <p:sldId xmlns:r="http://schemas.openxmlformats.org/officeDocument/2006/relationships" id="268" r:id="Rbc6dfc5c05964691"/>
    <p:sldId xmlns:r="http://schemas.openxmlformats.org/officeDocument/2006/relationships" id="269" r:id="R28bcd60951a24db6"/>
    <p:sldId xmlns:r="http://schemas.openxmlformats.org/officeDocument/2006/relationships" id="270" r:id="R9b332261a49d44e6"/>
    <p:sldId xmlns:r="http://schemas.openxmlformats.org/officeDocument/2006/relationships" id="271" r:id="Re9822169c0f742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f88ed907504b2a" /><Relationship Type="http://schemas.openxmlformats.org/officeDocument/2006/relationships/slideMaster" Target="/ppt/slideMasters/slideMaster1.xml" Id="R0fd0a4198e87423c" /><Relationship Type="http://schemas.openxmlformats.org/officeDocument/2006/relationships/notesMaster" Target="/ppt/notesMasters/notesMaster1.xml" Id="R7fcaa4c8d99e45f3" /><Relationship Type="http://schemas.openxmlformats.org/officeDocument/2006/relationships/presProps" Target="/ppt/presProps.xml" Id="R2cf6da01f5384131" /><Relationship Type="http://schemas.openxmlformats.org/officeDocument/2006/relationships/tableStyles" Target="/ppt/tableStyles.xml" Id="R2013afd0fc144e09" /><Relationship Type="http://schemas.openxmlformats.org/officeDocument/2006/relationships/slide" Target="/ppt/slides/slide1.xml" Id="R08a73505cc79447c" /><Relationship Type="http://schemas.openxmlformats.org/officeDocument/2006/relationships/slide" Target="/ppt/slides/slide2.xml" Id="R1b0c58af665f4a50" /><Relationship Type="http://schemas.openxmlformats.org/officeDocument/2006/relationships/slide" Target="/ppt/slides/slide3.xml" Id="R782f126751604253" /><Relationship Type="http://schemas.openxmlformats.org/officeDocument/2006/relationships/slide" Target="/ppt/slides/slide4.xml" Id="R5f69d3bbd4a8476a" /><Relationship Type="http://schemas.openxmlformats.org/officeDocument/2006/relationships/slide" Target="/ppt/slides/slide5.xml" Id="R17cab5ba267741fc" /><Relationship Type="http://schemas.openxmlformats.org/officeDocument/2006/relationships/slide" Target="/ppt/slides/slide6.xml" Id="R5f9cb0f73a094ee7" /><Relationship Type="http://schemas.openxmlformats.org/officeDocument/2006/relationships/slide" Target="/ppt/slides/slide7.xml" Id="R20e7f948bae840e9" /><Relationship Type="http://schemas.openxmlformats.org/officeDocument/2006/relationships/slide" Target="/ppt/slides/slide8.xml" Id="R2fdc42adc17344d8" /><Relationship Type="http://schemas.openxmlformats.org/officeDocument/2006/relationships/slide" Target="/ppt/slides/slide9.xml" Id="Rd59e39e85ccc4830" /><Relationship Type="http://schemas.openxmlformats.org/officeDocument/2006/relationships/slide" Target="/ppt/slides/slide10.xml" Id="R3c0d3982646a4515" /><Relationship Type="http://schemas.openxmlformats.org/officeDocument/2006/relationships/slide" Target="/ppt/slides/slide11.xml" Id="R080f2f7bbf9d426f" /><Relationship Type="http://schemas.openxmlformats.org/officeDocument/2006/relationships/slide" Target="/ppt/slides/slide12.xml" Id="Rcbcf853d9e924d22" /><Relationship Type="http://schemas.openxmlformats.org/officeDocument/2006/relationships/slide" Target="/ppt/slides/slide13.xml" Id="Rbc6dfc5c05964691" /><Relationship Type="http://schemas.openxmlformats.org/officeDocument/2006/relationships/slide" Target="/ppt/slides/slide14.xml" Id="R28bcd60951a24db6" /><Relationship Type="http://schemas.openxmlformats.org/officeDocument/2006/relationships/slide" Target="/ppt/slides/slide15.xml" Id="R9b332261a49d44e6" /><Relationship Type="http://schemas.openxmlformats.org/officeDocument/2006/relationships/slide" Target="/ppt/slides/slide16.xml" Id="Re9822169c0f7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e9a783324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03083d343e404e" /><Relationship Type="http://schemas.openxmlformats.org/officeDocument/2006/relationships/notesMaster" Target="/ppt/notesMasters/notesMaster1.xml" Id="Ref6adee7eede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e21ebbd56443a" /><Relationship Type="http://schemas.openxmlformats.org/officeDocument/2006/relationships/notesMaster" Target="/ppt/notesMasters/notesMaster1.xml" Id="Ra510c095a38b4b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86dda3eb6547d5" /><Relationship Type="http://schemas.openxmlformats.org/officeDocument/2006/relationships/notesMaster" Target="/ppt/notesMasters/notesMaster1.xml" Id="Rc0759972fa8f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9e7acc3143447d" /><Relationship Type="http://schemas.openxmlformats.org/officeDocument/2006/relationships/notesMaster" Target="/ppt/notesMasters/notesMaster1.xml" Id="Rccdbd033b45c4e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00a3df9155477e" /><Relationship Type="http://schemas.openxmlformats.org/officeDocument/2006/relationships/notesMaster" Target="/ppt/notesMasters/notesMaster1.xml" Id="R334af256ea07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55b1622704639" /><Relationship Type="http://schemas.openxmlformats.org/officeDocument/2006/relationships/notesMaster" Target="/ppt/notesMasters/notesMaster1.xml" Id="Rc8227d61bf6f4d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6437f46d324738" /><Relationship Type="http://schemas.openxmlformats.org/officeDocument/2006/relationships/notesMaster" Target="/ppt/notesMasters/notesMaster1.xml" Id="R7cd6c809f95a48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31b2ff71b547be" /><Relationship Type="http://schemas.openxmlformats.org/officeDocument/2006/relationships/notesMaster" Target="/ppt/notesMasters/notesMaster1.xml" Id="R9293e8283018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fb945133404d03" /><Relationship Type="http://schemas.openxmlformats.org/officeDocument/2006/relationships/notesMaster" Target="/ppt/notesMasters/notesMaster1.xml" Id="R97b484071e2740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ff4e54800a43cd" /><Relationship Type="http://schemas.openxmlformats.org/officeDocument/2006/relationships/notesMaster" Target="/ppt/notesMasters/notesMaster1.xml" Id="Ra7e76094c7e546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cde99628ec4368" /><Relationship Type="http://schemas.openxmlformats.org/officeDocument/2006/relationships/notesMaster" Target="/ppt/notesMasters/notesMaster1.xml" Id="Rfe5b4c0ccf454f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dd4c4e6ed44919" /><Relationship Type="http://schemas.openxmlformats.org/officeDocument/2006/relationships/notesMaster" Target="/ppt/notesMasters/notesMaster1.xml" Id="Refb628ad82d447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bda7251e1f4e3d" /><Relationship Type="http://schemas.openxmlformats.org/officeDocument/2006/relationships/notesMaster" Target="/ppt/notesMasters/notesMaster1.xml" Id="R14ea92762a3746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3c29bd998d4544" /><Relationship Type="http://schemas.openxmlformats.org/officeDocument/2006/relationships/notesMaster" Target="/ppt/notesMasters/notesMaster1.xml" Id="R4d5e648e9ecd4c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cdbfae150a4b56" /><Relationship Type="http://schemas.openxmlformats.org/officeDocument/2006/relationships/notesMaster" Target="/ppt/notesMasters/notesMaster1.xml" Id="R0d9b9e4bb0ed4b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79554884a84027" /><Relationship Type="http://schemas.openxmlformats.org/officeDocument/2006/relationships/notesMaster" Target="/ppt/notesMasters/notesMaster1.xml" Id="Rf7275fd95c82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https://www.python.org/community/logos/</a:t>
            </a:r>
          </a:p>
          <a:p xmlns:a="http://schemas.openxmlformats.org/drawingml/2006/main">
            <a:r>
              <a:t>D:/AI-Diploma/Tasks/Task 1/Task 1.txt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https://opensource.org/osd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https://www.ibm.com/docs/en/zos-basic-skills?topic=zos-programming-languages-mainframe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https://www.ibm.com/docs/en/zos-basic-skills?topic=zos-compiled-versus-interpreted-languages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https://docs.python.org/3/library/dis.html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https://www.ibm.com/docs/en/zos-basic-skills?topic=zos-compiled-versus-interpreted-languages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https://www.ibm.com/docs/en/zos-basic-skills?topic=zos-compiled-versus-interpreted-languages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https://opensource.org/osd</a:t>
            </a:r>
          </a:p>
          <a:p xmlns:a="http://schemas.openxmlformats.org/drawingml/2006/main">
            <a:r>
              <a:t>https://opensource.org/faq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https://opensource.org/osd</a:t>
            </a:r>
          </a:p>
          <a:p xmlns:a="http://schemas.openxmlformats.org/drawingml/2006/main">
            <a:r>
              <a:t>https://opensource.org/about/brand-and-trademark-guidelines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https://www.gnu.org/software/gnu-c-manual/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https://opensource.org/osd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https://www.ibm.com/think/topics/compiler</a:t>
            </a:r>
          </a:p>
          <a:p xmlns:a="http://schemas.openxmlformats.org/drawingml/2006/main">
            <a:r>
              <a:t>https://opensource.org/osd</a:t>
            </a:r>
          </a:p>
          <a:p xmlns:a="http://schemas.openxmlformats.org/drawingml/2006/main">
            <a:r>
              <a:t>https://docs.python.org/3/tutorial/classes.html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2156249aa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25d4b8a504030" /><Relationship Type="http://schemas.openxmlformats.org/officeDocument/2006/relationships/slideLayout" Target="/ppt/slideLayouts/slideLayout1.xml" Id="R9ef5e2feecd7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f5e2feecd7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b4e20095698420a" /><Relationship Type="http://schemas.openxmlformats.org/officeDocument/2006/relationships/image" Target="/ppt/media/image.png" Id="R00f9f0afeb114772" /><Relationship Type="http://schemas.openxmlformats.org/officeDocument/2006/relationships/notesSlide" Target="/ppt/notesSlides/notesSlide1.xml" Id="R50391b2dec8d4641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998a44ba61942f0" /><Relationship Type="http://schemas.openxmlformats.org/officeDocument/2006/relationships/notesSlide" Target="/ppt/notesSlides/notesSlide2.xml" Id="R310da6d6b47b49b7" /><Relationship Id="rId1" Type="http://schemas.openxmlformats.org/officeDocument/2006/relationships/slide" Target="slide3.xml" /><Relationship Id="rId2" Type="http://schemas.openxmlformats.org/officeDocument/2006/relationships/slide" Target="slide5.xml" /><Relationship Id="rId3" Type="http://schemas.openxmlformats.org/officeDocument/2006/relationships/slide" Target="slide7.xml" /><Relationship Id="rId4" Type="http://schemas.openxmlformats.org/officeDocument/2006/relationships/slide" Target="slide9.xml" /><Relationship Id="rId5" Type="http://schemas.openxmlformats.org/officeDocument/2006/relationships/slide" Target="slide11.xml" /><Relationship Id="rId6" Type="http://schemas.openxmlformats.org/officeDocument/2006/relationships/slide" Target="slide13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48c00d25b8d45d0" /><Relationship Type="http://schemas.openxmlformats.org/officeDocument/2006/relationships/notesSlide" Target="/ppt/notesSlides/notesSlide3.xml" Id="R292394c559b846ec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b37743fa4074eb2" /><Relationship Type="http://schemas.openxmlformats.org/officeDocument/2006/relationships/notesSlide" Target="/ppt/notesSlides/notesSlide4.xml" Id="R3691742772e144c1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49455844cef4f01" /><Relationship Type="http://schemas.openxmlformats.org/officeDocument/2006/relationships/notesSlide" Target="/ppt/notesSlides/notesSlide5.xml" Id="R56f05a2121f84c34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6a8c8f0f82246b9" /><Relationship Type="http://schemas.openxmlformats.org/officeDocument/2006/relationships/notesSlide" Target="/ppt/notesSlides/notesSlide6.xml" Id="Rdd94e3584d5942df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ef4c7a5f5ec4549" /><Relationship Type="http://schemas.openxmlformats.org/officeDocument/2006/relationships/notesSlide" Target="/ppt/notesSlides/notesSlide7.xml" Id="R2ce259e68d344a75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1e6d606932d422c" /><Relationship Type="http://schemas.openxmlformats.org/officeDocument/2006/relationships/notesSlide" Target="/ppt/notesSlides/notesSlide8.xml" Id="R70c16e7ba1c443c0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e2fc79803f343a2" /><Relationship Type="http://schemas.openxmlformats.org/officeDocument/2006/relationships/notesSlide" Target="/ppt/notesSlides/notesSlide9.xml" Id="R990eaeed80464a55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d92a8d66e6d4045" /><Relationship Type="http://schemas.openxmlformats.org/officeDocument/2006/relationships/notesSlide" Target="/ppt/notesSlides/notesSlide10.xml" Id="Rb0a23008154744a8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042549054314dce" /><Relationship Type="http://schemas.openxmlformats.org/officeDocument/2006/relationships/notesSlide" Target="/ppt/notesSlides/notesSlide11.xml" Id="Rfd31c64f096041ae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3e05d7b712441fd" /><Relationship Type="http://schemas.openxmlformats.org/officeDocument/2006/relationships/notesSlide" Target="/ppt/notesSlides/notesSlide12.xml" Id="R575b72581f79483f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91e14d850214022" /><Relationship Type="http://schemas.openxmlformats.org/officeDocument/2006/relationships/notesSlide" Target="/ppt/notesSlides/notesSlide13.xml" Id="R08e10e1510024219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Relationship Id="rId4" Type="http://schemas.openxmlformats.org/officeDocument/2006/relationships/slide" Target="slide15.xml" /><Relationship Id="rId5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0637d763e76420c" /><Relationship Type="http://schemas.openxmlformats.org/officeDocument/2006/relationships/notesSlide" Target="/ppt/notesSlides/notesSlide14.xml" Id="R6573efe02e8a430d" /><Relationship Id="rId1" Type="http://schemas.openxmlformats.org/officeDocument/2006/relationships/slide" Target="slide13.xml" /><Relationship Id="rId2" Type="http://schemas.openxmlformats.org/officeDocument/2006/relationships/slide" Target="slide2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0d4fecbf0fa459b" /><Relationship Type="http://schemas.openxmlformats.org/officeDocument/2006/relationships/notesSlide" Target="/ppt/notesSlides/notesSlide15.xml" Id="R3361c089005f4dd1" /><Relationship Id="rId1" Type="http://schemas.openxmlformats.org/officeDocument/2006/relationships/slide" Target="slide16.xml" /><Relationship Id="rId2" Type="http://schemas.openxmlformats.org/officeDocument/2006/relationships/slide" Target="slide2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9d2470baed64cc6" /><Relationship Type="http://schemas.openxmlformats.org/officeDocument/2006/relationships/notesSlide" Target="/ppt/notesSlides/notesSlide16.xml" Id="Ra838bcd151804210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low-one">
            <a:extLst xmlns:a="http://schemas.openxmlformats.org/drawingml/2006/main">
              <a:ext uri="{FF2B5EF4-FFF2-40B4-BE49-F238E27FC236}">
                <a16:creationId xmlns:a16="http://schemas.microsoft.com/office/drawing/2014/main" id="{821C1CC0-5A62-47DA-8F9C-D5C53554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low-two">
            <a:extLst xmlns:a="http://schemas.openxmlformats.org/drawingml/2006/main">
              <a:ext uri="{FF2B5EF4-FFF2-40B4-BE49-F238E27FC236}">
                <a16:creationId xmlns:a16="http://schemas.microsoft.com/office/drawing/2014/main" id="{4C3F04F4-0793-4844-9D6C-91240A3F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DDEB6AA1-407A-4F5A-B89B-2ED5E863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RESEARCH • TASK 01</a:t>
            </a:r>
          </a:p>
        </p:txBody>
      </p:sp>
      <p:sp>
        <p:nvSpPr>
          <p:cNvPr id="4" name="txt-0.5407644453845825">
            <a:extLst xmlns:a="http://schemas.openxmlformats.org/drawingml/2006/main">
              <a:ext uri="{FF2B5EF4-FFF2-40B4-BE49-F238E27FC236}">
                <a16:creationId xmlns:a16="http://schemas.microsoft.com/office/drawing/2014/main" id="{178DF9AA-B639-4FB3-893A-7DC594F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666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How Code</a:t>
            </a:r>
          </a:p>
          <a:p xmlns:a="http://schemas.openxmlformats.org/drawingml/2006/main">
            <a:pPr algn="l">
              <a:defRPr sz="49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Becomes Behavior</a:t>
            </a:r>
          </a:p>
        </p:txBody>
      </p:sp>
      <p:sp>
        <p:nvSpPr>
          <p:cNvPr id="5" name="txt-0.9811814002407646">
            <a:extLst xmlns:a="http://schemas.openxmlformats.org/drawingml/2006/main">
              <a:ext uri="{FF2B5EF4-FFF2-40B4-BE49-F238E27FC236}">
                <a16:creationId xmlns:a16="http://schemas.microsoft.com/office/drawing/2014/main" id="{0C42620B-07D3-4B52-83C2-7C3F122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Five dimensions. One engineering mindset.</a:t>
            </a:r>
          </a:p>
        </p:txBody>
      </p:sp>
      <p:sp>
        <p:nvSpPr>
          <p:cNvPr id="6" name="txt-0.23470917964894267">
            <a:extLst xmlns:a="http://schemas.openxmlformats.org/drawingml/2006/main">
              <a:ext uri="{FF2B5EF4-FFF2-40B4-BE49-F238E27FC236}">
                <a16:creationId xmlns:a16="http://schemas.microsoft.com/office/drawing/2014/main" id="{83EFFF43-E975-423D-9F10-FFE74B51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Explore abstraction, execution, purpose, licensing, and paradigms through a clickable PowerPoint experience.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9f0afeb114772"/>
          <a:stretch xmlns:a="http://schemas.openxmlformats.org/drawingml/2006/main"/>
        </p:blipFill>
        <p:spPr>
          <a:xfrm xmlns:a="http://schemas.openxmlformats.org/drawingml/2006/main">
            <a:off x="8239125" y="1242853"/>
            <a:ext cx="2428875" cy="2943544"/>
          </a:xfrm>
          <a:prstGeom xmlns:a="http://schemas.openxmlformats.org/drawingml/2006/main" prst="rect">
            <a:avLst/>
          </a:prstGeom>
        </p:spPr>
      </p:pic>
      <p:sp>
        <p:nvSpPr>
          <p:cNvPr id="8" name="start">
            <a:extLst xmlns:a="http://schemas.openxmlformats.org/drawingml/2006/main">
              <a:ext uri="{FF2B5EF4-FFF2-40B4-BE49-F238E27FC236}">
                <a16:creationId xmlns:a16="http://schemas.microsoft.com/office/drawing/2014/main" id="{458FF22A-F1EF-4618-9968-ECE9506BE5B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EXPLORING  →</a:t>
            </a:r>
          </a:p>
        </p:txBody>
      </p:sp>
      <p:sp>
        <p:nvSpPr>
          <p:cNvPr id="9" name="txt-0.46734424708289257">
            <a:extLst xmlns:a="http://schemas.openxmlformats.org/drawingml/2006/main">
              <a:ext uri="{FF2B5EF4-FFF2-40B4-BE49-F238E27FC236}">
                <a16:creationId xmlns:a16="http://schemas.microsoft.com/office/drawing/2014/main" id="{F35DB5DE-39B1-4E68-9003-06609F03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AI Diploma • Session 01</a:t>
            </a:r>
          </a:p>
        </p:txBody>
      </p:sp>
    </p:spTree>
    <p:extLst>
      <p:ext uri="{BB962C8B-B14F-4D97-AF65-F5344CB8AC3E}">
        <p14:creationId xmlns:p14="http://schemas.microsoft.com/office/powerpoint/2010/main" val="721303975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5881EE17-FB0A-4FF2-A37D-BEA2EEF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INTERACTIVE MAP</a:t>
            </a:r>
          </a:p>
        </p:txBody>
      </p:sp>
      <p:sp>
        <p:nvSpPr>
          <p:cNvPr id="2" name="txt-0.338729728365882">
            <a:extLst xmlns:a="http://schemas.openxmlformats.org/drawingml/2006/main">
              <a:ext uri="{FF2B5EF4-FFF2-40B4-BE49-F238E27FC236}">
                <a16:creationId xmlns:a16="http://schemas.microsoft.com/office/drawing/2014/main" id="{9B96CD1A-CA42-40AF-BDAD-0E33E399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Choose a dimension to explore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C5395AE-4E62-41D3-BE46-44C43110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01769192325697777">
            <a:extLst xmlns:a="http://schemas.openxmlformats.org/drawingml/2006/main">
              <a:ext uri="{FF2B5EF4-FFF2-40B4-BE49-F238E27FC236}">
                <a16:creationId xmlns:a16="http://schemas.microsoft.com/office/drawing/2014/main" id="{47F70A6A-9B6B-449F-97D2-A4C38E97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xt-0.4542013585872531">
            <a:extLst xmlns:a="http://schemas.openxmlformats.org/drawingml/2006/main">
              <a:ext uri="{FF2B5EF4-FFF2-40B4-BE49-F238E27FC236}">
                <a16:creationId xmlns:a16="http://schemas.microsoft.com/office/drawing/2014/main" id="{6E901B9C-6845-4F77-B89A-357C0ED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Each choice answers a different engineering question. Click any tile.</a:t>
            </a:r>
          </a:p>
        </p:txBody>
      </p:sp>
      <p:sp>
        <p:nvSpPr>
          <p:cNvPr id="6" name="menu-abstraction">
            <a:extLst xmlns:a="http://schemas.openxmlformats.org/drawingml/2006/main">
              <a:ext uri="{FF2B5EF4-FFF2-40B4-BE49-F238E27FC236}">
                <a16:creationId xmlns:a16="http://schemas.microsoft.com/office/drawing/2014/main" id="{B5799C8E-75E2-4C92-A6A3-7C6D2867315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ABSTRACTION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How far from hardware?</a:t>
            </a:r>
          </a:p>
        </p:txBody>
      </p:sp>
      <p:sp>
        <p:nvSpPr>
          <p:cNvPr id="7" name="tile-top">
            <a:extLst xmlns:a="http://schemas.openxmlformats.org/drawingml/2006/main">
              <a:ext uri="{FF2B5EF4-FFF2-40B4-BE49-F238E27FC236}">
                <a16:creationId xmlns:a16="http://schemas.microsoft.com/office/drawing/2014/main" id="{288242FF-0729-479B-A399-4471D98D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8" name="menu-execution">
            <a:extLst xmlns:a="http://schemas.openxmlformats.org/drawingml/2006/main">
              <a:ext uri="{FF2B5EF4-FFF2-40B4-BE49-F238E27FC236}">
                <a16:creationId xmlns:a16="http://schemas.microsoft.com/office/drawing/2014/main" id="{39ABEE60-6907-4E86-B973-0CAB1997AFC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38400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When is code translated?</a:t>
            </a:r>
          </a:p>
        </p:txBody>
      </p:sp>
      <p:sp>
        <p:nvSpPr>
          <p:cNvPr id="9" name="tile-top">
            <a:extLst xmlns:a="http://schemas.openxmlformats.org/drawingml/2006/main">
              <a:ext uri="{FF2B5EF4-FFF2-40B4-BE49-F238E27FC236}">
                <a16:creationId xmlns:a16="http://schemas.microsoft.com/office/drawing/2014/main" id="{F8CBA18D-9A35-4C8B-AB2B-54614612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38400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menu-purpose">
            <a:extLst xmlns:a="http://schemas.openxmlformats.org/drawingml/2006/main">
              <a:ext uri="{FF2B5EF4-FFF2-40B4-BE49-F238E27FC236}">
                <a16:creationId xmlns:a16="http://schemas.microsoft.com/office/drawing/2014/main" id="{68C723F5-9EEC-44CD-ABC3-E69C56F7696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38400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PURPOSE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Script or application?</a:t>
            </a:r>
          </a:p>
        </p:txBody>
      </p:sp>
      <p:sp>
        <p:nvSpPr>
          <p:cNvPr id="11" name="tile-top">
            <a:extLst xmlns:a="http://schemas.openxmlformats.org/drawingml/2006/main">
              <a:ext uri="{FF2B5EF4-FFF2-40B4-BE49-F238E27FC236}">
                <a16:creationId xmlns:a16="http://schemas.microsoft.com/office/drawing/2014/main" id="{39997B9C-975B-481E-8EF0-33D89B8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38400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2" name="menu-license">
            <a:extLst xmlns:a="http://schemas.openxmlformats.org/drawingml/2006/main">
              <a:ext uri="{FF2B5EF4-FFF2-40B4-BE49-F238E27FC236}">
                <a16:creationId xmlns:a16="http://schemas.microsoft.com/office/drawing/2014/main" id="{D1FDECE2-074F-45EC-A8A7-BDDE7B5A515F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38400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LICENSING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What rights are granted?</a:t>
            </a:r>
          </a:p>
        </p:txBody>
      </p:sp>
      <p:sp>
        <p:nvSpPr>
          <p:cNvPr id="13" name="tile-top">
            <a:extLst xmlns:a="http://schemas.openxmlformats.org/drawingml/2006/main">
              <a:ext uri="{FF2B5EF4-FFF2-40B4-BE49-F238E27FC236}">
                <a16:creationId xmlns:a16="http://schemas.microsoft.com/office/drawing/2014/main" id="{AC2A992F-1677-41C0-BFFD-2D6D858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38400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4" name="menu-paradigm">
            <a:extLst xmlns:a="http://schemas.openxmlformats.org/drawingml/2006/main">
              <a:ext uri="{FF2B5EF4-FFF2-40B4-BE49-F238E27FC236}">
                <a16:creationId xmlns:a16="http://schemas.microsoft.com/office/drawing/2014/main" id="{F58DC9AD-2BFE-4368-8A05-82570A797222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05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PARADIGM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Objects or procedures?</a:t>
            </a:r>
          </a:p>
        </p:txBody>
      </p:sp>
      <p:sp>
        <p:nvSpPr>
          <p:cNvPr id="15" name="tile-top">
            <a:extLst xmlns:a="http://schemas.openxmlformats.org/drawingml/2006/main">
              <a:ext uri="{FF2B5EF4-FFF2-40B4-BE49-F238E27FC236}">
                <a16:creationId xmlns:a16="http://schemas.microsoft.com/office/drawing/2014/main" id="{3865C892-DD1B-467D-86C9-06B5782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6" name="menu-quiz">
            <a:extLst xmlns:a="http://schemas.openxmlformats.org/drawingml/2006/main">
              <a:ext uri="{FF2B5EF4-FFF2-40B4-BE49-F238E27FC236}">
                <a16:creationId xmlns:a16="http://schemas.microsoft.com/office/drawing/2014/main" id="{04900B38-60E4-4D38-BB3A-11CD8786F79F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467350"/>
            <a:ext cx="29432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TAKE THE CHALLENGE  →</a:t>
            </a:r>
          </a:p>
        </p:txBody>
      </p:sp>
    </p:spTree>
    <p:extLst>
      <p:ext uri="{BB962C8B-B14F-4D97-AF65-F5344CB8AC3E}">
        <p14:creationId xmlns:p14="http://schemas.microsoft.com/office/powerpoint/2010/main" val="1693078145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0D33F1E3-FCC9-4B1D-BB00-48CD486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DIMENSION 01 • ABSTRACTION</a:t>
            </a:r>
          </a:p>
        </p:txBody>
      </p:sp>
      <p:sp>
        <p:nvSpPr>
          <p:cNvPr id="2" name="txt-0.23735585787255442">
            <a:extLst xmlns:a="http://schemas.openxmlformats.org/drawingml/2006/main">
              <a:ext uri="{FF2B5EF4-FFF2-40B4-BE49-F238E27FC236}">
                <a16:creationId xmlns:a16="http://schemas.microsoft.com/office/drawing/2014/main" id="{C975D182-48D1-4708-BB7C-1DCE86CB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Abstraction changes what the programmer must manage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92E8B30-8155-423F-BE24-6732CBEA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4059750047210553">
            <a:extLst xmlns:a="http://schemas.openxmlformats.org/drawingml/2006/main">
              <a:ext uri="{FF2B5EF4-FFF2-40B4-BE49-F238E27FC236}">
                <a16:creationId xmlns:a16="http://schemas.microsoft.com/office/drawing/2014/main" id="{F83C0BD4-8168-420F-AC5D-7D44511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38557304-51C0-4D13-BDD1-B960C8B7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6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C45B34B-553C-42CE-8FB2-87A85865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08FB9654-C875-4D16-A1B4-9786DC81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09750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DD629F22-F912-4811-9053-23DBD1B6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097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txt-0.20871429809040942">
            <a:extLst xmlns:a="http://schemas.openxmlformats.org/drawingml/2006/main">
              <a:ext uri="{FF2B5EF4-FFF2-40B4-BE49-F238E27FC236}">
                <a16:creationId xmlns:a16="http://schemas.microsoft.com/office/drawing/2014/main" id="{0B21EEB4-2385-4606-AC0E-CB99B59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LOW-LEVEL</a:t>
            </a:r>
          </a:p>
        </p:txBody>
      </p:sp>
      <p:sp>
        <p:nvSpPr>
          <p:cNvPr id="10" name="txt-0.1715163557889896">
            <a:extLst xmlns:a="http://schemas.openxmlformats.org/drawingml/2006/main">
              <a:ext uri="{FF2B5EF4-FFF2-40B4-BE49-F238E27FC236}">
                <a16:creationId xmlns:a16="http://schemas.microsoft.com/office/drawing/2014/main" id="{63D171A4-2D4D-490D-8ECC-00949DB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Exposes architecture details such as instructions, registers, and memory. It offers control—but demands precision.</a:t>
            </a:r>
          </a:p>
        </p:txBody>
      </p:sp>
      <p:sp>
        <p:nvSpPr>
          <p:cNvPr id="11" name="txt-0.5775343838021633">
            <a:extLst xmlns:a="http://schemas.openxmlformats.org/drawingml/2006/main">
              <a:ext uri="{FF2B5EF4-FFF2-40B4-BE49-F238E27FC236}">
                <a16:creationId xmlns:a16="http://schemas.microsoft.com/office/drawing/2014/main" id="{5937D90C-831F-412A-973B-2413846B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764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HIGH-LEVEL</a:t>
            </a:r>
          </a:p>
        </p:txBody>
      </p:sp>
      <p:sp>
        <p:nvSpPr>
          <p:cNvPr id="12" name="txt-0.7019901692841006">
            <a:extLst xmlns:a="http://schemas.openxmlformats.org/drawingml/2006/main">
              <a:ext uri="{FF2B5EF4-FFF2-40B4-BE49-F238E27FC236}">
                <a16:creationId xmlns:a16="http://schemas.microsoft.com/office/drawing/2014/main" id="{6A409506-E076-4CAF-B6EF-416A5169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52700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Hides many machine details behind readable abstractions. It offers leverage—but delegates more decisions to tools and runtimes.</a:t>
            </a:r>
          </a:p>
        </p:txBody>
      </p:sp>
      <p:sp>
        <p:nvSpPr>
          <p:cNvPr id="13" name="txt-0.9854441667497251">
            <a:extLst xmlns:a="http://schemas.openxmlformats.org/drawingml/2006/main">
              <a:ext uri="{FF2B5EF4-FFF2-40B4-BE49-F238E27FC236}">
                <a16:creationId xmlns:a16="http://schemas.microsoft.com/office/drawing/2014/main" id="{2243F9A5-201B-4597-8357-2FCD136F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Neither end is universally better.</a:t>
            </a:r>
          </a:p>
        </p:txBody>
      </p:sp>
      <p:sp>
        <p:nvSpPr>
          <p:cNvPr id="14" name="txt-0.280516270658131">
            <a:extLst xmlns:a="http://schemas.openxmlformats.org/drawingml/2006/main">
              <a:ext uri="{FF2B5EF4-FFF2-40B4-BE49-F238E27FC236}">
                <a16:creationId xmlns:a16="http://schemas.microsoft.com/office/drawing/2014/main" id="{56944861-198E-4823-B6DF-359E71C5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Choose the level that matches the control, portability, and delivery speed you need.</a:t>
            </a:r>
          </a:p>
        </p:txBody>
      </p:sp>
      <p:sp>
        <p:nvSpPr>
          <p:cNvPr id="15" name="control-stat">
            <a:extLst xmlns:a="http://schemas.openxmlformats.org/drawingml/2006/main">
              <a:ext uri="{FF2B5EF4-FFF2-40B4-BE49-F238E27FC236}">
                <a16:creationId xmlns:a16="http://schemas.microsoft.com/office/drawing/2014/main" id="{95472F2E-223A-41E4-8522-89B33A4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6" name="txt-0.7963458822722806">
            <a:extLst xmlns:a="http://schemas.openxmlformats.org/drawingml/2006/main">
              <a:ext uri="{FF2B5EF4-FFF2-40B4-BE49-F238E27FC236}">
                <a16:creationId xmlns:a16="http://schemas.microsoft.com/office/drawing/2014/main" id="{DC75A1E5-6884-49CC-B798-461C51A0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MORE CONTROL</a:t>
            </a:r>
          </a:p>
        </p:txBody>
      </p:sp>
      <p:sp>
        <p:nvSpPr>
          <p:cNvPr id="17" name="txt-0.5493344071798048">
            <a:extLst xmlns:a="http://schemas.openxmlformats.org/drawingml/2006/main">
              <a:ext uri="{FF2B5EF4-FFF2-40B4-BE49-F238E27FC236}">
                <a16:creationId xmlns:a16="http://schemas.microsoft.com/office/drawing/2014/main" id="{833953DB-0979-4971-BCCE-5FDE7BF5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Assembly /</a:t>
            </a:r>
          </a:p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systems code</a:t>
            </a:r>
          </a:p>
        </p:txBody>
      </p:sp>
      <p:sp>
        <p:nvSpPr>
          <p:cNvPr id="18" name="leverage-stat">
            <a:extLst xmlns:a="http://schemas.openxmlformats.org/drawingml/2006/main">
              <a:ext uri="{FF2B5EF4-FFF2-40B4-BE49-F238E27FC236}">
                <a16:creationId xmlns:a16="http://schemas.microsoft.com/office/drawing/2014/main" id="{7AE62C84-6A76-49F2-AF04-DF922032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00550"/>
            <a:ext cx="1885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9" name="txt-0.6474953753606678">
            <a:extLst xmlns:a="http://schemas.openxmlformats.org/drawingml/2006/main">
              <a:ext uri="{FF2B5EF4-FFF2-40B4-BE49-F238E27FC236}">
                <a16:creationId xmlns:a16="http://schemas.microsoft.com/office/drawing/2014/main" id="{D73667BB-A60E-481F-ACC4-74D6B084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291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MORE LEVERAGE</a:t>
            </a:r>
          </a:p>
        </p:txBody>
      </p:sp>
      <p:sp>
        <p:nvSpPr>
          <p:cNvPr id="20" name="txt-0.21994269694063096">
            <a:extLst xmlns:a="http://schemas.openxmlformats.org/drawingml/2006/main">
              <a:ext uri="{FF2B5EF4-FFF2-40B4-BE49-F238E27FC236}">
                <a16:creationId xmlns:a16="http://schemas.microsoft.com/office/drawing/2014/main" id="{B44C8B38-5B2C-4FE6-9DA2-13A96AF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720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Python / managed</a:t>
            </a:r>
          </a:p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1" name="nav-home">
            <a:extLst xmlns:a="http://schemas.openxmlformats.org/drawingml/2006/main">
              <a:ext uri="{FF2B5EF4-FFF2-40B4-BE49-F238E27FC236}">
                <a16:creationId xmlns:a16="http://schemas.microsoft.com/office/drawing/2014/main" id="{4BDB8A05-5FA8-4AEF-B67E-A11C46B84AE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4FD6CEFD-33A6-4EAC-8383-89CA719B95A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998641415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ill">
            <a:extLst xmlns:a="http://schemas.openxmlformats.org/drawingml/2006/main">
              <a:ext uri="{FF2B5EF4-FFF2-40B4-BE49-F238E27FC236}">
                <a16:creationId xmlns:a16="http://schemas.microsoft.com/office/drawing/2014/main" id="{45F891DA-933B-4AD3-B1A2-C1F5C95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ABSTRACTION • EXAMPLE</a:t>
            </a:r>
          </a:p>
        </p:txBody>
      </p:sp>
      <p:sp>
        <p:nvSpPr>
          <p:cNvPr id="2" name="txt-0.20504672983489514">
            <a:extLst xmlns:a="http://schemas.openxmlformats.org/drawingml/2006/main">
              <a:ext uri="{FF2B5EF4-FFF2-40B4-BE49-F238E27FC236}">
                <a16:creationId xmlns:a16="http://schemas.microsoft.com/office/drawing/2014/main" id="{62015269-AB1D-48AC-A6F8-717CAC0D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One intent can appear at several abstraction levels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DBF9D4E-18FB-4DEC-BFDB-3A738FA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3641508547946529">
            <a:extLst xmlns:a="http://schemas.openxmlformats.org/drawingml/2006/main">
              <a:ext uri="{FF2B5EF4-FFF2-40B4-BE49-F238E27FC236}">
                <a16:creationId xmlns:a16="http://schemas.microsoft.com/office/drawing/2014/main" id="{5B16789F-D022-4E38-BBDB-B2D2E5F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F1F24DDE-9304-491C-AE84-BA9FAAC6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33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FFF861F0-A7FB-4760-B0C5-4A89044B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txt-0.6298852898272708">
            <a:extLst xmlns:a="http://schemas.openxmlformats.org/drawingml/2006/main">
              <a:ext uri="{FF2B5EF4-FFF2-40B4-BE49-F238E27FC236}">
                <a16:creationId xmlns:a16="http://schemas.microsoft.com/office/drawing/2014/main" id="{565B4A0B-D733-41FF-814C-0FEA4FA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2819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total = price * quantity</a:t>
            </a:r>
          </a:p>
        </p:txBody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E9C48110-3EA8-48AA-8116-A4314E87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897952E2-10C7-4577-B555-E720BD51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txt-0.031488055580125796">
            <a:extLst xmlns:a="http://schemas.openxmlformats.org/drawingml/2006/main">
              <a:ext uri="{FF2B5EF4-FFF2-40B4-BE49-F238E27FC236}">
                <a16:creationId xmlns:a16="http://schemas.microsoft.com/office/drawing/2014/main" id="{6019AEEA-2B93-4F28-970E-1ED15960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81225"/>
            <a:ext cx="2819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imul eax, ebx</a:t>
            </a:r>
          </a:p>
        </p:txBody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DCEA67C1-CE80-455B-837C-4EAB31D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333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316557E7-8B63-4F84-B04D-D73F87AF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3" name="txt-0.984550634989137">
            <a:extLst xmlns:a="http://schemas.openxmlformats.org/drawingml/2006/main">
              <a:ext uri="{FF2B5EF4-FFF2-40B4-BE49-F238E27FC236}">
                <a16:creationId xmlns:a16="http://schemas.microsoft.com/office/drawing/2014/main" id="{4A0908EF-4DFB-4DA6-9D1C-20E5FA9E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81225"/>
            <a:ext cx="2819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0000 1111 1010 1100</a:t>
            </a:r>
          </a:p>
        </p:txBody>
      </p:sp>
      <p:sp>
        <p:nvSpPr>
          <p:cNvPr id="14" name="txt-0.250817978845547">
            <a:extLst xmlns:a="http://schemas.openxmlformats.org/drawingml/2006/main">
              <a:ext uri="{FF2B5EF4-FFF2-40B4-BE49-F238E27FC236}">
                <a16:creationId xmlns:a16="http://schemas.microsoft.com/office/drawing/2014/main" id="{AF3B4C3A-D61E-45A2-A12D-D2D7A704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PYTHON-LIKE</a:t>
            </a:r>
          </a:p>
        </p:txBody>
      </p:sp>
      <p:sp>
        <p:nvSpPr>
          <p:cNvPr id="15" name="txt-0.3934418971309447">
            <a:extLst xmlns:a="http://schemas.openxmlformats.org/drawingml/2006/main">
              <a:ext uri="{FF2B5EF4-FFF2-40B4-BE49-F238E27FC236}">
                <a16:creationId xmlns:a16="http://schemas.microsoft.com/office/drawing/2014/main" id="{493A7CC8-45C8-43A6-9C60-4CCA153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Readable intent</a:t>
            </a:r>
          </a:p>
        </p:txBody>
      </p:sp>
      <p:sp>
        <p:nvSpPr>
          <p:cNvPr id="16" name="txt-0.18804586896809405">
            <a:extLst xmlns:a="http://schemas.openxmlformats.org/drawingml/2006/main">
              <a:ext uri="{FF2B5EF4-FFF2-40B4-BE49-F238E27FC236}">
                <a16:creationId xmlns:a16="http://schemas.microsoft.com/office/drawing/2014/main" id="{10E27440-6AC4-4D5E-A408-A5554835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ASSEMBLY</a:t>
            </a:r>
          </a:p>
        </p:txBody>
      </p:sp>
      <p:sp>
        <p:nvSpPr>
          <p:cNvPr id="17" name="txt-0.5593405792815703">
            <a:extLst xmlns:a="http://schemas.openxmlformats.org/drawingml/2006/main">
              <a:ext uri="{FF2B5EF4-FFF2-40B4-BE49-F238E27FC236}">
                <a16:creationId xmlns:a16="http://schemas.microsoft.com/office/drawing/2014/main" id="{7FEAD22C-25B4-4D73-A2C9-B75817C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24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CPU instruction</a:t>
            </a:r>
          </a:p>
        </p:txBody>
      </p:sp>
      <p:sp>
        <p:nvSpPr>
          <p:cNvPr id="18" name="txt-0.31493245789171387">
            <a:extLst xmlns:a="http://schemas.openxmlformats.org/drawingml/2006/main">
              <a:ext uri="{FF2B5EF4-FFF2-40B4-BE49-F238E27FC236}">
                <a16:creationId xmlns:a16="http://schemas.microsoft.com/office/drawing/2014/main" id="{6FA51EE3-9BF7-44DA-88AD-D5E1A0ED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71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9" name="txt-0.15272092480018062">
            <a:extLst xmlns:a="http://schemas.openxmlformats.org/drawingml/2006/main">
              <a:ext uri="{FF2B5EF4-FFF2-40B4-BE49-F238E27FC236}">
                <a16:creationId xmlns:a16="http://schemas.microsoft.com/office/drawing/2014/main" id="{7E640408-E0C4-4119-8BBD-BE07A05F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Encoded bits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6E23FA0B-1526-4295-9B76-B8D2BEE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1" name="txt-0.664795621167161">
            <a:extLst xmlns:a="http://schemas.openxmlformats.org/drawingml/2006/main">
              <a:ext uri="{FF2B5EF4-FFF2-40B4-BE49-F238E27FC236}">
                <a16:creationId xmlns:a16="http://schemas.microsoft.com/office/drawing/2014/main" id="{9A0C5CD0-47C4-4C53-9DA0-8154E697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 is often called lower-level than Python—yet both are high-level compared with assembly.</a:t>
            </a:r>
          </a:p>
        </p:txBody>
      </p:sp>
      <p:sp>
        <p:nvSpPr>
          <p:cNvPr id="22" name="nav-home">
            <a:extLst xmlns:a="http://schemas.openxmlformats.org/drawingml/2006/main">
              <a:ext uri="{FF2B5EF4-FFF2-40B4-BE49-F238E27FC236}">
                <a16:creationId xmlns:a16="http://schemas.microsoft.com/office/drawing/2014/main" id="{CAD544C2-4C70-4733-88DC-FAC6B1E0EDB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3" name="nav-back">
            <a:extLst xmlns:a="http://schemas.openxmlformats.org/drawingml/2006/main">
              <a:ext uri="{FF2B5EF4-FFF2-40B4-BE49-F238E27FC236}">
                <a16:creationId xmlns:a16="http://schemas.microsoft.com/office/drawing/2014/main" id="{0BEB798D-1F6B-4877-B340-EB612E94D1A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4" name="nav-next">
            <a:extLst xmlns:a="http://schemas.openxmlformats.org/drawingml/2006/main">
              <a:ext uri="{FF2B5EF4-FFF2-40B4-BE49-F238E27FC236}">
                <a16:creationId xmlns:a16="http://schemas.microsoft.com/office/drawing/2014/main" id="{37A5B0D1-7181-4D79-A5A9-389E324E314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470853682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ill">
            <a:extLst xmlns:a="http://schemas.openxmlformats.org/drawingml/2006/main">
              <a:ext uri="{FF2B5EF4-FFF2-40B4-BE49-F238E27FC236}">
                <a16:creationId xmlns:a16="http://schemas.microsoft.com/office/drawing/2014/main" id="{6508F18A-55F9-4447-B952-EEA115B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DIMENSION 02 • EXECUTION</a:t>
            </a:r>
          </a:p>
        </p:txBody>
      </p:sp>
      <p:sp>
        <p:nvSpPr>
          <p:cNvPr id="2" name="txt-0.8817442187635373">
            <a:extLst xmlns:a="http://schemas.openxmlformats.org/drawingml/2006/main">
              <a:ext uri="{FF2B5EF4-FFF2-40B4-BE49-F238E27FC236}">
                <a16:creationId xmlns:a16="http://schemas.microsoft.com/office/drawing/2014/main" id="{CE4B5F5E-3300-4C04-A1A3-A286D8E9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Compiled and interpreted are strategies—not identities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86B5138-4682-40D6-9A1B-F7B9C5E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4266562892773168">
            <a:extLst xmlns:a="http://schemas.openxmlformats.org/drawingml/2006/main">
              <a:ext uri="{FF2B5EF4-FFF2-40B4-BE49-F238E27FC236}">
                <a16:creationId xmlns:a16="http://schemas.microsoft.com/office/drawing/2014/main" id="{9D196757-DF90-4E19-BBDE-24EE72A5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xt-0.17703695680149123">
            <a:extLst xmlns:a="http://schemas.openxmlformats.org/drawingml/2006/main">
              <a:ext uri="{FF2B5EF4-FFF2-40B4-BE49-F238E27FC236}">
                <a16:creationId xmlns:a16="http://schemas.microsoft.com/office/drawing/2014/main" id="{2041C1B2-65CA-417C-B6C3-BA397248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The language label alone cannot tell you the whole execution path.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30A91FD-917C-4A08-B8F4-13F51E9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7" name="stage-dot">
            <a:extLst xmlns:a="http://schemas.openxmlformats.org/drawingml/2006/main">
              <a:ext uri="{FF2B5EF4-FFF2-40B4-BE49-F238E27FC236}">
                <a16:creationId xmlns:a16="http://schemas.microsoft.com/office/drawing/2014/main" id="{AACEF62C-27E7-4AD3-9B56-41AD0BC5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xt-0.22029822694870804">
            <a:extLst xmlns:a="http://schemas.openxmlformats.org/drawingml/2006/main">
              <a:ext uri="{FF2B5EF4-FFF2-40B4-BE49-F238E27FC236}">
                <a16:creationId xmlns:a16="http://schemas.microsoft.com/office/drawing/2014/main" id="{FF208E96-813A-4091-8455-D43F33F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52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txt-0.9970358507899486">
            <a:extLst xmlns:a="http://schemas.openxmlformats.org/drawingml/2006/main">
              <a:ext uri="{FF2B5EF4-FFF2-40B4-BE49-F238E27FC236}">
                <a16:creationId xmlns:a16="http://schemas.microsoft.com/office/drawing/2014/main" id="{7D48CCE4-25C6-4CC2-9867-3BB7224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Human-readable</a:t>
            </a:r>
          </a:p>
        </p:txBody>
      </p:sp>
      <p:sp>
        <p:nvSpPr>
          <p:cNvPr id="10" name="stage-dot">
            <a:extLst xmlns:a="http://schemas.openxmlformats.org/drawingml/2006/main">
              <a:ext uri="{FF2B5EF4-FFF2-40B4-BE49-F238E27FC236}">
                <a16:creationId xmlns:a16="http://schemas.microsoft.com/office/drawing/2014/main" id="{52D896C5-B3F6-413B-838D-D218A21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xt-0.31498320027109794">
            <a:extLst xmlns:a="http://schemas.openxmlformats.org/drawingml/2006/main">
              <a:ext uri="{FF2B5EF4-FFF2-40B4-BE49-F238E27FC236}">
                <a16:creationId xmlns:a16="http://schemas.microsoft.com/office/drawing/2014/main" id="{667C5956-8D56-4EB5-95C3-9E45965E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AOT COMPILE</a:t>
            </a:r>
          </a:p>
        </p:txBody>
      </p:sp>
      <p:sp>
        <p:nvSpPr>
          <p:cNvPr id="12" name="txt-0.3289389590099804">
            <a:extLst xmlns:a="http://schemas.openxmlformats.org/drawingml/2006/main">
              <a:ext uri="{FF2B5EF4-FFF2-40B4-BE49-F238E27FC236}">
                <a16:creationId xmlns:a16="http://schemas.microsoft.com/office/drawing/2014/main" id="{7716B751-B517-47C0-9F0F-84BA66C1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Before runtime</a:t>
            </a:r>
          </a:p>
        </p:txBody>
      </p:sp>
      <p:sp>
        <p:nvSpPr>
          <p:cNvPr id="13" name="stage-dot">
            <a:extLst xmlns:a="http://schemas.openxmlformats.org/drawingml/2006/main">
              <a:ext uri="{FF2B5EF4-FFF2-40B4-BE49-F238E27FC236}">
                <a16:creationId xmlns:a16="http://schemas.microsoft.com/office/drawing/2014/main" id="{3D9DE3CC-7BB6-4CD8-B373-3A6642C2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xt-0.3291315216740581">
            <a:extLst xmlns:a="http://schemas.openxmlformats.org/drawingml/2006/main">
              <a:ext uri="{FF2B5EF4-FFF2-40B4-BE49-F238E27FC236}">
                <a16:creationId xmlns:a16="http://schemas.microsoft.com/office/drawing/2014/main" id="{D8DB7D4A-0319-45FB-B1C5-B8DA4663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BYTECODE / IR</a:t>
            </a:r>
          </a:p>
        </p:txBody>
      </p:sp>
      <p:sp>
        <p:nvSpPr>
          <p:cNvPr id="15" name="txt-0.6007709026903163">
            <a:extLst xmlns:a="http://schemas.openxmlformats.org/drawingml/2006/main">
              <a:ext uri="{FF2B5EF4-FFF2-40B4-BE49-F238E27FC236}">
                <a16:creationId xmlns:a16="http://schemas.microsoft.com/office/drawing/2014/main" id="{07D3B705-947F-496E-AFA6-4AA1EE5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Intermediate form</a:t>
            </a:r>
          </a:p>
        </p:txBody>
      </p:sp>
      <p:sp>
        <p:nvSpPr>
          <p:cNvPr id="16" name="stage-dot">
            <a:extLst xmlns:a="http://schemas.openxmlformats.org/drawingml/2006/main">
              <a:ext uri="{FF2B5EF4-FFF2-40B4-BE49-F238E27FC236}">
                <a16:creationId xmlns:a16="http://schemas.microsoft.com/office/drawing/2014/main" id="{AB8213E6-27CB-41DD-839C-08A328D8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xt-0.9851064913136658">
            <a:extLst xmlns:a="http://schemas.openxmlformats.org/drawingml/2006/main">
              <a:ext uri="{FF2B5EF4-FFF2-40B4-BE49-F238E27FC236}">
                <a16:creationId xmlns:a16="http://schemas.microsoft.com/office/drawing/2014/main" id="{4234A714-8C4C-404B-A5D9-9BAE6516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JIT / INTERPRET</a:t>
            </a:r>
          </a:p>
        </p:txBody>
      </p:sp>
      <p:sp>
        <p:nvSpPr>
          <p:cNvPr id="18" name="txt-0.856865256428768">
            <a:extLst xmlns:a="http://schemas.openxmlformats.org/drawingml/2006/main">
              <a:ext uri="{FF2B5EF4-FFF2-40B4-BE49-F238E27FC236}">
                <a16:creationId xmlns:a16="http://schemas.microsoft.com/office/drawing/2014/main" id="{E978624C-0E7B-4D76-A50D-62450F1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During runtime</a:t>
            </a:r>
          </a:p>
        </p:txBody>
      </p:sp>
      <p:sp>
        <p:nvSpPr>
          <p:cNvPr id="19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86C7E6DF-48A3-46C4-9F95-8F359EF1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0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D7779FA-C007-405C-A171-B4223F2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1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0A3DCCA0-6CF5-492A-B638-8F162159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C7E6E2D1-E858-4B46-BB09-24777EF8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txt-0.6042760302183574">
            <a:extLst xmlns:a="http://schemas.openxmlformats.org/drawingml/2006/main">
              <a:ext uri="{FF2B5EF4-FFF2-40B4-BE49-F238E27FC236}">
                <a16:creationId xmlns:a16="http://schemas.microsoft.com/office/drawing/2014/main" id="{F09431B5-03BD-466D-AD4C-83EC7FA8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AHEAD OF TIME</a:t>
            </a:r>
          </a:p>
        </p:txBody>
      </p:sp>
      <p:sp>
        <p:nvSpPr>
          <p:cNvPr id="24" name="txt-0.329610119361213">
            <a:extLst xmlns:a="http://schemas.openxmlformats.org/drawingml/2006/main">
              <a:ext uri="{FF2B5EF4-FFF2-40B4-BE49-F238E27FC236}">
                <a16:creationId xmlns:a16="http://schemas.microsoft.com/office/drawing/2014/main" id="{1774E2C5-7E8B-4834-8D2B-C5E73871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Translate source before execution. Repeated runs can reuse the native executable.</a:t>
            </a:r>
          </a:p>
        </p:txBody>
      </p:sp>
      <p:sp>
        <p:nvSpPr>
          <p:cNvPr id="25" name="txt-0.6866236185132303">
            <a:extLst xmlns:a="http://schemas.openxmlformats.org/drawingml/2006/main">
              <a:ext uri="{FF2B5EF4-FFF2-40B4-BE49-F238E27FC236}">
                <a16:creationId xmlns:a16="http://schemas.microsoft.com/office/drawing/2014/main" id="{832BA06C-28E9-4FAF-9066-F5A835C2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624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RUNTIME PATH</a:t>
            </a:r>
          </a:p>
        </p:txBody>
      </p:sp>
      <p:sp>
        <p:nvSpPr>
          <p:cNvPr id="26" name="txt-0.3327368118507671">
            <a:extLst xmlns:a="http://schemas.openxmlformats.org/drawingml/2006/main">
              <a:ext uri="{FF2B5EF4-FFF2-40B4-BE49-F238E27FC236}">
                <a16:creationId xmlns:a16="http://schemas.microsoft.com/office/drawing/2014/main" id="{F9C35411-F2E7-4EDF-A2E7-DDFD9705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38700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Execute through a virtual machine; interpretation and JIT compilation may work together.</a:t>
            </a:r>
          </a:p>
        </p:txBody>
      </p:sp>
      <p:sp>
        <p:nvSpPr>
          <p:cNvPr id="27" name="nav-home">
            <a:extLst xmlns:a="http://schemas.openxmlformats.org/drawingml/2006/main">
              <a:ext uri="{FF2B5EF4-FFF2-40B4-BE49-F238E27FC236}">
                <a16:creationId xmlns:a16="http://schemas.microsoft.com/office/drawing/2014/main" id="{4417C195-2B1A-4B28-9B26-1CA9824F7CA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8" name="nav-back">
            <a:extLst xmlns:a="http://schemas.openxmlformats.org/drawingml/2006/main">
              <a:ext uri="{FF2B5EF4-FFF2-40B4-BE49-F238E27FC236}">
                <a16:creationId xmlns:a16="http://schemas.microsoft.com/office/drawing/2014/main" id="{9A85EA0D-31E7-418D-9456-32F50C32290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9" name="nav-next">
            <a:extLst xmlns:a="http://schemas.openxmlformats.org/drawingml/2006/main">
              <a:ext uri="{FF2B5EF4-FFF2-40B4-BE49-F238E27FC236}">
                <a16:creationId xmlns:a16="http://schemas.microsoft.com/office/drawing/2014/main" id="{FF2B19DB-531F-483E-B9B1-099747C6732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745179740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ill">
            <a:extLst xmlns:a="http://schemas.openxmlformats.org/drawingml/2006/main">
              <a:ext uri="{FF2B5EF4-FFF2-40B4-BE49-F238E27FC236}">
                <a16:creationId xmlns:a16="http://schemas.microsoft.com/office/drawing/2014/main" id="{E0CC30DB-C164-441C-B9F5-E7AF9F0D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EXECUTION • CPYTHON</a:t>
            </a:r>
          </a:p>
        </p:txBody>
      </p:sp>
      <p:sp>
        <p:nvSpPr>
          <p:cNvPr id="2" name="txt-0.8612785688763736">
            <a:extLst xmlns:a="http://schemas.openxmlformats.org/drawingml/2006/main">
              <a:ext uri="{FF2B5EF4-FFF2-40B4-BE49-F238E27FC236}">
                <a16:creationId xmlns:a16="http://schemas.microsoft.com/office/drawing/2014/main" id="{6A939A75-76BC-4ADB-BEDB-0ED1F9C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Python breaks the simple compiled/interpreted binary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86ED05C-3415-4BB6-9E1A-1E6055A6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8016907959773675">
            <a:extLst xmlns:a="http://schemas.openxmlformats.org/drawingml/2006/main">
              <a:ext uri="{FF2B5EF4-FFF2-40B4-BE49-F238E27FC236}">
                <a16:creationId xmlns:a16="http://schemas.microsoft.com/office/drawing/2014/main" id="{62960010-2362-4D89-8CA1-CAD0FB27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F36C2BA9-1E58-4119-B6F0-E3AC02B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343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6" name="txt-0.2817827879438899">
            <a:extLst xmlns:a="http://schemas.openxmlformats.org/drawingml/2006/main">
              <a:ext uri="{FF2B5EF4-FFF2-40B4-BE49-F238E27FC236}">
                <a16:creationId xmlns:a16="http://schemas.microsoft.com/office/drawing/2014/main" id="{BB7D1B20-3FBE-4A56-AA64-D9112E93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.py</a:t>
            </a:r>
          </a:p>
        </p:txBody>
      </p:sp>
      <p:sp>
        <p:nvSpPr>
          <p:cNvPr id="7" name="txt-0.11148042677229397">
            <a:extLst xmlns:a="http://schemas.openxmlformats.org/drawingml/2006/main">
              <a:ext uri="{FF2B5EF4-FFF2-40B4-BE49-F238E27FC236}">
                <a16:creationId xmlns:a16="http://schemas.microsoft.com/office/drawing/2014/main" id="{5B77D876-5447-4CEF-895E-BE3ECFA4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8" name="txt-0.692352401829752">
            <a:extLst xmlns:a="http://schemas.openxmlformats.org/drawingml/2006/main">
              <a:ext uri="{FF2B5EF4-FFF2-40B4-BE49-F238E27FC236}">
                <a16:creationId xmlns:a16="http://schemas.microsoft.com/office/drawing/2014/main" id="{082B613E-56FB-480B-8085-DFAA9B48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tage">
            <a:extLst xmlns:a="http://schemas.openxmlformats.org/drawingml/2006/main">
              <a:ext uri="{FF2B5EF4-FFF2-40B4-BE49-F238E27FC236}">
                <a16:creationId xmlns:a16="http://schemas.microsoft.com/office/drawing/2014/main" id="{CA86442D-55C4-460E-8B0F-D298DBA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2343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8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txt-0.07859977784518068">
            <a:extLst xmlns:a="http://schemas.openxmlformats.org/drawingml/2006/main">
              <a:ext uri="{FF2B5EF4-FFF2-40B4-BE49-F238E27FC236}">
                <a16:creationId xmlns:a16="http://schemas.microsoft.com/office/drawing/2014/main" id="{B0A56807-5B73-401B-A785-1B30F547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.pyc</a:t>
            </a:r>
          </a:p>
        </p:txBody>
      </p:sp>
      <p:sp>
        <p:nvSpPr>
          <p:cNvPr id="11" name="txt-0.4291904908571079">
            <a:extLst xmlns:a="http://schemas.openxmlformats.org/drawingml/2006/main">
              <a:ext uri="{FF2B5EF4-FFF2-40B4-BE49-F238E27FC236}">
                <a16:creationId xmlns:a16="http://schemas.microsoft.com/office/drawing/2014/main" id="{52126F08-FC6D-4ED5-B03F-480F004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BYTECODE</a:t>
            </a:r>
          </a:p>
        </p:txBody>
      </p:sp>
      <p:sp>
        <p:nvSpPr>
          <p:cNvPr id="12" name="txt-0.952361409577357">
            <a:extLst xmlns:a="http://schemas.openxmlformats.org/drawingml/2006/main">
              <a:ext uri="{FF2B5EF4-FFF2-40B4-BE49-F238E27FC236}">
                <a16:creationId xmlns:a16="http://schemas.microsoft.com/office/drawing/2014/main" id="{C8C524B9-7A6A-4F8F-AE25-EB67ADC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527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tage">
            <a:extLst xmlns:a="http://schemas.openxmlformats.org/drawingml/2006/main">
              <a:ext uri="{FF2B5EF4-FFF2-40B4-BE49-F238E27FC236}">
                <a16:creationId xmlns:a16="http://schemas.microsoft.com/office/drawing/2014/main" id="{607139DE-8D4D-4759-8A22-8E238C6B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343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14" name="txt-0.2519321285295181">
            <a:extLst xmlns:a="http://schemas.openxmlformats.org/drawingml/2006/main">
              <a:ext uri="{FF2B5EF4-FFF2-40B4-BE49-F238E27FC236}">
                <a16:creationId xmlns:a16="http://schemas.microsoft.com/office/drawing/2014/main" id="{AF73BC1F-B00F-4804-9F53-6A98E5E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PVM</a:t>
            </a:r>
          </a:p>
        </p:txBody>
      </p:sp>
      <p:sp>
        <p:nvSpPr>
          <p:cNvPr id="15" name="txt-0.31546841722179864">
            <a:extLst xmlns:a="http://schemas.openxmlformats.org/drawingml/2006/main">
              <a:ext uri="{FF2B5EF4-FFF2-40B4-BE49-F238E27FC236}">
                <a16:creationId xmlns:a16="http://schemas.microsoft.com/office/drawing/2014/main" id="{9969FFDC-6990-4EA3-8BB3-57D8A16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6" name="txt-0.7572508833385396">
            <a:extLst xmlns:a="http://schemas.openxmlformats.org/drawingml/2006/main">
              <a:ext uri="{FF2B5EF4-FFF2-40B4-BE49-F238E27FC236}">
                <a16:creationId xmlns:a16="http://schemas.microsoft.com/office/drawing/2014/main" id="{A814A27C-7F75-42EA-9471-769FF730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tage">
            <a:extLst xmlns:a="http://schemas.openxmlformats.org/drawingml/2006/main">
              <a:ext uri="{FF2B5EF4-FFF2-40B4-BE49-F238E27FC236}">
                <a16:creationId xmlns:a16="http://schemas.microsoft.com/office/drawing/2014/main" id="{3BD19DCF-2080-4E50-AC7C-A27EE80D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343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8" name="txt-0.4126580919728806">
            <a:extLst xmlns:a="http://schemas.openxmlformats.org/drawingml/2006/main">
              <a:ext uri="{FF2B5EF4-FFF2-40B4-BE49-F238E27FC236}">
                <a16:creationId xmlns:a16="http://schemas.microsoft.com/office/drawing/2014/main" id="{3FCFF84D-8501-4FAD-A708-46C8229A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9" name="txt-0.1386428526721586">
            <a:extLst xmlns:a="http://schemas.openxmlformats.org/drawingml/2006/main">
              <a:ext uri="{FF2B5EF4-FFF2-40B4-BE49-F238E27FC236}">
                <a16:creationId xmlns:a16="http://schemas.microsoft.com/office/drawing/2014/main" id="{1326A6CC-7DDB-4F88-9818-99942F1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20" name="question">
            <a:extLst xmlns:a="http://schemas.openxmlformats.org/drawingml/2006/main">
              <a:ext uri="{FF2B5EF4-FFF2-40B4-BE49-F238E27FC236}">
                <a16:creationId xmlns:a16="http://schemas.microsoft.com/office/drawing/2014/main" id="{7A52EA0A-9E98-4743-B1A2-547C3C5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3D860A3F-09FA-4CC4-B74B-6E36FB0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BETTER QUESTION</a:t>
            </a:r>
          </a:p>
        </p:txBody>
      </p:sp>
      <p:sp>
        <p:nvSpPr>
          <p:cNvPr id="22" name="txt-0.08776704811713798">
            <a:extLst xmlns:a="http://schemas.openxmlformats.org/drawingml/2006/main">
              <a:ext uri="{FF2B5EF4-FFF2-40B4-BE49-F238E27FC236}">
                <a16:creationId xmlns:a16="http://schemas.microsoft.com/office/drawing/2014/main" id="{45E9B52F-1BEF-4759-89FF-3E747CCD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Which implementation and runtime are we using—and what does it optimize?</a:t>
            </a:r>
          </a:p>
        </p:txBody>
      </p:sp>
      <p:sp>
        <p:nvSpPr>
          <p:cNvPr id="23" name="nav-home">
            <a:extLst xmlns:a="http://schemas.openxmlformats.org/drawingml/2006/main">
              <a:ext uri="{FF2B5EF4-FFF2-40B4-BE49-F238E27FC236}">
                <a16:creationId xmlns:a16="http://schemas.microsoft.com/office/drawing/2014/main" id="{B94F1C4F-52BB-45B3-9B43-460212D517A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4" name="nav-back">
            <a:extLst xmlns:a="http://schemas.openxmlformats.org/drawingml/2006/main">
              <a:ext uri="{FF2B5EF4-FFF2-40B4-BE49-F238E27FC236}">
                <a16:creationId xmlns:a16="http://schemas.microsoft.com/office/drawing/2014/main" id="{30F654BB-9A87-465E-86A8-6F420DFF193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5" name="nav-next">
            <a:extLst xmlns:a="http://schemas.openxmlformats.org/drawingml/2006/main">
              <a:ext uri="{FF2B5EF4-FFF2-40B4-BE49-F238E27FC236}">
                <a16:creationId xmlns:a16="http://schemas.microsoft.com/office/drawing/2014/main" id="{9F1ABC52-6308-4CC6-AE92-5F674AE7C48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630350647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67400BD6-5474-43C3-85BF-9C05710A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DIMENSION 03 • PURPOSE</a:t>
            </a:r>
          </a:p>
        </p:txBody>
      </p:sp>
      <p:sp>
        <p:nvSpPr>
          <p:cNvPr id="2" name="txt-0.5330453796803">
            <a:extLst xmlns:a="http://schemas.openxmlformats.org/drawingml/2006/main">
              <a:ext uri="{FF2B5EF4-FFF2-40B4-BE49-F238E27FC236}">
                <a16:creationId xmlns:a16="http://schemas.microsoft.com/office/drawing/2014/main" id="{9E1D6D39-E1AB-46F8-A53F-B3D8F9DD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 script is still a program; context changes the label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CA6581A-2E26-4E87-940C-75FF8FEA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5986680033175162">
            <a:extLst xmlns:a="http://schemas.openxmlformats.org/drawingml/2006/main">
              <a:ext uri="{FF2B5EF4-FFF2-40B4-BE49-F238E27FC236}">
                <a16:creationId xmlns:a16="http://schemas.microsoft.com/office/drawing/2014/main" id="{53B1C389-8D21-42C1-AC76-265C3DA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058FF2B3-E14F-4216-B8B0-4E34D91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6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85A6E01-C7E0-416D-BFF9-DF40BC46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7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84997395-9CDF-42FC-82B7-1D888E1C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8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9C2973EE-4B96-48BC-BA50-488E7C57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9" name="txt-0.6482988245571077">
            <a:extLst xmlns:a="http://schemas.openxmlformats.org/drawingml/2006/main">
              <a:ext uri="{FF2B5EF4-FFF2-40B4-BE49-F238E27FC236}">
                <a16:creationId xmlns:a16="http://schemas.microsoft.com/office/drawing/2014/main" id="{E04427BB-5706-415C-8FE4-75993683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SCRIPTING CONTEXT</a:t>
            </a:r>
          </a:p>
        </p:txBody>
      </p:sp>
      <p:sp>
        <p:nvSpPr>
          <p:cNvPr id="10" name="txt-0.9870297611219242">
            <a:extLst xmlns:a="http://schemas.openxmlformats.org/drawingml/2006/main">
              <a:ext uri="{FF2B5EF4-FFF2-40B4-BE49-F238E27FC236}">
                <a16:creationId xmlns:a16="http://schemas.microsoft.com/office/drawing/2014/main" id="{695611DE-34CD-4C3B-9531-B2EAC304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Orchestrate, automate, transform, or extend a host environment. The feedback loop is usually the priority.</a:t>
            </a:r>
          </a:p>
        </p:txBody>
      </p:sp>
      <p:sp>
        <p:nvSpPr>
          <p:cNvPr id="11" name="txt-0.6546647542912006">
            <a:extLst xmlns:a="http://schemas.openxmlformats.org/drawingml/2006/main">
              <a:ext uri="{FF2B5EF4-FFF2-40B4-BE49-F238E27FC236}">
                <a16:creationId xmlns:a16="http://schemas.microsoft.com/office/drawing/2014/main" id="{1756D53D-EB6A-4EBB-810A-6585CBF5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193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APPLICATION CONTEXT</a:t>
            </a:r>
          </a:p>
        </p:txBody>
      </p:sp>
      <p:sp>
        <p:nvSpPr>
          <p:cNvPr id="12" name="txt-0.40843739534210255">
            <a:extLst xmlns:a="http://schemas.openxmlformats.org/drawingml/2006/main">
              <a:ext uri="{FF2B5EF4-FFF2-40B4-BE49-F238E27FC236}">
                <a16:creationId xmlns:a16="http://schemas.microsoft.com/office/drawing/2014/main" id="{0CEF2F06-242E-4A18-AF47-4202DC0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95575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Build the product or system itself. Architecture, interfaces, operations, and long-term change dominate.</a:t>
            </a:r>
          </a:p>
        </p:txBody>
      </p:sp>
      <p:sp>
        <p:nvSpPr>
          <p:cNvPr id="13" name="txt-0.0745657514810012">
            <a:extLst xmlns:a="http://schemas.openxmlformats.org/drawingml/2006/main">
              <a:ext uri="{FF2B5EF4-FFF2-40B4-BE49-F238E27FC236}">
                <a16:creationId xmlns:a16="http://schemas.microsoft.com/office/drawing/2014/main" id="{49438CCF-16B6-4C9C-B3E0-5FBA133D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SAME LANGUAGE. DIFFERENT ROLE.</a:t>
            </a:r>
          </a:p>
        </p:txBody>
      </p:sp>
      <p:sp>
        <p:nvSpPr>
          <p:cNvPr id="14" name="code">
            <a:extLst xmlns:a="http://schemas.openxmlformats.org/drawingml/2006/main">
              <a:ext uri="{FF2B5EF4-FFF2-40B4-BE49-F238E27FC236}">
                <a16:creationId xmlns:a16="http://schemas.microsoft.com/office/drawing/2014/main" id="{EB24F57F-5713-471B-AB44-01417A7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B9398CBC-D122-494A-BF27-3410A38E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6" name="txt-0.30129649803005853">
            <a:extLst xmlns:a="http://schemas.openxmlformats.org/drawingml/2006/main">
              <a:ext uri="{FF2B5EF4-FFF2-40B4-BE49-F238E27FC236}">
                <a16:creationId xmlns:a16="http://schemas.microsoft.com/office/drawing/2014/main" id="{6618AB37-0B11-493D-BEF8-A8AF736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# 12-line automation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for file in files: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    rename(file)</a:t>
            </a:r>
          </a:p>
        </p:txBody>
      </p:sp>
      <p:sp>
        <p:nvSpPr>
          <p:cNvPr id="17" name="code">
            <a:extLst xmlns:a="http://schemas.openxmlformats.org/drawingml/2006/main">
              <a:ext uri="{FF2B5EF4-FFF2-40B4-BE49-F238E27FC236}">
                <a16:creationId xmlns:a16="http://schemas.microsoft.com/office/drawing/2014/main" id="{EC50B6C1-33F9-4DCE-A3DD-EA705D4E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00625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18" name="accent">
            <a:extLst xmlns:a="http://schemas.openxmlformats.org/drawingml/2006/main">
              <a:ext uri="{FF2B5EF4-FFF2-40B4-BE49-F238E27FC236}">
                <a16:creationId xmlns:a16="http://schemas.microsoft.com/office/drawing/2014/main" id="{91AEFECF-4131-469A-8A09-7C0667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006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9" name="txt-0.12740880188819492">
            <a:extLst xmlns:a="http://schemas.openxmlformats.org/drawingml/2006/main">
              <a:ext uri="{FF2B5EF4-FFF2-40B4-BE49-F238E27FC236}">
                <a16:creationId xmlns:a16="http://schemas.microsoft.com/office/drawing/2014/main" id="{8D44B2F9-3CF0-4C7B-86E3-CFACBEE5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292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# 100k-line platform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class OrderService: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    ...</a:t>
            </a:r>
          </a:p>
        </p:txBody>
      </p:sp>
      <p:sp>
        <p:nvSpPr>
          <p:cNvPr id="20" name="nav-home">
            <a:extLst xmlns:a="http://schemas.openxmlformats.org/drawingml/2006/main">
              <a:ext uri="{FF2B5EF4-FFF2-40B4-BE49-F238E27FC236}">
                <a16:creationId xmlns:a16="http://schemas.microsoft.com/office/drawing/2014/main" id="{971A0279-E66B-449F-B2F0-B0B6FA6AA9E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7B670769-CE24-4711-8698-85D9D2E9798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5C91D8E8-0844-4C03-8665-FA24C3EF8AF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289511959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ill">
            <a:extLst xmlns:a="http://schemas.openxmlformats.org/drawingml/2006/main">
              <a:ext uri="{FF2B5EF4-FFF2-40B4-BE49-F238E27FC236}">
                <a16:creationId xmlns:a16="http://schemas.microsoft.com/office/drawing/2014/main" id="{7F2FF4F0-2EE8-4D24-BD09-27E04B63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PURPOSE • EXAMPLES</a:t>
            </a:r>
          </a:p>
        </p:txBody>
      </p:sp>
      <p:sp>
        <p:nvSpPr>
          <p:cNvPr id="2" name="txt-0.874833174896557">
            <a:extLst xmlns:a="http://schemas.openxmlformats.org/drawingml/2006/main">
              <a:ext uri="{FF2B5EF4-FFF2-40B4-BE49-F238E27FC236}">
                <a16:creationId xmlns:a16="http://schemas.microsoft.com/office/drawing/2014/main" id="{994B2522-2EF6-496A-AA73-0093A9D8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Purpose is a spectrum of responsibility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BF0716F-E6B2-4C1A-8F8D-B911A4E3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7141810690960406">
            <a:extLst xmlns:a="http://schemas.openxmlformats.org/drawingml/2006/main">
              <a:ext uri="{FF2B5EF4-FFF2-40B4-BE49-F238E27FC236}">
                <a16:creationId xmlns:a16="http://schemas.microsoft.com/office/drawing/2014/main" id="{F420C614-3B34-459D-B1BF-59063115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purpose-card">
            <a:extLst xmlns:a="http://schemas.openxmlformats.org/drawingml/2006/main">
              <a:ext uri="{FF2B5EF4-FFF2-40B4-BE49-F238E27FC236}">
                <a16:creationId xmlns:a16="http://schemas.microsoft.com/office/drawing/2014/main" id="{7CE08A52-D595-4D52-B94B-D4149788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33650" cy="2571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D6A29B35-6F67-4B20-91D6-DA4FF987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ONE-OFF</a:t>
            </a:r>
          </a:p>
        </p:txBody>
      </p:sp>
      <p:sp>
        <p:nvSpPr>
          <p:cNvPr id="7" name="txt-0.8721768608403594">
            <a:extLst xmlns:a="http://schemas.openxmlformats.org/drawingml/2006/main">
              <a:ext uri="{FF2B5EF4-FFF2-40B4-BE49-F238E27FC236}">
                <a16:creationId xmlns:a16="http://schemas.microsoft.com/office/drawing/2014/main" id="{2FD38D49-3650-44E6-B8E0-F57E80D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Rename 2,000 files</a:t>
            </a:r>
          </a:p>
        </p:txBody>
      </p:sp>
      <p:sp>
        <p:nvSpPr>
          <p:cNvPr id="8" name="txt-0.5810752719018706">
            <a:extLst xmlns:a="http://schemas.openxmlformats.org/drawingml/2006/main">
              <a:ext uri="{FF2B5EF4-FFF2-40B4-BE49-F238E27FC236}">
                <a16:creationId xmlns:a16="http://schemas.microsoft.com/office/drawing/2014/main" id="{F57C1324-708D-4D93-8185-04EAA02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Often called scripting</a:t>
            </a:r>
          </a:p>
        </p:txBody>
      </p:sp>
      <p:sp>
        <p:nvSpPr>
          <p:cNvPr id="9" name="purpose-card">
            <a:extLst xmlns:a="http://schemas.openxmlformats.org/drawingml/2006/main">
              <a:ext uri="{FF2B5EF4-FFF2-40B4-BE49-F238E27FC236}">
                <a16:creationId xmlns:a16="http://schemas.microsoft.com/office/drawing/2014/main" id="{07F46969-72E5-4B48-8370-1396B9B9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95500"/>
            <a:ext cx="2533650" cy="2571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DCCB8572-C1E6-4101-972B-3535BECB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241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1" name="txt-0.047324094737473676">
            <a:extLst xmlns:a="http://schemas.openxmlformats.org/drawingml/2006/main">
              <a:ext uri="{FF2B5EF4-FFF2-40B4-BE49-F238E27FC236}">
                <a16:creationId xmlns:a16="http://schemas.microsoft.com/office/drawing/2014/main" id="{2B25CD37-0A1C-4F33-ABEF-E95E70C2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0037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Nightly ETL pipeline</a:t>
            </a:r>
          </a:p>
        </p:txBody>
      </p:sp>
      <p:sp>
        <p:nvSpPr>
          <p:cNvPr id="12" name="txt-0.3643309798075065">
            <a:extLst xmlns:a="http://schemas.openxmlformats.org/drawingml/2006/main">
              <a:ext uri="{FF2B5EF4-FFF2-40B4-BE49-F238E27FC236}">
                <a16:creationId xmlns:a16="http://schemas.microsoft.com/office/drawing/2014/main" id="{B3FE762C-59A9-4839-8980-BCBB61F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481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Often called scripting</a:t>
            </a:r>
          </a:p>
        </p:txBody>
      </p:sp>
      <p:sp>
        <p:nvSpPr>
          <p:cNvPr id="13" name="purpose-card">
            <a:extLst xmlns:a="http://schemas.openxmlformats.org/drawingml/2006/main">
              <a:ext uri="{FF2B5EF4-FFF2-40B4-BE49-F238E27FC236}">
                <a16:creationId xmlns:a16="http://schemas.microsoft.com/office/drawing/2014/main" id="{8B086611-EA98-4480-87C8-D074A01C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533650" cy="2571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4" name="pill">
            <a:extLst xmlns:a="http://schemas.openxmlformats.org/drawingml/2006/main">
              <a:ext uri="{FF2B5EF4-FFF2-40B4-BE49-F238E27FC236}">
                <a16:creationId xmlns:a16="http://schemas.microsoft.com/office/drawing/2014/main" id="{34CA202E-DB98-41E5-8AC3-E5C6A8E4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5" name="txt-0.05818764853199099">
            <a:extLst xmlns:a="http://schemas.openxmlformats.org/drawingml/2006/main">
              <a:ext uri="{FF2B5EF4-FFF2-40B4-BE49-F238E27FC236}">
                <a16:creationId xmlns:a16="http://schemas.microsoft.com/office/drawing/2014/main" id="{C0EF88CD-F4D3-479E-A428-132DEE0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Production API</a:t>
            </a:r>
          </a:p>
        </p:txBody>
      </p:sp>
      <p:sp>
        <p:nvSpPr>
          <p:cNvPr id="16" name="txt-0.45990814553268433">
            <a:extLst xmlns:a="http://schemas.openxmlformats.org/drawingml/2006/main">
              <a:ext uri="{FF2B5EF4-FFF2-40B4-BE49-F238E27FC236}">
                <a16:creationId xmlns:a16="http://schemas.microsoft.com/office/drawing/2014/main" id="{58B664F5-4FD7-462A-9DDC-EFC1939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481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Often called application development</a:t>
            </a:r>
          </a:p>
        </p:txBody>
      </p:sp>
      <p:sp>
        <p:nvSpPr>
          <p:cNvPr id="17" name="purpose-card">
            <a:extLst xmlns:a="http://schemas.openxmlformats.org/drawingml/2006/main">
              <a:ext uri="{FF2B5EF4-FFF2-40B4-BE49-F238E27FC236}">
                <a16:creationId xmlns:a16="http://schemas.microsoft.com/office/drawing/2014/main" id="{4455AD0F-1734-4A29-A406-AA6190FE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95500"/>
            <a:ext cx="2533650" cy="2571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B9FAAF00-9C1F-4D7C-8A75-ECEDA27F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9" name="txt-0.9521628062232446">
            <a:extLst xmlns:a="http://schemas.openxmlformats.org/drawingml/2006/main">
              <a:ext uri="{FF2B5EF4-FFF2-40B4-BE49-F238E27FC236}">
                <a16:creationId xmlns:a16="http://schemas.microsoft.com/office/drawing/2014/main" id="{51D3668F-6212-46AA-AA44-13BCFC9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0037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Large product ecosystem</a:t>
            </a:r>
          </a:p>
        </p:txBody>
      </p:sp>
      <p:sp>
        <p:nvSpPr>
          <p:cNvPr id="20" name="txt-0.2203845670867901">
            <a:extLst xmlns:a="http://schemas.openxmlformats.org/drawingml/2006/main">
              <a:ext uri="{FF2B5EF4-FFF2-40B4-BE49-F238E27FC236}">
                <a16:creationId xmlns:a16="http://schemas.microsoft.com/office/drawing/2014/main" id="{9D353053-1D03-4634-B2B5-13E878FF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481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Often called application development</a:t>
            </a:r>
          </a:p>
        </p:txBody>
      </p:sp>
      <p:sp>
        <p:nvSpPr>
          <p:cNvPr id="21" name="txt-0.529121792349636">
            <a:extLst xmlns:a="http://schemas.openxmlformats.org/drawingml/2006/main">
              <a:ext uri="{FF2B5EF4-FFF2-40B4-BE49-F238E27FC236}">
                <a16:creationId xmlns:a16="http://schemas.microsoft.com/office/drawing/2014/main" id="{93B59DED-59E4-46BB-8C2F-D451F3FC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Size does not decide the label. The code’s role in its environment does.</a:t>
            </a:r>
          </a:p>
        </p:txBody>
      </p:sp>
      <p:sp>
        <p:nvSpPr>
          <p:cNvPr id="22" name="nav-home">
            <a:extLst xmlns:a="http://schemas.openxmlformats.org/drawingml/2006/main">
              <a:ext uri="{FF2B5EF4-FFF2-40B4-BE49-F238E27FC236}">
                <a16:creationId xmlns:a16="http://schemas.microsoft.com/office/drawing/2014/main" id="{0C677C9B-00B7-4669-9EE8-CEDE747DBDC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3" name="nav-back">
            <a:extLst xmlns:a="http://schemas.openxmlformats.org/drawingml/2006/main">
              <a:ext uri="{FF2B5EF4-FFF2-40B4-BE49-F238E27FC236}">
                <a16:creationId xmlns:a16="http://schemas.microsoft.com/office/drawing/2014/main" id="{24641F3D-C7B1-47E3-8E3F-3C7304A8B98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4" name="nav-next">
            <a:extLst xmlns:a="http://schemas.openxmlformats.org/drawingml/2006/main">
              <a:ext uri="{FF2B5EF4-FFF2-40B4-BE49-F238E27FC236}">
                <a16:creationId xmlns:a16="http://schemas.microsoft.com/office/drawing/2014/main" id="{E2E28F62-BFFF-42DF-AB94-4F6C667293D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928827394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ll">
            <a:extLst xmlns:a="http://schemas.openxmlformats.org/drawingml/2006/main">
              <a:ext uri="{FF2B5EF4-FFF2-40B4-BE49-F238E27FC236}">
                <a16:creationId xmlns:a16="http://schemas.microsoft.com/office/drawing/2014/main" id="{AF2BB310-EC9B-49E7-9430-6D2F97DC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DIMENSION 04 • LICENSING</a:t>
            </a:r>
          </a:p>
        </p:txBody>
      </p:sp>
      <p:sp>
        <p:nvSpPr>
          <p:cNvPr id="2" name="txt-0.2786310021228332">
            <a:extLst xmlns:a="http://schemas.openxmlformats.org/drawingml/2006/main">
              <a:ext uri="{FF2B5EF4-FFF2-40B4-BE49-F238E27FC236}">
                <a16:creationId xmlns:a16="http://schemas.microsoft.com/office/drawing/2014/main" id="{47F56016-64CA-42A6-904A-A82B7C29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Open source is a license promise—not a price tag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25178E4-E795-40E9-85E6-436EA05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8357627477418887">
            <a:extLst xmlns:a="http://schemas.openxmlformats.org/drawingml/2006/main">
              <a:ext uri="{FF2B5EF4-FFF2-40B4-BE49-F238E27FC236}">
                <a16:creationId xmlns:a16="http://schemas.microsoft.com/office/drawing/2014/main" id="{56E4C50C-C957-46C4-9C52-AC78F48C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348E251B-54DD-4FC5-9EDD-111E3DD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6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F415125-F269-4423-9699-9C57F512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7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F89ECE0B-2211-4113-AD38-6EF17F03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8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F95BAECF-1AAE-4352-96B9-BEAF9B05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9" name="txt-0.971554924776307">
            <a:extLst xmlns:a="http://schemas.openxmlformats.org/drawingml/2006/main">
              <a:ext uri="{FF2B5EF4-FFF2-40B4-BE49-F238E27FC236}">
                <a16:creationId xmlns:a16="http://schemas.microsoft.com/office/drawing/2014/main" id="{D9F90A46-D837-4631-9CA1-69D1780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OPEN SOURCE</a:t>
            </a:r>
          </a:p>
        </p:txBody>
      </p:sp>
      <p:sp>
        <p:nvSpPr>
          <p:cNvPr id="10" name="txt-0.8193664534532529">
            <a:extLst xmlns:a="http://schemas.openxmlformats.org/drawingml/2006/main">
              <a:ext uri="{FF2B5EF4-FFF2-40B4-BE49-F238E27FC236}">
                <a16:creationId xmlns:a16="http://schemas.microsoft.com/office/drawing/2014/main" id="{45F44119-9003-4EA5-9C09-FD5CB78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The license grants rights such as redistribution and creating derived works. Commercial sale can still be allowed.</a:t>
            </a:r>
          </a:p>
        </p:txBody>
      </p:sp>
      <p:sp>
        <p:nvSpPr>
          <p:cNvPr id="11" name="txt-0.05498995231377479">
            <a:extLst xmlns:a="http://schemas.openxmlformats.org/drawingml/2006/main">
              <a:ext uri="{FF2B5EF4-FFF2-40B4-BE49-F238E27FC236}">
                <a16:creationId xmlns:a16="http://schemas.microsoft.com/office/drawing/2014/main" id="{85E9745B-D25B-4102-BD2C-D283941A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193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PROPRIETARY</a:t>
            </a:r>
          </a:p>
        </p:txBody>
      </p:sp>
      <p:sp>
        <p:nvSpPr>
          <p:cNvPr id="12" name="txt-0.271765899961234">
            <a:extLst xmlns:a="http://schemas.openxmlformats.org/drawingml/2006/main">
              <a:ext uri="{FF2B5EF4-FFF2-40B4-BE49-F238E27FC236}">
                <a16:creationId xmlns:a16="http://schemas.microsoft.com/office/drawing/2014/main" id="{AB40252E-137F-4F30-8724-650FFAB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95575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The owner restricts access, modification, or redistribution through copyright and license terms.</a:t>
            </a:r>
          </a:p>
        </p:txBody>
      </p:sp>
      <p:sp>
        <p:nvSpPr>
          <p:cNvPr id="13" name="txt-0.0708538711241864">
            <a:extLst xmlns:a="http://schemas.openxmlformats.org/drawingml/2006/main">
              <a:ext uri="{FF2B5EF4-FFF2-40B4-BE49-F238E27FC236}">
                <a16:creationId xmlns:a16="http://schemas.microsoft.com/office/drawing/2014/main" id="{C1F63B55-D79E-4938-BFB3-BE90E3DE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FREE OF CHARGE</a:t>
            </a:r>
          </a:p>
        </p:txBody>
      </p:sp>
      <p:sp>
        <p:nvSpPr>
          <p:cNvPr id="14" name="txt-0.07139709869482269">
            <a:extLst xmlns:a="http://schemas.openxmlformats.org/drawingml/2006/main">
              <a:ext uri="{FF2B5EF4-FFF2-40B4-BE49-F238E27FC236}">
                <a16:creationId xmlns:a16="http://schemas.microsoft.com/office/drawing/2014/main" id="{16D0572D-0E30-4397-8C00-4C502A43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Not required</a:t>
            </a:r>
          </a:p>
        </p:txBody>
      </p:sp>
      <p:sp>
        <p:nvSpPr>
          <p:cNvPr id="15" name="txt-0.9159397977044381">
            <a:extLst xmlns:a="http://schemas.openxmlformats.org/drawingml/2006/main">
              <a:ext uri="{FF2B5EF4-FFF2-40B4-BE49-F238E27FC236}">
                <a16:creationId xmlns:a16="http://schemas.microsoft.com/office/drawing/2014/main" id="{4C5227D0-BD0A-460C-ABF3-2032E102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81012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NO OWNER</a:t>
            </a:r>
          </a:p>
        </p:txBody>
      </p:sp>
      <p:sp>
        <p:nvSpPr>
          <p:cNvPr id="16" name="txt-0.8231629331251126">
            <a:extLst xmlns:a="http://schemas.openxmlformats.org/drawingml/2006/main">
              <a:ext uri="{FF2B5EF4-FFF2-40B4-BE49-F238E27FC236}">
                <a16:creationId xmlns:a16="http://schemas.microsoft.com/office/drawing/2014/main" id="{CA683DCC-0F72-4CDA-99A2-1A80A360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054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17" name="txt-0.8903876371653352">
            <a:extLst xmlns:a="http://schemas.openxmlformats.org/drawingml/2006/main">
              <a:ext uri="{FF2B5EF4-FFF2-40B4-BE49-F238E27FC236}">
                <a16:creationId xmlns:a16="http://schemas.microsoft.com/office/drawing/2014/main" id="{2AA3107F-4A65-4164-AF74-5899A15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012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NO SUPPORT</a:t>
            </a:r>
          </a:p>
        </p:txBody>
      </p:sp>
      <p:sp>
        <p:nvSpPr>
          <p:cNvPr id="18" name="txt-0.9210274044941456">
            <a:extLst xmlns:a="http://schemas.openxmlformats.org/drawingml/2006/main">
              <a:ext uri="{FF2B5EF4-FFF2-40B4-BE49-F238E27FC236}">
                <a16:creationId xmlns:a16="http://schemas.microsoft.com/office/drawing/2014/main" id="{79434175-02BE-4B4D-913D-ACFC3DD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054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19" name="txt-0.7781706820500724">
            <a:extLst xmlns:a="http://schemas.openxmlformats.org/drawingml/2006/main">
              <a:ext uri="{FF2B5EF4-FFF2-40B4-BE49-F238E27FC236}">
                <a16:creationId xmlns:a16="http://schemas.microsoft.com/office/drawing/2014/main" id="{5435D1FB-CCE8-438B-A58F-97923D5E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1012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PUBLIC CODE = OSS</a:t>
            </a:r>
          </a:p>
        </p:txBody>
      </p:sp>
      <p:sp>
        <p:nvSpPr>
          <p:cNvPr id="20" name="txt-0.00012829013255266641">
            <a:extLst xmlns:a="http://schemas.openxmlformats.org/drawingml/2006/main">
              <a:ext uri="{FF2B5EF4-FFF2-40B4-BE49-F238E27FC236}">
                <a16:creationId xmlns:a16="http://schemas.microsoft.com/office/drawing/2014/main" id="{6C5960CD-47A9-4CAC-9848-E40152C1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1054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Not automatically</a:t>
            </a:r>
          </a:p>
        </p:txBody>
      </p:sp>
      <p:sp>
        <p:nvSpPr>
          <p:cNvPr id="21" name="nav-home">
            <a:extLst xmlns:a="http://schemas.openxmlformats.org/drawingml/2006/main">
              <a:ext uri="{FF2B5EF4-FFF2-40B4-BE49-F238E27FC236}">
                <a16:creationId xmlns:a16="http://schemas.microsoft.com/office/drawing/2014/main" id="{5DFD6EEE-F3D7-43B4-9C9E-FB1230D5EA6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2" name="nav-back">
            <a:extLst xmlns:a="http://schemas.openxmlformats.org/drawingml/2006/main">
              <a:ext uri="{FF2B5EF4-FFF2-40B4-BE49-F238E27FC236}">
                <a16:creationId xmlns:a16="http://schemas.microsoft.com/office/drawing/2014/main" id="{467A55CB-7A5A-4E3E-87A9-ED9BFCCD2CA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3" name="nav-next">
            <a:extLst xmlns:a="http://schemas.openxmlformats.org/drawingml/2006/main">
              <a:ext uri="{FF2B5EF4-FFF2-40B4-BE49-F238E27FC236}">
                <a16:creationId xmlns:a16="http://schemas.microsoft.com/office/drawing/2014/main" id="{CB3AE2A2-9866-4FF9-8AAA-D6C3195C0EC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080121151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ill">
            <a:extLst xmlns:a="http://schemas.openxmlformats.org/drawingml/2006/main">
              <a:ext uri="{FF2B5EF4-FFF2-40B4-BE49-F238E27FC236}">
                <a16:creationId xmlns:a16="http://schemas.microsoft.com/office/drawing/2014/main" id="{6EABCACC-AEE9-47CF-902D-8435F7E5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LICENSING • MENTAL MODEL</a:t>
            </a:r>
          </a:p>
        </p:txBody>
      </p:sp>
      <p:sp>
        <p:nvSpPr>
          <p:cNvPr id="2" name="txt-0.09677477562514758">
            <a:extLst xmlns:a="http://schemas.openxmlformats.org/drawingml/2006/main">
              <a:ext uri="{FF2B5EF4-FFF2-40B4-BE49-F238E27FC236}">
                <a16:creationId xmlns:a16="http://schemas.microsoft.com/office/drawing/2014/main" id="{AA674433-8F2D-40FC-A69E-DB3F5E1A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Three separate systems govern software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63D1DB1-05B4-412B-B364-0D56F1A3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9161507201808883">
            <a:extLst xmlns:a="http://schemas.openxmlformats.org/drawingml/2006/main">
              <a:ext uri="{FF2B5EF4-FFF2-40B4-BE49-F238E27FC236}">
                <a16:creationId xmlns:a16="http://schemas.microsoft.com/office/drawing/2014/main" id="{D4D67C27-ED6C-4567-B6D8-40D8E0D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license-card">
            <a:extLst xmlns:a="http://schemas.openxmlformats.org/drawingml/2006/main">
              <a:ext uri="{FF2B5EF4-FFF2-40B4-BE49-F238E27FC236}">
                <a16:creationId xmlns:a16="http://schemas.microsoft.com/office/drawing/2014/main" id="{91BB95C2-89B4-4E2F-A13D-5D3E3B27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FED99D91-633C-4852-9BFF-F87AB97D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LICENSE</a:t>
            </a:r>
          </a:p>
        </p:txBody>
      </p:sp>
      <p:sp>
        <p:nvSpPr>
          <p:cNvPr id="7" name="txt-0.4193887231296569">
            <a:extLst xmlns:a="http://schemas.openxmlformats.org/drawingml/2006/main">
              <a:ext uri="{FF2B5EF4-FFF2-40B4-BE49-F238E27FC236}">
                <a16:creationId xmlns:a16="http://schemas.microsoft.com/office/drawing/2014/main" id="{3D64D0C3-44CC-4E74-86E2-82D5B226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What users may do</a:t>
            </a:r>
          </a:p>
        </p:txBody>
      </p:sp>
      <p:sp>
        <p:nvSpPr>
          <p:cNvPr id="8" name="txt-0.3399838017589396">
            <a:extLst xmlns:a="http://schemas.openxmlformats.org/drawingml/2006/main">
              <a:ext uri="{FF2B5EF4-FFF2-40B4-BE49-F238E27FC236}">
                <a16:creationId xmlns:a16="http://schemas.microsoft.com/office/drawing/2014/main" id="{BD385D54-A4AB-479C-9A00-654A4C80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Use • modify • redistribute</a:t>
            </a:r>
          </a:p>
        </p:txBody>
      </p:sp>
      <p:sp>
        <p:nvSpPr>
          <p:cNvPr id="9" name="license-card">
            <a:extLst xmlns:a="http://schemas.openxmlformats.org/drawingml/2006/main">
              <a:ext uri="{FF2B5EF4-FFF2-40B4-BE49-F238E27FC236}">
                <a16:creationId xmlns:a16="http://schemas.microsoft.com/office/drawing/2014/main" id="{1167EA6E-118A-4EA3-B3E2-D3D21BF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9550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FDEB5680-221C-46AE-9FE1-B87C1DEB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3362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11" name="txt-0.21464336414444107">
            <a:extLst xmlns:a="http://schemas.openxmlformats.org/drawingml/2006/main">
              <a:ext uri="{FF2B5EF4-FFF2-40B4-BE49-F238E27FC236}">
                <a16:creationId xmlns:a16="http://schemas.microsoft.com/office/drawing/2014/main" id="{25A7DF92-D349-43D4-AE50-B109558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956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How value is captured</a:t>
            </a:r>
          </a:p>
        </p:txBody>
      </p:sp>
      <p:sp>
        <p:nvSpPr>
          <p:cNvPr id="12" name="txt-0.11804300535700707">
            <a:extLst xmlns:a="http://schemas.openxmlformats.org/drawingml/2006/main">
              <a:ext uri="{FF2B5EF4-FFF2-40B4-BE49-F238E27FC236}">
                <a16:creationId xmlns:a16="http://schemas.microsoft.com/office/drawing/2014/main" id="{125FF2A6-C719-4E01-9AC4-32DB7E30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Price • hosting • support</a:t>
            </a:r>
          </a:p>
        </p:txBody>
      </p:sp>
      <p:sp>
        <p:nvSpPr>
          <p:cNvPr id="13" name="license-card">
            <a:extLst xmlns:a="http://schemas.openxmlformats.org/drawingml/2006/main">
              <a:ext uri="{FF2B5EF4-FFF2-40B4-BE49-F238E27FC236}">
                <a16:creationId xmlns:a16="http://schemas.microsoft.com/office/drawing/2014/main" id="{298BA961-B8F3-414E-8060-E013EC4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pill">
            <a:extLst xmlns:a="http://schemas.openxmlformats.org/drawingml/2006/main">
              <a:ext uri="{FF2B5EF4-FFF2-40B4-BE49-F238E27FC236}">
                <a16:creationId xmlns:a16="http://schemas.microsoft.com/office/drawing/2014/main" id="{9B4BCAE9-81E8-42F1-AFD8-9732B883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TRADEMARK</a:t>
            </a:r>
          </a:p>
        </p:txBody>
      </p:sp>
      <p:sp>
        <p:nvSpPr>
          <p:cNvPr id="15" name="txt-0.9026267304294683">
            <a:extLst xmlns:a="http://schemas.openxmlformats.org/drawingml/2006/main">
              <a:ext uri="{FF2B5EF4-FFF2-40B4-BE49-F238E27FC236}">
                <a16:creationId xmlns:a16="http://schemas.microsoft.com/office/drawing/2014/main" id="{E4A753C9-CA3A-41C7-A4EE-05E21B08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Who owns the identity</a:t>
            </a:r>
          </a:p>
        </p:txBody>
      </p:sp>
      <p:sp>
        <p:nvSpPr>
          <p:cNvPr id="16" name="txt-0.40139813716974215">
            <a:extLst xmlns:a="http://schemas.openxmlformats.org/drawingml/2006/main">
              <a:ext uri="{FF2B5EF4-FFF2-40B4-BE49-F238E27FC236}">
                <a16:creationId xmlns:a16="http://schemas.microsoft.com/office/drawing/2014/main" id="{37489C51-BCB5-4B30-A04A-88847DC4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Name • logo • provenance</a:t>
            </a:r>
          </a:p>
        </p:txBody>
      </p:sp>
      <p:sp>
        <p:nvSpPr>
          <p:cNvPr id="17" name="license-takeaway">
            <a:extLst xmlns:a="http://schemas.openxmlformats.org/drawingml/2006/main">
              <a:ext uri="{FF2B5EF4-FFF2-40B4-BE49-F238E27FC236}">
                <a16:creationId xmlns:a16="http://schemas.microsoft.com/office/drawing/2014/main" id="{C7238475-99E8-4F43-9007-6AC25241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14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D190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8" name="txt-0.11882646369421523">
            <a:extLst xmlns:a="http://schemas.openxmlformats.org/drawingml/2006/main">
              <a:ext uri="{FF2B5EF4-FFF2-40B4-BE49-F238E27FC236}">
                <a16:creationId xmlns:a16="http://schemas.microsoft.com/office/drawing/2014/main" id="{A8624415-F292-4CA7-A1CB-3D2DF40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081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Open source describes rights. It does not guarantee zero cost, zero ownership, or zero support.</a:t>
            </a:r>
          </a:p>
        </p:txBody>
      </p:sp>
      <p:sp>
        <p:nvSpPr>
          <p:cNvPr id="19" name="nav-home">
            <a:extLst xmlns:a="http://schemas.openxmlformats.org/drawingml/2006/main">
              <a:ext uri="{FF2B5EF4-FFF2-40B4-BE49-F238E27FC236}">
                <a16:creationId xmlns:a16="http://schemas.microsoft.com/office/drawing/2014/main" id="{F1824918-CE49-4728-982E-7F5E17934AC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0" name="nav-back">
            <a:extLst xmlns:a="http://schemas.openxmlformats.org/drawingml/2006/main">
              <a:ext uri="{FF2B5EF4-FFF2-40B4-BE49-F238E27FC236}">
                <a16:creationId xmlns:a16="http://schemas.microsoft.com/office/drawing/2014/main" id="{D794EC05-0ED1-4BC9-8AC1-889CCE1A01E5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1" name="nav-next">
            <a:extLst xmlns:a="http://schemas.openxmlformats.org/drawingml/2006/main">
              <a:ext uri="{FF2B5EF4-FFF2-40B4-BE49-F238E27FC236}">
                <a16:creationId xmlns:a16="http://schemas.microsoft.com/office/drawing/2014/main" id="{690BBE33-C5C3-4BF4-887E-8C7606E17D2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484772727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ill">
            <a:extLst xmlns:a="http://schemas.openxmlformats.org/drawingml/2006/main">
              <a:ext uri="{FF2B5EF4-FFF2-40B4-BE49-F238E27FC236}">
                <a16:creationId xmlns:a16="http://schemas.microsoft.com/office/drawing/2014/main" id="{BE2C1082-BEA8-4569-AB3A-F95ED4B7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DIMENSION 05 • PARADIGM</a:t>
            </a:r>
          </a:p>
        </p:txBody>
      </p:sp>
      <p:sp>
        <p:nvSpPr>
          <p:cNvPr id="2" name="txt-0.6253788175538721">
            <a:extLst xmlns:a="http://schemas.openxmlformats.org/drawingml/2006/main">
              <a:ext uri="{FF2B5EF4-FFF2-40B4-BE49-F238E27FC236}">
                <a16:creationId xmlns:a16="http://schemas.microsoft.com/office/drawing/2014/main" id="{D6AB0AC9-C095-4108-8FEC-8D00E1DD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OOP and procedural styles organize complexity differently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2BF6BD7-CDBA-4E94-8820-3CD4F684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869772195937847">
            <a:extLst xmlns:a="http://schemas.openxmlformats.org/drawingml/2006/main">
              <a:ext uri="{FF2B5EF4-FFF2-40B4-BE49-F238E27FC236}">
                <a16:creationId xmlns:a16="http://schemas.microsoft.com/office/drawing/2014/main" id="{CE068F58-D972-4E1A-84EC-712918FB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172831A8-3234-42BB-B7CE-1160482C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6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2E9C662-04B6-4307-B110-3B0A00A1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7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76B121BF-3E22-4D31-BDB9-E6BDFEB4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57375"/>
            <a:ext cx="5476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F22AC2E4-5A2D-47AF-A959-8CC78731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57375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txt-0.5478600202787123">
            <a:extLst xmlns:a="http://schemas.openxmlformats.org/drawingml/2006/main">
              <a:ext uri="{FF2B5EF4-FFF2-40B4-BE49-F238E27FC236}">
                <a16:creationId xmlns:a16="http://schemas.microsoft.com/office/drawing/2014/main" id="{229C4742-46B9-403E-881A-76200D3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OBJECT-ORIENTED</a:t>
            </a:r>
          </a:p>
        </p:txBody>
      </p:sp>
      <p:sp>
        <p:nvSpPr>
          <p:cNvPr id="10" name="txt-0.41779031982433956">
            <a:extLst xmlns:a="http://schemas.openxmlformats.org/drawingml/2006/main">
              <a:ext uri="{FF2B5EF4-FFF2-40B4-BE49-F238E27FC236}">
                <a16:creationId xmlns:a16="http://schemas.microsoft.com/office/drawing/2014/main" id="{76F7A67B-F29F-4385-9DAF-90DA362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Bundle state and behavior into objects. Encapsulation, composition, inheritance, and polymorphism can express relationships.</a:t>
            </a:r>
          </a:p>
        </p:txBody>
      </p:sp>
      <p:sp>
        <p:nvSpPr>
          <p:cNvPr id="11" name="txt-0.1580624351089972">
            <a:extLst xmlns:a="http://schemas.openxmlformats.org/drawingml/2006/main">
              <a:ext uri="{FF2B5EF4-FFF2-40B4-BE49-F238E27FC236}">
                <a16:creationId xmlns:a16="http://schemas.microsoft.com/office/drawing/2014/main" id="{E500018B-463D-4EBD-B221-77C92874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2407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PROCEDURAL</a:t>
            </a:r>
          </a:p>
        </p:txBody>
      </p:sp>
      <p:sp>
        <p:nvSpPr>
          <p:cNvPr id="12" name="txt-0.45278742230454416">
            <a:extLst xmlns:a="http://schemas.openxmlformats.org/drawingml/2006/main">
              <a:ext uri="{FF2B5EF4-FFF2-40B4-BE49-F238E27FC236}">
                <a16:creationId xmlns:a16="http://schemas.microsoft.com/office/drawing/2014/main" id="{B481979C-2394-4201-85CA-2B728E0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00325"/>
            <a:ext cx="4810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Organize work as procedures that transform data. Functions and explicit data flow remain central.</a:t>
            </a:r>
          </a:p>
        </p:txBody>
      </p:sp>
      <p:sp>
        <p:nvSpPr>
          <p:cNvPr id="13" name="multi">
            <a:extLst xmlns:a="http://schemas.openxmlformats.org/drawingml/2006/main">
              <a:ext uri="{FF2B5EF4-FFF2-40B4-BE49-F238E27FC236}">
                <a16:creationId xmlns:a16="http://schemas.microsoft.com/office/drawing/2014/main" id="{3B7A81DB-ADE9-4C8D-9A09-BE00EDC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101A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pill">
            <a:extLst xmlns:a="http://schemas.openxmlformats.org/drawingml/2006/main">
              <a:ext uri="{FF2B5EF4-FFF2-40B4-BE49-F238E27FC236}">
                <a16:creationId xmlns:a16="http://schemas.microsoft.com/office/drawing/2014/main" id="{00A755C7-86CB-4CED-93F9-A64F554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762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MULTI-PARADIGM</a:t>
            </a:r>
          </a:p>
        </p:txBody>
      </p:sp>
      <p:sp>
        <p:nvSpPr>
          <p:cNvPr id="15" name="txt-0.032390752730467876">
            <a:extLst xmlns:a="http://schemas.openxmlformats.org/drawingml/2006/main">
              <a:ext uri="{FF2B5EF4-FFF2-40B4-BE49-F238E27FC236}">
                <a16:creationId xmlns:a16="http://schemas.microsoft.com/office/drawing/2014/main" id="{0F07AA7D-D900-4D86-8893-3067B9E4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767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Python supports objects, functions, and other styles. A paradigm is a tool for reasoning—not a quality score.</a:t>
            </a:r>
          </a:p>
        </p:txBody>
      </p:sp>
      <p:sp>
        <p:nvSpPr>
          <p:cNvPr id="16" name="nav-home">
            <a:extLst xmlns:a="http://schemas.openxmlformats.org/drawingml/2006/main">
              <a:ext uri="{FF2B5EF4-FFF2-40B4-BE49-F238E27FC236}">
                <a16:creationId xmlns:a16="http://schemas.microsoft.com/office/drawing/2014/main" id="{55BF81E8-5F45-40F4-944A-8870EE0B6FD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7" name="nav-back">
            <a:extLst xmlns:a="http://schemas.openxmlformats.org/drawingml/2006/main">
              <a:ext uri="{FF2B5EF4-FFF2-40B4-BE49-F238E27FC236}">
                <a16:creationId xmlns:a16="http://schemas.microsoft.com/office/drawing/2014/main" id="{43CAB361-8202-4D4A-BF49-FBD0038D68D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18" name="nav-next">
            <a:extLst xmlns:a="http://schemas.openxmlformats.org/drawingml/2006/main">
              <a:ext uri="{FF2B5EF4-FFF2-40B4-BE49-F238E27FC236}">
                <a16:creationId xmlns:a16="http://schemas.microsoft.com/office/drawing/2014/main" id="{75A120BF-5115-45C7-91DC-28CBF39DFE3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064933125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4810C759-E129-4A12-B8ED-45E10A90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PARADIGM • CODE</a:t>
            </a:r>
          </a:p>
        </p:txBody>
      </p:sp>
      <p:sp>
        <p:nvSpPr>
          <p:cNvPr id="2" name="txt-0.9316955542682098">
            <a:extLst xmlns:a="http://schemas.openxmlformats.org/drawingml/2006/main">
              <a:ext uri="{FF2B5EF4-FFF2-40B4-BE49-F238E27FC236}">
                <a16:creationId xmlns:a16="http://schemas.microsoft.com/office/drawing/2014/main" id="{5269423B-7B8E-4849-A95C-B03C560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The same behavior can be expressed in either style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5E0914D-F355-47B2-A961-9994174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701192913808626">
            <a:extLst xmlns:a="http://schemas.openxmlformats.org/drawingml/2006/main">
              <a:ext uri="{FF2B5EF4-FFF2-40B4-BE49-F238E27FC236}">
                <a16:creationId xmlns:a16="http://schemas.microsoft.com/office/drawing/2014/main" id="{52D9EB05-6991-45DB-9A26-645BDEB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3752EB61-61AF-4B71-9F9A-60D723A9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5334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FC7DCBDC-B5DA-425A-B22B-C1D41BD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7" name="txt-0.4692170792773962">
            <a:extLst xmlns:a="http://schemas.openxmlformats.org/drawingml/2006/main">
              <a:ext uri="{FF2B5EF4-FFF2-40B4-BE49-F238E27FC236}">
                <a16:creationId xmlns:a16="http://schemas.microsoft.com/office/drawing/2014/main" id="{0A4EAC32-8F96-4230-A46D-F836F7D0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48196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class Account: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    def deposit(self, amount):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        self.balance += amount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account.deposit(100)</a:t>
            </a:r>
          </a:p>
        </p:txBody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2C31D67C-D9DA-4B1C-90F9-07276CED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5334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E5247677-4E45-453F-A3F6-E4F3CA69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txt-0.07918582849763467">
            <a:extLst xmlns:a="http://schemas.openxmlformats.org/drawingml/2006/main">
              <a:ext uri="{FF2B5EF4-FFF2-40B4-BE49-F238E27FC236}">
                <a16:creationId xmlns:a16="http://schemas.microsoft.com/office/drawing/2014/main" id="{453DF55D-B573-4E20-9283-C912A29E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85975"/>
            <a:ext cx="48196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def deposit(account, amount):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    account["balance"] += amount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deposit(account, 100)</a:t>
            </a:r>
          </a:p>
        </p:txBody>
      </p:sp>
      <p:sp>
        <p:nvSpPr>
          <p:cNvPr id="11" name="txt-0.867916071068185">
            <a:extLst xmlns:a="http://schemas.openxmlformats.org/drawingml/2006/main">
              <a:ext uri="{FF2B5EF4-FFF2-40B4-BE49-F238E27FC236}">
                <a16:creationId xmlns:a16="http://schemas.microsoft.com/office/drawing/2014/main" id="{ECBAE300-8A2A-4B82-B3C2-C6B790FA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OBJECT-ORIENTED</a:t>
            </a:r>
          </a:p>
        </p:txBody>
      </p:sp>
      <p:sp>
        <p:nvSpPr>
          <p:cNvPr id="12" name="txt-0.8645945895628838">
            <a:extLst xmlns:a="http://schemas.openxmlformats.org/drawingml/2006/main">
              <a:ext uri="{FF2B5EF4-FFF2-40B4-BE49-F238E27FC236}">
                <a16:creationId xmlns:a16="http://schemas.microsoft.com/office/drawing/2014/main" id="{818956C3-AD98-4234-8C36-FD4D85EE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PROCEDURAL STYLE</a:t>
            </a:r>
          </a:p>
        </p:txBody>
      </p:sp>
      <p:sp>
        <p:nvSpPr>
          <p:cNvPr id="13" name="txt-0.7672960493149453">
            <a:extLst xmlns:a="http://schemas.openxmlformats.org/drawingml/2006/main">
              <a:ext uri="{FF2B5EF4-FFF2-40B4-BE49-F238E27FC236}">
                <a16:creationId xmlns:a16="http://schemas.microsoft.com/office/drawing/2014/main" id="{982391B9-71E0-427B-9538-E5B6F2E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The trade-off is how responsibilities and state are made visible.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1F018737-4654-4AF6-8ECD-60AE975D5FE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822FEC19-84AB-4B31-A278-E396700C1A2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44A13236-9514-410D-94E0-2D565D17AC4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280944986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E49150A7-2DA6-414C-B062-5DED5E1D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CLICK YOUR ANSWER</a:t>
            </a:r>
          </a:p>
        </p:txBody>
      </p:sp>
      <p:sp>
        <p:nvSpPr>
          <p:cNvPr id="2" name="txt-0.7378784510842906">
            <a:extLst xmlns:a="http://schemas.openxmlformats.org/drawingml/2006/main">
              <a:ext uri="{FF2B5EF4-FFF2-40B4-BE49-F238E27FC236}">
                <a16:creationId xmlns:a16="http://schemas.microsoft.com/office/drawing/2014/main" id="{BDB19123-69EC-494D-9B03-5FA877BE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Challenge: classify this Python scenario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C72E769-A204-4253-AAC1-7A6ED6CA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5391668516698159">
            <a:extLst xmlns:a="http://schemas.openxmlformats.org/drawingml/2006/main">
              <a:ext uri="{FF2B5EF4-FFF2-40B4-BE49-F238E27FC236}">
                <a16:creationId xmlns:a16="http://schemas.microsoft.com/office/drawing/2014/main" id="{493A29C2-C663-4759-A9BA-AE5D75F1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scenario">
            <a:extLst xmlns:a="http://schemas.openxmlformats.org/drawingml/2006/main">
              <a:ext uri="{FF2B5EF4-FFF2-40B4-BE49-F238E27FC236}">
                <a16:creationId xmlns:a16="http://schemas.microsoft.com/office/drawing/2014/main" id="{3B212E9C-5EE4-43D0-BCAF-572B3DE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6" name="txt-0.9035887502591352">
            <a:extLst xmlns:a="http://schemas.openxmlformats.org/drawingml/2006/main">
              <a:ext uri="{FF2B5EF4-FFF2-40B4-BE49-F238E27FC236}">
                <a16:creationId xmlns:a16="http://schemas.microsoft.com/office/drawing/2014/main" id="{5C44B5A2-CADF-4279-BB36-B5750296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 Python tool reads CSV files, transforms data, and runs nightly on a server.</a:t>
            </a:r>
          </a:p>
        </p:txBody>
      </p:sp>
      <p:sp>
        <p:nvSpPr>
          <p:cNvPr id="7" name="txt-0.43539881805415026">
            <a:extLst xmlns:a="http://schemas.openxmlformats.org/drawingml/2006/main">
              <a:ext uri="{FF2B5EF4-FFF2-40B4-BE49-F238E27FC236}">
                <a16:creationId xmlns:a16="http://schemas.microsoft.com/office/drawing/2014/main" id="{4D7D0DC4-B635-4E09-897F-49B19951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Which statement is the most accurate?</a:t>
            </a:r>
          </a:p>
        </p:txBody>
      </p:sp>
      <p:sp>
        <p:nvSpPr>
          <p:cNvPr id="8" name="quiz-a">
            <a:extLst xmlns:a="http://schemas.openxmlformats.org/drawingml/2006/main">
              <a:ext uri="{FF2B5EF4-FFF2-40B4-BE49-F238E27FC236}">
                <a16:creationId xmlns:a16="http://schemas.microsoft.com/office/drawing/2014/main" id="{B90DDBDE-D9A0-4702-875C-0EDDF2D5F59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  •  It is interpreted, therefore it cannot be compiled.</a:t>
            </a:r>
          </a:p>
        </p:txBody>
      </p:sp>
      <p:sp>
        <p:nvSpPr>
          <p:cNvPr id="9" name="quiz-b">
            <a:extLst xmlns:a="http://schemas.openxmlformats.org/drawingml/2006/main">
              <a:ext uri="{FF2B5EF4-FFF2-40B4-BE49-F238E27FC236}">
                <a16:creationId xmlns:a16="http://schemas.microsoft.com/office/drawing/2014/main" id="{1934E0F8-572F-43F1-A216-05EAA894CE3F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112A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  •  It is high-level automation; CPython typically compiles it to bytecode before execution.</a:t>
            </a:r>
          </a:p>
        </p:txBody>
      </p:sp>
      <p:sp>
        <p:nvSpPr>
          <p:cNvPr id="10" name="quiz-c">
            <a:extLst xmlns:a="http://schemas.openxmlformats.org/drawingml/2006/main">
              <a:ext uri="{FF2B5EF4-FFF2-40B4-BE49-F238E27FC236}">
                <a16:creationId xmlns:a16="http://schemas.microsoft.com/office/drawing/2014/main" id="{3169D7FC-4E1E-4EFA-8334-F929EC9EFDEC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  •  Because Python supports OOP, the tool must be object-oriented.</a:t>
            </a:r>
          </a:p>
        </p:txBody>
      </p:sp>
      <p:sp>
        <p:nvSpPr>
          <p:cNvPr id="11" name="nav-home">
            <a:extLst xmlns:a="http://schemas.openxmlformats.org/drawingml/2006/main">
              <a:ext uri="{FF2B5EF4-FFF2-40B4-BE49-F238E27FC236}">
                <a16:creationId xmlns:a16="http://schemas.microsoft.com/office/drawing/2014/main" id="{0F2300C9-2F5C-4471-ACA5-867B99BAE74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2" name="nav-back">
            <a:extLst xmlns:a="http://schemas.openxmlformats.org/drawingml/2006/main">
              <a:ext uri="{FF2B5EF4-FFF2-40B4-BE49-F238E27FC236}">
                <a16:creationId xmlns:a16="http://schemas.microsoft.com/office/drawing/2014/main" id="{5EEB214D-0A64-417D-BE21-50B0BF8994E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</p:spTree>
    <p:extLst>
      <p:ext uri="{BB962C8B-B14F-4D97-AF65-F5344CB8AC3E}">
        <p14:creationId xmlns:p14="http://schemas.microsoft.com/office/powerpoint/2010/main" val="900793969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rong-ring">
            <a:extLst xmlns:a="http://schemas.openxmlformats.org/drawingml/2006/main">
              <a:ext uri="{FF2B5EF4-FFF2-40B4-BE49-F238E27FC236}">
                <a16:creationId xmlns:a16="http://schemas.microsoft.com/office/drawing/2014/main" id="{ACCC71B7-33F9-47B5-BD9C-1456F9E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118"/>
          </a:solidFill>
          <a:ln xmlns:a="http://schemas.openxmlformats.org/drawingml/2006/main" w="28575">
            <a:solidFill>
              <a:srgbClr val="F87171"/>
            </a:solidFill>
            <a:prstDash val="solid"/>
          </a:ln>
        </p:spPr>
      </p:sp>
      <p:sp>
        <p:nvSpPr>
          <p:cNvPr id="2" name="txt-0.5712991305919203">
            <a:extLst xmlns:a="http://schemas.openxmlformats.org/drawingml/2006/main">
              <a:ext uri="{FF2B5EF4-FFF2-40B4-BE49-F238E27FC236}">
                <a16:creationId xmlns:a16="http://schemas.microsoft.com/office/drawing/2014/main" id="{B5DD56BB-DD1F-4E52-84C1-D236A998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620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0" b="1">
                <a:solidFill>
                  <a:srgbClr val="F87171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87171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B4F8158A-26F4-431A-94EC-357E358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192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NOT QUITE</a:t>
            </a:r>
          </a:p>
        </p:txBody>
      </p:sp>
      <p:sp>
        <p:nvSpPr>
          <p:cNvPr id="4" name="txt-0.7340698994414846">
            <a:extLst xmlns:a="http://schemas.openxmlformats.org/drawingml/2006/main">
              <a:ext uri="{FF2B5EF4-FFF2-40B4-BE49-F238E27FC236}">
                <a16:creationId xmlns:a16="http://schemas.microsoft.com/office/drawing/2014/main" id="{832B129C-A5E8-4782-941A-22AF7C2F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One label never tells the whole story.</a:t>
            </a:r>
          </a:p>
        </p:txBody>
      </p:sp>
      <p:sp>
        <p:nvSpPr>
          <p:cNvPr id="5" name="txt-0.2897583709585062">
            <a:extLst xmlns:a="http://schemas.openxmlformats.org/drawingml/2006/main">
              <a:ext uri="{FF2B5EF4-FFF2-40B4-BE49-F238E27FC236}">
                <a16:creationId xmlns:a16="http://schemas.microsoft.com/office/drawing/2014/main" id="{B2611D84-4DB0-4730-ABE9-77F1140B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Compilation and interpretation can coexist. Supporting OOP does not force every program to use it.</a:t>
            </a:r>
          </a:p>
        </p:txBody>
      </p:sp>
      <p:sp>
        <p:nvSpPr>
          <p:cNvPr id="6" name="try-again">
            <a:extLst xmlns:a="http://schemas.openxmlformats.org/drawingml/2006/main">
              <a:ext uri="{FF2B5EF4-FFF2-40B4-BE49-F238E27FC236}">
                <a16:creationId xmlns:a16="http://schemas.microsoft.com/office/drawing/2014/main" id="{0DEE2027-3E91-49D2-B66B-265BBB36C10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←  TRY AGAIN</a:t>
            </a:r>
          </a:p>
        </p:txBody>
      </p:sp>
      <p:sp>
        <p:nvSpPr>
          <p:cNvPr id="7" name="wrong-menu">
            <a:extLst xmlns:a="http://schemas.openxmlformats.org/drawingml/2006/main">
              <a:ext uri="{FF2B5EF4-FFF2-40B4-BE49-F238E27FC236}">
                <a16:creationId xmlns:a16="http://schemas.microsoft.com/office/drawing/2014/main" id="{65E9E5F3-9E3E-4F6E-9C98-51613857B1E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RETURN TO MENU</a:t>
            </a:r>
          </a:p>
        </p:txBody>
      </p:sp>
    </p:spTree>
    <p:extLst>
      <p:ext uri="{BB962C8B-B14F-4D97-AF65-F5344CB8AC3E}">
        <p14:creationId xmlns:p14="http://schemas.microsoft.com/office/powerpoint/2010/main" val="1142113023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rrect-ring">
            <a:extLst xmlns:a="http://schemas.openxmlformats.org/drawingml/2006/main">
              <a:ext uri="{FF2B5EF4-FFF2-40B4-BE49-F238E27FC236}">
                <a16:creationId xmlns:a16="http://schemas.microsoft.com/office/drawing/2014/main" id="{4383D06F-A50D-4350-AD4A-87DA99B6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1E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" name="txt-0.6927674135579055">
            <a:extLst xmlns:a="http://schemas.openxmlformats.org/drawingml/2006/main">
              <a:ext uri="{FF2B5EF4-FFF2-40B4-BE49-F238E27FC236}">
                <a16:creationId xmlns:a16="http://schemas.microsoft.com/office/drawing/2014/main" id="{4A40078F-16E7-42E1-A2EB-0FA5EEC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2E1DB634-424D-4AB0-B469-9AC3077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19200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4" name="txt-0.2985180924839993">
            <a:extLst xmlns:a="http://schemas.openxmlformats.org/drawingml/2006/main">
              <a:ext uri="{FF2B5EF4-FFF2-40B4-BE49-F238E27FC236}">
                <a16:creationId xmlns:a16="http://schemas.microsoft.com/office/drawing/2014/main" id="{8D7A9628-1DAF-4509-A17D-F4D44F61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You classified the scenario across dimensions.</a:t>
            </a:r>
          </a:p>
        </p:txBody>
      </p:sp>
      <p:sp>
        <p:nvSpPr>
          <p:cNvPr id="5" name="txt-0.46781880172805446">
            <a:extLst xmlns:a="http://schemas.openxmlformats.org/drawingml/2006/main">
              <a:ext uri="{FF2B5EF4-FFF2-40B4-BE49-F238E27FC236}">
                <a16:creationId xmlns:a16="http://schemas.microsoft.com/office/drawing/2014/main" id="{1DA89476-1283-45E8-BFBF-864C32E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781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High-level describes abstraction. Automation describes purpose. CPython’s bytecode path describes execution. The tool’s license and coding style remain separate questions.</a:t>
            </a:r>
          </a:p>
        </p:txBody>
      </p:sp>
      <p:sp>
        <p:nvSpPr>
          <p:cNvPr id="6" name="continue-summary">
            <a:extLst xmlns:a="http://schemas.openxmlformats.org/drawingml/2006/main">
              <a:ext uri="{FF2B5EF4-FFF2-40B4-BE49-F238E27FC236}">
                <a16:creationId xmlns:a16="http://schemas.microsoft.com/office/drawing/2014/main" id="{628B9AED-E887-449A-8F9F-62D5B3AD481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SEE THE FINAL MODEL  →</a:t>
            </a:r>
          </a:p>
        </p:txBody>
      </p:sp>
      <p:sp>
        <p:nvSpPr>
          <p:cNvPr id="7" name="correct-menu">
            <a:extLst xmlns:a="http://schemas.openxmlformats.org/drawingml/2006/main">
              <a:ext uri="{FF2B5EF4-FFF2-40B4-BE49-F238E27FC236}">
                <a16:creationId xmlns:a16="http://schemas.microsoft.com/office/drawing/2014/main" id="{CC0D3E7C-6CF4-485E-8DB0-8C135124AAF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52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</p:spTree>
    <p:extLst>
      <p:ext uri="{BB962C8B-B14F-4D97-AF65-F5344CB8AC3E}">
        <p14:creationId xmlns:p14="http://schemas.microsoft.com/office/powerpoint/2010/main" val="1602724942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ill">
            <a:extLst xmlns:a="http://schemas.openxmlformats.org/drawingml/2006/main">
              <a:ext uri="{FF2B5EF4-FFF2-40B4-BE49-F238E27FC236}">
                <a16:creationId xmlns:a16="http://schemas.microsoft.com/office/drawing/2014/main" id="{F0B60CD9-9558-4110-90D5-4FFE407F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FINAL MODEL</a:t>
            </a:r>
          </a:p>
        </p:txBody>
      </p:sp>
      <p:sp>
        <p:nvSpPr>
          <p:cNvPr id="2" name="txt-0.07671941144583394">
            <a:extLst xmlns:a="http://schemas.openxmlformats.org/drawingml/2006/main">
              <a:ext uri="{FF2B5EF4-FFF2-40B4-BE49-F238E27FC236}">
                <a16:creationId xmlns:a16="http://schemas.microsoft.com/office/drawing/2014/main" id="{FA0107B8-E2D6-44DF-A147-305295E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Five questions prevent category mistakes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E90C5EC-8970-42F0-962D-D1A28AE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4095477497225821">
            <a:extLst xmlns:a="http://schemas.openxmlformats.org/drawingml/2006/main">
              <a:ext uri="{FF2B5EF4-FFF2-40B4-BE49-F238E27FC236}">
                <a16:creationId xmlns:a16="http://schemas.microsoft.com/office/drawing/2014/main" id="{30B5969A-88C6-4EB9-B332-2A8919F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xt-0.2211792785182357">
            <a:extLst xmlns:a="http://schemas.openxmlformats.org/drawingml/2006/main">
              <a:ext uri="{FF2B5EF4-FFF2-40B4-BE49-F238E27FC236}">
                <a16:creationId xmlns:a16="http://schemas.microsoft.com/office/drawing/2014/main" id="{ACCE9332-C16E-4F48-B9A9-BF961C3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67FDD971-647D-4588-A674-4E19D195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7" name="txt-0.24714689655598554">
            <a:extLst xmlns:a="http://schemas.openxmlformats.org/drawingml/2006/main">
              <a:ext uri="{FF2B5EF4-FFF2-40B4-BE49-F238E27FC236}">
                <a16:creationId xmlns:a16="http://schemas.microsoft.com/office/drawing/2014/main" id="{75943A07-A75C-44FC-8E2D-2D99B627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ABSTRACTION</a:t>
            </a:r>
          </a:p>
        </p:txBody>
      </p:sp>
      <p:sp>
        <p:nvSpPr>
          <p:cNvPr id="8" name="txt-0.2997712248033876">
            <a:extLst xmlns:a="http://schemas.openxmlformats.org/drawingml/2006/main">
              <a:ext uri="{FF2B5EF4-FFF2-40B4-BE49-F238E27FC236}">
                <a16:creationId xmlns:a16="http://schemas.microsoft.com/office/drawing/2014/main" id="{C714549E-C364-4C90-9095-07677BB9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How far from hardware?</a:t>
            </a:r>
          </a:p>
        </p:txBody>
      </p:sp>
      <p:sp>
        <p:nvSpPr>
          <p:cNvPr id="9" name="txt-0.5692459206382692">
            <a:extLst xmlns:a="http://schemas.openxmlformats.org/drawingml/2006/main">
              <a:ext uri="{FF2B5EF4-FFF2-40B4-BE49-F238E27FC236}">
                <a16:creationId xmlns:a16="http://schemas.microsoft.com/office/drawing/2014/main" id="{787227A8-C74D-46B3-B332-763A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F1B2DD9-94E1-4D5C-82AC-16A0364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1" name="txt-0.6399012202585441">
            <a:extLst xmlns:a="http://schemas.openxmlformats.org/drawingml/2006/main">
              <a:ext uri="{FF2B5EF4-FFF2-40B4-BE49-F238E27FC236}">
                <a16:creationId xmlns:a16="http://schemas.microsoft.com/office/drawing/2014/main" id="{C2A3BEC9-F2D9-45E3-93C0-1668E83A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2" name="txt-0.033855942427808206">
            <a:extLst xmlns:a="http://schemas.openxmlformats.org/drawingml/2006/main">
              <a:ext uri="{FF2B5EF4-FFF2-40B4-BE49-F238E27FC236}">
                <a16:creationId xmlns:a16="http://schemas.microsoft.com/office/drawing/2014/main" id="{5C641A42-4E9D-42F3-807A-1394A04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When/how is translation performed?</a:t>
            </a:r>
          </a:p>
        </p:txBody>
      </p:sp>
      <p:sp>
        <p:nvSpPr>
          <p:cNvPr id="13" name="txt-0.9818520919082344">
            <a:extLst xmlns:a="http://schemas.openxmlformats.org/drawingml/2006/main">
              <a:ext uri="{FF2B5EF4-FFF2-40B4-BE49-F238E27FC236}">
                <a16:creationId xmlns:a16="http://schemas.microsoft.com/office/drawing/2014/main" id="{58667FDF-B003-4065-92C6-563E189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1F20FC1-128D-4B94-8D6C-23C5F1C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5" name="txt-0.4381211417943126">
            <a:extLst xmlns:a="http://schemas.openxmlformats.org/drawingml/2006/main">
              <a:ext uri="{FF2B5EF4-FFF2-40B4-BE49-F238E27FC236}">
                <a16:creationId xmlns:a16="http://schemas.microsoft.com/office/drawing/2014/main" id="{C2AF7F1A-C1E1-49D1-A1AF-DD4D0A53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6" name="txt-0.25514266366985494">
            <a:extLst xmlns:a="http://schemas.openxmlformats.org/drawingml/2006/main">
              <a:ext uri="{FF2B5EF4-FFF2-40B4-BE49-F238E27FC236}">
                <a16:creationId xmlns:a16="http://schemas.microsoft.com/office/drawing/2014/main" id="{ACBB30A4-833A-411C-9EEE-8EAE71E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What role does the code play?</a:t>
            </a:r>
          </a:p>
        </p:txBody>
      </p:sp>
      <p:sp>
        <p:nvSpPr>
          <p:cNvPr id="17" name="txt-0.46992055010398326">
            <a:extLst xmlns:a="http://schemas.openxmlformats.org/drawingml/2006/main">
              <a:ext uri="{FF2B5EF4-FFF2-40B4-BE49-F238E27FC236}">
                <a16:creationId xmlns:a16="http://schemas.microsoft.com/office/drawing/2014/main" id="{0F55DC74-7E60-497A-964F-DDF3DAE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D0BC0722-07C2-4B41-8D03-0EE034D4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9" name="txt-0.8579958540943857">
            <a:extLst xmlns:a="http://schemas.openxmlformats.org/drawingml/2006/main">
              <a:ext uri="{FF2B5EF4-FFF2-40B4-BE49-F238E27FC236}">
                <a16:creationId xmlns:a16="http://schemas.microsoft.com/office/drawing/2014/main" id="{2A67C026-58A0-464B-8641-CF56B16D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38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LICENSING</a:t>
            </a:r>
          </a:p>
        </p:txBody>
      </p:sp>
      <p:sp>
        <p:nvSpPr>
          <p:cNvPr id="20" name="txt-0.888992339599057">
            <a:extLst xmlns:a="http://schemas.openxmlformats.org/drawingml/2006/main">
              <a:ext uri="{FF2B5EF4-FFF2-40B4-BE49-F238E27FC236}">
                <a16:creationId xmlns:a16="http://schemas.microsoft.com/office/drawing/2014/main" id="{2693D787-3512-4DC5-BCD2-F451BF6B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What rights are granted?</a:t>
            </a:r>
          </a:p>
        </p:txBody>
      </p:sp>
      <p:sp>
        <p:nvSpPr>
          <p:cNvPr id="21" name="txt-0.01591029583178105">
            <a:extLst xmlns:a="http://schemas.openxmlformats.org/drawingml/2006/main">
              <a:ext uri="{FF2B5EF4-FFF2-40B4-BE49-F238E27FC236}">
                <a16:creationId xmlns:a16="http://schemas.microsoft.com/office/drawing/2014/main" id="{30E26BAF-A95E-47DB-9A4D-F6E40B38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0F742D31-A44D-4308-A8FC-4F6E6859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23" name="txt-0.5715990615200455">
            <a:extLst xmlns:a="http://schemas.openxmlformats.org/drawingml/2006/main">
              <a:ext uri="{FF2B5EF4-FFF2-40B4-BE49-F238E27FC236}">
                <a16:creationId xmlns:a16="http://schemas.microsoft.com/office/drawing/2014/main" id="{BB308AF3-F435-4C16-8529-05B8714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24" name="txt-0.691248196502882">
            <a:extLst xmlns:a="http://schemas.openxmlformats.org/drawingml/2006/main">
              <a:ext uri="{FF2B5EF4-FFF2-40B4-BE49-F238E27FC236}">
                <a16:creationId xmlns:a16="http://schemas.microsoft.com/office/drawing/2014/main" id="{EE26ADC2-19AE-4C57-AD9E-A9D0800F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How is behavior organized?</a:t>
            </a:r>
          </a:p>
        </p:txBody>
      </p:sp>
      <p:sp>
        <p:nvSpPr>
          <p:cNvPr id="25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49395600-2C7A-4C60-9BAA-45353625370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EXPLORE AGAIN</a:t>
            </a:r>
          </a:p>
        </p:txBody>
      </p:sp>
    </p:spTree>
    <p:extLst>
      <p:ext uri="{BB962C8B-B14F-4D97-AF65-F5344CB8AC3E}">
        <p14:creationId xmlns:p14="http://schemas.microsoft.com/office/powerpoint/2010/main" val="1324844453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2026-08-07T19:18:54.3190000Z</dcterms:created>
  <dcterms:modified xsi:type="dcterms:W3CDTF">2026-08-07T19:18:54.3190000Z</dcterms:modified>
</coreProperties>
</file>