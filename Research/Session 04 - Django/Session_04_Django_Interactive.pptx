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a954c2ebc747f7" /><Relationship Type="http://schemas.openxmlformats.org/officeDocument/2006/relationships/extended-properties" Target="/docProps/app.xml" Id="Rccbafbbf1d024319" /><Relationship Type="http://schemas.openxmlformats.org/officeDocument/2006/relationships/officeDocument" Target="/ppt/presentation.xml" Id="R81531f5c8c5e4d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d313c80c2143f3"/>
  </p:sldMasterIdLst>
  <p:notesMasterIdLst>
    <p:notesMasterId xmlns:r="http://schemas.openxmlformats.org/officeDocument/2006/relationships" r:id="R749dad87fbcb44ed"/>
  </p:notesMasterIdLst>
  <p:sldIdLst>
    <p:sldId xmlns:r="http://schemas.openxmlformats.org/officeDocument/2006/relationships" id="256" r:id="R7ec3f9c29b6b4191"/>
    <p:sldId xmlns:r="http://schemas.openxmlformats.org/officeDocument/2006/relationships" id="257" r:id="Rde328aac019f4e7b"/>
    <p:sldId xmlns:r="http://schemas.openxmlformats.org/officeDocument/2006/relationships" id="258" r:id="Rc9c2816a9dca477d"/>
    <p:sldId xmlns:r="http://schemas.openxmlformats.org/officeDocument/2006/relationships" id="259" r:id="R437dfd28c3404c48"/>
    <p:sldId xmlns:r="http://schemas.openxmlformats.org/officeDocument/2006/relationships" id="260" r:id="Re77dc78658f8446a"/>
    <p:sldId xmlns:r="http://schemas.openxmlformats.org/officeDocument/2006/relationships" id="261" r:id="Rc950370885b348cc"/>
    <p:sldId xmlns:r="http://schemas.openxmlformats.org/officeDocument/2006/relationships" id="262" r:id="Ra9538b593c864d25"/>
    <p:sldId xmlns:r="http://schemas.openxmlformats.org/officeDocument/2006/relationships" id="263" r:id="R936b0797c15d4634"/>
    <p:sldId xmlns:r="http://schemas.openxmlformats.org/officeDocument/2006/relationships" id="264" r:id="Rd8520dfcdf224515"/>
    <p:sldId xmlns:r="http://schemas.openxmlformats.org/officeDocument/2006/relationships" id="265" r:id="R9746bb20f9db4ff5"/>
    <p:sldId xmlns:r="http://schemas.openxmlformats.org/officeDocument/2006/relationships" id="266" r:id="R039712fd656d461d"/>
    <p:sldId xmlns:r="http://schemas.openxmlformats.org/officeDocument/2006/relationships" id="267" r:id="Ra11d09a371ea4972"/>
    <p:sldId xmlns:r="http://schemas.openxmlformats.org/officeDocument/2006/relationships" id="268" r:id="Rab980ff0117742a7"/>
    <p:sldId xmlns:r="http://schemas.openxmlformats.org/officeDocument/2006/relationships" id="269" r:id="Rf60eeb1967db467a"/>
    <p:sldId xmlns:r="http://schemas.openxmlformats.org/officeDocument/2006/relationships" id="270" r:id="R20b4400018264944"/>
    <p:sldId xmlns:r="http://schemas.openxmlformats.org/officeDocument/2006/relationships" id="271" r:id="R07cd707ea5ba4ada"/>
    <p:sldId xmlns:r="http://schemas.openxmlformats.org/officeDocument/2006/relationships" id="272" r:id="Rfdcfb577ce56433f"/>
    <p:sldId xmlns:r="http://schemas.openxmlformats.org/officeDocument/2006/relationships" id="273" r:id="R233cc1abde9647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250d1332704fe5" /><Relationship Type="http://schemas.openxmlformats.org/officeDocument/2006/relationships/slideMaster" Target="/ppt/slideMasters/slideMaster1.xml" Id="R2bd313c80c2143f3" /><Relationship Type="http://schemas.openxmlformats.org/officeDocument/2006/relationships/notesMaster" Target="/ppt/notesMasters/notesMaster1.xml" Id="R749dad87fbcb44ed" /><Relationship Type="http://schemas.openxmlformats.org/officeDocument/2006/relationships/presProps" Target="/ppt/presProps.xml" Id="R516090fc1367443c" /><Relationship Type="http://schemas.openxmlformats.org/officeDocument/2006/relationships/tableStyles" Target="/ppt/tableStyles.xml" Id="R1ca305926f0b4df7" /><Relationship Type="http://schemas.openxmlformats.org/officeDocument/2006/relationships/slide" Target="/ppt/slides/slide1.xml" Id="R7ec3f9c29b6b4191" /><Relationship Type="http://schemas.openxmlformats.org/officeDocument/2006/relationships/slide" Target="/ppt/slides/slide2.xml" Id="Rde328aac019f4e7b" /><Relationship Type="http://schemas.openxmlformats.org/officeDocument/2006/relationships/slide" Target="/ppt/slides/slide3.xml" Id="Rc9c2816a9dca477d" /><Relationship Type="http://schemas.openxmlformats.org/officeDocument/2006/relationships/slide" Target="/ppt/slides/slide4.xml" Id="R437dfd28c3404c48" /><Relationship Type="http://schemas.openxmlformats.org/officeDocument/2006/relationships/slide" Target="/ppt/slides/slide5.xml" Id="Re77dc78658f8446a" /><Relationship Type="http://schemas.openxmlformats.org/officeDocument/2006/relationships/slide" Target="/ppt/slides/slide6.xml" Id="Rc950370885b348cc" /><Relationship Type="http://schemas.openxmlformats.org/officeDocument/2006/relationships/slide" Target="/ppt/slides/slide7.xml" Id="Ra9538b593c864d25" /><Relationship Type="http://schemas.openxmlformats.org/officeDocument/2006/relationships/slide" Target="/ppt/slides/slide8.xml" Id="R936b0797c15d4634" /><Relationship Type="http://schemas.openxmlformats.org/officeDocument/2006/relationships/slide" Target="/ppt/slides/slide9.xml" Id="Rd8520dfcdf224515" /><Relationship Type="http://schemas.openxmlformats.org/officeDocument/2006/relationships/slide" Target="/ppt/slides/slide10.xml" Id="R9746bb20f9db4ff5" /><Relationship Type="http://schemas.openxmlformats.org/officeDocument/2006/relationships/slide" Target="/ppt/slides/slide11.xml" Id="R039712fd656d461d" /><Relationship Type="http://schemas.openxmlformats.org/officeDocument/2006/relationships/slide" Target="/ppt/slides/slide12.xml" Id="Ra11d09a371ea4972" /><Relationship Type="http://schemas.openxmlformats.org/officeDocument/2006/relationships/slide" Target="/ppt/slides/slide13.xml" Id="Rab980ff0117742a7" /><Relationship Type="http://schemas.openxmlformats.org/officeDocument/2006/relationships/slide" Target="/ppt/slides/slide14.xml" Id="Rf60eeb1967db467a" /><Relationship Type="http://schemas.openxmlformats.org/officeDocument/2006/relationships/slide" Target="/ppt/slides/slide15.xml" Id="R20b4400018264944" /><Relationship Type="http://schemas.openxmlformats.org/officeDocument/2006/relationships/slide" Target="/ppt/slides/slide16.xml" Id="R07cd707ea5ba4ada" /><Relationship Type="http://schemas.openxmlformats.org/officeDocument/2006/relationships/slide" Target="/ppt/slides/slide17.xml" Id="Rfdcfb577ce56433f" /><Relationship Type="http://schemas.openxmlformats.org/officeDocument/2006/relationships/slide" Target="/ppt/slides/slide18.xml" Id="R233cc1abde9647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da56f0ff0f4e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f96e441e734a18" /><Relationship Type="http://schemas.openxmlformats.org/officeDocument/2006/relationships/notesMaster" Target="/ppt/notesMasters/notesMaster1.xml" Id="Raf8751361c4547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b37b9c83dd48ac" /><Relationship Type="http://schemas.openxmlformats.org/officeDocument/2006/relationships/notesMaster" Target="/ppt/notesMasters/notesMaster1.xml" Id="R31ff62cc11ca46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d38c3237554598" /><Relationship Type="http://schemas.openxmlformats.org/officeDocument/2006/relationships/notesMaster" Target="/ppt/notesMasters/notesMaster1.xml" Id="R4072a9ada9934d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aca136dcc84d41" /><Relationship Type="http://schemas.openxmlformats.org/officeDocument/2006/relationships/notesMaster" Target="/ppt/notesMasters/notesMaster1.xml" Id="R3e8cc516efe242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511a294a1c4e3a" /><Relationship Type="http://schemas.openxmlformats.org/officeDocument/2006/relationships/notesMaster" Target="/ppt/notesMasters/notesMaster1.xml" Id="R2f96a581edf142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a38164ea1c4919" /><Relationship Type="http://schemas.openxmlformats.org/officeDocument/2006/relationships/notesMaster" Target="/ppt/notesMasters/notesMaster1.xml" Id="Rde05d69ec9f646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efa7670d1d4dec" /><Relationship Type="http://schemas.openxmlformats.org/officeDocument/2006/relationships/notesMaster" Target="/ppt/notesMasters/notesMaster1.xml" Id="R78138bbb532341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b013a02a98448e" /><Relationship Type="http://schemas.openxmlformats.org/officeDocument/2006/relationships/notesMaster" Target="/ppt/notesMasters/notesMaster1.xml" Id="Re9402541a08441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92f4e831d24e17" /><Relationship Type="http://schemas.openxmlformats.org/officeDocument/2006/relationships/notesMaster" Target="/ppt/notesMasters/notesMaster1.xml" Id="Ra9bc196fc3434a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aaa4521aa946bd" /><Relationship Type="http://schemas.openxmlformats.org/officeDocument/2006/relationships/notesMaster" Target="/ppt/notesMasters/notesMaster1.xml" Id="R14a6b13094c946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e94c0995984d19" /><Relationship Type="http://schemas.openxmlformats.org/officeDocument/2006/relationships/notesMaster" Target="/ppt/notesMasters/notesMaster1.xml" Id="Rf4ec85432b6b46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59708ac55a4142" /><Relationship Type="http://schemas.openxmlformats.org/officeDocument/2006/relationships/notesMaster" Target="/ppt/notesMasters/notesMaster1.xml" Id="R9b6dd94f264b4cd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9457ac577664df4" /><Relationship Type="http://schemas.openxmlformats.org/officeDocument/2006/relationships/notesMaster" Target="/ppt/notesMasters/notesMaster1.xml" Id="R622c2c693c1d42e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c99867e7a740dd" /><Relationship Type="http://schemas.openxmlformats.org/officeDocument/2006/relationships/notesMaster" Target="/ppt/notesMasters/notesMaster1.xml" Id="R56ca00c31abd4ce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d517382c2546da" /><Relationship Type="http://schemas.openxmlformats.org/officeDocument/2006/relationships/notesMaster" Target="/ppt/notesMasters/notesMaster1.xml" Id="R89f6d9bd19824b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bac2660b7774ea0" /><Relationship Type="http://schemas.openxmlformats.org/officeDocument/2006/relationships/notesMaster" Target="/ppt/notesMasters/notesMaster1.xml" Id="Rfb7a9920f7de46a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3666e788acc4ab5" /><Relationship Type="http://schemas.openxmlformats.org/officeDocument/2006/relationships/notesMaster" Target="/ppt/notesMasters/notesMaster1.xml" Id="R38d3c293419647d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b94b57a14fc4577" /><Relationship Type="http://schemas.openxmlformats.org/officeDocument/2006/relationships/notesMaster" Target="/ppt/notesMasters/notesMaster1.xml" Id="Rfd31cf2e316e4e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https://www.djangoproject.com/</a:t>
            </a:r>
          </a:p>
          <a:p xmlns:a="http://schemas.openxmlformats.org/drawingml/2006/main">
            <a:r>
              <a:t>- https://docs.djangoproject.com/en/6.1/intro/overview/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https://docs.djangoproject.com/en/6.1/intro/overview/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https://docs.djangoproject.com/en/6.1/intro/overview/</a:t>
            </a:r>
          </a:p>
          <a:p xmlns:a="http://schemas.openxmlformats.org/drawingml/2006/main">
            <a:r>
              <a:t>- https://www.djangoproject.com/start/overview/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https://www.djangoproject.com/start/overview/</a:t>
            </a:r>
          </a:p>
          <a:p xmlns:a="http://schemas.openxmlformats.org/drawingml/2006/main">
            <a:r>
              <a:t>- https://docs.djangoproject.com/en/6.1/faq/general/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https://docs.djangoproject.com/en/6.1/topics/http/urls/</a:t>
            </a:r>
          </a:p>
          <a:p xmlns:a="http://schemas.openxmlformats.org/drawingml/2006/main">
            <a:r>
              <a:t>- https://docs.djangoproject.com/en/6.1/topics/http/views/</a:t>
            </a:r>
          </a:p>
          <a:p xmlns:a="http://schemas.openxmlformats.org/drawingml/2006/main">
            <a:r>
              <a:t>- https://docs.djangoproject.com/en/6.1/topics/http/middleware/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https://docs.djangoproject.com/en/6.1/faq/general/#django-appears-to-be-a-mvc-framework-but-you-call-the-controller-the-view-and-the-view-the-template-how-come-you-don-t-use-the-standard-names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https://docs.djangoproject.com/en/6.1/topics/db/models/</a:t>
            </a:r>
          </a:p>
          <a:p xmlns:a="http://schemas.openxmlformats.org/drawingml/2006/main">
            <a:r>
              <a:t>- https://docs.djangoproject.com/en/6.1/topics/migrations/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https://docs.djangoproject.com/en/6.1/topics/db/queries/</a:t>
            </a:r>
          </a:p>
          <a:p xmlns:a="http://schemas.openxmlformats.org/drawingml/2006/main">
            <a:r>
              <a:t>- https://docs.djangoproject.com/en/6.1/ref/models/querysets/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https://docs.djangoproject.com/en/6.1/ref/contrib/admin/</a:t>
            </a:r>
          </a:p>
          <a:p xmlns:a="http://schemas.openxmlformats.org/drawingml/2006/main">
            <a:r>
              <a:t>- https://docs.djangoproject.com/en/6.1/intro/overview/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https://docs.djangoproject.com/en/6.1/topics/auth/</a:t>
            </a:r>
          </a:p>
          <a:p xmlns:a="http://schemas.openxmlformats.org/drawingml/2006/main">
            <a:r>
              <a:t>- https://docs.djangoproject.com/en/6.1/topics/auth/customizing/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https://docs.djangoproject.com/en/6.1/topics/security/</a:t>
            </a:r>
          </a:p>
          <a:p xmlns:a="http://schemas.openxmlformats.org/drawingml/2006/main">
            <a:r>
              <a:t>- https://docs.djangoproject.com/en/6.1/ref/csp/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https://docs.djangoproject.com/en/6.1/howto/deployment/checklist/</a:t>
            </a:r>
          </a:p>
          <a:p xmlns:a="http://schemas.openxmlformats.org/drawingml/2006/main">
            <a:r>
              <a:t>- https://docs.djangoproject.com/en/6.1/howto/deployment/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https://www.djangoproject.com/download/</a:t>
            </a:r>
          </a:p>
          <a:p xmlns:a="http://schemas.openxmlformats.org/drawingml/2006/main">
            <a:r>
              <a:t>- https://docs.djangoproject.com/en/6.0/releases/6.0.8/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https://docs.djangoproject.com/en/6.1/intro/tutorial01/</a:t>
            </a:r>
          </a:p>
          <a:p xmlns:a="http://schemas.openxmlformats.org/drawingml/2006/main">
            <a:r>
              <a:t>- https://docs.djangoproject.com/en/6.1/ref/django-admin/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https://docs.djangoproject.com/en/6.1/ref/contrib/admin/</a:t>
            </a:r>
          </a:p>
          <a:p xmlns:a="http://schemas.openxmlformats.org/drawingml/2006/main">
            <a:r>
              <a:t>- https://docs.djangoproject.com/en/6.1/intro/overview/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https://docs.djangoproject.com/en/6.1/ref/contrib/admin/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https://docs.djangoproject.com/en/6.1/ref/contrib/admin/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https://docs.djangoproject.com/en/6.1/</a:t>
            </a:r>
          </a:p>
          <a:p xmlns:a="http://schemas.openxmlformats.org/drawingml/2006/main">
            <a:r>
              <a:t>- https://www.djangoproject.com/download/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b0d45fc9e043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ec8997b9e04898" /><Relationship Type="http://schemas.openxmlformats.org/officeDocument/2006/relationships/slideLayout" Target="/ppt/slideLayouts/slideLayout1.xml" Id="R24eabb5d66a14a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eabb5d66a14a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483afc2208c489e" /><Relationship Type="http://schemas.openxmlformats.org/officeDocument/2006/relationships/notesSlide" Target="/ppt/notesSlides/notesSlide1.xml" Id="Re75c214689cb4740" /><Relationship Id="rId1" Type="http://schemas.openxmlformats.org/officeDocument/2006/relationships/slide" Target="slide2.xml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ec075a3f1bd48b5" /><Relationship Type="http://schemas.openxmlformats.org/officeDocument/2006/relationships/notesSlide" Target="/ppt/notesSlides/notesSlide2.xml" Id="R34dcc5c3f03b4ef7" /><Relationship Id="rId1" Type="http://schemas.openxmlformats.org/officeDocument/2006/relationships/slide" Target="slide3.xml" /><Relationship Id="rId2" Type="http://schemas.openxmlformats.org/officeDocument/2006/relationships/slide" Target="slide5.xml" /><Relationship Id="rId3" Type="http://schemas.openxmlformats.org/officeDocument/2006/relationships/slide" Target="slide7.xml" /><Relationship Id="rId4" Type="http://schemas.openxmlformats.org/officeDocument/2006/relationships/slide" Target="slide9.xml" /><Relationship Id="rId5" Type="http://schemas.openxmlformats.org/officeDocument/2006/relationships/slide" Target="slide11.xml" /><Relationship Id="rId6" Type="http://schemas.openxmlformats.org/officeDocument/2006/relationships/slide" Target="slide15.xml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54a5db50ac34733" /><Relationship Type="http://schemas.openxmlformats.org/officeDocument/2006/relationships/notesSlide" Target="/ppt/notesSlides/notesSlide3.xml" Id="R878262ac94714206" /><Relationship Id="rId1" Type="http://schemas.openxmlformats.org/officeDocument/2006/relationships/slide" Target="slide2.xml" /><Relationship Id="rId2" Type="http://schemas.openxmlformats.org/officeDocument/2006/relationships/slide" Target="slide4.xml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6780d0d0cc24174" /><Relationship Type="http://schemas.openxmlformats.org/officeDocument/2006/relationships/notesSlide" Target="/ppt/notesSlides/notesSlide4.xml" Id="R812d987561ca4401" /><Relationship Id="rId1" Type="http://schemas.openxmlformats.org/officeDocument/2006/relationships/slide" Target="slide2.xml" /><Relationship Id="rId2" Type="http://schemas.openxmlformats.org/officeDocument/2006/relationships/slide" Target="slide3.xml" /><Relationship Id="rId3" Type="http://schemas.openxmlformats.org/officeDocument/2006/relationships/slide" Target="slide5.xml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f3fff6f2775420e" /><Relationship Type="http://schemas.openxmlformats.org/officeDocument/2006/relationships/notesSlide" Target="/ppt/notesSlides/notesSlide5.xml" Id="R731ff42a8f104e48" /><Relationship Id="rId1" Type="http://schemas.openxmlformats.org/officeDocument/2006/relationships/slide" Target="slide2.xml" /><Relationship Id="rId2" Type="http://schemas.openxmlformats.org/officeDocument/2006/relationships/slide" Target="slide4.xml" /><Relationship Id="rId3" Type="http://schemas.openxmlformats.org/officeDocument/2006/relationships/slide" Target="slide6.xml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c0b7530597b4413" /><Relationship Type="http://schemas.openxmlformats.org/officeDocument/2006/relationships/notesSlide" Target="/ppt/notesSlides/notesSlide6.xml" Id="Rfa536571b75841ee" /><Relationship Id="rId1" Type="http://schemas.openxmlformats.org/officeDocument/2006/relationships/slide" Target="slide2.xml" /><Relationship Id="rId2" Type="http://schemas.openxmlformats.org/officeDocument/2006/relationships/slide" Target="slide5.xml" /><Relationship Id="rId3" Type="http://schemas.openxmlformats.org/officeDocument/2006/relationships/slide" Target="slide7.xml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0611ed5b1b145a7" /><Relationship Type="http://schemas.openxmlformats.org/officeDocument/2006/relationships/notesSlide" Target="/ppt/notesSlides/notesSlide7.xml" Id="R2bd9cddedac0428c" /><Relationship Id="rId1" Type="http://schemas.openxmlformats.org/officeDocument/2006/relationships/slide" Target="slide2.xml" /><Relationship Id="rId2" Type="http://schemas.openxmlformats.org/officeDocument/2006/relationships/slide" Target="slide6.xml" /><Relationship Id="rId3" Type="http://schemas.openxmlformats.org/officeDocument/2006/relationships/slide" Target="slide8.xml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e09f8449d334f72" /><Relationship Type="http://schemas.openxmlformats.org/officeDocument/2006/relationships/notesSlide" Target="/ppt/notesSlides/notesSlide8.xml" Id="R8c0b3794307548e3" /><Relationship Id="rId1" Type="http://schemas.openxmlformats.org/officeDocument/2006/relationships/slide" Target="slide2.xml" /><Relationship Id="rId2" Type="http://schemas.openxmlformats.org/officeDocument/2006/relationships/slide" Target="slide7.xml" /><Relationship Id="rId3" Type="http://schemas.openxmlformats.org/officeDocument/2006/relationships/slide" Target="slide9.xml" 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844a7622e574b20" /><Relationship Type="http://schemas.openxmlformats.org/officeDocument/2006/relationships/notesSlide" Target="/ppt/notesSlides/notesSlide9.xml" Id="Rf349386ee4dc43a9" /><Relationship Id="rId1" Type="http://schemas.openxmlformats.org/officeDocument/2006/relationships/slide" Target="slide2.xml" /><Relationship Id="rId2" Type="http://schemas.openxmlformats.org/officeDocument/2006/relationships/slide" Target="slide8.xml" /><Relationship Id="rId3" Type="http://schemas.openxmlformats.org/officeDocument/2006/relationships/slide" Target="slide10.xml" 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5daa7dcdf7f4914" /><Relationship Type="http://schemas.openxmlformats.org/officeDocument/2006/relationships/notesSlide" Target="/ppt/notesSlides/notesSlide10.xml" Id="Raf47161a641c441f" /><Relationship Id="rId1" Type="http://schemas.openxmlformats.org/officeDocument/2006/relationships/slide" Target="slide2.xml" /><Relationship Id="rId2" Type="http://schemas.openxmlformats.org/officeDocument/2006/relationships/slide" Target="slide9.xml" /><Relationship Id="rId3" Type="http://schemas.openxmlformats.org/officeDocument/2006/relationships/slide" Target="slide11.xml" /></Relationships>
</file>

<file path=ppt/slides/_rels/slide1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a87069b111f4466" /><Relationship Type="http://schemas.openxmlformats.org/officeDocument/2006/relationships/notesSlide" Target="/ppt/notesSlides/notesSlide11.xml" Id="R28dd2a1d24044bd7" /><Relationship Id="rId1" Type="http://schemas.openxmlformats.org/officeDocument/2006/relationships/slide" Target="slide2.xml" /><Relationship Id="rId2" Type="http://schemas.openxmlformats.org/officeDocument/2006/relationships/slide" Target="slide10.xml" /><Relationship Id="rId3" Type="http://schemas.openxmlformats.org/officeDocument/2006/relationships/slide" Target="slide12.xml" /></Relationships>
</file>

<file path=ppt/slides/_rels/slide1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c882e5c48b14ddd" /><Relationship Type="http://schemas.openxmlformats.org/officeDocument/2006/relationships/notesSlide" Target="/ppt/notesSlides/notesSlide12.xml" Id="R2a16874f34a14968" /><Relationship Id="rId1" Type="http://schemas.openxmlformats.org/officeDocument/2006/relationships/slide" Target="slide2.xml" /><Relationship Id="rId2" Type="http://schemas.openxmlformats.org/officeDocument/2006/relationships/slide" Target="slide11.xml" /><Relationship Id="rId3" Type="http://schemas.openxmlformats.org/officeDocument/2006/relationships/slide" Target="slide13.xml" /></Relationships>
</file>

<file path=ppt/slides/_rels/slide1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44f878fc0854de2" /><Relationship Type="http://schemas.openxmlformats.org/officeDocument/2006/relationships/notesSlide" Target="/ppt/notesSlides/notesSlide13.xml" Id="R07719e2286404dc2" /><Relationship Id="rId1" Type="http://schemas.openxmlformats.org/officeDocument/2006/relationships/slide" Target="slide2.xml" /><Relationship Id="rId2" Type="http://schemas.openxmlformats.org/officeDocument/2006/relationships/slide" Target="slide12.xml" /><Relationship Id="rId3" Type="http://schemas.openxmlformats.org/officeDocument/2006/relationships/slide" Target="slide14.xml" /></Relationships>
</file>

<file path=ppt/slides/_rels/slide1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b28795ad0f14248" /><Relationship Type="http://schemas.openxmlformats.org/officeDocument/2006/relationships/notesSlide" Target="/ppt/notesSlides/notesSlide14.xml" Id="R7045513cad284fea" /><Relationship Id="rId1" Type="http://schemas.openxmlformats.org/officeDocument/2006/relationships/slide" Target="slide2.xml" /><Relationship Id="rId2" Type="http://schemas.openxmlformats.org/officeDocument/2006/relationships/slide" Target="slide13.xml" /><Relationship Id="rId3" Type="http://schemas.openxmlformats.org/officeDocument/2006/relationships/slide" Target="slide15.xml" /></Relationships>
</file>

<file path=ppt/slides/_rels/slide1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5632556f98841d3" /><Relationship Type="http://schemas.openxmlformats.org/officeDocument/2006/relationships/notesSlide" Target="/ppt/notesSlides/notesSlide15.xml" Id="R24e45434e24940a9" /><Relationship Id="rId1" Type="http://schemas.openxmlformats.org/officeDocument/2006/relationships/slide" Target="slide2.xml" /><Relationship Id="rId2" Type="http://schemas.openxmlformats.org/officeDocument/2006/relationships/slide" Target="slide14.xml" /><Relationship Id="rId3" Type="http://schemas.openxmlformats.org/officeDocument/2006/relationships/slide" Target="slide16.xml" /><Relationship Id="rId4" Type="http://schemas.openxmlformats.org/officeDocument/2006/relationships/slide" Target="slide17.xml" /><Relationship Id="rId5" Type="http://schemas.openxmlformats.org/officeDocument/2006/relationships/slide" Target="slide16.xml" /></Relationships>
</file>

<file path=ppt/slides/_rels/slide1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99f89ec73ed4245" /><Relationship Type="http://schemas.openxmlformats.org/officeDocument/2006/relationships/notesSlide" Target="/ppt/notesSlides/notesSlide16.xml" Id="R6d933c47565c4825" /><Relationship Id="rId1" Type="http://schemas.openxmlformats.org/officeDocument/2006/relationships/slide" Target="slide15.xml" /><Relationship Id="rId2" Type="http://schemas.openxmlformats.org/officeDocument/2006/relationships/slide" Target="slide2.xml" /></Relationships>
</file>

<file path=ppt/slides/_rels/slide1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1f9bbd7c7974111" /><Relationship Type="http://schemas.openxmlformats.org/officeDocument/2006/relationships/notesSlide" Target="/ppt/notesSlides/notesSlide17.xml" Id="Rcbc9343764fd4b22" /><Relationship Id="rId1" Type="http://schemas.openxmlformats.org/officeDocument/2006/relationships/slide" Target="slide18.xml" /><Relationship Id="rId2" Type="http://schemas.openxmlformats.org/officeDocument/2006/relationships/slide" Target="slide2.xml" /></Relationships>
</file>

<file path=ppt/slides/_rels/slide1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04ada3450b64997" /><Relationship Type="http://schemas.openxmlformats.org/officeDocument/2006/relationships/notesSlide" Target="/ppt/notesSlides/notesSlide18.xml" Id="Rb3b1d0e69ed44571" /><Relationship Id="rId1" Type="http://schemas.openxmlformats.org/officeDocument/2006/relationships/slide" Target="slide2.xml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orbit">
            <a:extLst xmlns:a="http://schemas.openxmlformats.org/drawingml/2006/main">
              <a:ext uri="{FF2B5EF4-FFF2-40B4-BE49-F238E27FC236}">
                <a16:creationId xmlns:a16="http://schemas.microsoft.com/office/drawing/2014/main" id="{D0654072-78D5-418A-A9F2-9BC275BE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bit2">
            <a:extLst xmlns:a="http://schemas.openxmlformats.org/drawingml/2006/main">
              <a:ext uri="{FF2B5EF4-FFF2-40B4-BE49-F238E27FC236}">
                <a16:creationId xmlns:a16="http://schemas.microsoft.com/office/drawing/2014/main" id="{39C665EB-A947-420C-B6FD-0E20A202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62500"/>
            <a:ext cx="2476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1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ill">
            <a:extLst xmlns:a="http://schemas.openxmlformats.org/drawingml/2006/main">
              <a:ext uri="{FF2B5EF4-FFF2-40B4-BE49-F238E27FC236}">
                <a16:creationId xmlns:a16="http://schemas.microsoft.com/office/drawing/2014/main" id="{5E0BDD47-34C6-4C7D-BEAA-C1FE2D30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2381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D3EE"/>
          </a:solidFill>
          <a:ln xmlns:a="http://schemas.openxmlformats.org/drawingml/2006/main" w="0">
            <a:solidFill>
              <a:srgbClr val="27D3EE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B85489E-AEC3-4286-BD00-35E43AFE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RESEARCH • SESSION 04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294877E-5275-44E8-9C35-1170990D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Django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2CF710E-9023-43B4-AAF8-29253E05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D3E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7D3EE"/>
                </a:solidFill>
                <a:latin typeface="Aptos"/>
                <a:ea typeface="Aptos"/>
                <a:cs typeface="Aptos"/>
              </a:rPr>
              <a:t>From URL to database—and safely back.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33F7BB7-9C26-4B44-B998-FC43E418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647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A practical map of the Python web framework: architecture, ORM, admin, security, versions, and first project.</a:t>
            </a:r>
          </a:p>
        </p:txBody>
      </p:sp>
      <p:sp>
        <p:nvSpPr>
          <p:cNvPr id="8" name="code">
            <a:extLst xmlns:a="http://schemas.openxmlformats.org/drawingml/2006/main">
              <a:ext uri="{FF2B5EF4-FFF2-40B4-BE49-F238E27FC236}">
                <a16:creationId xmlns:a16="http://schemas.microsoft.com/office/drawing/2014/main" id="{6B7F87EC-0E50-457F-9B78-3B884DE3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3905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0E14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45008D8-808F-4FB8-8B9C-2F3CF1FE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A3B"/>
          </a:solidFill>
          <a:ln xmlns:a="http://schemas.openxmlformats.org/drawingml/2006/main" w="0">
            <a:solidFill>
              <a:srgbClr val="A6EA3B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31D4263-E373-4CA0-8B05-957076BE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66900"/>
            <a:ext cx="35052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GET /articles/42/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        ↓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 URL → View → Model → Template</a:t>
            </a:r>
          </a:p>
        </p:txBody>
      </p:sp>
      <p:sp>
        <p:nvSpPr>
          <p:cNvPr id="11" name="start">
            <a:extLst xmlns:a="http://schemas.openxmlformats.org/drawingml/2006/main">
              <a:ext uri="{FF2B5EF4-FFF2-40B4-BE49-F238E27FC236}">
                <a16:creationId xmlns:a16="http://schemas.microsoft.com/office/drawing/2014/main" id="{A00F1C58-89C0-40AE-B8B8-5A7BCE28B2F3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2381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7D3EE"/>
          </a:solidFill>
          <a:ln xmlns:a="http://schemas.openxmlformats.org/drawingml/2006/main" w="9525">
            <a:solidFill>
              <a:srgbClr val="27D3E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EXPLORE DJANGO →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5582028-71D3-4106-A162-F9DDF038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2C2"/>
                </a:solidFill>
                <a:latin typeface="Aptos"/>
                <a:ea typeface="Aptos"/>
                <a:cs typeface="Aptos"/>
              </a:rPr>
              <a:t>AI Diploma • Session 04</a:t>
            </a:r>
          </a:p>
        </p:txBody>
      </p:sp>
    </p:spTree>
    <p:extLst>
      <p:ext uri="{BB962C8B-B14F-4D97-AF65-F5344CB8AC3E}">
        <p14:creationId xmlns:p14="http://schemas.microsoft.com/office/powerpoint/2010/main" val="551648251"/>
      </p:ext>
    </p:extLst>
  </p:cSld>
  <p:transition spd="fast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ill">
            <a:extLst xmlns:a="http://schemas.openxmlformats.org/drawingml/2006/main">
              <a:ext uri="{FF2B5EF4-FFF2-40B4-BE49-F238E27FC236}">
                <a16:creationId xmlns:a16="http://schemas.microsoft.com/office/drawing/2014/main" id="{211A7907-2C0A-472F-A7D5-B4FEF9C6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D3EE"/>
          </a:solidFill>
          <a:ln xmlns:a="http://schemas.openxmlformats.org/drawingml/2006/main" w="0">
            <a:solidFill>
              <a:srgbClr val="27D3EE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C5DE476-42FB-43FA-94EA-8B3645A2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INTERACTIVE FRAMEWORK MAP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FC6970B-90F3-462A-B62D-1A474D7B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Choose the part of Django you want to understand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6E5099B4-7D23-4CEF-B690-5566A1A6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CBBF12D-812E-486C-8EA0-0302EE57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B316463-B135-442E-A27E-D369CAEC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Explore the system by responsibility—not by memorizing folders.</a:t>
            </a:r>
          </a:p>
        </p:txBody>
      </p:sp>
      <p:sp>
        <p:nvSpPr>
          <p:cNvPr id="7" name="menu-why">
            <a:extLst xmlns:a="http://schemas.openxmlformats.org/drawingml/2006/main">
              <a:ext uri="{FF2B5EF4-FFF2-40B4-BE49-F238E27FC236}">
                <a16:creationId xmlns:a16="http://schemas.microsoft.com/office/drawing/2014/main" id="{EDEC1DD3-E790-4472-91C4-CDA9D40B8B86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2028825" cy="257175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7D3E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01</a:t>
            </a:r>
          </a:p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WHY DJANGO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scope + fit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C79A03B7-C4A8-47B5-8FD4-B761180D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20288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EE"/>
          </a:solidFill>
          <a:ln xmlns:a="http://schemas.openxmlformats.org/drawingml/2006/main" w="0">
            <a:solidFill>
              <a:srgbClr val="27D3EE"/>
            </a:solidFill>
            <a:prstDash val="solid"/>
          </a:ln>
        </p:spPr>
      </p:sp>
      <p:sp>
        <p:nvSpPr>
          <p:cNvPr id="9" name="menu-flow">
            <a:extLst xmlns:a="http://schemas.openxmlformats.org/drawingml/2006/main">
              <a:ext uri="{FF2B5EF4-FFF2-40B4-BE49-F238E27FC236}">
                <a16:creationId xmlns:a16="http://schemas.microsoft.com/office/drawing/2014/main" id="{2FC6CA9B-8D1D-4866-AB56-5FA32A753293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428875"/>
            <a:ext cx="2028825" cy="257175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9B6C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02</a:t>
            </a:r>
          </a:p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REQUEST 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URL to response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F63A627D-0EAB-46C4-853C-A198EDE0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428875"/>
            <a:ext cx="20288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CFF"/>
          </a:solidFill>
          <a:ln xmlns:a="http://schemas.openxmlformats.org/drawingml/2006/main" w="0">
            <a:solidFill>
              <a:srgbClr val="9B6CFF"/>
            </a:solidFill>
            <a:prstDash val="solid"/>
          </a:ln>
        </p:spPr>
      </p:sp>
      <p:sp>
        <p:nvSpPr>
          <p:cNvPr id="11" name="menu-data">
            <a:extLst xmlns:a="http://schemas.openxmlformats.org/drawingml/2006/main">
              <a:ext uri="{FF2B5EF4-FFF2-40B4-BE49-F238E27FC236}">
                <a16:creationId xmlns:a16="http://schemas.microsoft.com/office/drawing/2014/main" id="{F7D03C96-C5C6-404F-84FD-418DF59DD5A4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2028825" cy="257175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A6EA3B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03</a:t>
            </a:r>
          </a:p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DATA LAYER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models + ORM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10910219-6D2C-483B-B210-321955A2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20288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A3B"/>
          </a:solidFill>
          <a:ln xmlns:a="http://schemas.openxmlformats.org/drawingml/2006/main" w="0">
            <a:solidFill>
              <a:srgbClr val="A6EA3B"/>
            </a:solidFill>
            <a:prstDash val="solid"/>
          </a:ln>
        </p:spPr>
      </p:sp>
      <p:sp>
        <p:nvSpPr>
          <p:cNvPr id="13" name="menu-tools">
            <a:extLst xmlns:a="http://schemas.openxmlformats.org/drawingml/2006/main">
              <a:ext uri="{FF2B5EF4-FFF2-40B4-BE49-F238E27FC236}">
                <a16:creationId xmlns:a16="http://schemas.microsoft.com/office/drawing/2014/main" id="{E49BAC56-D37A-4D09-A2F5-A843E1B6785F}"/>
              </a:ext>
            </a:extLst>
            <a:hlinkClick xmlns:p7="http://schemas.openxmlformats.org/officeDocument/2006/relationships" xmlns:a="http://schemas.openxmlformats.org/drawingml/2006/main" p7:id="rId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428875"/>
            <a:ext cx="2028825" cy="257175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FFC247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04</a:t>
            </a:r>
          </a:p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BUILT-INS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admin + auth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0C894217-C0EF-4059-95FC-0303B112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428875"/>
            <a:ext cx="20288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247"/>
          </a:solidFill>
          <a:ln xmlns:a="http://schemas.openxmlformats.org/drawingml/2006/main" w="0">
            <a:solidFill>
              <a:srgbClr val="FFC247"/>
            </a:solidFill>
            <a:prstDash val="solid"/>
          </a:ln>
        </p:spPr>
      </p:sp>
      <p:sp>
        <p:nvSpPr>
          <p:cNvPr id="15" name="menu-prod">
            <a:extLst xmlns:a="http://schemas.openxmlformats.org/drawingml/2006/main">
              <a:ext uri="{FF2B5EF4-FFF2-40B4-BE49-F238E27FC236}">
                <a16:creationId xmlns:a16="http://schemas.microsoft.com/office/drawing/2014/main" id="{E1D1F82A-2925-4477-A117-39D6CAC1FA9C}"/>
              </a:ext>
            </a:extLst>
            <a:hlinkClick xmlns:p7="http://schemas.openxmlformats.org/officeDocument/2006/relationships" xmlns:a="http://schemas.openxmlformats.org/drawingml/2006/main" p7:id="rId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28875"/>
            <a:ext cx="2028825" cy="257175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FF637D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05</a:t>
            </a:r>
          </a:p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PRODUCTION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security + deploy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68CFE366-7923-4C80-85CF-3AC2B881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28875"/>
            <a:ext cx="20288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37D"/>
          </a:solidFill>
          <a:ln xmlns:a="http://schemas.openxmlformats.org/drawingml/2006/main" w="0">
            <a:solidFill>
              <a:srgbClr val="FF637D"/>
            </a:solidFill>
            <a:prstDash val="solid"/>
          </a:ln>
        </p:spPr>
      </p:sp>
      <p:sp>
        <p:nvSpPr>
          <p:cNvPr id="17" name="menu-quiz">
            <a:extLst xmlns:a="http://schemas.openxmlformats.org/drawingml/2006/main">
              <a:ext uri="{FF2B5EF4-FFF2-40B4-BE49-F238E27FC236}">
                <a16:creationId xmlns:a16="http://schemas.microsoft.com/office/drawing/2014/main" id="{A062E015-1C91-4046-88B0-4C84228E363C}"/>
              </a:ext>
            </a:extLst>
            <a:hlinkClick xmlns:p7="http://schemas.openxmlformats.org/officeDocument/2006/relationships" xmlns:a="http://schemas.openxmlformats.org/drawingml/2006/main" p7:id="rId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467350"/>
            <a:ext cx="34575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TAKE THE DJANGO CHALLENGE →</a:t>
            </a:r>
          </a:p>
        </p:txBody>
      </p:sp>
    </p:spTree>
    <p:extLst>
      <p:ext uri="{BB962C8B-B14F-4D97-AF65-F5344CB8AC3E}">
        <p14:creationId xmlns:p14="http://schemas.microsoft.com/office/powerpoint/2010/main" val="146799448"/>
      </p:ext>
    </p:extLst>
  </p:cSld>
  <p:transition spd="fast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ill">
            <a:extLst xmlns:a="http://schemas.openxmlformats.org/drawingml/2006/main">
              <a:ext uri="{FF2B5EF4-FFF2-40B4-BE49-F238E27FC236}">
                <a16:creationId xmlns:a16="http://schemas.microsoft.com/office/drawing/2014/main" id="{8630DA58-BDD7-4FA1-94EF-D6B27073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D3EE"/>
          </a:solidFill>
          <a:ln xmlns:a="http://schemas.openxmlformats.org/drawingml/2006/main" w="0">
            <a:solidFill>
              <a:srgbClr val="27D3EE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69B0529-FDCE-4E10-859B-096401EA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1115B28-40EF-415A-A04D-AB6DF2D7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Django is a batteries-included server-side framework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C4533A0F-3131-4309-9B95-C9ABFF9D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CBB2729-EA45-4B52-B2F3-50FB9C3E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0387D9A-8F94-4A7D-9654-5A29F324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5784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It turns Python code into database-backed web applications.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59C424C4-4DA1-4570-8C41-DB5B55D5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EE"/>
          </a:solidFill>
          <a:ln xmlns:a="http://schemas.openxmlformats.org/drawingml/2006/main" w="0">
            <a:solidFill>
              <a:srgbClr val="27D3EE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0F3EFC1-27D0-4C86-A2F2-930C3F1A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D3E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7D3EE"/>
                </a:solidFill>
                <a:latin typeface="Aptos"/>
                <a:ea typeface="Aptos"/>
                <a:cs typeface="Aptos"/>
              </a:rPr>
              <a:t>INCLUDED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CF44A2A-739B-4D58-9210-0C8D6C7D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57575"/>
            <a:ext cx="48577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URL routing, views, templates, ORM, forms, authentication, admin, security tools, testing, caching, and more.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9F95BD1-83AF-4391-91BC-C147DF45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37D"/>
          </a:solidFill>
          <a:ln xmlns:a="http://schemas.openxmlformats.org/drawingml/2006/main" w="0">
            <a:solidFill>
              <a:srgbClr val="FF637D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D6F68B1-70E7-497E-BDB4-0F781DAE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037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37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637D"/>
                </a:solidFill>
                <a:latin typeface="Aptos"/>
                <a:ea typeface="Aptos"/>
                <a:cs typeface="Aptos"/>
              </a:rPr>
              <a:t>NOT INCLUDED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B507CEF-C5E1-49F4-AF14-E25E2F9A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57575"/>
            <a:ext cx="48577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A browser UI framework, a database server, a production web server, or a guarantee that architecture and deployment are correct.</a:t>
            </a:r>
          </a:p>
        </p:txBody>
      </p:sp>
      <p:sp>
        <p:nvSpPr>
          <p:cNvPr id="13" name="principle">
            <a:extLst xmlns:a="http://schemas.openxmlformats.org/drawingml/2006/main">
              <a:ext uri="{FF2B5EF4-FFF2-40B4-BE49-F238E27FC236}">
                <a16:creationId xmlns:a16="http://schemas.microsoft.com/office/drawing/2014/main" id="{243454CC-9C60-4382-A461-59958C69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09347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2027"/>
          </a:solidFill>
          <a:ln xmlns:a="http://schemas.openxmlformats.org/drawingml/2006/main" w="9525">
            <a:solidFill>
              <a:srgbClr val="27D3EE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A241045-988D-48F4-8C4F-04D5B2B8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340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7D3E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7D3EE"/>
                </a:solidFill>
                <a:latin typeface="Aptos"/>
                <a:ea typeface="Aptos"/>
                <a:cs typeface="Aptos"/>
              </a:rPr>
              <a:t>The value is integration: common web concerns share one documented system.</a:t>
            </a:r>
          </a:p>
        </p:txBody>
      </p:sp>
      <p:sp>
        <p:nvSpPr>
          <p:cNvPr id="15" name="nav-home">
            <a:extLst xmlns:a="http://schemas.openxmlformats.org/drawingml/2006/main">
              <a:ext uri="{FF2B5EF4-FFF2-40B4-BE49-F238E27FC236}">
                <a16:creationId xmlns:a16="http://schemas.microsoft.com/office/drawing/2014/main" id="{F3D87938-01FF-409B-A19D-6AAAE7D4A245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MENU</a:t>
            </a:r>
          </a:p>
        </p:txBody>
      </p:sp>
      <p:sp>
        <p:nvSpPr>
          <p:cNvPr id="16" name="nav-next">
            <a:extLst xmlns:a="http://schemas.openxmlformats.org/drawingml/2006/main">
              <a:ext uri="{FF2B5EF4-FFF2-40B4-BE49-F238E27FC236}">
                <a16:creationId xmlns:a16="http://schemas.microsoft.com/office/drawing/2014/main" id="{F78267EB-8F33-4118-8634-10AD3636EBD3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1009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539613712"/>
      </p:ext>
    </p:extLst>
  </p:cSld>
  <p:transition spd="fast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ill">
            <a:extLst xmlns:a="http://schemas.openxmlformats.org/drawingml/2006/main">
              <a:ext uri="{FF2B5EF4-FFF2-40B4-BE49-F238E27FC236}">
                <a16:creationId xmlns:a16="http://schemas.microsoft.com/office/drawing/2014/main" id="{02C70933-3059-4AAC-B6D6-6BE50C83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D3EE"/>
          </a:solidFill>
          <a:ln xmlns:a="http://schemas.openxmlformats.org/drawingml/2006/main" w="0">
            <a:solidFill>
              <a:srgbClr val="27D3EE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3661362-B1EE-4849-86AE-FB9E0A27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WHEN TO USE IT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FF4AAAB-DD21-4FB9-B06F-17B73811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Django fits products where data and workflows dominate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05BC012B-67F1-45A7-A8CD-D66A67D3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6E9FBF1-C8F9-49D5-9DF7-6A72D5DE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100C8604-B6F8-4A4F-985B-3061713F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79A"/>
          </a:solidFill>
          <a:ln xmlns:a="http://schemas.openxmlformats.org/drawingml/2006/main" w="0">
            <a:solidFill>
              <a:srgbClr val="35D79A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6E2BC54-6884-4D93-8D8F-0DF608C4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1064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5D79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5D79A"/>
                </a:solidFill>
                <a:latin typeface="Aptos"/>
                <a:ea typeface="Aptos"/>
                <a:cs typeface="Aptos"/>
              </a:rPr>
              <a:t>STRONG FIT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7A2F721-3D5C-40F6-A0E1-EAD365AA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1064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Content systems, dashboards, marketplaces, internal tools, portals, APIs with Django REST Framework.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386D0118-8464-4CEF-8573-CDD33920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9087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247"/>
          </a:solidFill>
          <a:ln xmlns:a="http://schemas.openxmlformats.org/drawingml/2006/main" w="0">
            <a:solidFill>
              <a:srgbClr val="FFC247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66D9767-169A-4571-9867-D79AB6B5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90875"/>
            <a:ext cx="1064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C24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C247"/>
                </a:solidFill>
                <a:latin typeface="Aptos"/>
                <a:ea typeface="Aptos"/>
                <a:cs typeface="Aptos"/>
              </a:rPr>
              <a:t>TRADE-OFF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6DA6EFD-3D22-4E66-9C5A-8741926B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48075"/>
            <a:ext cx="1064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6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More conventions and framework surface than a microframework; real-time or highly specialized systems may need extra components.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56C9E451-F7DD-422A-8470-59A12E7C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EE"/>
          </a:solidFill>
          <a:ln xmlns:a="http://schemas.openxmlformats.org/drawingml/2006/main" w="0">
            <a:solidFill>
              <a:srgbClr val="27D3EE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D18EE09-49E5-494A-AC59-3FB9BA85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1064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D3E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7D3EE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37E3673-1620-4376-9E7D-4F09B17E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064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Choose it when fast delivery, relational data, authentication, admin workflows, and maintainability matter together.</a:t>
            </a:r>
          </a:p>
        </p:txBody>
      </p:sp>
      <p:sp>
        <p:nvSpPr>
          <p:cNvPr id="15" name="nav-home">
            <a:extLst xmlns:a="http://schemas.openxmlformats.org/drawingml/2006/main">
              <a:ext uri="{FF2B5EF4-FFF2-40B4-BE49-F238E27FC236}">
                <a16:creationId xmlns:a16="http://schemas.microsoft.com/office/drawing/2014/main" id="{1C53E3DC-7AD2-432A-93C1-B72AC4FAD37F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MENU</a:t>
            </a:r>
          </a:p>
        </p:txBody>
      </p:sp>
      <p:sp>
        <p:nvSpPr>
          <p:cNvPr id="16" name="nav-back">
            <a:extLst xmlns:a="http://schemas.openxmlformats.org/drawingml/2006/main">
              <a:ext uri="{FF2B5EF4-FFF2-40B4-BE49-F238E27FC236}">
                <a16:creationId xmlns:a16="http://schemas.microsoft.com/office/drawing/2014/main" id="{A6F6379F-D123-4DC1-8073-C0D96501CE1F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← BACK</a:t>
            </a:r>
          </a:p>
        </p:txBody>
      </p:sp>
      <p:sp>
        <p:nvSpPr>
          <p:cNvPr id="17" name="nav-next">
            <a:extLst xmlns:a="http://schemas.openxmlformats.org/drawingml/2006/main">
              <a:ext uri="{FF2B5EF4-FFF2-40B4-BE49-F238E27FC236}">
                <a16:creationId xmlns:a16="http://schemas.microsoft.com/office/drawing/2014/main" id="{67EEE035-5506-46A8-9A41-454458D903F5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1009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1497792226"/>
      </p:ext>
    </p:extLst>
  </p:cSld>
  <p:transition spd="fast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ill">
            <a:extLst xmlns:a="http://schemas.openxmlformats.org/drawingml/2006/main">
              <a:ext uri="{FF2B5EF4-FFF2-40B4-BE49-F238E27FC236}">
                <a16:creationId xmlns:a16="http://schemas.microsoft.com/office/drawing/2014/main" id="{B721E4A9-350B-42E9-B04C-90B854B0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9B6CFF"/>
          </a:solidFill>
          <a:ln xmlns:a="http://schemas.openxmlformats.org/drawingml/2006/main" w="0">
            <a:solidFill>
              <a:srgbClr val="9B6CFF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09BF5EB-3258-4EE2-BE86-B7DE127A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REQUEST → RESPONSE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F1D3143-0A4A-4A40-9A03-02AAE3E6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 request crosses a clear chain of responsibilities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65633739-4E70-4E5D-A951-C76FAD58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97B5E3A-290B-4049-BD4A-F52EA78E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013E46CC-C709-4A98-ADDB-42E62A88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00375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7" name="node">
            <a:extLst xmlns:a="http://schemas.openxmlformats.org/drawingml/2006/main">
              <a:ext uri="{FF2B5EF4-FFF2-40B4-BE49-F238E27FC236}">
                <a16:creationId xmlns:a16="http://schemas.microsoft.com/office/drawing/2014/main" id="{D7D1EA00-B5B4-4D97-9BF1-C46A1A8E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19050">
            <a:solidFill>
              <a:srgbClr val="27D3EE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E4CEFB8-09BD-4CCF-8E08-B9A2038F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7D3E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7D3EE"/>
                </a:solidFill>
                <a:latin typeface="Aptos"/>
                <a:ea typeface="Aptos"/>
                <a:cs typeface="Aptos"/>
              </a:rPr>
              <a:t>URLconf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E5157AE-AB4E-48C1-BCC7-44FFC179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90875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match path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51D7DA49-D0CB-4C3D-900C-2311F51E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00375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11" name="node">
            <a:extLst xmlns:a="http://schemas.openxmlformats.org/drawingml/2006/main">
              <a:ext uri="{FF2B5EF4-FFF2-40B4-BE49-F238E27FC236}">
                <a16:creationId xmlns:a16="http://schemas.microsoft.com/office/drawing/2014/main" id="{A1785D3F-8C0F-452D-AD6E-36DDEF7F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8125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19050">
            <a:solidFill>
              <a:srgbClr val="9B6CFF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DF5360D-2CDA-46F4-A6A9-ABAD470A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6700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View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DDF4EB6-11E9-412B-906C-8D6AD630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90875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orchestrate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3E03C06E-484A-4622-8C81-353C90A2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0375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15" name="node">
            <a:extLst xmlns:a="http://schemas.openxmlformats.org/drawingml/2006/main">
              <a:ext uri="{FF2B5EF4-FFF2-40B4-BE49-F238E27FC236}">
                <a16:creationId xmlns:a16="http://schemas.microsoft.com/office/drawing/2014/main" id="{007CC013-498A-4D15-98F4-2B45790B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19050">
            <a:solidFill>
              <a:srgbClr val="A6EA3B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14191CB-9058-4F33-A34F-1319FA18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6700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6EA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6EA3B"/>
                </a:solidFill>
                <a:latin typeface="Aptos"/>
                <a:ea typeface="Aptos"/>
                <a:cs typeface="Aptos"/>
              </a:rPr>
              <a:t>Model / ORM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76A1536-4F45-4A50-8BE5-7B77F4F6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90875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read + write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EDFB8C89-54B4-444E-AC59-EFADF5E8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0375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19" name="node">
            <a:extLst xmlns:a="http://schemas.openxmlformats.org/drawingml/2006/main">
              <a:ext uri="{FF2B5EF4-FFF2-40B4-BE49-F238E27FC236}">
                <a16:creationId xmlns:a16="http://schemas.microsoft.com/office/drawing/2014/main" id="{0DDC33E2-ADC6-4193-9528-30E6EABA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8125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19050">
            <a:solidFill>
              <a:srgbClr val="FFC247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EAD5E5A-593F-4B2F-9CCC-58B7D79A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6700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C247"/>
                </a:solidFill>
                <a:latin typeface="Aptos"/>
                <a:ea typeface="Aptos"/>
                <a:cs typeface="Aptos"/>
              </a:rPr>
              <a:t>Template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CF241D5-369E-45B1-928E-90D3AB8E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90875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render HTML</a:t>
            </a:r>
          </a:p>
        </p:txBody>
      </p:sp>
      <p:sp>
        <p:nvSpPr>
          <p:cNvPr id="22" name="node">
            <a:extLst xmlns:a="http://schemas.openxmlformats.org/drawingml/2006/main">
              <a:ext uri="{FF2B5EF4-FFF2-40B4-BE49-F238E27FC236}">
                <a16:creationId xmlns:a16="http://schemas.microsoft.com/office/drawing/2014/main" id="{AF9C5F3F-E15A-42CF-82EE-0C6CFBD3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19050">
            <a:solidFill>
              <a:srgbClr val="FF637D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CA15665-80AC-4497-9056-5E2DE334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6700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637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637D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9F250F5-81E7-46D3-A5F5-225D8904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90875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status + body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F666DD5-EF5C-4B77-96CC-09CDA853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Middleware can inspect or transform requests and responses around this flow.</a:t>
            </a:r>
          </a:p>
        </p:txBody>
      </p:sp>
      <p:sp>
        <p:nvSpPr>
          <p:cNvPr id="26" name="nav-home">
            <a:extLst xmlns:a="http://schemas.openxmlformats.org/drawingml/2006/main">
              <a:ext uri="{FF2B5EF4-FFF2-40B4-BE49-F238E27FC236}">
                <a16:creationId xmlns:a16="http://schemas.microsoft.com/office/drawing/2014/main" id="{004999B6-2D01-49D6-9FFB-F74A6EB12B65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MENU</a:t>
            </a:r>
          </a:p>
        </p:txBody>
      </p:sp>
      <p:sp>
        <p:nvSpPr>
          <p:cNvPr id="27" name="nav-back">
            <a:extLst xmlns:a="http://schemas.openxmlformats.org/drawingml/2006/main">
              <a:ext uri="{FF2B5EF4-FFF2-40B4-BE49-F238E27FC236}">
                <a16:creationId xmlns:a16="http://schemas.microsoft.com/office/drawing/2014/main" id="{DB6FC8D2-4C60-412D-8DD6-E246973B90D1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← BACK</a:t>
            </a:r>
          </a:p>
        </p:txBody>
      </p:sp>
      <p:sp>
        <p:nvSpPr>
          <p:cNvPr id="28" name="nav-next">
            <a:extLst xmlns:a="http://schemas.openxmlformats.org/drawingml/2006/main">
              <a:ext uri="{FF2B5EF4-FFF2-40B4-BE49-F238E27FC236}">
                <a16:creationId xmlns:a16="http://schemas.microsoft.com/office/drawing/2014/main" id="{894A1BE9-B9E9-40CA-AB6C-57140C185052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1009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1595860556"/>
      </p:ext>
    </p:extLst>
  </p:cSld>
  <p:transition spd="fast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pill">
            <a:extLst xmlns:a="http://schemas.openxmlformats.org/drawingml/2006/main">
              <a:ext uri="{FF2B5EF4-FFF2-40B4-BE49-F238E27FC236}">
                <a16:creationId xmlns:a16="http://schemas.microsoft.com/office/drawing/2014/main" id="{F3B734C3-0468-498D-B92F-1CAF527B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9B6CFF"/>
          </a:solidFill>
          <a:ln xmlns:a="http://schemas.openxmlformats.org/drawingml/2006/main" w="0">
            <a:solidFill>
              <a:srgbClr val="9B6CFF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5515EBA-C3F7-4E43-B2CF-89DC2CE2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ARCHITECTURE LANGUAGE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244995A-9946-4B59-8B18-117AD929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Django calls this pattern MTV—not MVC by file name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6036D861-3EF6-45C9-8CE7-20D2C6BC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B3C12A1-6951-4602-B00A-6C4C5026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95083D69-F549-450A-A5AE-8B4D87EB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A3B"/>
          </a:solidFill>
          <a:ln xmlns:a="http://schemas.openxmlformats.org/drawingml/2006/main" w="0">
            <a:solidFill>
              <a:srgbClr val="A6EA3B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329C22A-0792-4376-9D55-54FE6520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6EA3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A6EA3B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B4A47C1-105E-4C3B-9B3C-75AA7D7C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05075"/>
            <a:ext cx="30480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Defines data and domain behavior. The ORM maps Python classes to database tables.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6B7EF981-4C01-411C-8BB1-0F13A8D1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47875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247"/>
          </a:solidFill>
          <a:ln xmlns:a="http://schemas.openxmlformats.org/drawingml/2006/main" w="0">
            <a:solidFill>
              <a:srgbClr val="FFC247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8B81BAF-6167-4223-AD7D-6E41828A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4787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C24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C247"/>
                </a:solidFill>
                <a:latin typeface="Aptos"/>
                <a:ea typeface="Aptos"/>
                <a:cs typeface="Aptos"/>
              </a:rPr>
              <a:t>TEMPLATE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9D2217A-68F7-425F-B427-DB3B42D5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05075"/>
            <a:ext cx="30480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Controls presentation and renders context into text such as HTML.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269B1A8F-A29A-4159-83F9-3FD7D7BA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47875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CFF"/>
          </a:solidFill>
          <a:ln xmlns:a="http://schemas.openxmlformats.org/drawingml/2006/main" w="0">
            <a:solidFill>
              <a:srgbClr val="9B6CF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5E6D180-B91C-4F0F-8BE8-B25A4868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4787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VIEW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D171378-96CB-410E-B996-30A4657D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05075"/>
            <a:ext cx="30480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Receives the request, coordinates work, and returns a response.</a:t>
            </a:r>
          </a:p>
        </p:txBody>
      </p:sp>
      <p:sp>
        <p:nvSpPr>
          <p:cNvPr id="15" name="clarity">
            <a:extLst xmlns:a="http://schemas.openxmlformats.org/drawingml/2006/main">
              <a:ext uri="{FF2B5EF4-FFF2-40B4-BE49-F238E27FC236}">
                <a16:creationId xmlns:a16="http://schemas.microsoft.com/office/drawing/2014/main" id="{D03B4A64-41F6-41D0-B527-4A2C0222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11391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E8CD22C-E09A-4891-9D67-8287B1CA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499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“View” in Django behaves like the controller role in many MVC explanations; naming is less important than responsibility.</a:t>
            </a:r>
          </a:p>
        </p:txBody>
      </p:sp>
      <p:sp>
        <p:nvSpPr>
          <p:cNvPr id="17" name="nav-home">
            <a:extLst xmlns:a="http://schemas.openxmlformats.org/drawingml/2006/main">
              <a:ext uri="{FF2B5EF4-FFF2-40B4-BE49-F238E27FC236}">
                <a16:creationId xmlns:a16="http://schemas.microsoft.com/office/drawing/2014/main" id="{6F5087E5-4C00-4C2F-BCEC-3937CF47C732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MENU</a:t>
            </a:r>
          </a:p>
        </p:txBody>
      </p:sp>
      <p:sp>
        <p:nvSpPr>
          <p:cNvPr id="18" name="nav-back">
            <a:extLst xmlns:a="http://schemas.openxmlformats.org/drawingml/2006/main">
              <a:ext uri="{FF2B5EF4-FFF2-40B4-BE49-F238E27FC236}">
                <a16:creationId xmlns:a16="http://schemas.microsoft.com/office/drawing/2014/main" id="{3AAD146D-390D-4E7A-99EE-A38CC0AAD2A9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← BACK</a:t>
            </a:r>
          </a:p>
        </p:txBody>
      </p:sp>
      <p:sp>
        <p:nvSpPr>
          <p:cNvPr id="19" name="nav-next">
            <a:extLst xmlns:a="http://schemas.openxmlformats.org/drawingml/2006/main">
              <a:ext uri="{FF2B5EF4-FFF2-40B4-BE49-F238E27FC236}">
                <a16:creationId xmlns:a16="http://schemas.microsoft.com/office/drawing/2014/main" id="{1F42D790-4F9E-4E07-9948-3BDBDCEBEC6F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1009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1257199512"/>
      </p:ext>
    </p:extLst>
  </p:cSld>
  <p:transition spd="fast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ill">
            <a:extLst xmlns:a="http://schemas.openxmlformats.org/drawingml/2006/main">
              <a:ext uri="{FF2B5EF4-FFF2-40B4-BE49-F238E27FC236}">
                <a16:creationId xmlns:a16="http://schemas.microsoft.com/office/drawing/2014/main" id="{8ABA3840-595C-4C52-8EAD-F3D632E9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6EA3B"/>
          </a:solidFill>
          <a:ln xmlns:a="http://schemas.openxmlformats.org/drawingml/2006/main" w="0">
            <a:solidFill>
              <a:srgbClr val="A6EA3B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0CD9190-985B-4F18-A0B9-DC2430EA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MODELS + MIGRATIONS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2A70152-3A11-4FF7-B424-137EDFC8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Models make the database schema executable Python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61F0F848-07E4-4C09-8046-5ABE2117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0BBB38E-2F8A-4063-AB17-130F20B2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code">
            <a:extLst xmlns:a="http://schemas.openxmlformats.org/drawingml/2006/main">
              <a:ext uri="{FF2B5EF4-FFF2-40B4-BE49-F238E27FC236}">
                <a16:creationId xmlns:a16="http://schemas.microsoft.com/office/drawing/2014/main" id="{1222C4C6-32F0-47AE-BA5A-6C0D3B4C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6191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B0E14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EA9B0FB6-5AD2-42F9-B8DF-44358573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47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A3B"/>
          </a:solidFill>
          <a:ln xmlns:a="http://schemas.openxmlformats.org/drawingml/2006/main" w="0">
            <a:solidFill>
              <a:srgbClr val="A6EA3B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4C5D003-AE73-4B84-BA00-C34F7BCE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05025"/>
            <a:ext cx="57912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class Article(models.Model):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    title = models.CharField(max_length=200)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    published_at = models.DateTimeField()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    author = models.ForeignKey(User, on_delete=models.CASCADE)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9127DA9-9664-489E-95FA-CF401BBF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6EA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6EA3B"/>
                </a:solidFill>
                <a:latin typeface="Aptos"/>
                <a:ea typeface="Aptos"/>
                <a:cs typeface="Aptos"/>
              </a:rPr>
              <a:t>Model change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6EEAC6C-639D-469B-94C1-7FE5341B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AB2C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AAB2C2"/>
                </a:solidFill>
                <a:latin typeface="Consolas"/>
                <a:ea typeface="Consolas"/>
                <a:cs typeface="Consolas"/>
              </a:rPr>
              <a:t>↓  makemigrations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DA31A26-32CB-4C1E-A4D7-2D3896A8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C247"/>
                </a:solidFill>
                <a:latin typeface="Aptos"/>
                <a:ea typeface="Aptos"/>
                <a:cs typeface="Aptos"/>
              </a:rPr>
              <a:t>Migration file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6FBBD9D-B118-4DC5-AFDA-CA4D1E20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AB2C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AAB2C2"/>
                </a:solidFill>
                <a:latin typeface="Consolas"/>
                <a:ea typeface="Consolas"/>
                <a:cs typeface="Consolas"/>
              </a:rPr>
              <a:t>↓  migrate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8891D3A-C781-4C34-A688-8147D772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672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D3E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7D3EE"/>
                </a:solidFill>
                <a:latin typeface="Aptos"/>
                <a:ea typeface="Aptos"/>
                <a:cs typeface="Aptos"/>
              </a:rPr>
              <a:t>Database schema</a:t>
            </a:r>
          </a:p>
        </p:txBody>
      </p:sp>
      <p:sp>
        <p:nvSpPr>
          <p:cNvPr id="14" name="nav-home">
            <a:extLst xmlns:a="http://schemas.openxmlformats.org/drawingml/2006/main">
              <a:ext uri="{FF2B5EF4-FFF2-40B4-BE49-F238E27FC236}">
                <a16:creationId xmlns:a16="http://schemas.microsoft.com/office/drawing/2014/main" id="{ED28021B-DAD5-4216-83F6-3E8FC7528878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MENU</a:t>
            </a:r>
          </a:p>
        </p:txBody>
      </p:sp>
      <p:sp>
        <p:nvSpPr>
          <p:cNvPr id="15" name="nav-back">
            <a:extLst xmlns:a="http://schemas.openxmlformats.org/drawingml/2006/main">
              <a:ext uri="{FF2B5EF4-FFF2-40B4-BE49-F238E27FC236}">
                <a16:creationId xmlns:a16="http://schemas.microsoft.com/office/drawing/2014/main" id="{86221724-DBC7-4A13-A549-1F3EDEDAC5C2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← BACK</a:t>
            </a:r>
          </a:p>
        </p:txBody>
      </p:sp>
      <p:sp>
        <p:nvSpPr>
          <p:cNvPr id="16" name="nav-next">
            <a:extLst xmlns:a="http://schemas.openxmlformats.org/drawingml/2006/main">
              <a:ext uri="{FF2B5EF4-FFF2-40B4-BE49-F238E27FC236}">
                <a16:creationId xmlns:a16="http://schemas.microsoft.com/office/drawing/2014/main" id="{F0AED0BF-8704-4FB3-8423-79CE53D444A7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1009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121400357"/>
      </p:ext>
    </p:extLst>
  </p:cSld>
  <p:transition spd="fast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ill">
            <a:extLst xmlns:a="http://schemas.openxmlformats.org/drawingml/2006/main">
              <a:ext uri="{FF2B5EF4-FFF2-40B4-BE49-F238E27FC236}">
                <a16:creationId xmlns:a16="http://schemas.microsoft.com/office/drawing/2014/main" id="{C645C590-0E44-435E-902F-713D736E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6EA3B"/>
          </a:solidFill>
          <a:ln xmlns:a="http://schemas.openxmlformats.org/drawingml/2006/main" w="0">
            <a:solidFill>
              <a:srgbClr val="A6EA3B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4DDB769-7BEA-48B2-AD1E-10043261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QUERYSETS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3D7F30B-1972-4EB6-A3C7-DDD907B4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ORM expresses queries without scattering SQL strings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CD7508C-1725-4D44-AA55-70F7746E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9994F8B-2B04-432A-B8E4-C7CE5951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code">
            <a:extLst xmlns:a="http://schemas.openxmlformats.org/drawingml/2006/main">
              <a:ext uri="{FF2B5EF4-FFF2-40B4-BE49-F238E27FC236}">
                <a16:creationId xmlns:a16="http://schemas.microsoft.com/office/drawing/2014/main" id="{E98744D5-DEE4-4F00-BA8C-02D0EC81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6477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0E14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E321DDAA-47C0-487D-85F1-B82642CC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A3B"/>
          </a:solidFill>
          <a:ln xmlns:a="http://schemas.openxmlformats.org/drawingml/2006/main" w="0">
            <a:solidFill>
              <a:srgbClr val="A6EA3B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46807FA-3829-4802-AC34-EA935B64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60769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recent = (Article.objects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    .filter(published_at__year=2026)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    .select_related('author')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    .order_by('-published_at')[:10])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7097C651-623F-4B42-998B-3475D892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5262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EE"/>
          </a:solidFill>
          <a:ln xmlns:a="http://schemas.openxmlformats.org/drawingml/2006/main" w="0">
            <a:solidFill>
              <a:srgbClr val="27D3EE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50FB1A0-1261-4C71-970A-AA9546D8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5262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D3E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7D3EE"/>
                </a:solidFill>
                <a:latin typeface="Aptos"/>
                <a:ea typeface="Aptos"/>
                <a:cs typeface="Aptos"/>
              </a:rPr>
              <a:t>LAZY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74A7F5C-0B1C-462A-9E20-BD33674A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0982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A QuerySet usually waits to hit the database until it is evaluated.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46B17F25-35D7-4043-84D6-E0609FEA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CFF"/>
          </a:solidFill>
          <a:ln xmlns:a="http://schemas.openxmlformats.org/drawingml/2006/main" w="0">
            <a:solidFill>
              <a:srgbClr val="9B6CF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40F9C20-16B0-431A-9A5B-CE4743AB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38500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COMPOSABLE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AF57228-1260-4EC0-9301-159CE73D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957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Filters, ordering, annotations, joins, and pagination can be combined.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D1582250-1156-4EDA-806A-E5384989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2437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247"/>
          </a:solidFill>
          <a:ln xmlns:a="http://schemas.openxmlformats.org/drawingml/2006/main" w="0">
            <a:solidFill>
              <a:srgbClr val="FFC247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23FEF24-BB8E-479B-B498-419C2A90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2437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C24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C247"/>
                </a:solidFill>
                <a:latin typeface="Aptos"/>
                <a:ea typeface="Aptos"/>
                <a:cs typeface="Aptos"/>
              </a:rPr>
              <a:t>MEASURE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EC3BBF4-0586-440E-9E3D-B15196B6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8157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Inspect generated SQL and query counts; abstraction does not remove performance work.</a:t>
            </a:r>
          </a:p>
        </p:txBody>
      </p:sp>
      <p:sp>
        <p:nvSpPr>
          <p:cNvPr id="18" name="nav-home">
            <a:extLst xmlns:a="http://schemas.openxmlformats.org/drawingml/2006/main">
              <a:ext uri="{FF2B5EF4-FFF2-40B4-BE49-F238E27FC236}">
                <a16:creationId xmlns:a16="http://schemas.microsoft.com/office/drawing/2014/main" id="{F96F9078-F8BF-4A87-9CCE-1007D7CAC173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MENU</a:t>
            </a:r>
          </a:p>
        </p:txBody>
      </p:sp>
      <p:sp>
        <p:nvSpPr>
          <p:cNvPr id="19" name="nav-back">
            <a:extLst xmlns:a="http://schemas.openxmlformats.org/drawingml/2006/main">
              <a:ext uri="{FF2B5EF4-FFF2-40B4-BE49-F238E27FC236}">
                <a16:creationId xmlns:a16="http://schemas.microsoft.com/office/drawing/2014/main" id="{EE8815CB-ED4C-4053-8441-703919107EFE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← BACK</a:t>
            </a:r>
          </a:p>
        </p:txBody>
      </p:sp>
      <p:sp>
        <p:nvSpPr>
          <p:cNvPr id="20" name="nav-next">
            <a:extLst xmlns:a="http://schemas.openxmlformats.org/drawingml/2006/main">
              <a:ext uri="{FF2B5EF4-FFF2-40B4-BE49-F238E27FC236}">
                <a16:creationId xmlns:a16="http://schemas.microsoft.com/office/drawing/2014/main" id="{2D1B8391-65A9-4C0C-852C-4AFD1A41F6F9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1009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948641514"/>
      </p:ext>
    </p:extLst>
  </p:cSld>
  <p:transition spd="fast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ill">
            <a:extLst xmlns:a="http://schemas.openxmlformats.org/drawingml/2006/main">
              <a:ext uri="{FF2B5EF4-FFF2-40B4-BE49-F238E27FC236}">
                <a16:creationId xmlns:a16="http://schemas.microsoft.com/office/drawing/2014/main" id="{92BF5D1E-A1A8-44E9-A461-57953354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C247"/>
          </a:solidFill>
          <a:ln xmlns:a="http://schemas.openxmlformats.org/drawingml/2006/main" w="0">
            <a:solidFill>
              <a:srgbClr val="FFC247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12D34AD-77CB-4777-B2AA-4D9D9444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AUTOMATIC ADMIN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8943C52-ABC6-4F1B-9E0C-71E13467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admin is an operations interface—not your public product UI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92C974AB-26E4-47AA-BCB1-B19082E2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67725F6-0A9F-4715-8492-2C3E4355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code">
            <a:extLst xmlns:a="http://schemas.openxmlformats.org/drawingml/2006/main">
              <a:ext uri="{FF2B5EF4-FFF2-40B4-BE49-F238E27FC236}">
                <a16:creationId xmlns:a16="http://schemas.microsoft.com/office/drawing/2014/main" id="{A457B87B-A234-4F0D-9E4D-22780E83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6096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0E14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949B288D-E7BE-4022-8D76-40032658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247"/>
          </a:solidFill>
          <a:ln xmlns:a="http://schemas.openxmlformats.org/drawingml/2006/main" w="0">
            <a:solidFill>
              <a:srgbClr val="FFC247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0441D1E-0290-44B0-AC18-FF9AC8FB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56959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@admin.register(Article)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class ArticleAdmin(admin.ModelAdmin):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    list_display = ['title', 'published_at']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    search_fields = ['title']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B61C069-82BB-493F-AA56-7B095788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6EA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A6EA3B"/>
                </a:solidFill>
                <a:latin typeface="Aptos"/>
                <a:ea typeface="Aptos"/>
                <a:cs typeface="Aptos"/>
              </a:rPr>
              <a:t>Define a model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C9D1025-2011-462B-9F22-DC182895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1462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C24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C247"/>
                </a:solidFill>
                <a:latin typeface="Aptos"/>
                <a:ea typeface="Aptos"/>
                <a:cs typeface="Aptos"/>
              </a:rPr>
              <a:t>Register + configure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5BA2C19-3F76-4079-B7E6-E5C2E9B2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7662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7D3E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7D3EE"/>
                </a:solidFill>
                <a:latin typeface="Aptos"/>
                <a:ea typeface="Aptos"/>
                <a:cs typeface="Aptos"/>
              </a:rPr>
              <a:t>Authenticated staff CRUD</a:t>
            </a:r>
          </a:p>
        </p:txBody>
      </p:sp>
      <p:sp>
        <p:nvSpPr>
          <p:cNvPr id="12" name="boundary">
            <a:extLst xmlns:a="http://schemas.openxmlformats.org/drawingml/2006/main">
              <a:ext uri="{FF2B5EF4-FFF2-40B4-BE49-F238E27FC236}">
                <a16:creationId xmlns:a16="http://schemas.microsoft.com/office/drawing/2014/main" id="{92CA331A-468A-41CD-B458-7D0A5595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24375"/>
            <a:ext cx="4000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21191B"/>
          </a:solidFill>
          <a:ln xmlns:a="http://schemas.openxmlformats.org/drawingml/2006/main" w="9525">
            <a:solidFill>
              <a:srgbClr val="FF637D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91F424F-346D-4332-8D26-D3627B3B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67250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637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637D"/>
                </a:solidFill>
                <a:latin typeface="Aptos"/>
                <a:ea typeface="Aptos"/>
                <a:cs typeface="Aptos"/>
              </a:rPr>
              <a:t>Build purpose-designed views for customer-facing workflows.</a:t>
            </a:r>
          </a:p>
        </p:txBody>
      </p:sp>
      <p:sp>
        <p:nvSpPr>
          <p:cNvPr id="14" name="nav-home">
            <a:extLst xmlns:a="http://schemas.openxmlformats.org/drawingml/2006/main">
              <a:ext uri="{FF2B5EF4-FFF2-40B4-BE49-F238E27FC236}">
                <a16:creationId xmlns:a16="http://schemas.microsoft.com/office/drawing/2014/main" id="{5D6CCA6F-61BB-4366-8A21-96BC55C262F4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MENU</a:t>
            </a:r>
          </a:p>
        </p:txBody>
      </p:sp>
      <p:sp>
        <p:nvSpPr>
          <p:cNvPr id="15" name="nav-back">
            <a:extLst xmlns:a="http://schemas.openxmlformats.org/drawingml/2006/main">
              <a:ext uri="{FF2B5EF4-FFF2-40B4-BE49-F238E27FC236}">
                <a16:creationId xmlns:a16="http://schemas.microsoft.com/office/drawing/2014/main" id="{0425F346-2DA3-463C-B545-E9370F794925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← BACK</a:t>
            </a:r>
          </a:p>
        </p:txBody>
      </p:sp>
      <p:sp>
        <p:nvSpPr>
          <p:cNvPr id="16" name="nav-next">
            <a:extLst xmlns:a="http://schemas.openxmlformats.org/drawingml/2006/main">
              <a:ext uri="{FF2B5EF4-FFF2-40B4-BE49-F238E27FC236}">
                <a16:creationId xmlns:a16="http://schemas.microsoft.com/office/drawing/2014/main" id="{32CB8286-F6F5-4339-AC4B-D77CC871656A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1009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1501920459"/>
      </p:ext>
    </p:extLst>
  </p:cSld>
  <p:transition spd="fast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pill">
            <a:extLst xmlns:a="http://schemas.openxmlformats.org/drawingml/2006/main">
              <a:ext uri="{FF2B5EF4-FFF2-40B4-BE49-F238E27FC236}">
                <a16:creationId xmlns:a16="http://schemas.microsoft.com/office/drawing/2014/main" id="{C3B1C9F8-EE86-478C-A24D-FC59AC07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C247"/>
          </a:solidFill>
          <a:ln xmlns:a="http://schemas.openxmlformats.org/drawingml/2006/main" w="0">
            <a:solidFill>
              <a:srgbClr val="FFC247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869FB0E-26E0-48A1-B68A-6C0928C8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USERS + PERMISSIONS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3213F7B-D966-492E-8C9C-093DA0B2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Authentication is integrated, but authorization is still a design job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27C09596-27F9-4949-AC8B-109BC781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67FA765-8F93-4604-87A4-297BF4F0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C9B584A3-B33C-4626-BE49-2383515F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7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EE"/>
          </a:solidFill>
          <a:ln xmlns:a="http://schemas.openxmlformats.org/drawingml/2006/main" w="0">
            <a:solidFill>
              <a:srgbClr val="27D3EE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D4FBA36-D0E2-49F6-8C93-F49FBCE3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1064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D3E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7D3EE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332E3AA-E17A-4A7A-A244-428BC4AF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9825"/>
            <a:ext cx="10648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User model, passwords, sessions, login/logout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772D7B15-9123-4B34-B992-8595B396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90875"/>
            <a:ext cx="57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CFF"/>
          </a:solidFill>
          <a:ln xmlns:a="http://schemas.openxmlformats.org/drawingml/2006/main" w="0">
            <a:solidFill>
              <a:srgbClr val="9B6C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D638888-14CD-442C-BE54-479751D9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90875"/>
            <a:ext cx="1064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AUTHORIZATION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13B3855-07B6-4C59-A71B-64BC2281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48075"/>
            <a:ext cx="10648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Groups and model-level permissions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ED01FCDE-47AF-41BE-B63A-732EE445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29125"/>
            <a:ext cx="57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37D"/>
          </a:solidFill>
          <a:ln xmlns:a="http://schemas.openxmlformats.org/drawingml/2006/main" w="0">
            <a:solidFill>
              <a:srgbClr val="FF637D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F0FF213-9298-4B62-B74B-7A0653A4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1064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37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637D"/>
                </a:solidFill>
                <a:latin typeface="Aptos"/>
                <a:ea typeface="Aptos"/>
                <a:cs typeface="Aptos"/>
              </a:rPr>
              <a:t>APPLICATION RULES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5521F57-FA38-49C2-8F62-444C82ED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86325"/>
            <a:ext cx="10648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Object ownership, tenancy, workflow states, audit needs</a:t>
            </a:r>
          </a:p>
        </p:txBody>
      </p:sp>
      <p:sp>
        <p:nvSpPr>
          <p:cNvPr id="15" name="warning">
            <a:extLst xmlns:a="http://schemas.openxmlformats.org/drawingml/2006/main">
              <a:ext uri="{FF2B5EF4-FFF2-40B4-BE49-F238E27FC236}">
                <a16:creationId xmlns:a16="http://schemas.microsoft.com/office/drawing/2014/main" id="{C4E482B9-7196-4C8D-B836-AEA97F5E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934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1A10"/>
          </a:solidFill>
          <a:ln xmlns:a="http://schemas.openxmlformats.org/drawingml/2006/main" w="9525">
            <a:solidFill>
              <a:srgbClr val="FFC247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1784444-D6E6-4C31-9057-A11BA050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959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C24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C247"/>
                </a:solidFill>
                <a:latin typeface="Aptos"/>
                <a:ea typeface="Aptos"/>
                <a:cs typeface="Aptos"/>
              </a:rPr>
              <a:t>Use a custom user model from the beginning when the project requires one.</a:t>
            </a:r>
          </a:p>
        </p:txBody>
      </p:sp>
      <p:sp>
        <p:nvSpPr>
          <p:cNvPr id="17" name="nav-home">
            <a:extLst xmlns:a="http://schemas.openxmlformats.org/drawingml/2006/main">
              <a:ext uri="{FF2B5EF4-FFF2-40B4-BE49-F238E27FC236}">
                <a16:creationId xmlns:a16="http://schemas.microsoft.com/office/drawing/2014/main" id="{FB24D8FA-371A-4EA0-BB22-032ED58B0681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MENU</a:t>
            </a:r>
          </a:p>
        </p:txBody>
      </p:sp>
      <p:sp>
        <p:nvSpPr>
          <p:cNvPr id="18" name="nav-back">
            <a:extLst xmlns:a="http://schemas.openxmlformats.org/drawingml/2006/main">
              <a:ext uri="{FF2B5EF4-FFF2-40B4-BE49-F238E27FC236}">
                <a16:creationId xmlns:a16="http://schemas.microsoft.com/office/drawing/2014/main" id="{64CD692E-812F-43FF-998D-EC1819B82A46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← BACK</a:t>
            </a:r>
          </a:p>
        </p:txBody>
      </p:sp>
      <p:sp>
        <p:nvSpPr>
          <p:cNvPr id="19" name="nav-next">
            <a:extLst xmlns:a="http://schemas.openxmlformats.org/drawingml/2006/main">
              <a:ext uri="{FF2B5EF4-FFF2-40B4-BE49-F238E27FC236}">
                <a16:creationId xmlns:a16="http://schemas.microsoft.com/office/drawing/2014/main" id="{CE1B9A08-C302-4978-B60D-9E14001709FB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1009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837624481"/>
      </p:ext>
    </p:extLst>
  </p:cSld>
  <p:transition spd="fast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ill">
            <a:extLst xmlns:a="http://schemas.openxmlformats.org/drawingml/2006/main">
              <a:ext uri="{FF2B5EF4-FFF2-40B4-BE49-F238E27FC236}">
                <a16:creationId xmlns:a16="http://schemas.microsoft.com/office/drawing/2014/main" id="{B42899F5-90AC-4C8A-81AF-78D61A95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637D"/>
          </a:solidFill>
          <a:ln xmlns:a="http://schemas.openxmlformats.org/drawingml/2006/main" w="0">
            <a:solidFill>
              <a:srgbClr val="FF637D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9A7BB0C-07C5-47FE-8EBD-86306E70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SECURE BY DESIGN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4A4064E-5257-45C0-A482-B9B8880B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Security defaults help only when you use them correctly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D674DA51-1476-4D01-8235-8485706A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C83D912-D2C5-434F-A798-2E9B044A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43FA5A5-6AE0-4970-B06D-882CF814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D3E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7D3EE"/>
                </a:solidFill>
                <a:latin typeface="Aptos"/>
                <a:ea typeface="Aptos"/>
                <a:cs typeface="Aptos"/>
              </a:rPr>
              <a:t>CSRF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BF6F17BE-7AA3-44A6-A475-76864386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362B0E8-ADD4-418E-B26E-7DCC7AE6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0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Protect state-changing forms and requests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6925036-9732-4E2E-9760-48079756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XSS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AF76690C-A175-43B2-8F2E-B7CEFE07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336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7F6DEC2-D409-4625-963A-05E35C48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908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Templates escape variables by default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000CEB1-2960-4078-BFF0-F84E0C72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EA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6EA3B"/>
                </a:solidFill>
                <a:latin typeface="Aptos"/>
                <a:ea typeface="Aptos"/>
                <a:cs typeface="Aptos"/>
              </a:rPr>
              <a:t>SQL INJECTION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24AB824F-D632-4527-920E-09EE543C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1472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3303905-1E62-4918-B75F-D579F3C5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718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Parameterized ORM queries reduce risk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6799D84-CD2F-4CDB-91C4-653330F0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C2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C247"/>
                </a:solidFill>
                <a:latin typeface="Aptos"/>
                <a:ea typeface="Aptos"/>
                <a:cs typeface="Aptos"/>
              </a:rPr>
              <a:t>CLICKJACKING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56A23B3C-A757-4950-900B-93134CFA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957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48FBDCE-14D5-4EDB-A19D-9D65218A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529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Middleware and headers provide defenses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954BC4A-C18B-4270-977A-87B64691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37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637D"/>
                </a:solidFill>
                <a:latin typeface="Aptos"/>
                <a:ea typeface="Aptos"/>
                <a:cs typeface="Aptos"/>
              </a:rPr>
              <a:t>CSP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8CAFDF1D-2B2E-4308-B7AE-EF4C49B8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7682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D2AC70D-1B2E-4ED5-AA0A-7853C93A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339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Built-in support is available in Django 6.0+</a:t>
            </a:r>
          </a:p>
        </p:txBody>
      </p:sp>
      <p:sp>
        <p:nvSpPr>
          <p:cNvPr id="21" name="nav-home">
            <a:extLst xmlns:a="http://schemas.openxmlformats.org/drawingml/2006/main">
              <a:ext uri="{FF2B5EF4-FFF2-40B4-BE49-F238E27FC236}">
                <a16:creationId xmlns:a16="http://schemas.microsoft.com/office/drawing/2014/main" id="{AB17ED3D-041C-4131-9519-94D557B13AF5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MENU</a:t>
            </a:r>
          </a:p>
        </p:txBody>
      </p:sp>
      <p:sp>
        <p:nvSpPr>
          <p:cNvPr id="22" name="nav-back">
            <a:extLst xmlns:a="http://schemas.openxmlformats.org/drawingml/2006/main">
              <a:ext uri="{FF2B5EF4-FFF2-40B4-BE49-F238E27FC236}">
                <a16:creationId xmlns:a16="http://schemas.microsoft.com/office/drawing/2014/main" id="{5CCC7C14-5750-49A8-9508-AD918FDE92CD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← BACK</a:t>
            </a:r>
          </a:p>
        </p:txBody>
      </p:sp>
      <p:sp>
        <p:nvSpPr>
          <p:cNvPr id="23" name="nav-next">
            <a:extLst xmlns:a="http://schemas.openxmlformats.org/drawingml/2006/main">
              <a:ext uri="{FF2B5EF4-FFF2-40B4-BE49-F238E27FC236}">
                <a16:creationId xmlns:a16="http://schemas.microsoft.com/office/drawing/2014/main" id="{192709F3-A899-4E14-93D6-C8CF0A131C09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1009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894892730"/>
      </p:ext>
    </p:extLst>
  </p:cSld>
  <p:transition spd="fast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ill">
            <a:extLst xmlns:a="http://schemas.openxmlformats.org/drawingml/2006/main">
              <a:ext uri="{FF2B5EF4-FFF2-40B4-BE49-F238E27FC236}">
                <a16:creationId xmlns:a16="http://schemas.microsoft.com/office/drawing/2014/main" id="{B26E2225-DDF0-464F-BE94-3BB11827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637D"/>
          </a:solidFill>
          <a:ln xmlns:a="http://schemas.openxmlformats.org/drawingml/2006/main" w="0">
            <a:solidFill>
              <a:srgbClr val="FF637D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4878B61-39FE-4C77-9299-7C2102FA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DEPLOYMENT CHECKLIST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CD76864-490A-43CF-ABC9-8637502D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Development settings are unsafe production settings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B9E2EA0E-7A0D-45D9-A4B2-502C3AB4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819A738-A475-4FC4-A869-E37933C9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B4C469E-2C73-4F76-984E-B3BA2F35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57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6577"/>
                </a:solidFill>
                <a:latin typeface="Aptos"/>
                <a:ea typeface="Aptos"/>
                <a:cs typeface="Aptos"/>
              </a:rPr>
              <a:t>DEBUG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F256261-C325-4BD9-8974-ACA3293E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526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False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DBD66C4A-383F-4A07-9CD4-853772FC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9F05382-46C1-44F0-80E2-2C22A7F8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C2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C247"/>
                </a:solidFill>
                <a:latin typeface="Aptos"/>
                <a:ea typeface="Aptos"/>
                <a:cs typeface="Aptos"/>
              </a:rPr>
              <a:t>SECRET_KEY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8BD6F91-A3C0-44DF-A553-731F309E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526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external secret store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A20CCFE0-A4F7-4288-A2A3-F25EC392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717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35EB0B1-E9C1-4715-86C8-F428CF6B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7D3E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7D3EE"/>
                </a:solidFill>
                <a:latin typeface="Aptos"/>
                <a:ea typeface="Aptos"/>
                <a:cs typeface="Aptos"/>
              </a:rPr>
              <a:t>ALLOWED_HOSTS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37E3014-07CD-497B-AC54-72D26027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43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explicit domains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ED339004-8718-489B-8B4E-93545972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020770B-3D24-4075-99EB-45447662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EA3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A6EA3B"/>
                </a:solidFill>
                <a:latin typeface="Aptos"/>
                <a:ea typeface="Aptos"/>
                <a:cs typeface="Aptos"/>
              </a:rPr>
              <a:t>HTTPS + COOKIES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6F52561-C455-481C-A25D-8D3AE4AC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secure configuration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1AB119E5-33F3-4C3D-8B1A-92ABD40D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6237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A95927B-E886-445F-9940-E5F079DB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STATIC / MEDIA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2EA1F91-F215-44EE-89FB-ACDC6828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338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served deliberately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F7D0687C-7D15-4383-9484-D1A5B625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3EA4EA9-DE36-466D-962A-AFC44D1E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33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3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637D"/>
                </a:solidFill>
                <a:latin typeface="Aptos"/>
                <a:ea typeface="Aptos"/>
                <a:cs typeface="Aptos"/>
              </a:rPr>
              <a:t>SYSTEM CHECK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3FC7379-9F31-4DA1-9A57-E9E11520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338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manage.py check --deploy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600DEB8E-2939-4192-8857-A19D0606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5300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24" name="nav-home">
            <a:extLst xmlns:a="http://schemas.openxmlformats.org/drawingml/2006/main">
              <a:ext uri="{FF2B5EF4-FFF2-40B4-BE49-F238E27FC236}">
                <a16:creationId xmlns:a16="http://schemas.microsoft.com/office/drawing/2014/main" id="{C6A20235-F475-4BD0-AEF6-730A37E2BE7B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MENU</a:t>
            </a:r>
          </a:p>
        </p:txBody>
      </p:sp>
      <p:sp>
        <p:nvSpPr>
          <p:cNvPr id="25" name="nav-back">
            <a:extLst xmlns:a="http://schemas.openxmlformats.org/drawingml/2006/main">
              <a:ext uri="{FF2B5EF4-FFF2-40B4-BE49-F238E27FC236}">
                <a16:creationId xmlns:a16="http://schemas.microsoft.com/office/drawing/2014/main" id="{23D7252C-27DF-4765-972F-284836DBCAEE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← BACK</a:t>
            </a:r>
          </a:p>
        </p:txBody>
      </p:sp>
      <p:sp>
        <p:nvSpPr>
          <p:cNvPr id="26" name="nav-next">
            <a:extLst xmlns:a="http://schemas.openxmlformats.org/drawingml/2006/main">
              <a:ext uri="{FF2B5EF4-FFF2-40B4-BE49-F238E27FC236}">
                <a16:creationId xmlns:a16="http://schemas.microsoft.com/office/drawing/2014/main" id="{3418B8E9-A5BC-4208-BE11-DA25053E9FC0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1009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370366245"/>
      </p:ext>
    </p:extLst>
  </p:cSld>
  <p:transition spd="fast">
    <p:fade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ill">
            <a:extLst xmlns:a="http://schemas.openxmlformats.org/drawingml/2006/main">
              <a:ext uri="{FF2B5EF4-FFF2-40B4-BE49-F238E27FC236}">
                <a16:creationId xmlns:a16="http://schemas.microsoft.com/office/drawing/2014/main" id="{54C62548-85CA-4CAF-8ADF-9320F6E1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D3EE"/>
          </a:solidFill>
          <a:ln xmlns:a="http://schemas.openxmlformats.org/drawingml/2006/main" w="0">
            <a:solidFill>
              <a:srgbClr val="27D3EE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AAC3A22-0CDE-4F56-A7E5-CE9B3C1A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VERSIONS • AUG 2026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F1CB171-B126-4A90-B044-2B166378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Pick an active release line—and keep patching it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CB6ED71A-F65B-4505-89DE-B66F2ADF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85CA518-19F3-4388-9955-7FC795E4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1276271-3241-4E2E-A49F-F49E2453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27D3EE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27D3EE"/>
                </a:solidFill>
                <a:latin typeface="Aptos"/>
                <a:ea typeface="Aptos"/>
                <a:cs typeface="Aptos"/>
              </a:rPr>
              <a:t>6.1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17ACB09-87E8-4CD3-A235-0DF6E1DD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431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Latest official feature release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D21AE6F-76FD-48BB-B890-69C786C1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6.0.8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9262705-BD37-468E-9859-2C1D5378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Supported feature series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9DD3F24-1BC1-4E78-9FE5-AFFCD1B9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A6EA3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A6EA3B"/>
                </a:solidFill>
                <a:latin typeface="Aptos"/>
                <a:ea typeface="Aptos"/>
                <a:cs typeface="Aptos"/>
              </a:rPr>
              <a:t>5.2 LTS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CD4AF22-B1B3-49B5-BAD0-4B3DE24A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7675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Long-term support through April 2028</a:t>
            </a:r>
          </a:p>
        </p:txBody>
      </p:sp>
      <p:sp>
        <p:nvSpPr>
          <p:cNvPr id="12" name="patch">
            <a:extLst xmlns:a="http://schemas.openxmlformats.org/drawingml/2006/main">
              <a:ext uri="{FF2B5EF4-FFF2-40B4-BE49-F238E27FC236}">
                <a16:creationId xmlns:a16="http://schemas.microsoft.com/office/drawing/2014/main" id="{61439335-EB16-4072-8B18-840869DA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02027"/>
          </a:solidFill>
          <a:ln xmlns:a="http://schemas.openxmlformats.org/drawingml/2006/main" w="9525">
            <a:solidFill>
              <a:srgbClr val="27D3EE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92AB4EA-D25E-48F1-AF0F-C11F26DE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D3E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7D3EE"/>
                </a:solidFill>
                <a:latin typeface="Aptos"/>
                <a:ea typeface="Aptos"/>
                <a:cs typeface="Aptos"/>
              </a:rPr>
              <a:t>PATCH RULE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CE1E48E-058A-48D8-B6BE-D0AD398E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0375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Always upgrade to the latest patch release in your chosen supported series.</a:t>
            </a:r>
          </a:p>
        </p:txBody>
      </p:sp>
      <p:sp>
        <p:nvSpPr>
          <p:cNvPr id="15" name="nav-home">
            <a:extLst xmlns:a="http://schemas.openxmlformats.org/drawingml/2006/main">
              <a:ext uri="{FF2B5EF4-FFF2-40B4-BE49-F238E27FC236}">
                <a16:creationId xmlns:a16="http://schemas.microsoft.com/office/drawing/2014/main" id="{98396C36-3C95-484B-A0FC-E95C01EB5960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MENU</a:t>
            </a:r>
          </a:p>
        </p:txBody>
      </p:sp>
      <p:sp>
        <p:nvSpPr>
          <p:cNvPr id="16" name="nav-back">
            <a:extLst xmlns:a="http://schemas.openxmlformats.org/drawingml/2006/main">
              <a:ext uri="{FF2B5EF4-FFF2-40B4-BE49-F238E27FC236}">
                <a16:creationId xmlns:a16="http://schemas.microsoft.com/office/drawing/2014/main" id="{58769A27-9500-42E2-847C-D0263D065F02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← BACK</a:t>
            </a:r>
          </a:p>
        </p:txBody>
      </p:sp>
      <p:sp>
        <p:nvSpPr>
          <p:cNvPr id="17" name="nav-next">
            <a:extLst xmlns:a="http://schemas.openxmlformats.org/drawingml/2006/main">
              <a:ext uri="{FF2B5EF4-FFF2-40B4-BE49-F238E27FC236}">
                <a16:creationId xmlns:a16="http://schemas.microsoft.com/office/drawing/2014/main" id="{B152E06E-1A5D-44E8-AE29-5936870C3238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1009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51668288"/>
      </p:ext>
    </p:extLst>
  </p:cSld>
  <p:transition spd="fast">
    <p:fade/>
  </p:transition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ill">
            <a:extLst xmlns:a="http://schemas.openxmlformats.org/drawingml/2006/main">
              <a:ext uri="{FF2B5EF4-FFF2-40B4-BE49-F238E27FC236}">
                <a16:creationId xmlns:a16="http://schemas.microsoft.com/office/drawing/2014/main" id="{C3E17147-D9D2-41FF-B70C-BE21A2EC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D3EE"/>
          </a:solidFill>
          <a:ln xmlns:a="http://schemas.openxmlformats.org/drawingml/2006/main" w="0">
            <a:solidFill>
              <a:srgbClr val="27D3EE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482BD51-DE4F-4883-873E-6B17BF9E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START HERE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CA4022E-5B11-4144-B5B7-3BC83DC2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 first project is six commands plus one mental model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32C7B6D6-B6A5-4136-A839-42BD602D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E3EB5F7-4070-447D-880F-61C6006E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code">
            <a:extLst xmlns:a="http://schemas.openxmlformats.org/drawingml/2006/main">
              <a:ext uri="{FF2B5EF4-FFF2-40B4-BE49-F238E27FC236}">
                <a16:creationId xmlns:a16="http://schemas.microsoft.com/office/drawing/2014/main" id="{6DE7FE92-71EE-4265-8040-30A76C61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6381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0E14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A71E0AAB-644E-4E16-A56A-6513BD84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EE"/>
          </a:solidFill>
          <a:ln xmlns:a="http://schemas.openxmlformats.org/drawingml/2006/main" w="0">
            <a:solidFill>
              <a:srgbClr val="27D3EE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F4A6CDD-CA54-4F5F-9C8E-9ECF83E3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59817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py -m venv .venv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.venv\Scripts\activate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py -m pip install Django==6.1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django-admin startproject config .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py manage.py startapp core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py manage.py runserver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E129443E-293D-4077-A3C3-18FED886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52625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CFF"/>
          </a:solidFill>
          <a:ln xmlns:a="http://schemas.openxmlformats.org/drawingml/2006/main" w="0">
            <a:solidFill>
              <a:srgbClr val="9B6C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5A220E9-7780-4278-91E5-B994253B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5262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PROJECT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BE96CAD-829B-4B28-B177-EC9164CF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0982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global configuration + apps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EAA3A433-3B94-43AF-AFA1-AF5BFAEB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A3B"/>
          </a:solidFill>
          <a:ln xmlns:a="http://schemas.openxmlformats.org/drawingml/2006/main" w="0">
            <a:solidFill>
              <a:srgbClr val="A6EA3B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98AB206-97F8-4EE2-A81E-6A0D6C05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43250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6EA3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A6EA3B"/>
                </a:solidFill>
                <a:latin typeface="Aptos"/>
                <a:ea typeface="Aptos"/>
                <a:cs typeface="Aptos"/>
              </a:rPr>
              <a:t>APP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60CF85C-46DB-4988-9154-124040EC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004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one reusable feature area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9990EEB1-550A-4478-8495-79297937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33875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37D"/>
          </a:solidFill>
          <a:ln xmlns:a="http://schemas.openxmlformats.org/drawingml/2006/main" w="0">
            <a:solidFill>
              <a:srgbClr val="FF637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1AAE0B5-06D3-4CDF-B2D5-A29819A5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3387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37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637D"/>
                </a:solidFill>
                <a:latin typeface="Aptos"/>
                <a:ea typeface="Aptos"/>
                <a:cs typeface="Aptos"/>
              </a:rPr>
              <a:t>RUNSERVER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4783264-E864-4CB7-896B-FF477FE6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910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development only</a:t>
            </a:r>
          </a:p>
        </p:txBody>
      </p:sp>
      <p:sp>
        <p:nvSpPr>
          <p:cNvPr id="18" name="next">
            <a:extLst xmlns:a="http://schemas.openxmlformats.org/drawingml/2006/main">
              <a:ext uri="{FF2B5EF4-FFF2-40B4-BE49-F238E27FC236}">
                <a16:creationId xmlns:a16="http://schemas.microsoft.com/office/drawing/2014/main" id="{6935654F-0913-4748-8F40-404EE84B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09347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67AB463-EC03-4288-8609-3862F036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530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Next: URL → view → template → model → migration → admin → tests.</a:t>
            </a:r>
          </a:p>
        </p:txBody>
      </p:sp>
      <p:sp>
        <p:nvSpPr>
          <p:cNvPr id="20" name="nav-home">
            <a:extLst xmlns:a="http://schemas.openxmlformats.org/drawingml/2006/main">
              <a:ext uri="{FF2B5EF4-FFF2-40B4-BE49-F238E27FC236}">
                <a16:creationId xmlns:a16="http://schemas.microsoft.com/office/drawing/2014/main" id="{8C5FB2DC-D805-403C-8112-5129D4B71825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MENU</a:t>
            </a:r>
          </a:p>
        </p:txBody>
      </p:sp>
      <p:sp>
        <p:nvSpPr>
          <p:cNvPr id="21" name="nav-back">
            <a:extLst xmlns:a="http://schemas.openxmlformats.org/drawingml/2006/main">
              <a:ext uri="{FF2B5EF4-FFF2-40B4-BE49-F238E27FC236}">
                <a16:creationId xmlns:a16="http://schemas.microsoft.com/office/drawing/2014/main" id="{5DECC647-2746-4FBC-B746-7E09458B8EA3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← BACK</a:t>
            </a:r>
          </a:p>
        </p:txBody>
      </p:sp>
      <p:sp>
        <p:nvSpPr>
          <p:cNvPr id="22" name="nav-next">
            <a:extLst xmlns:a="http://schemas.openxmlformats.org/drawingml/2006/main">
              <a:ext uri="{FF2B5EF4-FFF2-40B4-BE49-F238E27FC236}">
                <a16:creationId xmlns:a16="http://schemas.microsoft.com/office/drawing/2014/main" id="{621A1C54-C1A2-4674-BFD3-F793E017D4AC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1009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1818442225"/>
      </p:ext>
    </p:extLst>
  </p:cSld>
  <p:transition spd="fast">
    <p:fade/>
  </p:transition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ill">
            <a:extLst xmlns:a="http://schemas.openxmlformats.org/drawingml/2006/main">
              <a:ext uri="{FF2B5EF4-FFF2-40B4-BE49-F238E27FC236}">
                <a16:creationId xmlns:a16="http://schemas.microsoft.com/office/drawing/2014/main" id="{14E7BA8B-97A1-48C4-97BC-6CC06237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D3EE"/>
          </a:solidFill>
          <a:ln xmlns:a="http://schemas.openxmlformats.org/drawingml/2006/main" w="0">
            <a:solidFill>
              <a:srgbClr val="27D3EE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4EBE803-A842-4462-85C7-E023189C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CLICK YOUR ANSWER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3A2657C-FFBD-4D28-93A7-78B376A2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Challenge: what belongs in the Django admin?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1CDA7497-0659-40EC-8FB0-157BB079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B69A558-DCBF-4D4B-B77B-220A96CF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scenario">
            <a:extLst xmlns:a="http://schemas.openxmlformats.org/drawingml/2006/main">
              <a:ext uri="{FF2B5EF4-FFF2-40B4-BE49-F238E27FC236}">
                <a16:creationId xmlns:a16="http://schemas.microsoft.com/office/drawing/2014/main" id="{F27E2F45-D881-4D5F-9C5C-90113D9D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1391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7D3EE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A73368D-22A6-4EA0-909B-935B2C11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 marketplace needs product management for staff and a polished storefront for customers.</a:t>
            </a:r>
          </a:p>
        </p:txBody>
      </p:sp>
      <p:sp>
        <p:nvSpPr>
          <p:cNvPr id="8" name="quiz-a">
            <a:extLst xmlns:a="http://schemas.openxmlformats.org/drawingml/2006/main">
              <a:ext uri="{FF2B5EF4-FFF2-40B4-BE49-F238E27FC236}">
                <a16:creationId xmlns:a16="http://schemas.microsoft.com/office/drawing/2014/main" id="{4A9E0283-203C-4D19-B1CB-0CFF544AE042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 • Build both staff tools and the public storefront entirely in admin</a:t>
            </a:r>
          </a:p>
        </p:txBody>
      </p:sp>
      <p:sp>
        <p:nvSpPr>
          <p:cNvPr id="9" name="quiz-b">
            <a:extLst xmlns:a="http://schemas.openxmlformats.org/drawingml/2006/main">
              <a:ext uri="{FF2B5EF4-FFF2-40B4-BE49-F238E27FC236}">
                <a16:creationId xmlns:a16="http://schemas.microsoft.com/office/drawing/2014/main" id="{E676B0E5-F4BF-4815-A4DA-01FA665EEEF8}"/>
              </a:ext>
            </a:extLst>
            <a:hlinkClick xmlns:p7="http://schemas.openxmlformats.org/officeDocument/2006/relationships" xmlns:a="http://schemas.openxmlformats.org/drawingml/2006/main" p7:id="rId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38625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251F"/>
          </a:solidFill>
          <a:ln xmlns:a="http://schemas.openxmlformats.org/drawingml/2006/main" w="9525">
            <a:solidFill>
              <a:srgbClr val="35D79A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B • Use admin for staff operations; build dedicated customer views/templates</a:t>
            </a:r>
          </a:p>
        </p:txBody>
      </p:sp>
      <p:sp>
        <p:nvSpPr>
          <p:cNvPr id="10" name="quiz-c">
            <a:extLst xmlns:a="http://schemas.openxmlformats.org/drawingml/2006/main">
              <a:ext uri="{FF2B5EF4-FFF2-40B4-BE49-F238E27FC236}">
                <a16:creationId xmlns:a16="http://schemas.microsoft.com/office/drawing/2014/main" id="{B1BDBEDA-3C80-4AAF-AC63-B004EA21F18C}"/>
              </a:ext>
            </a:extLst>
            <a:hlinkClick xmlns:p7="http://schemas.openxmlformats.org/officeDocument/2006/relationships" xmlns:a="http://schemas.openxmlformats.org/drawingml/2006/main" p7:id="rId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 • Avoid admin because it is only scaffolding</a:t>
            </a:r>
          </a:p>
        </p:txBody>
      </p:sp>
      <p:sp>
        <p:nvSpPr>
          <p:cNvPr id="11" name="nav-home">
            <a:extLst xmlns:a="http://schemas.openxmlformats.org/drawingml/2006/main">
              <a:ext uri="{FF2B5EF4-FFF2-40B4-BE49-F238E27FC236}">
                <a16:creationId xmlns:a16="http://schemas.microsoft.com/office/drawing/2014/main" id="{A79E9FC9-4C57-46FC-AD73-745D2956F1C9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MENU</a:t>
            </a:r>
          </a:p>
        </p:txBody>
      </p:sp>
      <p:sp>
        <p:nvSpPr>
          <p:cNvPr id="12" name="nav-back">
            <a:extLst xmlns:a="http://schemas.openxmlformats.org/drawingml/2006/main">
              <a:ext uri="{FF2B5EF4-FFF2-40B4-BE49-F238E27FC236}">
                <a16:creationId xmlns:a16="http://schemas.microsoft.com/office/drawing/2014/main" id="{2A4F9050-EE47-4CEA-B34B-24B226FFC6B8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← BACK</a:t>
            </a:r>
          </a:p>
        </p:txBody>
      </p:sp>
    </p:spTree>
    <p:extLst>
      <p:ext uri="{BB962C8B-B14F-4D97-AF65-F5344CB8AC3E}">
        <p14:creationId xmlns:p14="http://schemas.microsoft.com/office/powerpoint/2010/main" val="398274801"/>
      </p:ext>
    </p:extLst>
  </p:cSld>
  <p:transition spd="fast">
    <p:fade/>
  </p:transition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wrong">
            <a:extLst xmlns:a="http://schemas.openxmlformats.org/drawingml/2006/main">
              <a:ext uri="{FF2B5EF4-FFF2-40B4-BE49-F238E27FC236}">
                <a16:creationId xmlns:a16="http://schemas.microsoft.com/office/drawing/2014/main" id="{D73BF235-4578-4CDC-9961-6237B81A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9062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1118"/>
          </a:solidFill>
          <a:ln xmlns:a="http://schemas.openxmlformats.org/drawingml/2006/main" w="28575">
            <a:solidFill>
              <a:srgbClr val="FF6577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05935D4-E6C4-4D9A-86C6-FC9589C7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90625"/>
            <a:ext cx="1714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0" b="1">
                <a:solidFill>
                  <a:srgbClr val="FF6577"/>
                </a:solidFill>
                <a:latin typeface="Aptos"/>
                <a:ea typeface="Aptos"/>
                <a:cs typeface="Aptos"/>
              </a:defRPr>
            </a:pPr>
            <a:r>
              <a:rPr sz="7500" b="1">
                <a:solidFill>
                  <a:srgbClr val="FF6577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3" name="pill">
            <a:extLst xmlns:a="http://schemas.openxmlformats.org/drawingml/2006/main">
              <a:ext uri="{FF2B5EF4-FFF2-40B4-BE49-F238E27FC236}">
                <a16:creationId xmlns:a16="http://schemas.microsoft.com/office/drawing/2014/main" id="{5B3A0D7D-2099-4237-9CD0-3278BBD4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23825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6577"/>
          </a:solidFill>
          <a:ln xmlns:a="http://schemas.openxmlformats.org/drawingml/2006/main" w="0">
            <a:solidFill>
              <a:srgbClr val="FF6577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BB1D82F-D2AE-4C31-B416-5C71A540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238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NOT QUITE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E10445B-F547-4E95-9B09-21FC4B97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0500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admin has a deliberate boundary.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111FA6E-556E-4C29-8260-6A51CE7E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43250"/>
            <a:ext cx="752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It is optimized for trusted internal users managing data—not for the public experience or every business workflow.</a:t>
            </a:r>
          </a:p>
        </p:txBody>
      </p:sp>
      <p:sp>
        <p:nvSpPr>
          <p:cNvPr id="7" name="try-again">
            <a:extLst xmlns:a="http://schemas.openxmlformats.org/drawingml/2006/main">
              <a:ext uri="{FF2B5EF4-FFF2-40B4-BE49-F238E27FC236}">
                <a16:creationId xmlns:a16="http://schemas.microsoft.com/office/drawing/2014/main" id="{FE0E7B14-644F-43FA-BDA4-AB632FA7AC26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66725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6577"/>
          </a:solidFill>
          <a:ln xmlns:a="http://schemas.openxmlformats.org/drawingml/2006/main" w="9525">
            <a:solidFill>
              <a:srgbClr val="FF6577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← TRY AGAIN</a:t>
            </a:r>
          </a:p>
        </p:txBody>
      </p:sp>
      <p:sp>
        <p:nvSpPr>
          <p:cNvPr id="8" name="wrong-menu">
            <a:extLst xmlns:a="http://schemas.openxmlformats.org/drawingml/2006/main">
              <a:ext uri="{FF2B5EF4-FFF2-40B4-BE49-F238E27FC236}">
                <a16:creationId xmlns:a16="http://schemas.microsoft.com/office/drawing/2014/main" id="{5E8D6AED-ECCE-4534-849C-44CE57724E52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67250"/>
            <a:ext cx="2571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RETURN TO MENU</a:t>
            </a:r>
          </a:p>
        </p:txBody>
      </p:sp>
    </p:spTree>
    <p:extLst>
      <p:ext uri="{BB962C8B-B14F-4D97-AF65-F5344CB8AC3E}">
        <p14:creationId xmlns:p14="http://schemas.microsoft.com/office/powerpoint/2010/main" val="1189745697"/>
      </p:ext>
    </p:extLst>
  </p:cSld>
  <p:transition spd="fast">
    <p:fade/>
  </p:transition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rrect">
            <a:extLst xmlns:a="http://schemas.openxmlformats.org/drawingml/2006/main">
              <a:ext uri="{FF2B5EF4-FFF2-40B4-BE49-F238E27FC236}">
                <a16:creationId xmlns:a16="http://schemas.microsoft.com/office/drawing/2014/main" id="{562B0C57-8408-4CF6-8025-E5BAFC65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9062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71E"/>
          </a:solidFill>
          <a:ln xmlns:a="http://schemas.openxmlformats.org/drawingml/2006/main" w="28575">
            <a:solidFill>
              <a:srgbClr val="35D79A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A80C78A-AD99-4E39-9103-112A9CB4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90625"/>
            <a:ext cx="1714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0" b="1">
                <a:solidFill>
                  <a:srgbClr val="35D79A"/>
                </a:solidFill>
                <a:latin typeface="Aptos"/>
                <a:ea typeface="Aptos"/>
                <a:cs typeface="Aptos"/>
              </a:defRPr>
            </a:pPr>
            <a:r>
              <a:rPr sz="7050" b="1">
                <a:solidFill>
                  <a:srgbClr val="35D79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" name="pill">
            <a:extLst xmlns:a="http://schemas.openxmlformats.org/drawingml/2006/main">
              <a:ext uri="{FF2B5EF4-FFF2-40B4-BE49-F238E27FC236}">
                <a16:creationId xmlns:a16="http://schemas.microsoft.com/office/drawing/2014/main" id="{1A41E733-C3F2-4BBE-8230-2EC6CD39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238250"/>
            <a:ext cx="12858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5D79A"/>
          </a:solidFill>
          <a:ln xmlns:a="http://schemas.openxmlformats.org/drawingml/2006/main" w="0">
            <a:solidFill>
              <a:srgbClr val="35D79A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1DC6645-5BFC-4E58-B924-F0AA9B3B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23825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CORRECT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7441ECD-5341-4837-B369-01B1D844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0500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Use the admin where its assumptions fit.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FB4D4BE-D113-4916-B3BC-6AF1B598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432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Staff gets rapid, authenticated data operations; customers get a purpose-built experience.</a:t>
            </a:r>
          </a:p>
        </p:txBody>
      </p:sp>
      <p:sp>
        <p:nvSpPr>
          <p:cNvPr id="7" name="continue-summary">
            <a:extLst xmlns:a="http://schemas.openxmlformats.org/drawingml/2006/main">
              <a:ext uri="{FF2B5EF4-FFF2-40B4-BE49-F238E27FC236}">
                <a16:creationId xmlns:a16="http://schemas.microsoft.com/office/drawing/2014/main" id="{68CEFADF-4E09-4169-AE51-CDB59CAFF12B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667250"/>
            <a:ext cx="2857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5D79A"/>
          </a:solidFill>
          <a:ln xmlns:a="http://schemas.openxmlformats.org/drawingml/2006/main" w="9525">
            <a:solidFill>
              <a:srgbClr val="35D79A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SEE THE FINAL MODEL →</a:t>
            </a:r>
          </a:p>
        </p:txBody>
      </p:sp>
      <p:sp>
        <p:nvSpPr>
          <p:cNvPr id="8" name="correct-menu">
            <a:extLst xmlns:a="http://schemas.openxmlformats.org/drawingml/2006/main">
              <a:ext uri="{FF2B5EF4-FFF2-40B4-BE49-F238E27FC236}">
                <a16:creationId xmlns:a16="http://schemas.microsoft.com/office/drawing/2014/main" id="{638C558D-66E7-49B4-A1FA-F3A900FC4922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15716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MENU</a:t>
            </a:r>
          </a:p>
        </p:txBody>
      </p:sp>
    </p:spTree>
    <p:extLst>
      <p:ext uri="{BB962C8B-B14F-4D97-AF65-F5344CB8AC3E}">
        <p14:creationId xmlns:p14="http://schemas.microsoft.com/office/powerpoint/2010/main" val="1504072742"/>
      </p:ext>
    </p:extLst>
  </p:cSld>
  <p:transition spd="fast">
    <p:fade/>
  </p:transition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ill">
            <a:extLst xmlns:a="http://schemas.openxmlformats.org/drawingml/2006/main">
              <a:ext uri="{FF2B5EF4-FFF2-40B4-BE49-F238E27FC236}">
                <a16:creationId xmlns:a16="http://schemas.microsoft.com/office/drawing/2014/main" id="{81F23F86-0E7C-4583-8923-87C6549C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D3EE"/>
          </a:solidFill>
          <a:ln xmlns:a="http://schemas.openxmlformats.org/drawingml/2006/main" w="0">
            <a:solidFill>
              <a:srgbClr val="27D3EE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9638892-1501-48EA-AED7-68CFB5F7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FINAL MODEL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C89D46C-668E-4A68-A3E2-43F356D0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Django succeeds when the whole system stays explicit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3FCC84A-A3C9-4DAF-9431-0DCA2A0B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8A45729-065F-4095-A226-E9A53EF2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FC79350-BDAC-49E2-B147-E0B131B8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D3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7D3E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D5B8B0A8-A43E-472E-A59B-3AC8AE88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33575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6142426-4390-4FFD-8D46-C2A22B64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907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D3E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7D3EE"/>
                </a:solidFill>
                <a:latin typeface="Aptos"/>
                <a:ea typeface="Aptos"/>
                <a:cs typeface="Aptos"/>
              </a:rPr>
              <a:t>ROUTE INTENTIONALLY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B265213-9CAE-45DE-BFB9-BBF89F3F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URLs reveal the application map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6D882FB-33B7-48F3-BD5E-19B10179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55EC81CD-C482-4FE3-8536-9D274689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D3EFD90-1144-4163-8A53-946D1E4A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KEEP VIEWS FOCUSED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FF79EDC-3D90-4E24-BEA5-952B2423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coordinate, do not accumulate everything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960DE62-54C9-417C-A9BF-611223AE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6EA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6EA3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DB554C81-FB37-444F-97BC-61F73F17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95675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DBDA81A-31A2-45C6-8712-3389BD82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528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EA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6EA3B"/>
                </a:solidFill>
                <a:latin typeface="Aptos"/>
                <a:ea typeface="Aptos"/>
                <a:cs typeface="Aptos"/>
              </a:rPr>
              <a:t>MODEL THE DOMAIN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C382D18-B332-4FD9-AAEF-040DA025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schema and business rules evolve together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4341272-2EF1-4C42-939C-0EF25819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2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C24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CADCC36F-3189-4CEE-A177-8F620125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76725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5501D16-A138-4C00-9AAD-DB82DE8D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C2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C247"/>
                </a:solidFill>
                <a:latin typeface="Aptos"/>
                <a:ea typeface="Aptos"/>
                <a:cs typeface="Aptos"/>
              </a:rPr>
              <a:t>USE BUILT-INS WISELY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9AFC408-2B0D-4025-B880-258253A9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338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admin and auth have boundaries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7457D6E-B523-408B-8A46-018AD043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3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3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DB84D57F-7205-4BA7-83A8-B82F6224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57775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A2D111C-CFC0-4130-BA0A-36E97D16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149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37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637D"/>
                </a:solidFill>
                <a:latin typeface="Aptos"/>
                <a:ea typeface="Aptos"/>
                <a:cs typeface="Aptos"/>
              </a:rPr>
              <a:t>SHIP SECURELY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997C155-9A70-4547-965B-931074C4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149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patch, test, configure, observe</a:t>
            </a:r>
          </a:p>
        </p:txBody>
      </p:sp>
      <p:sp>
        <p:nvSpPr>
          <p:cNvPr id="26" name="summary-menu">
            <a:extLst xmlns:a="http://schemas.openxmlformats.org/drawingml/2006/main">
              <a:ext uri="{FF2B5EF4-FFF2-40B4-BE49-F238E27FC236}">
                <a16:creationId xmlns:a16="http://schemas.microsoft.com/office/drawing/2014/main" id="{445C4483-BB7D-46FB-9045-790A6AFF73AB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200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8487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EXPLORE AGAIN</a:t>
            </a:r>
          </a:p>
        </p:txBody>
      </p:sp>
    </p:spTree>
    <p:extLst>
      <p:ext uri="{BB962C8B-B14F-4D97-AF65-F5344CB8AC3E}">
        <p14:creationId xmlns:p14="http://schemas.microsoft.com/office/powerpoint/2010/main" val="23005244"/>
      </p:ext>
    </p:extLst>
  </p:cSld>
  <p:transition spd="fast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2026-08-07T20:05:20.4270000Z</dcterms:created>
  <dcterms:modified xsi:type="dcterms:W3CDTF">2026-08-07T20:05:20.4280000Z</dcterms:modified>
</coreProperties>
</file>