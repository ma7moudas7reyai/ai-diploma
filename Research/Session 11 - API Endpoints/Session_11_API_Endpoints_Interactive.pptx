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b960679ffa495e" /><Relationship Type="http://schemas.openxmlformats.org/officeDocument/2006/relationships/extended-properties" Target="/docProps/app.xml" Id="Rb04205d6c8a74835" /><Relationship Type="http://schemas.openxmlformats.org/officeDocument/2006/relationships/officeDocument" Target="/ppt/presentation.xml" Id="R7ee9b51167a841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0e9c7c2fc94d48"/>
  </p:sldMasterIdLst>
  <p:notesMasterIdLst>
    <p:notesMasterId xmlns:r="http://schemas.openxmlformats.org/officeDocument/2006/relationships" r:id="R334d6e08ffb24170"/>
  </p:notesMasterIdLst>
  <p:sldIdLst>
    <p:sldId xmlns:r="http://schemas.openxmlformats.org/officeDocument/2006/relationships" id="256" r:id="Rd985020c8ecf4564"/>
    <p:sldId xmlns:r="http://schemas.openxmlformats.org/officeDocument/2006/relationships" id="257" r:id="R2a34bc29a8c24ab0"/>
    <p:sldId xmlns:r="http://schemas.openxmlformats.org/officeDocument/2006/relationships" id="258" r:id="R90bc436624184f01"/>
    <p:sldId xmlns:r="http://schemas.openxmlformats.org/officeDocument/2006/relationships" id="259" r:id="Red031c60cd644359"/>
    <p:sldId xmlns:r="http://schemas.openxmlformats.org/officeDocument/2006/relationships" id="260" r:id="R418d234a0e294eff"/>
    <p:sldId xmlns:r="http://schemas.openxmlformats.org/officeDocument/2006/relationships" id="261" r:id="R5e0bce51f3744793"/>
    <p:sldId xmlns:r="http://schemas.openxmlformats.org/officeDocument/2006/relationships" id="262" r:id="Rfa60b72c5a7f431d"/>
    <p:sldId xmlns:r="http://schemas.openxmlformats.org/officeDocument/2006/relationships" id="263" r:id="R901ec765bcfc4614"/>
    <p:sldId xmlns:r="http://schemas.openxmlformats.org/officeDocument/2006/relationships" id="264" r:id="R2a5ebe6917f0418a"/>
    <p:sldId xmlns:r="http://schemas.openxmlformats.org/officeDocument/2006/relationships" id="265" r:id="R39cf1a9db0714457"/>
    <p:sldId xmlns:r="http://schemas.openxmlformats.org/officeDocument/2006/relationships" id="266" r:id="R94eb80940165463a"/>
    <p:sldId xmlns:r="http://schemas.openxmlformats.org/officeDocument/2006/relationships" id="267" r:id="R7c509bce4a134611"/>
    <p:sldId xmlns:r="http://schemas.openxmlformats.org/officeDocument/2006/relationships" id="268" r:id="R3fdd42464092421b"/>
    <p:sldId xmlns:r="http://schemas.openxmlformats.org/officeDocument/2006/relationships" id="269" r:id="R4a26f58601d24be0"/>
    <p:sldId xmlns:r="http://schemas.openxmlformats.org/officeDocument/2006/relationships" id="270" r:id="Rf0ce1a6b814d4841"/>
    <p:sldId xmlns:r="http://schemas.openxmlformats.org/officeDocument/2006/relationships" id="271" r:id="Rfce0644e50f3495e"/>
    <p:sldId xmlns:r="http://schemas.openxmlformats.org/officeDocument/2006/relationships" id="272" r:id="Rd6341b78118343b6"/>
    <p:sldId xmlns:r="http://schemas.openxmlformats.org/officeDocument/2006/relationships" id="273" r:id="R6db1ba690db348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b5a7fef9f44d96" /><Relationship Type="http://schemas.openxmlformats.org/officeDocument/2006/relationships/slideMaster" Target="/ppt/slideMasters/slideMaster1.xml" Id="Rba0e9c7c2fc94d48" /><Relationship Type="http://schemas.openxmlformats.org/officeDocument/2006/relationships/notesMaster" Target="/ppt/notesMasters/notesMaster1.xml" Id="R334d6e08ffb24170" /><Relationship Type="http://schemas.openxmlformats.org/officeDocument/2006/relationships/presProps" Target="/ppt/presProps.xml" Id="R71b03825f7de4d9e" /><Relationship Type="http://schemas.openxmlformats.org/officeDocument/2006/relationships/tableStyles" Target="/ppt/tableStyles.xml" Id="R9d55753eb9ae4f72" /><Relationship Type="http://schemas.openxmlformats.org/officeDocument/2006/relationships/slide" Target="/ppt/slides/slide1.xml" Id="Rd985020c8ecf4564" /><Relationship Type="http://schemas.openxmlformats.org/officeDocument/2006/relationships/slide" Target="/ppt/slides/slide2.xml" Id="R2a34bc29a8c24ab0" /><Relationship Type="http://schemas.openxmlformats.org/officeDocument/2006/relationships/slide" Target="/ppt/slides/slide3.xml" Id="R90bc436624184f01" /><Relationship Type="http://schemas.openxmlformats.org/officeDocument/2006/relationships/slide" Target="/ppt/slides/slide4.xml" Id="Red031c60cd644359" /><Relationship Type="http://schemas.openxmlformats.org/officeDocument/2006/relationships/slide" Target="/ppt/slides/slide5.xml" Id="R418d234a0e294eff" /><Relationship Type="http://schemas.openxmlformats.org/officeDocument/2006/relationships/slide" Target="/ppt/slides/slide6.xml" Id="R5e0bce51f3744793" /><Relationship Type="http://schemas.openxmlformats.org/officeDocument/2006/relationships/slide" Target="/ppt/slides/slide7.xml" Id="Rfa60b72c5a7f431d" /><Relationship Type="http://schemas.openxmlformats.org/officeDocument/2006/relationships/slide" Target="/ppt/slides/slide8.xml" Id="R901ec765bcfc4614" /><Relationship Type="http://schemas.openxmlformats.org/officeDocument/2006/relationships/slide" Target="/ppt/slides/slide9.xml" Id="R2a5ebe6917f0418a" /><Relationship Type="http://schemas.openxmlformats.org/officeDocument/2006/relationships/slide" Target="/ppt/slides/slide10.xml" Id="R39cf1a9db0714457" /><Relationship Type="http://schemas.openxmlformats.org/officeDocument/2006/relationships/slide" Target="/ppt/slides/slide11.xml" Id="R94eb80940165463a" /><Relationship Type="http://schemas.openxmlformats.org/officeDocument/2006/relationships/slide" Target="/ppt/slides/slide12.xml" Id="R7c509bce4a134611" /><Relationship Type="http://schemas.openxmlformats.org/officeDocument/2006/relationships/slide" Target="/ppt/slides/slide13.xml" Id="R3fdd42464092421b" /><Relationship Type="http://schemas.openxmlformats.org/officeDocument/2006/relationships/slide" Target="/ppt/slides/slide14.xml" Id="R4a26f58601d24be0" /><Relationship Type="http://schemas.openxmlformats.org/officeDocument/2006/relationships/slide" Target="/ppt/slides/slide15.xml" Id="Rf0ce1a6b814d4841" /><Relationship Type="http://schemas.openxmlformats.org/officeDocument/2006/relationships/slide" Target="/ppt/slides/slide16.xml" Id="Rfce0644e50f3495e" /><Relationship Type="http://schemas.openxmlformats.org/officeDocument/2006/relationships/slide" Target="/ppt/slides/slide17.xml" Id="Rd6341b78118343b6" /><Relationship Type="http://schemas.openxmlformats.org/officeDocument/2006/relationships/slide" Target="/ppt/slides/slide18.xml" Id="R6db1ba690db348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9c05a0c5934c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f2009b61bb4801" /><Relationship Type="http://schemas.openxmlformats.org/officeDocument/2006/relationships/notesMaster" Target="/ppt/notesMasters/notesMaster1.xml" Id="Rddff05ebfb1f45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4d2ec2bf794776" /><Relationship Type="http://schemas.openxmlformats.org/officeDocument/2006/relationships/notesMaster" Target="/ppt/notesMasters/notesMaster1.xml" Id="Rff933b1d767045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6c5b0a07194732" /><Relationship Type="http://schemas.openxmlformats.org/officeDocument/2006/relationships/notesMaster" Target="/ppt/notesMasters/notesMaster1.xml" Id="R35aa40eedc8c41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2cc0f4ad09483a" /><Relationship Type="http://schemas.openxmlformats.org/officeDocument/2006/relationships/notesMaster" Target="/ppt/notesMasters/notesMaster1.xml" Id="Rbe761237918049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40feb43eef4632" /><Relationship Type="http://schemas.openxmlformats.org/officeDocument/2006/relationships/notesMaster" Target="/ppt/notesMasters/notesMaster1.xml" Id="R85da5d58fe6049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c84c24c4524e7d" /><Relationship Type="http://schemas.openxmlformats.org/officeDocument/2006/relationships/notesMaster" Target="/ppt/notesMasters/notesMaster1.xml" Id="R6021039fe4cd42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c6050be44a461c" /><Relationship Type="http://schemas.openxmlformats.org/officeDocument/2006/relationships/notesMaster" Target="/ppt/notesMasters/notesMaster1.xml" Id="R7a666cabf1944d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23a27f82ea4550" /><Relationship Type="http://schemas.openxmlformats.org/officeDocument/2006/relationships/notesMaster" Target="/ppt/notesMasters/notesMaster1.xml" Id="R63eee5f4a3be43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5cdd4479f548e3" /><Relationship Type="http://schemas.openxmlformats.org/officeDocument/2006/relationships/notesMaster" Target="/ppt/notesMasters/notesMaster1.xml" Id="R979e7c7763984d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adb1bc51a148dd" /><Relationship Type="http://schemas.openxmlformats.org/officeDocument/2006/relationships/notesMaster" Target="/ppt/notesMasters/notesMaster1.xml" Id="R39bde1e3b90845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4f6f8d0b12497a" /><Relationship Type="http://schemas.openxmlformats.org/officeDocument/2006/relationships/notesMaster" Target="/ppt/notesMasters/notesMaster1.xml" Id="R55e47e2b1c3044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1479bd8bdf4a94" /><Relationship Type="http://schemas.openxmlformats.org/officeDocument/2006/relationships/notesMaster" Target="/ppt/notesMasters/notesMaster1.xml" Id="R1ee5cb50eaba4d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80ebcccd0a477e" /><Relationship Type="http://schemas.openxmlformats.org/officeDocument/2006/relationships/notesMaster" Target="/ppt/notesMasters/notesMaster1.xml" Id="R14f9329ce3d84e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2f23c799134194" /><Relationship Type="http://schemas.openxmlformats.org/officeDocument/2006/relationships/notesMaster" Target="/ppt/notesMasters/notesMaster1.xml" Id="R71c3d2f41f8944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e9d34b7ebd4817" /><Relationship Type="http://schemas.openxmlformats.org/officeDocument/2006/relationships/notesMaster" Target="/ppt/notesMasters/notesMaster1.xml" Id="Rc56d9a0e5e4c44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2a84c10a0c4e9c" /><Relationship Type="http://schemas.openxmlformats.org/officeDocument/2006/relationships/notesMaster" Target="/ppt/notesMasters/notesMaster1.xml" Id="Rcadc07a8b84f4e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fee9726ab5481b" /><Relationship Type="http://schemas.openxmlformats.org/officeDocument/2006/relationships/notesMaster" Target="/ppt/notesMasters/notesMaster1.xml" Id="R6f955d8709c848b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cb57b7dea74d64" /><Relationship Type="http://schemas.openxmlformats.org/officeDocument/2006/relationships/notesMaster" Target="/ppt/notesMasters/notesMaster1.xml" Id="R095d53de2d2f4e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https://www.rfc-editor.org/rfc/rfc9110.html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https://www.rfc-editor.org/rfc/rfc9110.html</a:t>
            </a:r>
          </a:p>
          <a:p xmlns:a="http://schemas.openxmlformats.org/drawingml/2006/main">
            <a:r>
              <a:t>- https://spec.openapis.org/oas/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https://www.rfc-editor.org/rfc/rfc9110.html</a:t>
            </a:r>
          </a:p>
          <a:p xmlns:a="http://schemas.openxmlformats.org/drawingml/2006/main">
            <a:r>
              <a:t>- https://spec.openapis.org/oas/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https://www.rfc-editor.org/rfc/rfc9110.html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https://developer.mozilla.org/en-US/docs/Web/HTTP/Reference/Methods</a:t>
            </a:r>
          </a:p>
          <a:p xmlns:a="http://schemas.openxmlformats.org/drawingml/2006/main">
            <a:r>
              <a:t>- https://www.rfc-editor.org/rfc/rfc9110.html#name-methods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https://www.rfc-editor.org/rfc/rfc9110.html</a:t>
            </a:r>
          </a:p>
          <a:p xmlns:a="http://schemas.openxmlformats.org/drawingml/2006/main">
            <a:r>
              <a:t>- https://developer.mozilla.org/en-US/docs/Web/HTTP/Headers/Content-Type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https://www.rfc-editor.org/rfc/rfc9110.html#name-status-codes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https://www.rfc-editor.org/rfc/rfc9110.html#name-status-codes</a:t>
            </a:r>
          </a:p>
          <a:p xmlns:a="http://schemas.openxmlformats.org/drawingml/2006/main">
            <a:r>
              <a:t>- https://developer.mozilla.org/en-US/docs/Web/HTTP/Reference/Status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https://spec.openapis.org/oas/latest.html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https://spec.openapis.org/oas/latest.html</a:t>
            </a:r>
          </a:p>
          <a:p xmlns:a="http://schemas.openxmlformats.org/drawingml/2006/main">
            <a:r>
              <a:t>- https://www.rfc-editor.org/rfc/rfc9110.html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https://spec.openapis.org/oas/latest.html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https://owasp.org/API-Security/editions/2023/en/0x11-t10/</a:t>
            </a:r>
          </a:p>
          <a:p xmlns:a="http://schemas.openxmlformats.org/drawingml/2006/main">
            <a:r>
              <a:t>- https://owasp.org/API-Security/editions/2023/en/0xa1-broken-object-level-authorization/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https://owasp.org/API-Security/</a:t>
            </a:r>
          </a:p>
          <a:p xmlns:a="http://schemas.openxmlformats.org/drawingml/2006/main">
            <a:r>
              <a:t>- https://owasp.org/API-Security/editions/2023/en/0x11-t10/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https://spec.openapis.org/oas/latest.html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https://www.rfc-editor.org/rfc/rfc9110.html</a:t>
            </a:r>
          </a:p>
          <a:p xmlns:a="http://schemas.openxmlformats.org/drawingml/2006/main">
            <a:r>
              <a:t>- https://owasp.org/API-Security/</a:t>
            </a:r>
          </a:p>
          <a:p xmlns:a="http://schemas.openxmlformats.org/drawingml/2006/main">
            <a:r>
              <a:t>- https://spec.openapis.org/oas/latest.html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https://www.rfc-editor.org/rfc/rfc9110.html#name-patch</a:t>
            </a:r>
          </a:p>
          <a:p xmlns:a="http://schemas.openxmlformats.org/drawingml/2006/main">
            <a:r>
              <a:t>- https://spec.openapis.org/oas/latest.html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https://www.rfc-editor.org/rfc/rfc9110.html</a:t>
            </a:r>
          </a:p>
          <a:p xmlns:a="http://schemas.openxmlformats.org/drawingml/2006/main">
            <a:r>
              <a:t>- https://spec.openapis.org/oas/latest.html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https://www.rfc-editor.org/rfc/rfc9110.html</a:t>
            </a:r>
          </a:p>
          <a:p xmlns:a="http://schemas.openxmlformats.org/drawingml/2006/main">
            <a:r>
              <a:t>- https://spec.openapis.org/oas/</a:t>
            </a:r>
          </a:p>
          <a:p xmlns:a="http://schemas.openxmlformats.org/drawingml/2006/main">
            <a:r>
              <a:t>- https://owasp.org/API-Security/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69413981846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47406ff4d84e88" /><Relationship Type="http://schemas.openxmlformats.org/officeDocument/2006/relationships/slideLayout" Target="/ppt/slideLayouts/slideLayout1.xml" Id="Rc6df81e8ea5a40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df81e8ea5a40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c35ea9f2b724f14" /><Relationship Type="http://schemas.openxmlformats.org/officeDocument/2006/relationships/notesSlide" Target="/ppt/notesSlides/notesSlide1.xml" Id="R226b5739b1a948da" /><Relationship Id="rId1" Type="http://schemas.openxmlformats.org/officeDocument/2006/relationships/slide" Target="slide2.xml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9fb354ecfa04aed" /><Relationship Type="http://schemas.openxmlformats.org/officeDocument/2006/relationships/notesSlide" Target="/ppt/notesSlides/notesSlide2.xml" Id="Rfd852f8eacbb4e53" /><Relationship Id="rId1" Type="http://schemas.openxmlformats.org/officeDocument/2006/relationships/slide" Target="slide3.xml" /><Relationship Id="rId2" Type="http://schemas.openxmlformats.org/officeDocument/2006/relationships/slide" Target="slide5.xml" /><Relationship Id="rId3" Type="http://schemas.openxmlformats.org/officeDocument/2006/relationships/slide" Target="slide6.xml" /><Relationship Id="rId4" Type="http://schemas.openxmlformats.org/officeDocument/2006/relationships/slide" Target="slide9.xml" /><Relationship Id="rId5" Type="http://schemas.openxmlformats.org/officeDocument/2006/relationships/slide" Target="slide12.xml" /><Relationship Id="rId6" Type="http://schemas.openxmlformats.org/officeDocument/2006/relationships/slide" Target="slide16.xml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38702da93ad43dd" /><Relationship Type="http://schemas.openxmlformats.org/officeDocument/2006/relationships/notesSlide" Target="/ppt/notesSlides/notesSlide3.xml" Id="R4293ae3f26fc44db" /><Relationship Id="rId1" Type="http://schemas.openxmlformats.org/officeDocument/2006/relationships/slide" Target="slide2.xml" /><Relationship Id="rId2" Type="http://schemas.openxmlformats.org/officeDocument/2006/relationships/slide" Target="slide4.xml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63001d5d2d4414b" /><Relationship Type="http://schemas.openxmlformats.org/officeDocument/2006/relationships/notesSlide" Target="/ppt/notesSlides/notesSlide4.xml" Id="R4a2e258ed7dd4367" /><Relationship Id="rId1" Type="http://schemas.openxmlformats.org/officeDocument/2006/relationships/slide" Target="slide2.xml" /><Relationship Id="rId2" Type="http://schemas.openxmlformats.org/officeDocument/2006/relationships/slide" Target="slide3.xml" /><Relationship Id="rId3" Type="http://schemas.openxmlformats.org/officeDocument/2006/relationships/slide" Target="slide5.xml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2b7ac99e7c841e4" /><Relationship Type="http://schemas.openxmlformats.org/officeDocument/2006/relationships/notesSlide" Target="/ppt/notesSlides/notesSlide5.xml" Id="R018f328aa3a24c0f" /><Relationship Id="rId1" Type="http://schemas.openxmlformats.org/officeDocument/2006/relationships/slide" Target="slide2.xml" /><Relationship Id="rId2" Type="http://schemas.openxmlformats.org/officeDocument/2006/relationships/slide" Target="slide4.xml" /><Relationship Id="rId3" Type="http://schemas.openxmlformats.org/officeDocument/2006/relationships/slide" Target="slide6.xml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66c6e4889ee4566" /><Relationship Type="http://schemas.openxmlformats.org/officeDocument/2006/relationships/notesSlide" Target="/ppt/notesSlides/notesSlide6.xml" Id="R37c850f03f9e434c" /><Relationship Id="rId1" Type="http://schemas.openxmlformats.org/officeDocument/2006/relationships/slide" Target="slide2.xml" /><Relationship Id="rId2" Type="http://schemas.openxmlformats.org/officeDocument/2006/relationships/slide" Target="slide5.xml" /><Relationship Id="rId3" Type="http://schemas.openxmlformats.org/officeDocument/2006/relationships/slide" Target="slide7.xml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9291cc6acbd4b96" /><Relationship Type="http://schemas.openxmlformats.org/officeDocument/2006/relationships/notesSlide" Target="/ppt/notesSlides/notesSlide7.xml" Id="Raaaa625127aa4da4" /><Relationship Id="rId1" Type="http://schemas.openxmlformats.org/officeDocument/2006/relationships/slide" Target="slide2.xml" /><Relationship Id="rId2" Type="http://schemas.openxmlformats.org/officeDocument/2006/relationships/slide" Target="slide6.xml" /><Relationship Id="rId3" Type="http://schemas.openxmlformats.org/officeDocument/2006/relationships/slide" Target="slide8.xml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131f23568be4a99" /><Relationship Type="http://schemas.openxmlformats.org/officeDocument/2006/relationships/notesSlide" Target="/ppt/notesSlides/notesSlide8.xml" Id="Recf2501a51be4514" /><Relationship Id="rId1" Type="http://schemas.openxmlformats.org/officeDocument/2006/relationships/slide" Target="slide2.xml" /><Relationship Id="rId2" Type="http://schemas.openxmlformats.org/officeDocument/2006/relationships/slide" Target="slide7.xml" /><Relationship Id="rId3" Type="http://schemas.openxmlformats.org/officeDocument/2006/relationships/slide" Target="slide9.xml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e10db22d7ef41c4" /><Relationship Type="http://schemas.openxmlformats.org/officeDocument/2006/relationships/notesSlide" Target="/ppt/notesSlides/notesSlide9.xml" Id="R5f5c2d3e1a9640af" /><Relationship Id="rId1" Type="http://schemas.openxmlformats.org/officeDocument/2006/relationships/slide" Target="slide2.xml" /><Relationship Id="rId2" Type="http://schemas.openxmlformats.org/officeDocument/2006/relationships/slide" Target="slide8.xml" /><Relationship Id="rId3" Type="http://schemas.openxmlformats.org/officeDocument/2006/relationships/slide" Target="slide10.xml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2870518fd3e4112" /><Relationship Type="http://schemas.openxmlformats.org/officeDocument/2006/relationships/notesSlide" Target="/ppt/notesSlides/notesSlide10.xml" Id="R6541a6bb522e4776" /><Relationship Id="rId1" Type="http://schemas.openxmlformats.org/officeDocument/2006/relationships/slide" Target="slide2.xml" /><Relationship Id="rId2" Type="http://schemas.openxmlformats.org/officeDocument/2006/relationships/slide" Target="slide9.xml" /><Relationship Id="rId3" Type="http://schemas.openxmlformats.org/officeDocument/2006/relationships/slide" Target="slide11.xml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06cb44fb2534402" /><Relationship Type="http://schemas.openxmlformats.org/officeDocument/2006/relationships/notesSlide" Target="/ppt/notesSlides/notesSlide11.xml" Id="R92c9c2182cf54fa9" /><Relationship Id="rId1" Type="http://schemas.openxmlformats.org/officeDocument/2006/relationships/slide" Target="slide2.xml" /><Relationship Id="rId2" Type="http://schemas.openxmlformats.org/officeDocument/2006/relationships/slide" Target="slide10.xml" /><Relationship Id="rId3" Type="http://schemas.openxmlformats.org/officeDocument/2006/relationships/slide" Target="slide12.xml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ed3fe381a074082" /><Relationship Type="http://schemas.openxmlformats.org/officeDocument/2006/relationships/notesSlide" Target="/ppt/notesSlides/notesSlide12.xml" Id="Rb0b1c3870bdd4cd5" /><Relationship Id="rId1" Type="http://schemas.openxmlformats.org/officeDocument/2006/relationships/slide" Target="slide2.xml" /><Relationship Id="rId2" Type="http://schemas.openxmlformats.org/officeDocument/2006/relationships/slide" Target="slide11.xml" /><Relationship Id="rId3" Type="http://schemas.openxmlformats.org/officeDocument/2006/relationships/slide" Target="slide13.xml" 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e321c5ec0a64e4e" /><Relationship Type="http://schemas.openxmlformats.org/officeDocument/2006/relationships/notesSlide" Target="/ppt/notesSlides/notesSlide13.xml" Id="R120ec51d7458460e" /><Relationship Id="rId1" Type="http://schemas.openxmlformats.org/officeDocument/2006/relationships/slide" Target="slide2.xml" /><Relationship Id="rId2" Type="http://schemas.openxmlformats.org/officeDocument/2006/relationships/slide" Target="slide12.xml" /><Relationship Id="rId3" Type="http://schemas.openxmlformats.org/officeDocument/2006/relationships/slide" Target="slide14.xml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db5f6de81a74eee" /><Relationship Type="http://schemas.openxmlformats.org/officeDocument/2006/relationships/notesSlide" Target="/ppt/notesSlides/notesSlide14.xml" Id="R2aaa2bba86ac48ab" /><Relationship Id="rId1" Type="http://schemas.openxmlformats.org/officeDocument/2006/relationships/slide" Target="slide2.xml" /><Relationship Id="rId2" Type="http://schemas.openxmlformats.org/officeDocument/2006/relationships/slide" Target="slide13.xml" /><Relationship Id="rId3" Type="http://schemas.openxmlformats.org/officeDocument/2006/relationships/slide" Target="slide15.xml" 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34ea8508c064fad" /><Relationship Type="http://schemas.openxmlformats.org/officeDocument/2006/relationships/notesSlide" Target="/ppt/notesSlides/notesSlide15.xml" Id="R98d8e667df1c4b1e" /><Relationship Id="rId1" Type="http://schemas.openxmlformats.org/officeDocument/2006/relationships/slide" Target="slide2.xml" /><Relationship Id="rId2" Type="http://schemas.openxmlformats.org/officeDocument/2006/relationships/slide" Target="slide14.xml" /><Relationship Id="rId3" Type="http://schemas.openxmlformats.org/officeDocument/2006/relationships/slide" Target="slide16.xml" 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019472b93f04c66" /><Relationship Type="http://schemas.openxmlformats.org/officeDocument/2006/relationships/notesSlide" Target="/ppt/notesSlides/notesSlide16.xml" Id="Rac9f7431c1f54a0e" /><Relationship Id="rId1" Type="http://schemas.openxmlformats.org/officeDocument/2006/relationships/slide" Target="slide2.xml" /><Relationship Id="rId2" Type="http://schemas.openxmlformats.org/officeDocument/2006/relationships/slide" Target="slide15.xml" /><Relationship Id="rId3" Type="http://schemas.openxmlformats.org/officeDocument/2006/relationships/slide" Target="slide17.xml" /><Relationship Id="rId4" Type="http://schemas.openxmlformats.org/officeDocument/2006/relationships/slide" Target="slide18.xml" /><Relationship Id="rId5" Type="http://schemas.openxmlformats.org/officeDocument/2006/relationships/slide" Target="slide17.xml" 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9b5f38a74354dfc" /><Relationship Type="http://schemas.openxmlformats.org/officeDocument/2006/relationships/notesSlide" Target="/ppt/notesSlides/notesSlide17.xml" Id="Rbe9c61ef28a44ca9" /><Relationship Id="rId1" Type="http://schemas.openxmlformats.org/officeDocument/2006/relationships/slide" Target="slide16.xml" /><Relationship Id="rId2" Type="http://schemas.openxmlformats.org/officeDocument/2006/relationships/slide" Target="slide2.xml" 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78f78d76ee34717" /><Relationship Type="http://schemas.openxmlformats.org/officeDocument/2006/relationships/notesSlide" Target="/ppt/notesSlides/notesSlide18.xml" Id="R34ea81746d9e4bbe" /><Relationship Id="rId1" Type="http://schemas.openxmlformats.org/officeDocument/2006/relationships/slide" Target="slide2.xml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mint-orb">
            <a:extLst xmlns:a="http://schemas.openxmlformats.org/drawingml/2006/main">
              <a:ext uri="{FF2B5EF4-FFF2-40B4-BE49-F238E27FC236}">
                <a16:creationId xmlns:a16="http://schemas.microsoft.com/office/drawing/2014/main" id="{C47829FE-726F-4740-AD94-8D9303AB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ral-orb">
            <a:extLst xmlns:a="http://schemas.openxmlformats.org/drawingml/2006/main">
              <a:ext uri="{FF2B5EF4-FFF2-40B4-BE49-F238E27FC236}">
                <a16:creationId xmlns:a16="http://schemas.microsoft.com/office/drawing/2014/main" id="{B077356D-992F-4950-8CCA-62D08248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53000"/>
            <a:ext cx="219075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73A97A8-7D66-405D-9DB9-53A6D786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SESSION 11  /  RESEARCH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F32F96B-A2CC-4496-A905-1EA429FA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API</a:t>
            </a:r>
          </a:p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Endpoints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9971A92-8746-4AD5-ACD0-A12C304B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rPr>
              <a:t>Where a contract meets the network.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39EC39-12FB-45C2-A30B-004791A5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Methods, URLs, requests, responses, design, documentation, and security.</a:t>
            </a:r>
          </a:p>
        </p:txBody>
      </p:sp>
      <p:sp>
        <p:nvSpPr>
          <p:cNvPr id="7" name="endpoint">
            <a:extLst xmlns:a="http://schemas.openxmlformats.org/drawingml/2006/main">
              <a:ext uri="{FF2B5EF4-FFF2-40B4-BE49-F238E27FC236}">
                <a16:creationId xmlns:a16="http://schemas.microsoft.com/office/drawing/2014/main" id="{98F19D5E-1F77-4115-986A-566F7107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4191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8" name="method">
            <a:extLst xmlns:a="http://schemas.openxmlformats.org/drawingml/2006/main">
              <a:ext uri="{FF2B5EF4-FFF2-40B4-BE49-F238E27FC236}">
                <a16:creationId xmlns:a16="http://schemas.microsoft.com/office/drawing/2014/main" id="{BEA00285-12C8-4FD0-8761-A0DDAB66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28875"/>
            <a:ext cx="904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9834E1B-8E6E-44DE-B6BD-A22BFF17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28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/api/v1/orders/42</a:t>
            </a:r>
          </a:p>
        </p:txBody>
      </p:sp>
      <p:sp>
        <p:nvSpPr>
          <p:cNvPr id="10" name="start">
            <a:extLst xmlns:a="http://schemas.openxmlformats.org/drawingml/2006/main">
              <a:ext uri="{FF2B5EF4-FFF2-40B4-BE49-F238E27FC236}">
                <a16:creationId xmlns:a16="http://schemas.microsoft.com/office/drawing/2014/main" id="{28C8A3CA-E55F-4F75-8473-50716ACE9C9C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27146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START THE REQUEST</a:t>
            </a:r>
          </a:p>
        </p:txBody>
      </p:sp>
    </p:spTree>
    <p:extLst>
      <p:ext uri="{BB962C8B-B14F-4D97-AF65-F5344CB8AC3E}">
        <p14:creationId xmlns:p14="http://schemas.microsoft.com/office/powerpoint/2010/main" val="318643447"/>
      </p:ext>
    </p:extLst>
  </p:cSld>
  <p:transition spd="fast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12AC6CF-7C45-438F-9136-ECC56568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INTERACTIVE MAP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3BD5FF8-C00C-43C0-8D21-589A15F4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DA94324-0302-4E19-8687-B6EF5584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Pick a route through the contract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16BC4A7-8BB4-4B00-A628-4E87E214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menu-anatomy">
            <a:extLst xmlns:a="http://schemas.openxmlformats.org/drawingml/2006/main">
              <a:ext uri="{FF2B5EF4-FFF2-40B4-BE49-F238E27FC236}">
                <a16:creationId xmlns:a16="http://schemas.microsoft.com/office/drawing/2014/main" id="{493BCF48-6F69-4CB1-8B06-BC4231FA3EC0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ANATOMY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is an endpoint?</a:t>
            </a:r>
          </a:p>
        </p:txBody>
      </p:sp>
      <p:sp>
        <p:nvSpPr>
          <p:cNvPr id="6" name="menu-methods">
            <a:extLst xmlns:a="http://schemas.openxmlformats.org/drawingml/2006/main">
              <a:ext uri="{FF2B5EF4-FFF2-40B4-BE49-F238E27FC236}">
                <a16:creationId xmlns:a16="http://schemas.microsoft.com/office/drawing/2014/main" id="{DE99882D-2EF8-4F44-BA0A-9828F4B82367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METHODS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Intent in one verb</a:t>
            </a:r>
          </a:p>
        </p:txBody>
      </p:sp>
      <p:sp>
        <p:nvSpPr>
          <p:cNvPr id="7" name="menu-contract">
            <a:extLst xmlns:a="http://schemas.openxmlformats.org/drawingml/2006/main">
              <a:ext uri="{FF2B5EF4-FFF2-40B4-BE49-F238E27FC236}">
                <a16:creationId xmlns:a16="http://schemas.microsoft.com/office/drawing/2014/main" id="{278542DC-4EE3-4970-AF20-396A71866C89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CONTRACT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Request + response</a:t>
            </a:r>
          </a:p>
        </p:txBody>
      </p:sp>
      <p:sp>
        <p:nvSpPr>
          <p:cNvPr id="8" name="menu-design">
            <a:extLst xmlns:a="http://schemas.openxmlformats.org/drawingml/2006/main">
              <a:ext uri="{FF2B5EF4-FFF2-40B4-BE49-F238E27FC236}">
                <a16:creationId xmlns:a16="http://schemas.microsoft.com/office/drawing/2014/main" id="{2D97E3C7-49AE-4B9D-BFD1-75FF4FEB0A36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Clear, evolvable URLs</a:t>
            </a:r>
          </a:p>
        </p:txBody>
      </p:sp>
      <p:sp>
        <p:nvSpPr>
          <p:cNvPr id="9" name="menu-security">
            <a:extLst xmlns:a="http://schemas.openxmlformats.org/drawingml/2006/main">
              <a:ext uri="{FF2B5EF4-FFF2-40B4-BE49-F238E27FC236}">
                <a16:creationId xmlns:a16="http://schemas.microsoft.com/office/drawing/2014/main" id="{D54C45AE-BDD0-4A76-9285-8136EF9141E3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Trust no identifier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0A6C0A3-182E-49E3-B7D8-9F02AEC4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An endpoint is useful only when clients can predict its behavior.</a:t>
            </a:r>
          </a:p>
        </p:txBody>
      </p:sp>
      <p:sp>
        <p:nvSpPr>
          <p:cNvPr id="11" name="menu-quiz">
            <a:extLst xmlns:a="http://schemas.openxmlformats.org/drawingml/2006/main">
              <a:ext uri="{FF2B5EF4-FFF2-40B4-BE49-F238E27FC236}">
                <a16:creationId xmlns:a16="http://schemas.microsoft.com/office/drawing/2014/main" id="{F42EE553-0CC5-4D0B-BB2E-2EAA0D979B6A}"/>
              </a:ext>
            </a:extLst>
            <a:hlinkClick xmlns:p7="http://schemas.openxmlformats.org/officeDocument/2006/relationships" xmlns:a="http://schemas.openxmlformats.org/drawingml/2006/main" p7:id="rId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3314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TEST THE CONTRACT</a:t>
            </a:r>
          </a:p>
        </p:txBody>
      </p:sp>
    </p:spTree>
    <p:extLst>
      <p:ext uri="{BB962C8B-B14F-4D97-AF65-F5344CB8AC3E}">
        <p14:creationId xmlns:p14="http://schemas.microsoft.com/office/powerpoint/2010/main" val="1879328391"/>
      </p:ext>
    </p:extLst>
  </p:cSld>
  <p:transition spd="fast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0B5E0FA-3869-4C90-B439-B4FEF059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API ENDPOINTS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9D2C24D-0261-4C44-87D2-1EC7FCFB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FE"/>
          </a:solidFill>
          <a:ln xmlns:a="http://schemas.openxmlformats.org/drawingml/2006/main" w="0">
            <a:solidFill>
              <a:srgbClr val="4D7CFE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2C5ACB7-E09F-4FE8-8602-FCB19D9D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An endpoint is a callable address plus behavior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6336E5C-2AED-4C19-94FE-64E43D82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95DA9627-07EE-4D9F-BD47-BB851C30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7CF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BD8498E-731D-4243-BEFB-8DA9955B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API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BE42BFA-7438-4B69-92E1-9365B37F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2952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The broader interface: rules and capabilities exposed by a system.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536AD482-6A1F-4161-9863-BA4495DA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C4B6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01101B4-7E9C-4DE7-BC5B-E105A3D2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rPr>
              <a:t>ENDPOINT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7320578-3DBC-41F6-9657-DC8EFCEE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76500"/>
            <a:ext cx="2952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A specific method + path that accepts a defined request and returns a defined response.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18411777-A337-4A9C-A7C2-B64D3085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A6F640B-DC07-4161-B385-BE0E8357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ROUTE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5CCEEE9-6546-4CFC-A8CA-E9A28028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76500"/>
            <a:ext cx="2952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The server-side mapping that sends a matching request to handler code.</a:t>
            </a:r>
          </a:p>
        </p:txBody>
      </p:sp>
      <p:sp>
        <p:nvSpPr>
          <p:cNvPr id="14" name="endpoint">
            <a:extLst xmlns:a="http://schemas.openxmlformats.org/drawingml/2006/main">
              <a:ext uri="{FF2B5EF4-FFF2-40B4-BE49-F238E27FC236}">
                <a16:creationId xmlns:a16="http://schemas.microsoft.com/office/drawing/2014/main" id="{4305F653-AA8F-4FA9-A591-F9E47192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67250"/>
            <a:ext cx="6381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5" name="method">
            <a:extLst xmlns:a="http://schemas.openxmlformats.org/drawingml/2006/main">
              <a:ext uri="{FF2B5EF4-FFF2-40B4-BE49-F238E27FC236}">
                <a16:creationId xmlns:a16="http://schemas.microsoft.com/office/drawing/2014/main" id="{BD48BDCD-59F0-4A23-8657-D2505414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904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F035A41-ACF6-4DC1-8045-3E3E19CE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/api/v1/users/7</a:t>
            </a:r>
          </a:p>
        </p:txBody>
      </p:sp>
      <p:sp>
        <p:nvSpPr>
          <p:cNvPr id="17" name="nav-home">
            <a:extLst xmlns:a="http://schemas.openxmlformats.org/drawingml/2006/main">
              <a:ext uri="{FF2B5EF4-FFF2-40B4-BE49-F238E27FC236}">
                <a16:creationId xmlns:a16="http://schemas.microsoft.com/office/drawing/2014/main" id="{4A1D9117-5A1E-43F5-87FD-F49F0EC13B28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8" name="nav-next">
            <a:extLst xmlns:a="http://schemas.openxmlformats.org/drawingml/2006/main">
              <a:ext uri="{FF2B5EF4-FFF2-40B4-BE49-F238E27FC236}">
                <a16:creationId xmlns:a16="http://schemas.microsoft.com/office/drawing/2014/main" id="{65FC31C0-D594-4181-910C-4472CF986487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95355370"/>
      </p:ext>
    </p:extLst>
  </p:cSld>
  <p:transition spd="fast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0283F62-61C1-485E-9C11-CB5AA4B1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URL ANATOMY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A6AD86E-536D-496D-9E2F-5AF6455B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FE"/>
          </a:solidFill>
          <a:ln xmlns:a="http://schemas.openxmlformats.org/drawingml/2006/main" w="0">
            <a:solidFill>
              <a:srgbClr val="4D7CFE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C1BEE63-7AE1-4C63-BA7F-FCE894D8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Read the URL from origin to resource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D8E3B1C-CADF-467E-A019-A15D925F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B0D138B-ED67-4EF5-BE47-318426E5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https://api.example.com/v1/orders/42?include=items</a:t>
            </a:r>
          </a:p>
        </p:txBody>
      </p:sp>
      <p:sp>
        <p:nvSpPr>
          <p:cNvPr id="6" name="url-part">
            <a:extLst xmlns:a="http://schemas.openxmlformats.org/drawingml/2006/main">
              <a:ext uri="{FF2B5EF4-FFF2-40B4-BE49-F238E27FC236}">
                <a16:creationId xmlns:a16="http://schemas.microsoft.com/office/drawing/2014/main" id="{A366E60D-7D21-486E-B7CE-3E9F811F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666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7CFE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01C5FE8-96C8-4BAD-B0C5-45782412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956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D7CFE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D7CFE"/>
                </a:solidFill>
                <a:latin typeface="Consolas"/>
                <a:ea typeface="Consolas"/>
                <a:cs typeface="Consolas"/>
              </a:rPr>
              <a:t>https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C47CAE6-CFF9-4A85-BABB-C60FFDAB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scheme</a:t>
            </a:r>
          </a:p>
        </p:txBody>
      </p:sp>
      <p:sp>
        <p:nvSpPr>
          <p:cNvPr id="9" name="url-part">
            <a:extLst xmlns:a="http://schemas.openxmlformats.org/drawingml/2006/main">
              <a:ext uri="{FF2B5EF4-FFF2-40B4-BE49-F238E27FC236}">
                <a16:creationId xmlns:a16="http://schemas.microsoft.com/office/drawing/2014/main" id="{692B1038-5D6C-406B-9C65-3733D6FF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952750"/>
            <a:ext cx="1666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C4B6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77C1E03-1D8E-49C9-B35F-2FC38638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0956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B6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EC4B6"/>
                </a:solidFill>
                <a:latin typeface="Consolas"/>
                <a:ea typeface="Consolas"/>
                <a:cs typeface="Consolas"/>
              </a:rPr>
              <a:t>api.example.com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8916602-BECF-4B32-B7CC-58756E2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6671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host</a:t>
            </a:r>
          </a:p>
        </p:txBody>
      </p:sp>
      <p:sp>
        <p:nvSpPr>
          <p:cNvPr id="12" name="url-part">
            <a:extLst xmlns:a="http://schemas.openxmlformats.org/drawingml/2006/main">
              <a:ext uri="{FF2B5EF4-FFF2-40B4-BE49-F238E27FC236}">
                <a16:creationId xmlns:a16="http://schemas.microsoft.com/office/drawing/2014/main" id="{41310F39-217D-471B-B69D-ED2DE30E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1666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822CDDB-C892-43EF-97D9-2DFC6CBA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956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6B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/v1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B41176A-A67C-4110-A9D8-E72DB36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version</a:t>
            </a:r>
          </a:p>
        </p:txBody>
      </p:sp>
      <p:sp>
        <p:nvSpPr>
          <p:cNvPr id="15" name="url-part">
            <a:extLst xmlns:a="http://schemas.openxmlformats.org/drawingml/2006/main">
              <a:ext uri="{FF2B5EF4-FFF2-40B4-BE49-F238E27FC236}">
                <a16:creationId xmlns:a16="http://schemas.microsoft.com/office/drawing/2014/main" id="{D75A70B4-4DF0-493F-9242-E8A41131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52750"/>
            <a:ext cx="1666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CC17518-161F-43E2-9C19-08D4108A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956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D166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/orders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CC31003-DE07-401D-84AA-A5895118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6671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resource</a:t>
            </a:r>
          </a:p>
        </p:txBody>
      </p:sp>
      <p:sp>
        <p:nvSpPr>
          <p:cNvPr id="18" name="url-part">
            <a:extLst xmlns:a="http://schemas.openxmlformats.org/drawingml/2006/main">
              <a:ext uri="{FF2B5EF4-FFF2-40B4-BE49-F238E27FC236}">
                <a16:creationId xmlns:a16="http://schemas.microsoft.com/office/drawing/2014/main" id="{0C0A8665-71E9-4C40-999C-DB790CB8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52750"/>
            <a:ext cx="1666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7CFE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BFEFDAB-5D4E-4FFF-A9C6-B11B5585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956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D7CFE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D7CFE"/>
                </a:solidFill>
                <a:latin typeface="Consolas"/>
                <a:ea typeface="Consolas"/>
                <a:cs typeface="Consolas"/>
              </a:rPr>
              <a:t>/42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AA8DBF9-B785-4EFF-B292-164713A0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671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path parameter</a:t>
            </a:r>
          </a:p>
        </p:txBody>
      </p:sp>
      <p:sp>
        <p:nvSpPr>
          <p:cNvPr id="21" name="url-part">
            <a:extLst xmlns:a="http://schemas.openxmlformats.org/drawingml/2006/main">
              <a:ext uri="{FF2B5EF4-FFF2-40B4-BE49-F238E27FC236}">
                <a16:creationId xmlns:a16="http://schemas.microsoft.com/office/drawing/2014/main" id="{1357CB5C-9329-4BDE-AE7C-8EC1EBD6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52750"/>
            <a:ext cx="1666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C4B6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0D6DFE5-B107-43C5-A728-A5514AC4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0956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B6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EC4B6"/>
                </a:solidFill>
                <a:latin typeface="Consolas"/>
                <a:ea typeface="Consolas"/>
                <a:cs typeface="Consolas"/>
              </a:rPr>
              <a:t>?include=items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EB84A45-6331-412E-83E1-A40D3154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6671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query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2439ACA-9F25-4F57-877C-110B310A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0537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method carries intent; the URI identifies the target resource.</a:t>
            </a:r>
          </a:p>
        </p:txBody>
      </p:sp>
      <p:sp>
        <p:nvSpPr>
          <p:cNvPr id="25" name="nav-home">
            <a:extLst xmlns:a="http://schemas.openxmlformats.org/drawingml/2006/main">
              <a:ext uri="{FF2B5EF4-FFF2-40B4-BE49-F238E27FC236}">
                <a16:creationId xmlns:a16="http://schemas.microsoft.com/office/drawing/2014/main" id="{3F9AF6F9-BBE4-4E34-8A25-ABEA88B1C8F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26" name="nav-back">
            <a:extLst xmlns:a="http://schemas.openxmlformats.org/drawingml/2006/main">
              <a:ext uri="{FF2B5EF4-FFF2-40B4-BE49-F238E27FC236}">
                <a16:creationId xmlns:a16="http://schemas.microsoft.com/office/drawing/2014/main" id="{56E19478-1DA9-4763-8C20-21545E7928FB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27" name="nav-next">
            <a:extLst xmlns:a="http://schemas.openxmlformats.org/drawingml/2006/main">
              <a:ext uri="{FF2B5EF4-FFF2-40B4-BE49-F238E27FC236}">
                <a16:creationId xmlns:a16="http://schemas.microsoft.com/office/drawing/2014/main" id="{0DA6E41B-1CDD-4355-9F0B-60E4284F3D13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046621875"/>
      </p:ext>
    </p:extLst>
  </p:cSld>
  <p:transition spd="fast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CC14D59-ED63-4BC0-AD1F-CBBBC69D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rPr>
              <a:t>METHOD SEMANTICS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CE1C221-AA50-4001-B02A-E35A4DD4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3DFA383-027B-44CA-B678-970F14E3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HTTP method states what the client intends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A8D6D20-3A85-4B82-A2CD-9799A50D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5" name="verb">
            <a:extLst xmlns:a="http://schemas.openxmlformats.org/drawingml/2006/main">
              <a:ext uri="{FF2B5EF4-FFF2-40B4-BE49-F238E27FC236}">
                <a16:creationId xmlns:a16="http://schemas.microsoft.com/office/drawing/2014/main" id="{392DEA20-6039-495E-B365-0328978A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2858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908C0AC-457E-46EF-9052-46AC0471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192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Read a representation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CDB8F52-461B-492E-952E-91F3A722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safe + idempotent</a:t>
            </a:r>
          </a:p>
        </p:txBody>
      </p:sp>
      <p:sp>
        <p:nvSpPr>
          <p:cNvPr id="8" name="verb">
            <a:extLst xmlns:a="http://schemas.openxmlformats.org/drawingml/2006/main">
              <a:ext uri="{FF2B5EF4-FFF2-40B4-BE49-F238E27FC236}">
                <a16:creationId xmlns:a16="http://schemas.microsoft.com/office/drawing/2014/main" id="{6F8B03AC-43D7-41A9-86A0-A0B8DDB8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2858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POST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521617-E277-459D-A9CF-4E478393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574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Submit or create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F646055-BD1C-45D6-BCAD-B0A6156A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not inherently idempotent</a:t>
            </a:r>
          </a:p>
        </p:txBody>
      </p:sp>
      <p:sp>
        <p:nvSpPr>
          <p:cNvPr id="11" name="verb">
            <a:extLst xmlns:a="http://schemas.openxmlformats.org/drawingml/2006/main">
              <a:ext uri="{FF2B5EF4-FFF2-40B4-BE49-F238E27FC236}">
                <a16:creationId xmlns:a16="http://schemas.microsoft.com/office/drawing/2014/main" id="{E34E0E18-08FC-4508-8295-5AC3E3C6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2858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PUT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C4D2899-3876-4091-9A5A-CE6F4834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956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Replace target state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CC54879-DF4A-4593-845C-3B499044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idempotent</a:t>
            </a:r>
          </a:p>
        </p:txBody>
      </p:sp>
      <p:sp>
        <p:nvSpPr>
          <p:cNvPr id="14" name="verb">
            <a:extLst xmlns:a="http://schemas.openxmlformats.org/drawingml/2006/main">
              <a:ext uri="{FF2B5EF4-FFF2-40B4-BE49-F238E27FC236}">
                <a16:creationId xmlns:a16="http://schemas.microsoft.com/office/drawing/2014/main" id="{FCEDCABD-A278-4BED-9496-A3D2360C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2858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PATCH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45033BA-BC8F-48CF-9663-2A1841F8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338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Apply partial changes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EB9E0D3-42D2-4118-B538-644FF313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depends on patch semantics</a:t>
            </a:r>
          </a:p>
        </p:txBody>
      </p:sp>
      <p:sp>
        <p:nvSpPr>
          <p:cNvPr id="17" name="verb">
            <a:extLst xmlns:a="http://schemas.openxmlformats.org/drawingml/2006/main">
              <a:ext uri="{FF2B5EF4-FFF2-40B4-BE49-F238E27FC236}">
                <a16:creationId xmlns:a16="http://schemas.microsoft.com/office/drawing/2014/main" id="{AFDF3598-13C9-4DB3-ADED-381C34FC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2858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94B5B"/>
          </a:solidFill>
          <a:ln xmlns:a="http://schemas.openxmlformats.org/drawingml/2006/main" w="9525">
            <a:solidFill>
              <a:srgbClr val="D94B5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DELETE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566F1BE-2223-47F6-9B02-99696918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720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Remove target mapping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0FC62D9-2560-4BD7-8928-6D0BF52F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720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idempotent semantics</a:t>
            </a:r>
          </a:p>
        </p:txBody>
      </p:sp>
      <p:sp>
        <p:nvSpPr>
          <p:cNvPr id="20" name="nav-home">
            <a:extLst xmlns:a="http://schemas.openxmlformats.org/drawingml/2006/main">
              <a:ext uri="{FF2B5EF4-FFF2-40B4-BE49-F238E27FC236}">
                <a16:creationId xmlns:a16="http://schemas.microsoft.com/office/drawing/2014/main" id="{50B15136-57B9-4999-BFFF-443E8B208DB1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21" name="nav-back">
            <a:extLst xmlns:a="http://schemas.openxmlformats.org/drawingml/2006/main">
              <a:ext uri="{FF2B5EF4-FFF2-40B4-BE49-F238E27FC236}">
                <a16:creationId xmlns:a16="http://schemas.microsoft.com/office/drawing/2014/main" id="{CBFEF40A-61DC-4F35-9B60-19C6238B0E07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22" name="nav-next">
            <a:extLst xmlns:a="http://schemas.openxmlformats.org/drawingml/2006/main">
              <a:ext uri="{FF2B5EF4-FFF2-40B4-BE49-F238E27FC236}">
                <a16:creationId xmlns:a16="http://schemas.microsoft.com/office/drawing/2014/main" id="{95F25012-AD0F-4629-901D-44D08195F371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497516648"/>
      </p:ext>
    </p:extLst>
  </p:cSld>
  <p:transition spd="fast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4540EAE-636B-4902-BE36-16A9434D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REQUEST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BB954BB-A452-4D5F-BC17-06258A50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E04C638-38E6-4B42-AF78-61CAFA15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A request packages intent, context, and data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8DF3361-BC6E-4EE0-85D4-687B1E7B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37531DF8-2C5A-4BD8-A050-9267F66A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667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C1528"/>
          </a:solidFill>
          <a:ln xmlns:a="http://schemas.openxmlformats.org/drawingml/2006/main" w="9525">
            <a:solidFill>
              <a:srgbClr val="0C1528"/>
            </a:solidFill>
            <a:prstDash val="solid"/>
          </a:ln>
        </p:spPr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A5D9827B-26D7-483E-9A56-2DD6E069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66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1C8168C-7351-4422-9BF7-C959EADF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62674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POST /api/v1/orders HTTP/1.1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Host: api.example.com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Authorization: Bearer &lt;token&gt;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Content-Type: application/json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{"product_id": 18, "quantity": 2}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871F44E1-D064-44B0-8948-0A3E72C2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62125"/>
            <a:ext cx="3810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7CFE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8888BD0-FEB9-42A1-ABC4-830A5C2E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START LINE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2358E3E-2C58-4418-BF1A-5C95DBDD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86000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Method + target + protocol.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331E40E4-6AC6-4909-A417-EB006A24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810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C4B6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258874B-9927-4667-878B-CDEA03A7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rPr>
              <a:t>HEADERS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959F98B-4CBD-499F-B43D-CE1DA42B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24250"/>
            <a:ext cx="342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Metadata: auth, media type, caching, language.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7AC978A1-4A20-4B68-ACE0-A50068FA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29125"/>
            <a:ext cx="3810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F2867E8-7DDF-4DF6-9C5E-309A7B68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BODY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8204B18-4FD4-4C32-84C7-ED378552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Optional representation sent to the server.</a:t>
            </a:r>
          </a:p>
        </p:txBody>
      </p:sp>
      <p:sp>
        <p:nvSpPr>
          <p:cNvPr id="17" name="nav-home">
            <a:extLst xmlns:a="http://schemas.openxmlformats.org/drawingml/2006/main">
              <a:ext uri="{FF2B5EF4-FFF2-40B4-BE49-F238E27FC236}">
                <a16:creationId xmlns:a16="http://schemas.microsoft.com/office/drawing/2014/main" id="{9B8CCFEF-395E-47AB-8DF6-53F6F3D56D16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8" name="nav-back">
            <a:extLst xmlns:a="http://schemas.openxmlformats.org/drawingml/2006/main">
              <a:ext uri="{FF2B5EF4-FFF2-40B4-BE49-F238E27FC236}">
                <a16:creationId xmlns:a16="http://schemas.microsoft.com/office/drawing/2014/main" id="{D6567B49-A55A-45B5-8DE4-9DB94F2085F7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9" name="nav-next">
            <a:extLst xmlns:a="http://schemas.openxmlformats.org/drawingml/2006/main">
              <a:ext uri="{FF2B5EF4-FFF2-40B4-BE49-F238E27FC236}">
                <a16:creationId xmlns:a16="http://schemas.microsoft.com/office/drawing/2014/main" id="{B06DC49F-928A-4703-B57E-066D5C0795AF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48701526"/>
      </p:ext>
    </p:extLst>
  </p:cSld>
  <p:transition spd="fast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AD130B3-AD4F-4797-8F26-7F060263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RESPONSE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9BAE3F9-2F9B-4A13-9C49-3C539169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3377B3B-88E0-4749-B31C-15C6CE6F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A response reports outcome before payload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7D2B8D7-A8C6-45D8-A9C8-52D4E3EE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75B3DBE6-C88C-4AF5-8F43-9BF46634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666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C1528"/>
          </a:solidFill>
          <a:ln xmlns:a="http://schemas.openxmlformats.org/drawingml/2006/main" w="9525">
            <a:solidFill>
              <a:srgbClr val="0C1528"/>
            </a:solidFill>
            <a:prstDash val="solid"/>
          </a:ln>
        </p:spPr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69C3349-C8CC-481B-BE89-563C74F4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666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9FD8606-9209-47AD-A7A5-5D72F1C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62674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HTTP/1.1 201 Created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Content-Type: application/json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Location: /api/v1/orders/984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{"id": 984, "status": "pending"}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6B62830C-34EB-4651-8F7A-730EFD83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57375"/>
            <a:ext cx="3810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7CFE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FF76F5-37C0-4C60-B99C-2B015310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STATUS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204D2D5-C430-4EDB-9BD0-690FBE09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Machine-readable outcome category and code.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8AF08D2B-BF58-4DD4-AD97-1814B63F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90875"/>
            <a:ext cx="3810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C4B6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8DF9ABE-0C94-429A-8861-7D303A15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rPr>
              <a:t>HEADERS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1E2FE77-A5D3-470D-B586-DADD6A33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Representation and control metadata.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6419DEFC-9928-4815-8C1F-9D2B9CF8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24375"/>
            <a:ext cx="3810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D39C923-7497-4F3F-B420-3C4EC3D5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67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BODY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FA92F6E-5D74-4C72-B889-3A9B90FC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The result or a structured error.</a:t>
            </a:r>
          </a:p>
        </p:txBody>
      </p:sp>
      <p:sp>
        <p:nvSpPr>
          <p:cNvPr id="17" name="nav-home">
            <a:extLst xmlns:a="http://schemas.openxmlformats.org/drawingml/2006/main">
              <a:ext uri="{FF2B5EF4-FFF2-40B4-BE49-F238E27FC236}">
                <a16:creationId xmlns:a16="http://schemas.microsoft.com/office/drawing/2014/main" id="{D93ECA2E-3BB1-41CD-A0EE-9967985BBA3F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8" name="nav-back">
            <a:extLst xmlns:a="http://schemas.openxmlformats.org/drawingml/2006/main">
              <a:ext uri="{FF2B5EF4-FFF2-40B4-BE49-F238E27FC236}">
                <a16:creationId xmlns:a16="http://schemas.microsoft.com/office/drawing/2014/main" id="{5A94921E-98DE-42EC-8DB5-F18A1D57C3A2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9" name="nav-next">
            <a:extLst xmlns:a="http://schemas.openxmlformats.org/drawingml/2006/main">
              <a:ext uri="{FF2B5EF4-FFF2-40B4-BE49-F238E27FC236}">
                <a16:creationId xmlns:a16="http://schemas.microsoft.com/office/drawing/2014/main" id="{60CF9697-E22C-4D29-94E9-A2141ED58E3A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706210686"/>
      </p:ext>
    </p:extLst>
  </p:cSld>
  <p:transition spd="fast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D6BFC81-3D3C-40AB-9C6B-EC0196C5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STATUS CODES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CE69A857-9CCF-4F70-9176-5F0BDC74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F9F2C5F-9583-4506-AAF0-8AEF6D28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Status codes are control flow for clients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511E30-6014-4FF9-B0F9-1B923EC5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B54F815-768D-4AB9-AE30-A9FB12E3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A77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A77B"/>
                </a:solidFill>
                <a:latin typeface="Aptos Display"/>
                <a:ea typeface="Aptos Display"/>
                <a:cs typeface="Aptos Display"/>
              </a:rPr>
              <a:t>2xx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8152A68-FC74-4893-ABFE-ACDF1FD2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SUCCESS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B7A13BE-9269-4602-B355-514B2400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200 OK · 201 Created · 204 No Content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28595CA-C793-4231-BC47-5BE82943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3xx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F858ABF-B4AE-4300-BF04-FF0741AB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REDIRECTION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31A6E7F-2B60-4A91-B334-F360C716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14625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304 Not Modified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01246CF-426E-44F6-B366-C46CFFF7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4xx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7AF2352-5236-477A-82D4-B03D1DC5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CLIENT SIDE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9E73D09-4E1E-4C62-99C3-0C3ECF34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400 Bad Request · 401 · 403 · 404 · 409 · 422 · 429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A33DA05-6675-49E0-A3EC-B91F1392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4B5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94B5B"/>
                </a:solidFill>
                <a:latin typeface="Aptos Display"/>
                <a:ea typeface="Aptos Display"/>
                <a:cs typeface="Aptos Display"/>
              </a:rPr>
              <a:t>5xx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A618093-7ECA-4FA0-9557-D23287E7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SERVER SIDE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974691B-68A3-44B9-8F85-BECFCF48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14875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500 Internal Server Error · 503 Unavailable</a:t>
            </a:r>
          </a:p>
        </p:txBody>
      </p:sp>
      <p:sp>
        <p:nvSpPr>
          <p:cNvPr id="17" name="hint">
            <a:extLst xmlns:a="http://schemas.openxmlformats.org/drawingml/2006/main">
              <a:ext uri="{FF2B5EF4-FFF2-40B4-BE49-F238E27FC236}">
                <a16:creationId xmlns:a16="http://schemas.microsoft.com/office/drawing/2014/main" id="{C369E10B-7F7C-4B3A-B7AC-A3AD8425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DE12B4E-28B9-417B-92BF-3C020B22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Choose the most specific truthful code; keep the error body stable and actionable.</a:t>
            </a:r>
          </a:p>
        </p:txBody>
      </p:sp>
      <p:sp>
        <p:nvSpPr>
          <p:cNvPr id="19" name="nav-home">
            <a:extLst xmlns:a="http://schemas.openxmlformats.org/drawingml/2006/main">
              <a:ext uri="{FF2B5EF4-FFF2-40B4-BE49-F238E27FC236}">
                <a16:creationId xmlns:a16="http://schemas.microsoft.com/office/drawing/2014/main" id="{CAA2E391-C723-4E9E-A1A5-6747F39847E1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20" name="nav-back">
            <a:extLst xmlns:a="http://schemas.openxmlformats.org/drawingml/2006/main">
              <a:ext uri="{FF2B5EF4-FFF2-40B4-BE49-F238E27FC236}">
                <a16:creationId xmlns:a16="http://schemas.microsoft.com/office/drawing/2014/main" id="{D21C6EBF-6B4F-4003-91B5-79C63E0C6F32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21" name="nav-next">
            <a:extLst xmlns:a="http://schemas.openxmlformats.org/drawingml/2006/main">
              <a:ext uri="{FF2B5EF4-FFF2-40B4-BE49-F238E27FC236}">
                <a16:creationId xmlns:a16="http://schemas.microsoft.com/office/drawing/2014/main" id="{9539E12E-2E98-4326-93B0-564C31F93D57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522963323"/>
      </p:ext>
    </p:extLst>
  </p:cSld>
  <p:transition spd="fast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54B6D94-15DB-49F0-BBF6-34F2FE2B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PARAMETERS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9FE5644-0696-4051-9B51-5141C2A9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0BAE70E-F7FC-4FC8-B771-3F37CE14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Path identifies; query modifies the view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13728C6-FA42-4F66-A2ED-A727DDBB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5" name="endpoint">
            <a:extLst xmlns:a="http://schemas.openxmlformats.org/drawingml/2006/main">
              <a:ext uri="{FF2B5EF4-FFF2-40B4-BE49-F238E27FC236}">
                <a16:creationId xmlns:a16="http://schemas.microsoft.com/office/drawing/2014/main" id="{8DC8F2D2-75D7-4F9C-B0CC-A13E5C46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method">
            <a:extLst xmlns:a="http://schemas.openxmlformats.org/drawingml/2006/main">
              <a:ext uri="{FF2B5EF4-FFF2-40B4-BE49-F238E27FC236}">
                <a16:creationId xmlns:a16="http://schemas.microsoft.com/office/drawing/2014/main" id="{73F31399-D3AA-46FB-8C73-EF00EFA4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904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8F24B22-4FFE-45C4-9203-CD8A83BA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9050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/orders/{order_id}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20AAEB3E-5DEA-4E78-943A-4832D580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5238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7CFE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E5F3335-A583-43CD-BF0A-9CFA7171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PATH PARAMETER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37D2BEF-D986-4CC5-A97A-8451EF40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4857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Selects a particular resource. Usually required and part of routing.</a:t>
            </a:r>
          </a:p>
        </p:txBody>
      </p:sp>
      <p:sp>
        <p:nvSpPr>
          <p:cNvPr id="11" name="endpoint">
            <a:extLst xmlns:a="http://schemas.openxmlformats.org/drawingml/2006/main">
              <a:ext uri="{FF2B5EF4-FFF2-40B4-BE49-F238E27FC236}">
                <a16:creationId xmlns:a16="http://schemas.microsoft.com/office/drawing/2014/main" id="{F15011D4-3984-4006-9B5F-83393CF7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600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2" name="method">
            <a:extLst xmlns:a="http://schemas.openxmlformats.org/drawingml/2006/main">
              <a:ext uri="{FF2B5EF4-FFF2-40B4-BE49-F238E27FC236}">
                <a16:creationId xmlns:a16="http://schemas.microsoft.com/office/drawing/2014/main" id="{72A2C87D-D534-4A23-AA58-C9B31389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904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3CA72C2-C05F-4AB3-BC0E-881AE452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0500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/orders?status=paid&amp;limit=20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3944C6DA-C699-4F25-9E93-FB506A94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56007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C4B6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D42A593-4866-4D51-BB80-A5362FD6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rPr>
              <a:t>QUERY PARAMETER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D592533-BD64-4920-BE79-5D4507C6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5219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Filters, sorts, searches, paginates, or selects optional expansions.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8DFAB7E-ECDA-4DE7-BFBA-89A0C7D9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Good test: if the value changes which resource you mean, it likely belongs in the path.</a:t>
            </a:r>
          </a:p>
        </p:txBody>
      </p:sp>
      <p:sp>
        <p:nvSpPr>
          <p:cNvPr id="18" name="nav-home">
            <a:extLst xmlns:a="http://schemas.openxmlformats.org/drawingml/2006/main">
              <a:ext uri="{FF2B5EF4-FFF2-40B4-BE49-F238E27FC236}">
                <a16:creationId xmlns:a16="http://schemas.microsoft.com/office/drawing/2014/main" id="{F25BF921-B36D-4C5A-980E-8E4959CEED7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9" name="nav-back">
            <a:extLst xmlns:a="http://schemas.openxmlformats.org/drawingml/2006/main">
              <a:ext uri="{FF2B5EF4-FFF2-40B4-BE49-F238E27FC236}">
                <a16:creationId xmlns:a16="http://schemas.microsoft.com/office/drawing/2014/main" id="{D69A107F-7393-492A-99F4-C3D309E9730C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20" name="nav-next">
            <a:extLst xmlns:a="http://schemas.openxmlformats.org/drawingml/2006/main">
              <a:ext uri="{FF2B5EF4-FFF2-40B4-BE49-F238E27FC236}">
                <a16:creationId xmlns:a16="http://schemas.microsoft.com/office/drawing/2014/main" id="{C5D52B0D-861A-4CA2-AB71-A8C13D254EF0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49533251"/>
      </p:ext>
    </p:extLst>
  </p:cSld>
  <p:transition spd="fast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8689A94-AE39-4DFA-A2AD-27BD9BD3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DESIGN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3E3507E-76B1-4ECD-9B31-B4E549FF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9DBCFBD-1D6A-4ABB-88BB-888C6729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Model resources with nouns and consistent patterns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7F7C636-7C04-4C75-9610-462B19A6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5" name="endpoint">
            <a:extLst xmlns:a="http://schemas.openxmlformats.org/drawingml/2006/main">
              <a:ext uri="{FF2B5EF4-FFF2-40B4-BE49-F238E27FC236}">
                <a16:creationId xmlns:a16="http://schemas.microsoft.com/office/drawing/2014/main" id="{10B9FD87-B794-4C14-AC51-94043011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71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method">
            <a:extLst xmlns:a="http://schemas.openxmlformats.org/drawingml/2006/main">
              <a:ext uri="{FF2B5EF4-FFF2-40B4-BE49-F238E27FC236}">
                <a16:creationId xmlns:a16="http://schemas.microsoft.com/office/drawing/2014/main" id="{E11BDFE5-38F5-42BF-8D19-CEB4FF9D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904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5C6526E-2EEA-40B1-95F9-CE4370D9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714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/orders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E9997A-0F82-43A2-A751-3606BF88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collection</a:t>
            </a:r>
          </a:p>
        </p:txBody>
      </p:sp>
      <p:sp>
        <p:nvSpPr>
          <p:cNvPr id="9" name="endpoint">
            <a:extLst xmlns:a="http://schemas.openxmlformats.org/drawingml/2006/main">
              <a:ext uri="{FF2B5EF4-FFF2-40B4-BE49-F238E27FC236}">
                <a16:creationId xmlns:a16="http://schemas.microsoft.com/office/drawing/2014/main" id="{8B4361AE-9480-4410-9DDF-A3C4706C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71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0" name="method">
            <a:extLst xmlns:a="http://schemas.openxmlformats.org/drawingml/2006/main">
              <a:ext uri="{FF2B5EF4-FFF2-40B4-BE49-F238E27FC236}">
                <a16:creationId xmlns:a16="http://schemas.microsoft.com/office/drawing/2014/main" id="{D6245FFB-EAF2-4DDB-AD67-746BA559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904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POST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8F8CC11-69CA-4E47-A0C5-BBA2DC94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574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/orders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094A527-04FD-4B98-8641-8789C4BD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create in collection</a:t>
            </a:r>
          </a:p>
        </p:txBody>
      </p:sp>
      <p:sp>
        <p:nvSpPr>
          <p:cNvPr id="13" name="endpoint">
            <a:extLst xmlns:a="http://schemas.openxmlformats.org/drawingml/2006/main">
              <a:ext uri="{FF2B5EF4-FFF2-40B4-BE49-F238E27FC236}">
                <a16:creationId xmlns:a16="http://schemas.microsoft.com/office/drawing/2014/main" id="{E90213FD-AACA-47CC-8DA6-F1F72FD3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71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4" name="method">
            <a:extLst xmlns:a="http://schemas.openxmlformats.org/drawingml/2006/main">
              <a:ext uri="{FF2B5EF4-FFF2-40B4-BE49-F238E27FC236}">
                <a16:creationId xmlns:a16="http://schemas.microsoft.com/office/drawing/2014/main" id="{EF5A0FFB-FA96-4D02-9977-355F71AF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904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CD35570-4DE2-4388-A014-1DFA5948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004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/orders/42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BE64E93-5046-4F54-B4F8-BEBF0983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single resource</a:t>
            </a:r>
          </a:p>
        </p:txBody>
      </p:sp>
      <p:sp>
        <p:nvSpPr>
          <p:cNvPr id="17" name="endpoint">
            <a:extLst xmlns:a="http://schemas.openxmlformats.org/drawingml/2006/main">
              <a:ext uri="{FF2B5EF4-FFF2-40B4-BE49-F238E27FC236}">
                <a16:creationId xmlns:a16="http://schemas.microsoft.com/office/drawing/2014/main" id="{ABF3631F-7A3E-4DCE-B28C-1A2A5134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571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8" name="method">
            <a:extLst xmlns:a="http://schemas.openxmlformats.org/drawingml/2006/main">
              <a:ext uri="{FF2B5EF4-FFF2-40B4-BE49-F238E27FC236}">
                <a16:creationId xmlns:a16="http://schemas.microsoft.com/office/drawing/2014/main" id="{667A6BAB-37A8-493F-8E1A-625A0346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904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PATCH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30051D5-849C-4D63-9325-8BD33EC8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9433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/orders/42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454C67A-0BB9-4D30-9F04-0CF8AC1E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partial update</a:t>
            </a:r>
          </a:p>
        </p:txBody>
      </p:sp>
      <p:sp>
        <p:nvSpPr>
          <p:cNvPr id="21" name="endpoint">
            <a:extLst xmlns:a="http://schemas.openxmlformats.org/drawingml/2006/main">
              <a:ext uri="{FF2B5EF4-FFF2-40B4-BE49-F238E27FC236}">
                <a16:creationId xmlns:a16="http://schemas.microsoft.com/office/drawing/2014/main" id="{EA97D7E7-A0C7-4243-B929-79A7D1D8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571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2" name="method">
            <a:extLst xmlns:a="http://schemas.openxmlformats.org/drawingml/2006/main">
              <a:ext uri="{FF2B5EF4-FFF2-40B4-BE49-F238E27FC236}">
                <a16:creationId xmlns:a16="http://schemas.microsoft.com/office/drawing/2014/main" id="{872271E6-B4CA-469B-BA41-DE5BE724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904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GET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5B3F7B4-5B0C-47D0-B477-9A51AE17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6863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/orders/42/items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0B415E4-DE06-43DB-9AF0-1DEAE54D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subresource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192A015-0AD6-487E-95DE-75DAF4AE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Prefer /orders/42 over /getOrder?id=42</a:t>
            </a:r>
          </a:p>
        </p:txBody>
      </p:sp>
      <p:sp>
        <p:nvSpPr>
          <p:cNvPr id="26" name="nav-home">
            <a:extLst xmlns:a="http://schemas.openxmlformats.org/drawingml/2006/main">
              <a:ext uri="{FF2B5EF4-FFF2-40B4-BE49-F238E27FC236}">
                <a16:creationId xmlns:a16="http://schemas.microsoft.com/office/drawing/2014/main" id="{D4892EBC-ADFB-4044-B8B1-F161FFFD9AAF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27" name="nav-back">
            <a:extLst xmlns:a="http://schemas.openxmlformats.org/drawingml/2006/main">
              <a:ext uri="{FF2B5EF4-FFF2-40B4-BE49-F238E27FC236}">
                <a16:creationId xmlns:a16="http://schemas.microsoft.com/office/drawing/2014/main" id="{640E48A4-CE61-4C24-A217-A7FFF42BBA0B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28" name="nav-next">
            <a:extLst xmlns:a="http://schemas.openxmlformats.org/drawingml/2006/main">
              <a:ext uri="{FF2B5EF4-FFF2-40B4-BE49-F238E27FC236}">
                <a16:creationId xmlns:a16="http://schemas.microsoft.com/office/drawing/2014/main" id="{8105BBA6-BDF4-43E7-8BB5-5B6F9A107EE8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70653495"/>
      </p:ext>
    </p:extLst>
  </p:cSld>
  <p:transition spd="fast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2BC1B1F-AA3D-4271-B27A-B11E750D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EVOLUTION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03444AE5-9AF6-4D31-A309-5BFCF269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0426EB8-27E5-4D83-BB11-C91910BE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Design the list endpoint for real workloads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9909174-543F-4287-91E1-9D3B26F5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35599AB-AFFC-4BEB-9200-0D5B0034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FILTER</a:t>
            </a:r>
          </a:p>
        </p:txBody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C74B0927-8069-4755-A024-E434A798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66875"/>
            <a:ext cx="457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C1528"/>
          </a:solidFill>
          <a:ln xmlns:a="http://schemas.openxmlformats.org/drawingml/2006/main" w="9525">
            <a:solidFill>
              <a:srgbClr val="0C1528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5CEEC139-D78F-4ADB-BF36-79FB2DDB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6687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FE"/>
          </a:solidFill>
          <a:ln xmlns:a="http://schemas.openxmlformats.org/drawingml/2006/main" w="0">
            <a:solidFill>
              <a:srgbClr val="4D7CF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BA1B3B-DE63-42A7-AF30-8FEA27D7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00225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?status=paid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74CC81D-8369-4299-B8EB-938734F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6687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Make optional behavior explicit and documented.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1C8BDDE-6BFF-4A30-AAF7-D9DC0324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4792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rPr>
              <a:t>SORT</a:t>
            </a:r>
          </a:p>
        </p:txBody>
      </p:sp>
      <p:sp>
        <p:nvSpPr>
          <p:cNvPr id="11" name="code">
            <a:extLst xmlns:a="http://schemas.openxmlformats.org/drawingml/2006/main">
              <a:ext uri="{FF2B5EF4-FFF2-40B4-BE49-F238E27FC236}">
                <a16:creationId xmlns:a16="http://schemas.microsoft.com/office/drawing/2014/main" id="{8D917AB9-CAD9-4A80-8A5E-AB199E01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47925"/>
            <a:ext cx="457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C1528"/>
          </a:solidFill>
          <a:ln xmlns:a="http://schemas.openxmlformats.org/drawingml/2006/main" w="9525">
            <a:solidFill>
              <a:srgbClr val="0C1528"/>
            </a:solidFill>
            <a:prstDash val="solid"/>
          </a:ln>
        </p:spPr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E6A1160-D523-4524-A346-337655B0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4792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35DE6F3-AD5C-4E06-BAC5-A1FDF1C7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81275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?sort=-created_at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F4BF65A-FFB7-4F04-ADE7-715E3C32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4792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Make optional behavior explicit and documented.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39B6F52-8F59-4167-B314-F00A7009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2897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PAGE</a:t>
            </a:r>
          </a:p>
        </p:txBody>
      </p:sp>
      <p:sp>
        <p:nvSpPr>
          <p:cNvPr id="16" name="code">
            <a:extLst xmlns:a="http://schemas.openxmlformats.org/drawingml/2006/main">
              <a:ext uri="{FF2B5EF4-FFF2-40B4-BE49-F238E27FC236}">
                <a16:creationId xmlns:a16="http://schemas.microsoft.com/office/drawing/2014/main" id="{C089E834-52FB-48C4-B592-360CBE32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28975"/>
            <a:ext cx="457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C1528"/>
          </a:solidFill>
          <a:ln xmlns:a="http://schemas.openxmlformats.org/drawingml/2006/main" w="9525">
            <a:solidFill>
              <a:srgbClr val="0C1528"/>
            </a:solidFill>
            <a:prstDash val="solid"/>
          </a:ln>
        </p:spPr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8225DA68-BE2D-4D44-9C7C-E16022B1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2897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9106422-83C9-4B9A-8B4D-9B1E255D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62325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?cursor=abc&amp;limit=20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A74A417-E9D1-494E-BE11-226B5E62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2897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Cursor pagination stays stable under frequent inserts.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F29BD9D-D91A-495D-8ACF-178A71D8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FIELDS</a:t>
            </a:r>
          </a:p>
        </p:txBody>
      </p:sp>
      <p:sp>
        <p:nvSpPr>
          <p:cNvPr id="21" name="code">
            <a:extLst xmlns:a="http://schemas.openxmlformats.org/drawingml/2006/main">
              <a:ext uri="{FF2B5EF4-FFF2-40B4-BE49-F238E27FC236}">
                <a16:creationId xmlns:a16="http://schemas.microsoft.com/office/drawing/2014/main" id="{BD7E8337-D38D-4CD0-B5B9-7981BBC0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10025"/>
            <a:ext cx="457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C1528"/>
          </a:solidFill>
          <a:ln xmlns:a="http://schemas.openxmlformats.org/drawingml/2006/main" w="9525">
            <a:solidFill>
              <a:srgbClr val="0C1528"/>
            </a:solidFill>
            <a:prstDash val="solid"/>
          </a:ln>
        </p:spPr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CD0D743A-07A5-421B-A516-27601B6A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1002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7B9FF8B-409F-4D08-A53B-AA1828BC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43375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?fields=id,total,status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32D455D-1A4E-4DE1-98CA-A9BA9330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1002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Make optional behavior explicit and documented.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8D0D76E-6195-468E-91C7-0015F4E6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9107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VERSION</a:t>
            </a:r>
          </a:p>
        </p:txBody>
      </p:sp>
      <p:sp>
        <p:nvSpPr>
          <p:cNvPr id="26" name="code">
            <a:extLst xmlns:a="http://schemas.openxmlformats.org/drawingml/2006/main">
              <a:ext uri="{FF2B5EF4-FFF2-40B4-BE49-F238E27FC236}">
                <a16:creationId xmlns:a16="http://schemas.microsoft.com/office/drawing/2014/main" id="{A8D5D9D0-2485-41CC-8B73-C7CD4599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91075"/>
            <a:ext cx="457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C1528"/>
          </a:solidFill>
          <a:ln xmlns:a="http://schemas.openxmlformats.org/drawingml/2006/main" w="9525">
            <a:solidFill>
              <a:srgbClr val="0C1528"/>
            </a:solidFill>
            <a:prstDash val="solid"/>
          </a:ln>
        </p:spPr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076B2BC8-E4AB-4558-9762-6CFFE913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9107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4741FD8-B177-41EF-8AAE-CD7FF755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24425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/api/v1/orders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8932BBB-9907-4E4B-B974-892BD03E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9107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Version only when compatibility requires it.</a:t>
            </a:r>
          </a:p>
        </p:txBody>
      </p:sp>
      <p:sp>
        <p:nvSpPr>
          <p:cNvPr id="30" name="nav-home">
            <a:extLst xmlns:a="http://schemas.openxmlformats.org/drawingml/2006/main">
              <a:ext uri="{FF2B5EF4-FFF2-40B4-BE49-F238E27FC236}">
                <a16:creationId xmlns:a16="http://schemas.microsoft.com/office/drawing/2014/main" id="{C04EBA84-5614-40AE-9EA7-EF92FD6B55E6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31" name="nav-back">
            <a:extLst xmlns:a="http://schemas.openxmlformats.org/drawingml/2006/main">
              <a:ext uri="{FF2B5EF4-FFF2-40B4-BE49-F238E27FC236}">
                <a16:creationId xmlns:a16="http://schemas.microsoft.com/office/drawing/2014/main" id="{F53F45E0-30FB-42B3-959D-CE4B11C8FF3E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32" name="nav-next">
            <a:extLst xmlns:a="http://schemas.openxmlformats.org/drawingml/2006/main">
              <a:ext uri="{FF2B5EF4-FFF2-40B4-BE49-F238E27FC236}">
                <a16:creationId xmlns:a16="http://schemas.microsoft.com/office/drawing/2014/main" id="{9586F142-D9DB-4328-83C5-C937499C82F5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369340842"/>
      </p:ext>
    </p:extLst>
  </p:cSld>
  <p:transition spd="fast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41814D0-98E1-4ABF-9743-EF95EF1E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SECURITY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0A5DAA6-4000-445D-AEDA-BA8C77E4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4DBE42F-4917-4FB8-854C-FE908CD5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Authentication asks who; authorization asks whether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436482-B51D-4680-923F-4E563F2B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CEF9F5C6-62EE-4152-8EC4-D276EBAA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5143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7CF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88F15C4-42EA-43DD-931B-53FBF736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AUTHENTICATION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239170-F17F-4FD0-ACA9-4958CEA8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4762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Proves the caller identity: session, API key, OAuth access token, or another credential.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50914F80-3D7A-4805-B65E-ED5EDDC2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5143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AF22514-EF26-47B3-BA85-D973D82E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AUTHORIZATION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67F6352-6FBC-4818-AB16-33395110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4762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Checks the exact action on the exact object—not just whether the caller is logged in.</a:t>
            </a:r>
          </a:p>
        </p:txBody>
      </p:sp>
      <p:sp>
        <p:nvSpPr>
          <p:cNvPr id="11" name="endpoint">
            <a:extLst xmlns:a="http://schemas.openxmlformats.org/drawingml/2006/main">
              <a:ext uri="{FF2B5EF4-FFF2-40B4-BE49-F238E27FC236}">
                <a16:creationId xmlns:a16="http://schemas.microsoft.com/office/drawing/2014/main" id="{14BE2985-B1F0-430C-A03C-FE2A6526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647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2" name="method">
            <a:extLst xmlns:a="http://schemas.openxmlformats.org/drawingml/2006/main">
              <a:ext uri="{FF2B5EF4-FFF2-40B4-BE49-F238E27FC236}">
                <a16:creationId xmlns:a16="http://schemas.microsoft.com/office/drawing/2014/main" id="{7194964C-F5B5-47D1-8A61-21999541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904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1F0AE0C-C69E-45BF-B3C8-C92D168A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57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/accounts/847/statements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10AB907-7869-426A-A010-2637CF2C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768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Never trust 847 merely because it arrived in the URL.</a:t>
            </a:r>
          </a:p>
        </p:txBody>
      </p:sp>
      <p:sp>
        <p:nvSpPr>
          <p:cNvPr id="15" name="nav-home">
            <a:extLst xmlns:a="http://schemas.openxmlformats.org/drawingml/2006/main">
              <a:ext uri="{FF2B5EF4-FFF2-40B4-BE49-F238E27FC236}">
                <a16:creationId xmlns:a16="http://schemas.microsoft.com/office/drawing/2014/main" id="{988B6E49-9F9F-4455-9765-7B836F21C609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6" name="nav-back">
            <a:extLst xmlns:a="http://schemas.openxmlformats.org/drawingml/2006/main">
              <a:ext uri="{FF2B5EF4-FFF2-40B4-BE49-F238E27FC236}">
                <a16:creationId xmlns:a16="http://schemas.microsoft.com/office/drawing/2014/main" id="{20C30A53-C2CD-4303-98F3-2992022552C0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7" name="nav-next">
            <a:extLst xmlns:a="http://schemas.openxmlformats.org/drawingml/2006/main">
              <a:ext uri="{FF2B5EF4-FFF2-40B4-BE49-F238E27FC236}">
                <a16:creationId xmlns:a16="http://schemas.microsoft.com/office/drawing/2014/main" id="{C29B61CF-ECB5-428F-B6A4-74FC732AEA9E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592399557"/>
      </p:ext>
    </p:extLst>
  </p:cSld>
  <p:transition spd="fast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24844B3-96FD-4A66-86A2-2E88D106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SECURITY CHECKLIST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FA1A331-A2F2-4EFC-B5E9-B07BFE63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AD8D7E5-CCAA-4819-98A0-3879AE41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Secure every endpoint as a boundary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1A97133-293C-48FC-9149-08448FCB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5" name="num">
            <a:extLst xmlns:a="http://schemas.openxmlformats.org/drawingml/2006/main">
              <a:ext uri="{FF2B5EF4-FFF2-40B4-BE49-F238E27FC236}">
                <a16:creationId xmlns:a16="http://schemas.microsoft.com/office/drawing/2014/main" id="{D4EC8334-C03D-4DFA-88F5-5F18999C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5B4E8E8-2BC5-4E96-8DB5-CEDC9557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6D5003D-955D-476A-8AF1-A2DF225B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Authorize each object and action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19F6478-E184-4B18-8132-8FD20B04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1925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Do not infer permission from possession of an ID.</a:t>
            </a:r>
          </a:p>
        </p:txBody>
      </p:sp>
      <p:sp>
        <p:nvSpPr>
          <p:cNvPr id="9" name="num">
            <a:extLst xmlns:a="http://schemas.openxmlformats.org/drawingml/2006/main">
              <a:ext uri="{FF2B5EF4-FFF2-40B4-BE49-F238E27FC236}">
                <a16:creationId xmlns:a16="http://schemas.microsoft.com/office/drawing/2014/main" id="{74C35704-842D-47D6-8CDD-5C72AD54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AB8B70A-D2BC-4ACB-8D2F-99EB65C3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C75E5C6-6405-4673-85D4-3FECAC51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Validate input and output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907F1D3-0A2B-47A6-98F1-58BC76E3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7650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Types, ranges, formats, allowed fields, response schema.</a:t>
            </a:r>
          </a:p>
        </p:txBody>
      </p:sp>
      <p:sp>
        <p:nvSpPr>
          <p:cNvPr id="13" name="num">
            <a:extLst xmlns:a="http://schemas.openxmlformats.org/drawingml/2006/main">
              <a:ext uri="{FF2B5EF4-FFF2-40B4-BE49-F238E27FC236}">
                <a16:creationId xmlns:a16="http://schemas.microsoft.com/office/drawing/2014/main" id="{9008A1DC-1905-405C-8436-911E2F78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55F89FD-2E78-4965-BBAB-4CC8B99D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6D0310C-E672-4BD8-ABBA-F8E964E4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Limit abuse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ECC3888-CE56-4C35-B9AB-B0B6C656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Rate limits, quotas, size limits, timeouts, pagination.</a:t>
            </a:r>
          </a:p>
        </p:txBody>
      </p:sp>
      <p:sp>
        <p:nvSpPr>
          <p:cNvPr id="17" name="num">
            <a:extLst xmlns:a="http://schemas.openxmlformats.org/drawingml/2006/main">
              <a:ext uri="{FF2B5EF4-FFF2-40B4-BE49-F238E27FC236}">
                <a16:creationId xmlns:a16="http://schemas.microsoft.com/office/drawing/2014/main" id="{C53D049E-49EF-4955-9778-9BF0415C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4D66479-8BCC-4D31-957C-EEC5EFDB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52A6615-9A28-4EAE-80AF-DEDE5106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Protect credentials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04575FA-F38A-43EF-BDC9-63C52990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9100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HTTPS, short-lived tokens, no secrets in URLs or logs.</a:t>
            </a:r>
          </a:p>
        </p:txBody>
      </p:sp>
      <p:sp>
        <p:nvSpPr>
          <p:cNvPr id="21" name="num">
            <a:extLst xmlns:a="http://schemas.openxmlformats.org/drawingml/2006/main">
              <a:ext uri="{FF2B5EF4-FFF2-40B4-BE49-F238E27FC236}">
                <a16:creationId xmlns:a16="http://schemas.microsoft.com/office/drawing/2014/main" id="{BA82F6D3-171F-4ED0-B7D3-36DBFD16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76C5EC7-83B8-417A-BE12-EF9DEC3D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160DF3F-D0B5-449C-AD43-2F27DF98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Observe safely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C2D12AC-DEFB-49A0-B4CD-5212A6F5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4825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Request IDs and audit events without leaking sensitive data.</a:t>
            </a:r>
          </a:p>
        </p:txBody>
      </p:sp>
      <p:sp>
        <p:nvSpPr>
          <p:cNvPr id="25" name="nav-home">
            <a:extLst xmlns:a="http://schemas.openxmlformats.org/drawingml/2006/main">
              <a:ext uri="{FF2B5EF4-FFF2-40B4-BE49-F238E27FC236}">
                <a16:creationId xmlns:a16="http://schemas.microsoft.com/office/drawing/2014/main" id="{2A74FAAB-925C-4491-B1FA-2942DF582C2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26" name="nav-back">
            <a:extLst xmlns:a="http://schemas.openxmlformats.org/drawingml/2006/main">
              <a:ext uri="{FF2B5EF4-FFF2-40B4-BE49-F238E27FC236}">
                <a16:creationId xmlns:a16="http://schemas.microsoft.com/office/drawing/2014/main" id="{EB87DC1B-A7E2-43BD-9546-8960DE76E28A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27" name="nav-next">
            <a:extLst xmlns:a="http://schemas.openxmlformats.org/drawingml/2006/main">
              <a:ext uri="{FF2B5EF4-FFF2-40B4-BE49-F238E27FC236}">
                <a16:creationId xmlns:a16="http://schemas.microsoft.com/office/drawing/2014/main" id="{52B279E9-D93F-4295-9867-62322EFB7456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288068731"/>
      </p:ext>
    </p:extLst>
  </p:cSld>
  <p:transition spd="fast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CF51CDB-68BB-426A-A6EB-A2ECCD61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DOCUMENTATION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F4D21AC-E32B-4790-8960-CE9CF865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FE"/>
          </a:solidFill>
          <a:ln xmlns:a="http://schemas.openxmlformats.org/drawingml/2006/main" w="0">
            <a:solidFill>
              <a:srgbClr val="4D7CFE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AC788EF-9F85-4CA8-87E4-88A4CA0B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OpenAPI turns the contract into a shared artifact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551D838-370B-4BD2-BB6B-E52E7DC4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A17E142D-032D-4D2D-800B-62C06E98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5905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C1528"/>
          </a:solidFill>
          <a:ln xmlns:a="http://schemas.openxmlformats.org/drawingml/2006/main" w="9525">
            <a:solidFill>
              <a:srgbClr val="0C1528"/>
            </a:solidFill>
            <a:prstDash val="solid"/>
          </a:ln>
        </p:spPr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A7ACB595-42EB-445C-852F-B49AFCC7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667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FE"/>
          </a:solidFill>
          <a:ln xmlns:a="http://schemas.openxmlformats.org/drawingml/2006/main" w="0">
            <a:solidFill>
              <a:srgbClr val="4D7CFE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08C2D8-B4D3-4395-8383-0921DA46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550545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paths: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/orders/{order_id}: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get: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parameters: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- in: path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name: order_id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required: true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responses: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"200":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description: Order found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B6706A2A-D3BA-4295-B2C7-92D55248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62125"/>
            <a:ext cx="4476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7CFE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AE41A4D-6904-435F-9890-E8757A63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ONE CONTRACT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A3CF641-F0AC-4929-A3DB-D238638E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4095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Describe paths, operations, parameters, schemas, responses, and security requirements.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3B58AFA9-FBCF-4E58-B0BE-E3F0B46F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71875"/>
            <a:ext cx="4476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C4B6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E5B6DF-EF7C-4D7B-B29F-1A0AD465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14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rPr>
              <a:t>MANY USES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7746ECD-2D92-4688-9CF9-213AB265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4095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Human docs, client generation, validation, testing, mocks, and governance.</a:t>
            </a:r>
          </a:p>
        </p:txBody>
      </p:sp>
      <p:sp>
        <p:nvSpPr>
          <p:cNvPr id="14" name="nav-home">
            <a:extLst xmlns:a="http://schemas.openxmlformats.org/drawingml/2006/main">
              <a:ext uri="{FF2B5EF4-FFF2-40B4-BE49-F238E27FC236}">
                <a16:creationId xmlns:a16="http://schemas.microsoft.com/office/drawing/2014/main" id="{B5A23AB4-6CD5-4D34-B56A-6DDC9F9B53B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5" name="nav-back">
            <a:extLst xmlns:a="http://schemas.openxmlformats.org/drawingml/2006/main">
              <a:ext uri="{FF2B5EF4-FFF2-40B4-BE49-F238E27FC236}">
                <a16:creationId xmlns:a16="http://schemas.microsoft.com/office/drawing/2014/main" id="{40DB7300-8A01-4CF5-A273-9DF3561022DF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6" name="nav-next">
            <a:extLst xmlns:a="http://schemas.openxmlformats.org/drawingml/2006/main">
              <a:ext uri="{FF2B5EF4-FFF2-40B4-BE49-F238E27FC236}">
                <a16:creationId xmlns:a16="http://schemas.microsoft.com/office/drawing/2014/main" id="{B99AF97C-1CDB-4642-946B-AA81BDCBA533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47147738"/>
      </p:ext>
    </p:extLst>
  </p:cSld>
  <p:transition spd="fast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BE5A6E5-D295-43FF-884C-810BF3E6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rPr>
              <a:t>END-TO-END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574F4A8-A6D5-480D-AB84-731CFE80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71BDC67-E80E-4B56-8427-140B2A0A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Trace one endpoint from request to decision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26FCBB4-DA6D-467E-B25D-BEEEACD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5" name="endpoint">
            <a:extLst xmlns:a="http://schemas.openxmlformats.org/drawingml/2006/main">
              <a:ext uri="{FF2B5EF4-FFF2-40B4-BE49-F238E27FC236}">
                <a16:creationId xmlns:a16="http://schemas.microsoft.com/office/drawing/2014/main" id="{02686422-536A-44A8-8DDB-6F59407F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method">
            <a:extLst xmlns:a="http://schemas.openxmlformats.org/drawingml/2006/main">
              <a:ext uri="{FF2B5EF4-FFF2-40B4-BE49-F238E27FC236}">
                <a16:creationId xmlns:a16="http://schemas.microsoft.com/office/drawing/2014/main" id="{C7F043F0-EC15-4507-9D0B-7472C8A8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904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741BD59-BCF9-4462-AAF0-62B87DF7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762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/api/v1/orders/42</a:t>
            </a:r>
          </a:p>
        </p:txBody>
      </p:sp>
      <p:sp>
        <p:nvSpPr>
          <p:cNvPr id="8" name="step">
            <a:extLst xmlns:a="http://schemas.openxmlformats.org/drawingml/2006/main">
              <a:ext uri="{FF2B5EF4-FFF2-40B4-BE49-F238E27FC236}">
                <a16:creationId xmlns:a16="http://schemas.microsoft.com/office/drawing/2014/main" id="{E940412C-0F71-4AD1-82DB-D382F7AC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FE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E00B1E5-8378-44CB-8DDA-FECB4673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003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B367F81-7999-4959-B7A7-60FA4E7A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Route match</a:t>
            </a:r>
          </a:p>
        </p:txBody>
      </p:sp>
      <p:sp>
        <p:nvSpPr>
          <p:cNvPr id="11" name="step">
            <a:extLst xmlns:a="http://schemas.openxmlformats.org/drawingml/2006/main">
              <a:ext uri="{FF2B5EF4-FFF2-40B4-BE49-F238E27FC236}">
                <a16:creationId xmlns:a16="http://schemas.microsoft.com/office/drawing/2014/main" id="{FC6B2E6B-45E6-492E-B95C-7C869B90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8575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FE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DEC20BB-2EF3-46BE-966C-0EC46801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003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806E8A-C6EA-4024-8F32-9DD5144C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47662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Authenticate</a:t>
            </a:r>
          </a:p>
        </p:txBody>
      </p:sp>
      <p:sp>
        <p:nvSpPr>
          <p:cNvPr id="14" name="step">
            <a:extLst xmlns:a="http://schemas.openxmlformats.org/drawingml/2006/main">
              <a:ext uri="{FF2B5EF4-FFF2-40B4-BE49-F238E27FC236}">
                <a16:creationId xmlns:a16="http://schemas.microsoft.com/office/drawing/2014/main" id="{6D1C62AD-9DE7-4590-8419-97BFB63C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C50EF75-410F-4B0B-AF99-9C87F578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003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A9C7768-5B09-47FC-B254-D4F82F46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Authorize order 42</a:t>
            </a:r>
          </a:p>
        </p:txBody>
      </p:sp>
      <p:sp>
        <p:nvSpPr>
          <p:cNvPr id="17" name="step">
            <a:extLst xmlns:a="http://schemas.openxmlformats.org/drawingml/2006/main">
              <a:ext uri="{FF2B5EF4-FFF2-40B4-BE49-F238E27FC236}">
                <a16:creationId xmlns:a16="http://schemas.microsoft.com/office/drawing/2014/main" id="{D0CA7D5B-A146-4FB7-BF58-A48E2879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8575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FEA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E8A47ED-8A5E-4BD8-851A-7FB25881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003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290F254-945D-469B-BAB3-EA547C6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7662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Load + serialize</a:t>
            </a:r>
          </a:p>
        </p:txBody>
      </p:sp>
      <p:sp>
        <p:nvSpPr>
          <p:cNvPr id="20" name="step">
            <a:extLst xmlns:a="http://schemas.openxmlformats.org/drawingml/2006/main">
              <a:ext uri="{FF2B5EF4-FFF2-40B4-BE49-F238E27FC236}">
                <a16:creationId xmlns:a16="http://schemas.microsoft.com/office/drawing/2014/main" id="{0F8D2E83-F45C-424C-BF87-9172D497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FEA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28E4D00-F2F0-43AB-ADF8-2AD627F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0003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4D7CFE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03E46E8-A497-4D22-8DDD-229FC677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7662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Return 200 or truthful error</a:t>
            </a:r>
          </a:p>
        </p:txBody>
      </p:sp>
      <p:sp>
        <p:nvSpPr>
          <p:cNvPr id="23" name="code">
            <a:extLst xmlns:a="http://schemas.openxmlformats.org/drawingml/2006/main">
              <a:ext uri="{FF2B5EF4-FFF2-40B4-BE49-F238E27FC236}">
                <a16:creationId xmlns:a16="http://schemas.microsoft.com/office/drawing/2014/main" id="{6EA171A3-704C-4FBE-9B4B-A4A0C6D6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62500"/>
            <a:ext cx="6953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C1528"/>
          </a:solidFill>
          <a:ln xmlns:a="http://schemas.openxmlformats.org/drawingml/2006/main" w="9525">
            <a:solidFill>
              <a:srgbClr val="0C1528"/>
            </a:solidFill>
            <a:prstDash val="solid"/>
          </a:ln>
        </p:spPr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D6F3F5FB-0357-45CA-8B36-556940F3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6250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solidFill>
              <a:srgbClr val="2EC4B6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B5F23D6-C6AD-49D1-B693-0F12F559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95850"/>
            <a:ext cx="6553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200 {"id":42,"total":790}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404 {"code":"order_not_found"}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403 {"code":"forbidden"}</a:t>
            </a:r>
          </a:p>
        </p:txBody>
      </p:sp>
      <p:sp>
        <p:nvSpPr>
          <p:cNvPr id="26" name="nav-home">
            <a:extLst xmlns:a="http://schemas.openxmlformats.org/drawingml/2006/main">
              <a:ext uri="{FF2B5EF4-FFF2-40B4-BE49-F238E27FC236}">
                <a16:creationId xmlns:a16="http://schemas.microsoft.com/office/drawing/2014/main" id="{4CABB2B3-34D4-4595-AC57-1A38E382AEA4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27" name="nav-back">
            <a:extLst xmlns:a="http://schemas.openxmlformats.org/drawingml/2006/main">
              <a:ext uri="{FF2B5EF4-FFF2-40B4-BE49-F238E27FC236}">
                <a16:creationId xmlns:a16="http://schemas.microsoft.com/office/drawing/2014/main" id="{D5684288-8508-4C1A-B8BD-326EB8E7B8A0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28" name="nav-next">
            <a:extLst xmlns:a="http://schemas.openxmlformats.org/drawingml/2006/main">
              <a:ext uri="{FF2B5EF4-FFF2-40B4-BE49-F238E27FC236}">
                <a16:creationId xmlns:a16="http://schemas.microsoft.com/office/drawing/2014/main" id="{5B913C62-96F9-4A91-BF78-D2DACED4C4BB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9525">
            <a:solidFill>
              <a:srgbClr val="4D7CFE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7497240"/>
      </p:ext>
    </p:extLst>
  </p:cSld>
  <p:transition spd="fast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3263A86-CAC0-4AD3-8FAD-E3966BF1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CLICK YOUR ANSWER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061AC2B0-5D65-4359-97F7-0C7CBF82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AD8B1B4-CB26-42B1-BC97-6C41D8D2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Challenge: update only an order address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006449B-BD05-4BAC-BB4C-CFE2B62E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5" name="scenario">
            <a:extLst xmlns:a="http://schemas.openxmlformats.org/drawingml/2006/main">
              <a:ext uri="{FF2B5EF4-FFF2-40B4-BE49-F238E27FC236}">
                <a16:creationId xmlns:a16="http://schemas.microsoft.com/office/drawing/2014/main" id="{E5892FE4-2D96-40C9-9086-78493015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A630A95-ED3E-45CB-A784-C1746A63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client changes one field on order 42. Which endpoint communicates that intent most clearly?</a:t>
            </a:r>
          </a:p>
        </p:txBody>
      </p:sp>
      <p:sp>
        <p:nvSpPr>
          <p:cNvPr id="7" name="quiz-a">
            <a:extLst xmlns:a="http://schemas.openxmlformats.org/drawingml/2006/main">
              <a:ext uri="{FF2B5EF4-FFF2-40B4-BE49-F238E27FC236}">
                <a16:creationId xmlns:a16="http://schemas.microsoft.com/office/drawing/2014/main" id="{38DD32A8-921B-4378-9FBB-4B27B8387E7B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A  GET /orders/42?address=new</a:t>
            </a:r>
          </a:p>
        </p:txBody>
      </p:sp>
      <p:sp>
        <p:nvSpPr>
          <p:cNvPr id="8" name="quiz-b">
            <a:extLst xmlns:a="http://schemas.openxmlformats.org/drawingml/2006/main">
              <a:ext uri="{FF2B5EF4-FFF2-40B4-BE49-F238E27FC236}">
                <a16:creationId xmlns:a16="http://schemas.microsoft.com/office/drawing/2014/main" id="{174A87CB-2398-41B9-B17E-F8EFFC79F3FA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B  PATCH /orders/42  + JSON body</a:t>
            </a:r>
          </a:p>
        </p:txBody>
      </p:sp>
      <p:sp>
        <p:nvSpPr>
          <p:cNvPr id="9" name="quiz-c">
            <a:extLst xmlns:a="http://schemas.openxmlformats.org/drawingml/2006/main">
              <a:ext uri="{FF2B5EF4-FFF2-40B4-BE49-F238E27FC236}">
                <a16:creationId xmlns:a16="http://schemas.microsoft.com/office/drawing/2014/main" id="{B89D531D-AD07-4BB7-AA7A-BD30D7489404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C  POST /updateOrder/42</a:t>
            </a:r>
          </a:p>
        </p:txBody>
      </p:sp>
      <p:sp>
        <p:nvSpPr>
          <p:cNvPr id="10" name="nav-home">
            <a:extLst xmlns:a="http://schemas.openxmlformats.org/drawingml/2006/main">
              <a:ext uri="{FF2B5EF4-FFF2-40B4-BE49-F238E27FC236}">
                <a16:creationId xmlns:a16="http://schemas.microsoft.com/office/drawing/2014/main" id="{F01DFD66-9D0A-4E52-B925-68E1401C99AE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1" name="nav-back">
            <a:extLst xmlns:a="http://schemas.openxmlformats.org/drawingml/2006/main">
              <a:ext uri="{FF2B5EF4-FFF2-40B4-BE49-F238E27FC236}">
                <a16:creationId xmlns:a16="http://schemas.microsoft.com/office/drawing/2014/main" id="{7EC2B649-6B39-41D7-B5E3-9304F3B7AE21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159000140"/>
      </p:ext>
    </p:extLst>
  </p:cSld>
  <p:transition spd="fast">
    <p:fade/>
  </p:transition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wrong">
            <a:extLst xmlns:a="http://schemas.openxmlformats.org/drawingml/2006/main">
              <a:ext uri="{FF2B5EF4-FFF2-40B4-BE49-F238E27FC236}">
                <a16:creationId xmlns:a16="http://schemas.microsoft.com/office/drawing/2014/main" id="{1FD77B0C-9F9D-466B-B25A-63408C07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430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494FC36-27B1-47EB-AA9B-E950B0D7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66800"/>
            <a:ext cx="180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684B023-970D-4208-982E-95F9731A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38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NOT QUITE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4A4E3AD-F7E8-442C-BE54-A05F4E66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URL should identify the resource—</a:t>
            </a:r>
          </a:p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not hide the operation in a verb.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8D8B6BD-37B2-4D54-8FD0-D19CABFC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627086"/>
                </a:solidFill>
                <a:latin typeface="Aptos Display"/>
                <a:ea typeface="Aptos Display"/>
                <a:cs typeface="Aptos Display"/>
              </a:rPr>
              <a:t>GET is defined as safe/read-only. A partial resource change is naturally expressed with PATCH plus a validated request body.</a:t>
            </a:r>
          </a:p>
        </p:txBody>
      </p:sp>
      <p:sp>
        <p:nvSpPr>
          <p:cNvPr id="6" name="try-again">
            <a:extLst xmlns:a="http://schemas.openxmlformats.org/drawingml/2006/main">
              <a:ext uri="{FF2B5EF4-FFF2-40B4-BE49-F238E27FC236}">
                <a16:creationId xmlns:a16="http://schemas.microsoft.com/office/drawing/2014/main" id="{3244307E-BCF0-42BB-B663-6C73A5E48113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6250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TRY AGAIN</a:t>
            </a:r>
          </a:p>
        </p:txBody>
      </p:sp>
      <p:sp>
        <p:nvSpPr>
          <p:cNvPr id="7" name="wrong-menu">
            <a:extLst xmlns:a="http://schemas.openxmlformats.org/drawingml/2006/main">
              <a:ext uri="{FF2B5EF4-FFF2-40B4-BE49-F238E27FC236}">
                <a16:creationId xmlns:a16="http://schemas.microsoft.com/office/drawing/2014/main" id="{2BF08B58-65BA-4B7A-B7BA-6D9D15F0F2E1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6250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BACK TO MAP</a:t>
            </a:r>
          </a:p>
        </p:txBody>
      </p:sp>
    </p:spTree>
    <p:extLst>
      <p:ext uri="{BB962C8B-B14F-4D97-AF65-F5344CB8AC3E}">
        <p14:creationId xmlns:p14="http://schemas.microsoft.com/office/powerpoint/2010/main" val="774521415"/>
      </p:ext>
    </p:extLst>
  </p:cSld>
  <p:transition spd="fast">
    <p:fade/>
  </p:transition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rrect">
            <a:extLst xmlns:a="http://schemas.openxmlformats.org/drawingml/2006/main">
              <a:ext uri="{FF2B5EF4-FFF2-40B4-BE49-F238E27FC236}">
                <a16:creationId xmlns:a16="http://schemas.microsoft.com/office/drawing/2014/main" id="{6B9260B4-E53B-462D-A1E5-DD87F6DE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95375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9050">
            <a:solidFill>
              <a:srgbClr val="2EC4B6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C34EB4B-8DF5-46CD-B848-4A9D10C1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95375"/>
            <a:ext cx="1905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67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F4C1E94-C4B7-4964-927F-77141C14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906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EC4B6"/>
                </a:solidFill>
                <a:latin typeface="Aptos Display"/>
                <a:ea typeface="Aptos Display"/>
                <a:cs typeface="Aptos Display"/>
              </a:rPr>
              <a:t>CORRECT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9A4255-737D-498B-B552-75E1CEE8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PATCH /orders/42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8483744-4007-480C-8CF1-D2EA2DC2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An endpoint is a contract: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648AF48-B166-4627-BCA0-E74E6D7D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method + target + inputs + authorization + outcomes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28166E2-16E1-4FE9-9F49-0788D8A4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it so clients can predict success, failure, and evolution.</a:t>
            </a:r>
          </a:p>
        </p:txBody>
      </p:sp>
      <p:sp>
        <p:nvSpPr>
          <p:cNvPr id="8" name="summary-menu">
            <a:extLst xmlns:a="http://schemas.openxmlformats.org/drawingml/2006/main">
              <a:ext uri="{FF2B5EF4-FFF2-40B4-BE49-F238E27FC236}">
                <a16:creationId xmlns:a16="http://schemas.microsoft.com/office/drawing/2014/main" id="{E76527C9-6A23-4698-A625-2B61B9F55EC7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6375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EXPLORE AGAIN</a:t>
            </a:r>
          </a:p>
        </p:txBody>
      </p:sp>
    </p:spTree>
    <p:extLst>
      <p:ext uri="{BB962C8B-B14F-4D97-AF65-F5344CB8AC3E}">
        <p14:creationId xmlns:p14="http://schemas.microsoft.com/office/powerpoint/2010/main" val="642463642"/>
      </p:ext>
    </p:extLst>
  </p:cSld>
  <p:transition spd="fast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2026-08-08T14:18:32.7870000Z</dcterms:created>
  <dcterms:modified xsi:type="dcterms:W3CDTF">2026-08-08T14:18:32.7870000Z</dcterms:modified>
</coreProperties>
</file>