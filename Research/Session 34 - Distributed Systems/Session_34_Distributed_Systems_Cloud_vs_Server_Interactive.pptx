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b72740e1494421" /><Relationship Type="http://schemas.openxmlformats.org/officeDocument/2006/relationships/extended-properties" Target="/docProps/app.xml" Id="R24538b38e133412e" /><Relationship Type="http://schemas.openxmlformats.org/officeDocument/2006/relationships/officeDocument" Target="/ppt/presentation.xml" Id="R421855abdba946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eda6fee3174475"/>
  </p:sldMasterIdLst>
  <p:notesMasterIdLst>
    <p:notesMasterId xmlns:r="http://schemas.openxmlformats.org/officeDocument/2006/relationships" r:id="R18cbed9fc8344a4b"/>
  </p:notesMasterIdLst>
  <p:sldIdLst>
    <p:sldId xmlns:r="http://schemas.openxmlformats.org/officeDocument/2006/relationships" id="256" r:id="R0b741523aad04a06"/>
    <p:sldId xmlns:r="http://schemas.openxmlformats.org/officeDocument/2006/relationships" id="257" r:id="R743448a3f4754c31"/>
    <p:sldId xmlns:r="http://schemas.openxmlformats.org/officeDocument/2006/relationships" id="258" r:id="Refde4e8fb26c4bb7"/>
    <p:sldId xmlns:r="http://schemas.openxmlformats.org/officeDocument/2006/relationships" id="259" r:id="Rcebd8e5308d84a28"/>
    <p:sldId xmlns:r="http://schemas.openxmlformats.org/officeDocument/2006/relationships" id="260" r:id="R9860a23935ef41f4"/>
    <p:sldId xmlns:r="http://schemas.openxmlformats.org/officeDocument/2006/relationships" id="261" r:id="Rb052fe3894954470"/>
    <p:sldId xmlns:r="http://schemas.openxmlformats.org/officeDocument/2006/relationships" id="262" r:id="Rddc81ab047c54e69"/>
    <p:sldId xmlns:r="http://schemas.openxmlformats.org/officeDocument/2006/relationships" id="263" r:id="R2cee46bf6ad145e7"/>
    <p:sldId xmlns:r="http://schemas.openxmlformats.org/officeDocument/2006/relationships" id="264" r:id="Rede9d12b21ad4390"/>
    <p:sldId xmlns:r="http://schemas.openxmlformats.org/officeDocument/2006/relationships" id="265" r:id="R5c395a31e5854f11"/>
    <p:sldId xmlns:r="http://schemas.openxmlformats.org/officeDocument/2006/relationships" id="266" r:id="R64bacbe867644907"/>
    <p:sldId xmlns:r="http://schemas.openxmlformats.org/officeDocument/2006/relationships" id="267" r:id="R7ebf795cb7904f32"/>
    <p:sldId xmlns:r="http://schemas.openxmlformats.org/officeDocument/2006/relationships" id="268" r:id="R2e8f5edc99534c21"/>
    <p:sldId xmlns:r="http://schemas.openxmlformats.org/officeDocument/2006/relationships" id="269" r:id="Rfc6b5fa11cb04d2f"/>
    <p:sldId xmlns:r="http://schemas.openxmlformats.org/officeDocument/2006/relationships" id="270" r:id="Rcabadfe71bc5415b"/>
    <p:sldId xmlns:r="http://schemas.openxmlformats.org/officeDocument/2006/relationships" id="271" r:id="R0d796246916e4abe"/>
    <p:sldId xmlns:r="http://schemas.openxmlformats.org/officeDocument/2006/relationships" id="272" r:id="R91d7674b6c1f423f"/>
    <p:sldId xmlns:r="http://schemas.openxmlformats.org/officeDocument/2006/relationships" id="273" r:id="R05fa70b483f84743"/>
    <p:sldId xmlns:r="http://schemas.openxmlformats.org/officeDocument/2006/relationships" id="274" r:id="R82e55b8f62b348a9"/>
    <p:sldId xmlns:r="http://schemas.openxmlformats.org/officeDocument/2006/relationships" id="275" r:id="Rb735f553c3c24a1a"/>
    <p:sldId xmlns:r="http://schemas.openxmlformats.org/officeDocument/2006/relationships" id="276" r:id="Rac111f3d36ad42a4"/>
    <p:sldId xmlns:r="http://schemas.openxmlformats.org/officeDocument/2006/relationships" id="277" r:id="R7d0b6dbd2e554f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671cd6fccc4505" /><Relationship Type="http://schemas.openxmlformats.org/officeDocument/2006/relationships/slideMaster" Target="/ppt/slideMasters/slideMaster1.xml" Id="Rcfeda6fee3174475" /><Relationship Type="http://schemas.openxmlformats.org/officeDocument/2006/relationships/notesMaster" Target="/ppt/notesMasters/notesMaster1.xml" Id="R18cbed9fc8344a4b" /><Relationship Type="http://schemas.openxmlformats.org/officeDocument/2006/relationships/presProps" Target="/ppt/presProps.xml" Id="Ra620e3e7d4fb4a2a" /><Relationship Type="http://schemas.openxmlformats.org/officeDocument/2006/relationships/tableStyles" Target="/ppt/tableStyles.xml" Id="R021b016e8b7d4556" /><Relationship Type="http://schemas.openxmlformats.org/officeDocument/2006/relationships/slide" Target="/ppt/slides/slide1.xml" Id="R0b741523aad04a06" /><Relationship Type="http://schemas.openxmlformats.org/officeDocument/2006/relationships/slide" Target="/ppt/slides/slide2.xml" Id="R743448a3f4754c31" /><Relationship Type="http://schemas.openxmlformats.org/officeDocument/2006/relationships/slide" Target="/ppt/slides/slide3.xml" Id="Refde4e8fb26c4bb7" /><Relationship Type="http://schemas.openxmlformats.org/officeDocument/2006/relationships/slide" Target="/ppt/slides/slide4.xml" Id="Rcebd8e5308d84a28" /><Relationship Type="http://schemas.openxmlformats.org/officeDocument/2006/relationships/slide" Target="/ppt/slides/slide5.xml" Id="R9860a23935ef41f4" /><Relationship Type="http://schemas.openxmlformats.org/officeDocument/2006/relationships/slide" Target="/ppt/slides/slide6.xml" Id="Rb052fe3894954470" /><Relationship Type="http://schemas.openxmlformats.org/officeDocument/2006/relationships/slide" Target="/ppt/slides/slide7.xml" Id="Rddc81ab047c54e69" /><Relationship Type="http://schemas.openxmlformats.org/officeDocument/2006/relationships/slide" Target="/ppt/slides/slide8.xml" Id="R2cee46bf6ad145e7" /><Relationship Type="http://schemas.openxmlformats.org/officeDocument/2006/relationships/slide" Target="/ppt/slides/slide9.xml" Id="Rede9d12b21ad4390" /><Relationship Type="http://schemas.openxmlformats.org/officeDocument/2006/relationships/slide" Target="/ppt/slides/slide10.xml" Id="R5c395a31e5854f11" /><Relationship Type="http://schemas.openxmlformats.org/officeDocument/2006/relationships/slide" Target="/ppt/slides/slide11.xml" Id="R64bacbe867644907" /><Relationship Type="http://schemas.openxmlformats.org/officeDocument/2006/relationships/slide" Target="/ppt/slides/slide12.xml" Id="R7ebf795cb7904f32" /><Relationship Type="http://schemas.openxmlformats.org/officeDocument/2006/relationships/slide" Target="/ppt/slides/slide13.xml" Id="R2e8f5edc99534c21" /><Relationship Type="http://schemas.openxmlformats.org/officeDocument/2006/relationships/slide" Target="/ppt/slides/slide14.xml" Id="Rfc6b5fa11cb04d2f" /><Relationship Type="http://schemas.openxmlformats.org/officeDocument/2006/relationships/slide" Target="/ppt/slides/slide15.xml" Id="Rcabadfe71bc5415b" /><Relationship Type="http://schemas.openxmlformats.org/officeDocument/2006/relationships/slide" Target="/ppt/slides/slide16.xml" Id="R0d796246916e4abe" /><Relationship Type="http://schemas.openxmlformats.org/officeDocument/2006/relationships/slide" Target="/ppt/slides/slide17.xml" Id="R91d7674b6c1f423f" /><Relationship Type="http://schemas.openxmlformats.org/officeDocument/2006/relationships/slide" Target="/ppt/slides/slide18.xml" Id="R05fa70b483f84743" /><Relationship Type="http://schemas.openxmlformats.org/officeDocument/2006/relationships/slide" Target="/ppt/slides/slide19.xml" Id="R82e55b8f62b348a9" /><Relationship Type="http://schemas.openxmlformats.org/officeDocument/2006/relationships/slide" Target="/ppt/slides/slide20.xml" Id="Rb735f553c3c24a1a" /><Relationship Type="http://schemas.openxmlformats.org/officeDocument/2006/relationships/slide" Target="/ppt/slides/slide21.xml" Id="Rac111f3d36ad42a4" /><Relationship Type="http://schemas.openxmlformats.org/officeDocument/2006/relationships/slide" Target="/ppt/slides/slide22.xml" Id="R7d0b6dbd2e554f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1ae8f40621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4eca8a69ca46d9" /><Relationship Type="http://schemas.openxmlformats.org/officeDocument/2006/relationships/notesMaster" Target="/ppt/notesMasters/notesMaster1.xml" Id="Rf7562e4b44cb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e10ed300eb4d5b" /><Relationship Type="http://schemas.openxmlformats.org/officeDocument/2006/relationships/notesMaster" Target="/ppt/notesMasters/notesMaster1.xml" Id="R536aa089012b43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95df5ba9f14270" /><Relationship Type="http://schemas.openxmlformats.org/officeDocument/2006/relationships/notesMaster" Target="/ppt/notesMasters/notesMaster1.xml" Id="R57a569f04cfe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c8cb4d72224684" /><Relationship Type="http://schemas.openxmlformats.org/officeDocument/2006/relationships/notesMaster" Target="/ppt/notesMasters/notesMaster1.xml" Id="R34d57197feb347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ff6a881f4d4233" /><Relationship Type="http://schemas.openxmlformats.org/officeDocument/2006/relationships/notesMaster" Target="/ppt/notesMasters/notesMaster1.xml" Id="R5bf807428a4342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9ff14b682841ed" /><Relationship Type="http://schemas.openxmlformats.org/officeDocument/2006/relationships/notesMaster" Target="/ppt/notesMasters/notesMaster1.xml" Id="Rbf6a0513db8f4a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d8734007764c1a" /><Relationship Type="http://schemas.openxmlformats.org/officeDocument/2006/relationships/notesMaster" Target="/ppt/notesMasters/notesMaster1.xml" Id="R92220b42a45545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0a3eaad3e34adf" /><Relationship Type="http://schemas.openxmlformats.org/officeDocument/2006/relationships/notesMaster" Target="/ppt/notesMasters/notesMaster1.xml" Id="R7875f595f99344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2d7b55df424d51" /><Relationship Type="http://schemas.openxmlformats.org/officeDocument/2006/relationships/notesMaster" Target="/ppt/notesMasters/notesMaster1.xml" Id="R1339948a21f940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1d8d1f5ebf480d" /><Relationship Type="http://schemas.openxmlformats.org/officeDocument/2006/relationships/notesMaster" Target="/ppt/notesMasters/notesMaster1.xml" Id="Rf0541abf2dde44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4ed330f1884925" /><Relationship Type="http://schemas.openxmlformats.org/officeDocument/2006/relationships/notesMaster" Target="/ppt/notesMasters/notesMaster1.xml" Id="R6dfbdc311e6749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9ade6824504303" /><Relationship Type="http://schemas.openxmlformats.org/officeDocument/2006/relationships/notesMaster" Target="/ppt/notesMasters/notesMaster1.xml" Id="Rb54753b6f7c14f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85fe2c3d474b33" /><Relationship Type="http://schemas.openxmlformats.org/officeDocument/2006/relationships/notesMaster" Target="/ppt/notesMasters/notesMaster1.xml" Id="Rb564648ef3814f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beb65692fb4067" /><Relationship Type="http://schemas.openxmlformats.org/officeDocument/2006/relationships/notesMaster" Target="/ppt/notesMasters/notesMaster1.xml" Id="R13976753008142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7ce3a5d9b443f4" /><Relationship Type="http://schemas.openxmlformats.org/officeDocument/2006/relationships/notesMaster" Target="/ppt/notesMasters/notesMaster1.xml" Id="R0999ef0c9a9f4d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d65e1623b04077" /><Relationship Type="http://schemas.openxmlformats.org/officeDocument/2006/relationships/notesMaster" Target="/ppt/notesMasters/notesMaster1.xml" Id="R4d76e421304e42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34abd483cd471f" /><Relationship Type="http://schemas.openxmlformats.org/officeDocument/2006/relationships/notesMaster" Target="/ppt/notesMasters/notesMaster1.xml" Id="R052bbef18eb34b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8b171bf44b4023" /><Relationship Type="http://schemas.openxmlformats.org/officeDocument/2006/relationships/notesMaster" Target="/ppt/notesMasters/notesMaster1.xml" Id="Rb7ad5638078440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97e37e385b420b" /><Relationship Type="http://schemas.openxmlformats.org/officeDocument/2006/relationships/notesMaster" Target="/ppt/notesMasters/notesMaster1.xml" Id="Reac9ef48fe0a41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846051fdbd4837" /><Relationship Type="http://schemas.openxmlformats.org/officeDocument/2006/relationships/notesMaster" Target="/ppt/notesMasters/notesMaster1.xml" Id="Rb7c8bdb62fa147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0eb994ad7a4e67" /><Relationship Type="http://schemas.openxmlformats.org/officeDocument/2006/relationships/notesMaster" Target="/ppt/notesMasters/notesMaster1.xml" Id="Rafa30570d02d40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c98493efcce4527" /><Relationship Type="http://schemas.openxmlformats.org/officeDocument/2006/relationships/notesMaster" Target="/ppt/notesMasters/notesMaster1.xml" Id="R95c7b9541f754d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a question: what happens when one machine is no longer sufficient—or reliable?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https://csrc.nist.gov/pubs/sp/800/145/final</a:t>
            </a:r>
          </a:p>
          <a:p xmlns:a="http://schemas.openxmlformats.org/drawingml/2006/main">
            <a:r>
              <a:t>https://raft.github.io/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map is designed as a learning path that culminates in a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  <a:p xmlns:a="http://schemas.openxmlformats.org/drawingml/2006/main">
            <a:r>
              <a:t>https://csrc.nist.gov/pubs/sp/800/145/final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autonomy, messaging, and partial failure define the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https://doi.org/10.1145/359545.359563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distributed-computing fallacies summarized by Azure Architecture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request flow with the control systems that maintain the platform's desired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https://kubernetes.io/docs/concepts/index.html</a:t>
            </a:r>
          </a:p>
          <a:p xmlns:a="http://schemas.openxmlformats.org/drawingml/2006/main">
            <a:r>
              <a:t>https://csrc.nist.gov/pubs/sp/800/204/final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retry without idempotency can execute the same business operation twice.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GFS and Bigtable are classic examples of partitioning and replication on commodity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https://research.google/pubs/the-google-file-system/</a:t>
            </a:r>
          </a:p>
          <a:p xmlns:a="http://schemas.openxmlformats.org/drawingml/2006/main">
            <a:r>
              <a:t>https://research.google/pubs/bigtable-a-distributed-storage-system-for-structured-data/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Partition tolerance is not optional across a real network; the design decision is how the system behaves when a partition occurs.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https://doi.org/10.1145/564585.564601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Raft decomposes consensus into leader election, log replication, and safety, and progresses when a majority is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https://raft.github.io/raft.pdf</a:t>
            </a:r>
          </a:p>
          <a:p xmlns:a="http://schemas.openxmlformats.org/drawingml/2006/main">
            <a:r>
              <a:t>https://raft.github.io/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pattern to a specific failure mode and explain its trade-offs.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Lamport's 1978 paper introduces the happened-before relation and logical clocks.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https://doi.org/10.1145/359545.359563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default to microservices; use them when domain boundaries and operational independence justify their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https://csrc.nist.gov/pubs/sp/800/204/final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platform as an abstraction layer with limits and operational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https://kubernetes.io/docs/concepts/index.html</a:t>
            </a:r>
          </a:p>
          <a:p xmlns:a="http://schemas.openxmlformats.org/drawingml/2006/main">
            <a:r>
              <a:t>https://research.google/pubs/the-google-file-system/</a:t>
            </a:r>
          </a:p>
          <a:p xmlns:a="http://schemas.openxmlformats.org/drawingml/2006/main">
            <a:r>
              <a:t>https://research.google/pubs/mapreduce-simplified-data-processing-on-large-clusters/</a:t>
            </a:r>
          </a:p>
          <a:p xmlns:a="http://schemas.openxmlformats.org/drawingml/2006/main">
            <a:r>
              <a:t>https://research.google/pubs/bigtable-a-distributed-storage-system-for-structured-data/</a:t>
            </a:r>
          </a:p>
          <a:p xmlns:a="http://schemas.openxmlformats.org/drawingml/2006/main">
            <a:r>
              <a:t>https://raft.github.io/raft.pdf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the student's Operating Systems curriculum to the distributed-systems concepts used throughout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D:/University/3- Semester 1/Operating Systems/Lectures/Operating Systems - Lecture 10.pdf (pp. 4-5)</a:t>
            </a:r>
          </a:p>
          <a:p xmlns:a="http://schemas.openxmlformats.org/drawingml/2006/main">
            <a:r>
              <a:t>D:/University/2- Semester 1/Computer Network Technology/Lectures/Computer Network Technology - Chapter 0 - Introduction.pdf (pp. 7-9)</a:t>
            </a:r>
          </a:p>
          <a:p xmlns:a="http://schemas.openxmlformats.org/drawingml/2006/main">
            <a:r>
              <a:t>D:/University/2- Semester 1/Computer Network Technology/Lectures/Computer Network Technology - Chapter 1.pdf (pp. 6, 10-12)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recommends service-mesh controls and centralized monitoring; in cloud environments, customers remain responsible for data, identity, and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https://csrc.nist.gov/pubs/sp/800/204/final</a:t>
            </a:r>
          </a:p>
          <a:p xmlns:a="http://schemas.openxmlformats.org/drawingml/2006/main">
            <a:r>
              <a:t>https://aws.amazon.com/compliance/shared-responsibility-model/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distinguishes deployment models; Azure recommends aligning architecture with cost, business model, and nonfunctional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https://csrc.nist.gov/pubs/sp/800/145/final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qualitative comparison; actual cost and performance require workload measurements and current quotes.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https://csrc.nist.gov/pubs/sp/800/145/final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  <a:p xmlns:a="http://schemas.openxmlformats.org/drawingml/2006/main">
            <a:r>
              <a:t>https://aws.amazon.com/compliance/shared-responsibility-model/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generic savings claims; build a workload-specific model that includes indirect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  <a:p xmlns:a="http://schemas.openxmlformats.org/drawingml/2006/main">
            <a:r>
              <a:t>https://aws.amazon.com/blogs/aws-cloud-financial-management/five-things-you-should-do-to-create-an-accurate-on-premises-vs-cloud-comparison-model/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a quick vote. No conclusion is final without RTO/RPO, regulatory constraints, and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  <a:p xmlns:a="http://schemas.openxmlformats.org/drawingml/2006/main">
            <a:r>
              <a:t>https://csrc.nist.gov/pubs/sp/800/145/final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the outcome in an ADR with the decision, alternatives, assumptions, and review triggers.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  <a:p xmlns:a="http://schemas.openxmlformats.org/drawingml/2006/main">
            <a:r>
              <a:t>https://aws.amazon.com/compliance/shared-responsibility-model/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are clickable in presentation mode and repeated in the speaker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https://csrc.nist.gov/pubs/sp/800/145/final</a:t>
            </a:r>
          </a:p>
          <a:p xmlns:a="http://schemas.openxmlformats.org/drawingml/2006/main">
            <a:r>
              <a:t>https://raft.github.io/raft.pdf</a:t>
            </a:r>
          </a:p>
          <a:p xmlns:a="http://schemas.openxmlformats.org/drawingml/2006/main">
            <a:r>
              <a:t>https://raft.github.io/</a:t>
            </a:r>
          </a:p>
          <a:p xmlns:a="http://schemas.openxmlformats.org/drawingml/2006/main">
            <a:r>
              <a:t>https://research.google/pubs/mapreduce-simplified-data-processing-on-large-clusters/</a:t>
            </a:r>
          </a:p>
          <a:p xmlns:a="http://schemas.openxmlformats.org/drawingml/2006/main">
            <a:r>
              <a:t>https://research.google/pubs/the-google-file-system/</a:t>
            </a:r>
          </a:p>
          <a:p xmlns:a="http://schemas.openxmlformats.org/drawingml/2006/main">
            <a:r>
              <a:t>https://research.google/pubs/bigtable-a-distributed-storage-system-for-structured-data/</a:t>
            </a:r>
          </a:p>
          <a:p xmlns:a="http://schemas.openxmlformats.org/drawingml/2006/main">
            <a:r>
              <a:t>https://csrc.nist.gov/pubs/sp/800/204/final</a:t>
            </a:r>
          </a:p>
          <a:p xmlns:a="http://schemas.openxmlformats.org/drawingml/2006/main">
            <a:r>
              <a:t>https://aws.amazon.com/compliance/shared-responsibility-model/</a:t>
            </a:r>
          </a:p>
          <a:p xmlns:a="http://schemas.openxmlformats.org/drawingml/2006/main">
            <a:r>
              <a:t>https://learn.microsoft.com/en-us/azure/architecture/patterns/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  <a:p xmlns:a="http://schemas.openxmlformats.org/drawingml/2006/main">
            <a:r>
              <a:t>https://kubernetes.io/docs/concepts/index.html</a:t>
            </a:r>
          </a:p>
          <a:p xmlns:a="http://schemas.openxmlformats.org/drawingml/2006/main">
            <a:r>
              <a:t>https://doi.org/10.1145/564585.564601</a:t>
            </a:r>
          </a:p>
          <a:p xmlns:a="http://schemas.openxmlformats.org/drawingml/2006/main">
            <a:r>
              <a:t>https://doi.org/10.1145/359545.359563</a:t>
            </a:r>
          </a:p>
          <a:p xmlns:a="http://schemas.openxmlformats.org/drawingml/2006/main">
            <a:r>
              <a:t>https://aws.amazon.com/builders-library/challenges-with-distributed-systems/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reconnecting technical complexity to hosting: constraints first, then architecture style, then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eb16ec5a643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c4542201804f31" /><Relationship Type="http://schemas.openxmlformats.org/officeDocument/2006/relationships/slideLayout" Target="/ppt/slideLayouts/slideLayout1.xml" Id="Rb550ebfb7d8d4f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50ebfb7d8d4f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f18d006ad764955" /><Relationship Type="http://schemas.openxmlformats.org/officeDocument/2006/relationships/notesSlide" Target="/ppt/notesSlides/notesSlide1.xml" Id="R3e29ec4164d24859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21e68e52f984e49" /><Relationship Type="http://schemas.openxmlformats.org/officeDocument/2006/relationships/notesSlide" Target="/ppt/notesSlides/notesSlide2.xml" Id="R151662fd177b4ae8" /><Relationship Id="rId1" Type="http://schemas.openxmlformats.org/officeDocument/2006/relationships/slide" Target="slide3.xml" /><Relationship Id="rId2" Type="http://schemas.openxmlformats.org/officeDocument/2006/relationships/slide" Target="slide6.xml" /><Relationship Id="rId3" Type="http://schemas.openxmlformats.org/officeDocument/2006/relationships/slide" Target="slide10.xml" /><Relationship Id="rId4" Type="http://schemas.openxmlformats.org/officeDocument/2006/relationships/slide" Target="slide14.xml" /><Relationship Id="rId5" Type="http://schemas.openxmlformats.org/officeDocument/2006/relationships/slide" Target="slide16.xml" /><Relationship Id="rId6" Type="http://schemas.openxmlformats.org/officeDocument/2006/relationships/slide" Target="slide21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ca4ac2f22bb40af" /><Relationship Type="http://schemas.openxmlformats.org/officeDocument/2006/relationships/notesSlide" Target="/ppt/notesSlides/notesSlide3.xml" Id="Rf7e3258fd3464ffa" /><Relationship Id="rId1" Type="http://schemas.openxmlformats.org/officeDocument/2006/relationships/slide" Target="slide2.xml" /><Relationship Id="rId2" Type="http://schemas.openxmlformats.org/officeDocument/2006/relationships/slide" Target="slide2.xml" /><Relationship Id="rId3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dee75b048f448e4" /><Relationship Type="http://schemas.openxmlformats.org/officeDocument/2006/relationships/notesSlide" Target="/ppt/notesSlides/notesSlide4.xml" Id="Rfdd4970e3686470c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1b316ef24b74aa0" /><Relationship Type="http://schemas.openxmlformats.org/officeDocument/2006/relationships/notesSlide" Target="/ppt/notesSlides/notesSlide5.xml" Id="R0d4bf31ed5ab40f5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145ca3730ca4cd8" /><Relationship Type="http://schemas.openxmlformats.org/officeDocument/2006/relationships/notesSlide" Target="/ppt/notesSlides/notesSlide6.xml" Id="Rbf66d44cb778489a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e8991ed67d74d4c" /><Relationship Type="http://schemas.openxmlformats.org/officeDocument/2006/relationships/notesSlide" Target="/ppt/notesSlides/notesSlide7.xml" Id="R48d8574b48014864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cbb036fd3df4227" /><Relationship Type="http://schemas.openxmlformats.org/officeDocument/2006/relationships/notesSlide" Target="/ppt/notesSlides/notesSlide8.xml" Id="R659013a548914459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fb44f81217c4c26" /><Relationship Type="http://schemas.openxmlformats.org/officeDocument/2006/relationships/notesSlide" Target="/ppt/notesSlides/notesSlide9.xml" Id="R5b8f2e948db24355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2a058d751db4420" /><Relationship Type="http://schemas.openxmlformats.org/officeDocument/2006/relationships/notesSlide" Target="/ppt/notesSlides/notesSlide10.xml" Id="R22a28c4ec0ab486e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e9d12a942cc4f60" /><Relationship Type="http://schemas.openxmlformats.org/officeDocument/2006/relationships/notesSlide" Target="/ppt/notesSlides/notesSlide11.xml" Id="R50ebdecf104c495c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a4868293cdc464f" /><Relationship Type="http://schemas.openxmlformats.org/officeDocument/2006/relationships/notesSlide" Target="/ppt/notesSlides/notesSlide12.xml" Id="R3abf8e1e729441d4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bac559f2cca408d" /><Relationship Type="http://schemas.openxmlformats.org/officeDocument/2006/relationships/notesSlide" Target="/ppt/notesSlides/notesSlide13.xml" Id="Rde8ecfd979194d64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c9260363826484e" /><Relationship Type="http://schemas.openxmlformats.org/officeDocument/2006/relationships/notesSlide" Target="/ppt/notesSlides/notesSlide14.xml" Id="Rfd8a0541206e4a65" /><Relationship Id="rId1" Type="http://schemas.openxmlformats.org/officeDocument/2006/relationships/slide" Target="slide2.xml" /><Relationship Id="rId2" Type="http://schemas.openxmlformats.org/officeDocument/2006/relationships/slide" Target="slide13.xml" /><Relationship Id="rId3" Type="http://schemas.openxmlformats.org/officeDocument/2006/relationships/slide" Target="slide15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746a4d70317495d" /><Relationship Type="http://schemas.openxmlformats.org/officeDocument/2006/relationships/notesSlide" Target="/ppt/notesSlides/notesSlide15.xml" Id="Ra509d613560a4bbb" /><Relationship Id="rId1" Type="http://schemas.openxmlformats.org/officeDocument/2006/relationships/slide" Target="slide2.xml" /><Relationship Id="rId2" Type="http://schemas.openxmlformats.org/officeDocument/2006/relationships/slide" Target="slide14.xml" /><Relationship Id="rId3" Type="http://schemas.openxmlformats.org/officeDocument/2006/relationships/slide" Target="slide16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77c3a7b821e471d" /><Relationship Type="http://schemas.openxmlformats.org/officeDocument/2006/relationships/notesSlide" Target="/ppt/notesSlides/notesSlide16.xml" Id="Ra6b26fc3c5294224" /><Relationship Id="rId1" Type="http://schemas.openxmlformats.org/officeDocument/2006/relationships/slide" Target="slide2.xml" /><Relationship Id="rId2" Type="http://schemas.openxmlformats.org/officeDocument/2006/relationships/slide" Target="slide15.xml" /><Relationship Id="rId3" Type="http://schemas.openxmlformats.org/officeDocument/2006/relationships/slide" Target="slide17.xml" 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03793412bde41e5" /><Relationship Type="http://schemas.openxmlformats.org/officeDocument/2006/relationships/notesSlide" Target="/ppt/notesSlides/notesSlide17.xml" Id="R8973683c996846a0" /><Relationship Id="rId1" Type="http://schemas.openxmlformats.org/officeDocument/2006/relationships/slide" Target="slide2.xml" /><Relationship Id="rId2" Type="http://schemas.openxmlformats.org/officeDocument/2006/relationships/slide" Target="slide16.xml" /><Relationship Id="rId3" Type="http://schemas.openxmlformats.org/officeDocument/2006/relationships/slide" Target="slide18.xml" 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58b9cbfb0d44ecc" /><Relationship Type="http://schemas.openxmlformats.org/officeDocument/2006/relationships/notesSlide" Target="/ppt/notesSlides/notesSlide18.xml" Id="Rfdbda3869ffe48a3" /><Relationship Id="rId1" Type="http://schemas.openxmlformats.org/officeDocument/2006/relationships/slide" Target="slide2.xml" /><Relationship Id="rId2" Type="http://schemas.openxmlformats.org/officeDocument/2006/relationships/slide" Target="slide17.xml" /><Relationship Id="rId3" Type="http://schemas.openxmlformats.org/officeDocument/2006/relationships/slide" Target="slide19.xml" 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297bc40f9d24d9e" /><Relationship Type="http://schemas.openxmlformats.org/officeDocument/2006/relationships/notesSlide" Target="/ppt/notesSlides/notesSlide19.xml" Id="R9c040b5c72e94df2" /><Relationship Id="rId1" Type="http://schemas.openxmlformats.org/officeDocument/2006/relationships/slide" Target="slide2.xml" /><Relationship Id="rId2" Type="http://schemas.openxmlformats.org/officeDocument/2006/relationships/slide" Target="slide18.xml" /><Relationship Id="rId3" Type="http://schemas.openxmlformats.org/officeDocument/2006/relationships/slide" Target="slide20.xml" 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ca43b601ec14ee5" /><Relationship Type="http://schemas.openxmlformats.org/officeDocument/2006/relationships/notesSlide" Target="/ppt/notesSlides/notesSlide20.xml" Id="R1208bcf264734d48" /><Relationship Id="rId1" Type="http://schemas.openxmlformats.org/officeDocument/2006/relationships/slide" Target="slide2.xml" /><Relationship Id="rId2" Type="http://schemas.openxmlformats.org/officeDocument/2006/relationships/slide" Target="slide19.xml" /><Relationship Id="rId3" Type="http://schemas.openxmlformats.org/officeDocument/2006/relationships/slide" Target="slide21.xml" 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d0c71a7966a494e" /><Relationship Type="http://schemas.openxmlformats.org/officeDocument/2006/relationships/hyperlink" Target="https://raft.github.io/raft.pdf" TargetMode="External" Id="R6d0abcac0c5a4f71" /><Relationship Type="http://schemas.openxmlformats.org/officeDocument/2006/relationships/hyperlink" Target="https://research.google/pubs/mapreduce-simplified-data-processing-on-large-clusters/" TargetMode="External" Id="R9e756e340a734601" /><Relationship Type="http://schemas.openxmlformats.org/officeDocument/2006/relationships/hyperlink" Target="https://aws.amazon.com/compliance/shared-responsibility-model/" TargetMode="External" Id="R7c6e7df7bfad44ff" /><Relationship Type="http://schemas.openxmlformats.org/officeDocument/2006/relationships/hyperlink" Target="https://kubernetes.io/docs/concepts/index.html" TargetMode="External" Id="Ree0343a089164898" /><Relationship Type="http://schemas.openxmlformats.org/officeDocument/2006/relationships/notesSlide" Target="/ppt/notesSlides/notesSlide21.xml" Id="R4f93a742014646a1" /><Relationship Id="rId1" Type="http://schemas.openxmlformats.org/officeDocument/2006/relationships/slide" Target="slide2.xml" /><Relationship Id="rId2" Type="http://schemas.openxmlformats.org/officeDocument/2006/relationships/slide" Target="slide20.xml" /><Relationship Id="rId3" Type="http://schemas.openxmlformats.org/officeDocument/2006/relationships/slide" Target="slide22.xml" /></Relationships>
</file>

<file path=ppt/slides/_rels/slide2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19dd84b85964663" /><Relationship Type="http://schemas.openxmlformats.org/officeDocument/2006/relationships/notesSlide" Target="/ppt/notesSlides/notesSlide22.xml" Id="Rfedde7cd1edf4ec0" /><Relationship Id="rId1" Type="http://schemas.openxmlformats.org/officeDocument/2006/relationships/slide" Target="slide2.xml" /><Relationship Id="rId2" Type="http://schemas.openxmlformats.org/officeDocument/2006/relationships/slide" Target="slide21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ECB17-ACD3-4095-BD03-4A2E54E1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550"/>
          </a:solidFill>
          <a:ln xmlns:a="http://schemas.openxmlformats.org/drawingml/2006/main" w="11430">
            <a:solidFill>
              <a:srgbClr val="0D35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45ABF-630E-4107-9F23-97484E7D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25B"/>
          </a:solidFill>
          <a:ln xmlns:a="http://schemas.openxmlformats.org/drawingml/2006/main" w="11430">
            <a:solidFill>
              <a:srgbClr val="1042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B3118-E467-456F-874A-0308345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FF71A-43FC-4D43-BA06-1B14C8EB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428750" cy="10001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D71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922FC-DB86-457A-B2A6-C64731B5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28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C088A-9A40-43C8-95DB-173B0C75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762000" cy="1714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D71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095EB-7B4E-4BE4-9880-3F9078B0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2C91C-F431-4EAD-AD30-ED79BEE7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714500" cy="2762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D71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AAF33-A88C-417D-9622-97B17402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79BCA-B5B3-449E-8D92-E5C7D87A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1619250" cy="3143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D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C8D8F-7DDE-43BA-8C96-DFA0898A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7BD26C1-5B33-4226-B9C7-F506310B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E635"/>
                </a:solidFill>
              </a:defRPr>
            </a:pPr>
            <a:r>
              <a:rPr sz="1125" b="1">
                <a:solidFill>
                  <a:srgbClr val="A3E635"/>
                </a:solidFill>
              </a:rPr>
              <a:t>SESSION 34  /  RESEARCH TASK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8E45BA-B907-41F1-86ED-B1313CB7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47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Distributed Systems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1A3C795-276F-43A1-9F15-8FF66C75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B8D6E7"/>
                </a:solidFill>
              </a:defRPr>
            </a:pPr>
            <a:r>
              <a:rPr sz="2025" b="0">
                <a:solidFill>
                  <a:srgbClr val="B8D6E7"/>
                </a:solidFill>
              </a:rPr>
              <a:t>From Core Principles to Infrastructure Decisions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AEB598-C0D9-4AAA-9325-0079DFF1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FB3C9"/>
                </a:solidFill>
              </a:defRPr>
            </a:pPr>
            <a:r>
              <a:rPr sz="1350" b="0">
                <a:solidFill>
                  <a:srgbClr val="8FB3C9"/>
                </a:solidFill>
              </a:rPr>
              <a:t>Professional Research Deck • On-Premises vs Cloud • Architecture Decision Framework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FF5A7-BDD0-4ADA-9957-050B73C0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809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8A2F00B-11B2-4434-95AC-A8006E22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INTERACTIVE DECK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4C8D8A-DBF4-4534-BA83-FAFF8888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9" name="start">
            <a:extLst xmlns:a="http://schemas.openxmlformats.org/drawingml/2006/main">
              <a:ext uri="{FF2B5EF4-FFF2-40B4-BE49-F238E27FC236}">
                <a16:creationId xmlns:a16="http://schemas.microsoft.com/office/drawing/2014/main" id="{1D839A63-5162-4612-BDBB-CD3EF3A28E0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238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0" name="start-label">
            <a:extLst xmlns:a="http://schemas.openxmlformats.org/drawingml/2006/main">
              <a:ext uri="{FF2B5EF4-FFF2-40B4-BE49-F238E27FC236}">
                <a16:creationId xmlns:a16="http://schemas.microsoft.com/office/drawing/2014/main" id="{4AC3E989-05A9-4DF4-8249-40D2CDD3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START  →</a:t>
            </a:r>
          </a:p>
        </p:txBody>
      </p:sp>
    </p:spTree>
    <p:extLst>
      <p:ext uri="{BB962C8B-B14F-4D97-AF65-F5344CB8AC3E}">
        <p14:creationId xmlns:p14="http://schemas.microsoft.com/office/powerpoint/2010/main" val="215960083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">
            <a:extLst xmlns:a="http://schemas.openxmlformats.org/drawingml/2006/main">
              <a:ext uri="{FF2B5EF4-FFF2-40B4-BE49-F238E27FC236}">
                <a16:creationId xmlns:a16="http://schemas.microsoft.com/office/drawing/2014/main" id="{454F31A2-428D-4A57-9B12-C35F93DC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NAVIGATION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6F439A-9ED4-4BD0-8205-75A13881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Presentation Map: Understand → Design → Decide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54804-4F78-456E-B7F5-F281D669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4EE092B-933D-481E-9BF4-D8448D7B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FA75B5-E302-4FE0-B36F-E921219E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C5CE7"/>
                </a:solidFill>
              </a:defRPr>
            </a:pPr>
            <a:r>
              <a:rPr sz="2850" b="1">
                <a:solidFill>
                  <a:srgbClr val="6C5CE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7AFB7-C18D-4D2A-B8B5-B7AD8D09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4785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DEEA4D-EB84-4C0C-9C35-2C5CD601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24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143D"/>
                </a:solidFill>
              </a:defRPr>
            </a:pPr>
            <a:r>
              <a:rPr sz="1875" b="1">
                <a:solidFill>
                  <a:srgbClr val="25143D"/>
                </a:solidFill>
              </a:rPr>
              <a:t>Foundations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BA0077-E52E-4AF3-94D4-CD3CD0A5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240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Definition, drivers, and network fallacies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83A5807-C5C9-4CE9-B212-234FED46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6B8A6"/>
                </a:solidFill>
              </a:defRPr>
            </a:pPr>
            <a:r>
              <a:rPr sz="2850" b="1">
                <a:solidFill>
                  <a:srgbClr val="16B8A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9E9B6-EF51-4302-ACAC-C0E81F05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1465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5A1C0C-6191-41BD-B298-A83E6D01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143D"/>
                </a:solidFill>
              </a:defRPr>
            </a:pPr>
            <a:r>
              <a:rPr sz="1875" b="1">
                <a:solidFill>
                  <a:srgbClr val="25143D"/>
                </a:solidFill>
              </a:rPr>
              <a:t>Design Core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43F61B7-09A5-4A8C-8D18-6A54EAA4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Replication, partitioning, and consistency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521493-45A8-4B04-ABFB-94AA1E1B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3E635"/>
                </a:solidFill>
              </a:defRPr>
            </a:pPr>
            <a:r>
              <a:rPr sz="2850" b="1">
                <a:solidFill>
                  <a:srgbClr val="A3E6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23D33-B8E6-4BB1-99E8-EF175A46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8145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87B64FF-43C4-4B88-804E-7A10BD17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143D"/>
                </a:solidFill>
              </a:defRPr>
            </a:pPr>
            <a:r>
              <a:rPr sz="1875" b="1">
                <a:solidFill>
                  <a:srgbClr val="25143D"/>
                </a:solidFill>
              </a:rPr>
              <a:t>Reliability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3183644-593A-4E63-B00E-7D42015D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576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Consensus, failures, observability, and security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A62A887-F4C2-4F31-81E2-18F12A4C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B000"/>
                </a:solidFill>
              </a:defRPr>
            </a:pPr>
            <a:r>
              <a:rPr sz="2850" b="1">
                <a:solidFill>
                  <a:srgbClr val="FFB000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83E7B-43FE-446E-A27A-99ACD817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A64932-17F8-4060-BF2C-377093A9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143D"/>
                </a:solidFill>
              </a:defRPr>
            </a:pPr>
            <a:r>
              <a:rPr sz="1875" b="1">
                <a:solidFill>
                  <a:srgbClr val="25143D"/>
                </a:solidFill>
              </a:rPr>
              <a:t>Hosting Decision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4F34D55-9F04-4421-A0F2-699F8E03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244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Local vs cloud vs hybrid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9046F1C-D869-4265-8CFA-C397DD19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81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5CE7"/>
                </a:solidFill>
              </a:defRPr>
            </a:pPr>
            <a:r>
              <a:rPr sz="1125" b="1">
                <a:solidFill>
                  <a:srgbClr val="6C5CE7"/>
                </a:solidFill>
              </a:rPr>
              <a:t>Use slides 17–20 as an interactive decision workshop</a:t>
            </a:r>
          </a:p>
        </p:txBody>
      </p:sp>
      <p:sp>
        <p:nvSpPr>
          <p:cNvPr id="22" name="menu-foundations">
            <a:extLst xmlns:a="http://schemas.openxmlformats.org/drawingml/2006/main">
              <a:ext uri="{FF2B5EF4-FFF2-40B4-BE49-F238E27FC236}">
                <a16:creationId xmlns:a16="http://schemas.microsoft.com/office/drawing/2014/main" id="{9AF312C7-A8DB-43F4-BAD9-1C3F51C79B1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3" name="menu-foundations-label">
            <a:extLst xmlns:a="http://schemas.openxmlformats.org/drawingml/2006/main">
              <a:ext uri="{FF2B5EF4-FFF2-40B4-BE49-F238E27FC236}">
                <a16:creationId xmlns:a16="http://schemas.microsoft.com/office/drawing/2014/main" id="{A3EC2571-B1DE-49C6-919C-898DDADB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24" name="menu-design">
            <a:extLst xmlns:a="http://schemas.openxmlformats.org/drawingml/2006/main">
              <a:ext uri="{FF2B5EF4-FFF2-40B4-BE49-F238E27FC236}">
                <a16:creationId xmlns:a16="http://schemas.microsoft.com/office/drawing/2014/main" id="{94D4927B-3823-4DEF-81ED-6222D24A0F6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5" name="menu-design-label">
            <a:extLst xmlns:a="http://schemas.openxmlformats.org/drawingml/2006/main">
              <a:ext uri="{FF2B5EF4-FFF2-40B4-BE49-F238E27FC236}">
                <a16:creationId xmlns:a16="http://schemas.microsoft.com/office/drawing/2014/main" id="{99EF8FEF-34D5-40DE-BBAE-E9A4FA1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DESIGN CORE</a:t>
            </a:r>
          </a:p>
        </p:txBody>
      </p:sp>
      <p:sp>
        <p:nvSpPr>
          <p:cNvPr id="26" name="menu-reliability">
            <a:extLst xmlns:a="http://schemas.openxmlformats.org/drawingml/2006/main">
              <a:ext uri="{FF2B5EF4-FFF2-40B4-BE49-F238E27FC236}">
                <a16:creationId xmlns:a16="http://schemas.microsoft.com/office/drawing/2014/main" id="{D11E1716-7C27-47A2-88C2-1F92792B921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11430">
            <a:solidFill>
              <a:srgbClr val="FF6B6B"/>
            </a:solidFill>
            <a:prstDash val="solid"/>
          </a:ln>
        </p:spPr>
      </p:sp>
      <p:sp>
        <p:nvSpPr>
          <p:cNvPr id="27" name="menu-reliability-label">
            <a:extLst xmlns:a="http://schemas.openxmlformats.org/drawingml/2006/main">
              <a:ext uri="{FF2B5EF4-FFF2-40B4-BE49-F238E27FC236}">
                <a16:creationId xmlns:a16="http://schemas.microsoft.com/office/drawing/2014/main" id="{56C14BDC-1581-46C6-BF89-46E72070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28" name="menu-university">
            <a:extLst xmlns:a="http://schemas.openxmlformats.org/drawingml/2006/main">
              <a:ext uri="{FF2B5EF4-FFF2-40B4-BE49-F238E27FC236}">
                <a16:creationId xmlns:a16="http://schemas.microsoft.com/office/drawing/2014/main" id="{D0C92AE5-9C7C-4586-BE0A-7CCA4976008E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29" name="menu-university-label">
            <a:extLst xmlns:a="http://schemas.openxmlformats.org/drawingml/2006/main">
              <a:ext uri="{FF2B5EF4-FFF2-40B4-BE49-F238E27FC236}">
                <a16:creationId xmlns:a16="http://schemas.microsoft.com/office/drawing/2014/main" id="{04E9F04B-2EDC-4AAE-B81D-753E1A7B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UNIVERSITY</a:t>
            </a:r>
          </a:p>
        </p:txBody>
      </p:sp>
      <p:sp>
        <p:nvSpPr>
          <p:cNvPr id="30" name="menu-cloud">
            <a:extLst xmlns:a="http://schemas.openxmlformats.org/drawingml/2006/main">
              <a:ext uri="{FF2B5EF4-FFF2-40B4-BE49-F238E27FC236}">
                <a16:creationId xmlns:a16="http://schemas.microsoft.com/office/drawing/2014/main" id="{424ED154-D093-460F-AF21-14BCC6DAF064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31" name="menu-cloud-label">
            <a:extLst xmlns:a="http://schemas.openxmlformats.org/drawingml/2006/main">
              <a:ext uri="{FF2B5EF4-FFF2-40B4-BE49-F238E27FC236}">
                <a16:creationId xmlns:a16="http://schemas.microsoft.com/office/drawing/2014/main" id="{563CFE63-C481-45C1-8645-05F2D0B2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143D"/>
                </a:solidFill>
              </a:defRPr>
            </a:pPr>
            <a:r>
              <a:rPr sz="975" b="1">
                <a:solidFill>
                  <a:srgbClr val="25143D"/>
                </a:solidFill>
              </a:rPr>
              <a:t>CLOUD / SERVER</a:t>
            </a:r>
          </a:p>
        </p:txBody>
      </p:sp>
      <p:sp>
        <p:nvSpPr>
          <p:cNvPr id="32" name="menu-sources">
            <a:extLst xmlns:a="http://schemas.openxmlformats.org/drawingml/2006/main">
              <a:ext uri="{FF2B5EF4-FFF2-40B4-BE49-F238E27FC236}">
                <a16:creationId xmlns:a16="http://schemas.microsoft.com/office/drawing/2014/main" id="{071414A1-9843-4FE7-BC86-30569DD52537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3" name="menu-sources-label">
            <a:extLst xmlns:a="http://schemas.openxmlformats.org/drawingml/2006/main">
              <a:ext uri="{FF2B5EF4-FFF2-40B4-BE49-F238E27FC236}">
                <a16:creationId xmlns:a16="http://schemas.microsoft.com/office/drawing/2014/main" id="{128A87EE-CC0D-4BA8-A88E-EBE6B3C1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131665246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">
            <a:extLst xmlns:a="http://schemas.openxmlformats.org/drawingml/2006/main">
              <a:ext uri="{FF2B5EF4-FFF2-40B4-BE49-F238E27FC236}">
                <a16:creationId xmlns:a16="http://schemas.microsoft.com/office/drawing/2014/main" id="{526C747E-258C-41A0-BA29-7F035791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FOUNDATION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3953D5-4B3F-4E01-A480-6FE4FEB2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A Distributed System Appears Unified—Despite Its Many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808D1-692A-4E1E-899E-9ED56564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FAB36B4-0BB8-4622-8F6A-A9C8F507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84FA97-F578-46E2-A8D1-9A2D23AC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143D"/>
                </a:solidFill>
              </a:defRPr>
            </a:pPr>
            <a:r>
              <a:rPr sz="2025" b="1">
                <a:solidFill>
                  <a:srgbClr val="25143D"/>
                </a:solidFill>
              </a:rPr>
              <a:t>A set of independent processes that communicate over a network, coordinate their work, and deliver one coherent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EDB1C-DEDB-422B-BF6B-BE8FF52C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E9374-69B9-4370-91DF-FBECBE1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14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DB9095-CD0D-404A-A0A3-01095328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05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5CE7"/>
                </a:solidFill>
              </a:defRPr>
            </a:pPr>
            <a:r>
              <a:rPr sz="2100" b="1">
                <a:solidFill>
                  <a:srgbClr val="6C5CE7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EBA0FF0-6C93-45C6-AD43-0B12DBCE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Independent nodes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B4379-D7BE-49E8-91A3-7D417D6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30166-0514-493E-A76B-87C534D4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C137BE-5B0D-4501-BCA3-4E44F2FF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5CE7"/>
                </a:solidFill>
              </a:defRPr>
            </a:pPr>
            <a:r>
              <a:rPr sz="2100" b="1">
                <a:solidFill>
                  <a:srgbClr val="6C5CE7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A713EFE-EA5B-4B3E-B407-81FE96B9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290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Network 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C0914-8F66-466F-938A-B5E222E5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D8145-EADA-4A15-828F-50E5E747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37C653-C526-4D50-B5DB-A4E51DD1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05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5CE7"/>
                </a:solidFill>
              </a:defRPr>
            </a:pPr>
            <a:r>
              <a:rPr sz="2100" b="1">
                <a:solidFill>
                  <a:srgbClr val="6C5CE7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436F7D6-BAA7-4794-87EE-AD9B7D8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Distributed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DE5FB-3F8C-4781-B906-1129F2B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FBAC489-C512-4A98-8228-04E3CDA1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05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3E635"/>
                </a:solidFill>
              </a:defRPr>
            </a:pPr>
            <a:r>
              <a:rPr sz="2100" b="1">
                <a:solidFill>
                  <a:srgbClr val="A3E635"/>
                </a:solidFill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9B9E832-4F79-4BF7-8549-5280D6C4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Shared objective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7564A73-703D-4211-A1B2-7ECC0FBE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6B"/>
                </a:solidFill>
              </a:defRPr>
            </a:pPr>
            <a:r>
              <a:rPr sz="1650" b="1">
                <a:solidFill>
                  <a:srgbClr val="FF6B6B"/>
                </a:solidFill>
              </a:rPr>
              <a:t>The real challenge: no global clock, no shared memory, and no guaranteed network.</a:t>
            </a:r>
          </a:p>
        </p:txBody>
      </p:sp>
      <p:sp>
        <p:nvSpPr>
          <p:cNvPr id="22" name="nav-home">
            <a:extLst xmlns:a="http://schemas.openxmlformats.org/drawingml/2006/main">
              <a:ext uri="{FF2B5EF4-FFF2-40B4-BE49-F238E27FC236}">
                <a16:creationId xmlns:a16="http://schemas.microsoft.com/office/drawing/2014/main" id="{6E295A71-B706-4614-97A8-B17499EE411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3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FFB2A22A-2CFB-469B-A58F-3E57EA0F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4" name="nav-back">
            <a:extLst xmlns:a="http://schemas.openxmlformats.org/drawingml/2006/main">
              <a:ext uri="{FF2B5EF4-FFF2-40B4-BE49-F238E27FC236}">
                <a16:creationId xmlns:a16="http://schemas.microsoft.com/office/drawing/2014/main" id="{88BB1BBC-4335-443A-B0AB-00A396DAF6F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5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14AFAA1F-CF95-45EC-BD11-2B28B9CB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6" name="nav-next">
            <a:extLst xmlns:a="http://schemas.openxmlformats.org/drawingml/2006/main">
              <a:ext uri="{FF2B5EF4-FFF2-40B4-BE49-F238E27FC236}">
                <a16:creationId xmlns:a16="http://schemas.microsoft.com/office/drawing/2014/main" id="{DBCFDA35-FC04-4B11-B4F4-5569AC6B0B70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7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043919D7-3D12-4995-A1CE-6879CC0C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70551824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">
            <a:extLst xmlns:a="http://schemas.openxmlformats.org/drawingml/2006/main">
              <a:ext uri="{FF2B5EF4-FFF2-40B4-BE49-F238E27FC236}">
                <a16:creationId xmlns:a16="http://schemas.microsoft.com/office/drawing/2014/main" id="{A7EB9CD2-5D5A-4B71-BA37-E70C69D9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E635"/>
                </a:solidFill>
              </a:defRPr>
            </a:pPr>
            <a:r>
              <a:rPr sz="975" b="1">
                <a:solidFill>
                  <a:srgbClr val="A3E635"/>
                </a:solidFill>
              </a:rPr>
              <a:t>FOUNDATION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A5C956-A6AF-4D71-9E53-7B12569F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Distribution Turns Simple Assumptions into Operational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4CB65-A9E0-42BD-AD5E-0B75A05C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A3A6573-18AE-4105-A304-0D6A0ED9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B3C9"/>
                </a:solidFill>
              </a:defRPr>
            </a:pPr>
            <a:r>
              <a:rPr sz="900" b="1">
                <a:solidFill>
                  <a:srgbClr val="8FB3C9"/>
                </a:solidFill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522F89-B278-4681-8027-27EFD25F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7D8E93-E254-4E0E-8CED-11B10878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The network is reliable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464E2C-94B1-4B06-8C38-35F5FC5C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Packets can be lost or duplicated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65BAA-5EB3-4AFD-88AB-032C45B2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AA5CB02-C655-4579-861A-1ECDF98C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8D343A2-F501-453B-8CBD-3CCE2DFD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Latency is zero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24F3A1-3234-48C1-91A1-65C453A3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47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Distance changes the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67145-D0DA-4A98-B799-7D1AF544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6C7996D-F0E8-4C49-805D-16265C6C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0CFAAE5-732F-4144-BBF8-1C0B2287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Bandwidth is infinite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577488A-EABF-4673-810D-1998D3DE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47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Data movement has cost and 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C2DA0-C3E7-4685-8059-F07CFFF6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860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495177D-F1ED-453F-A88F-FDB89361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95F1E9-791F-48B9-945E-0248E8A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The network is secure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094950D-5E24-469B-BFB0-46BA2480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Every connection expands the attack surface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4CA56-CF00-41EB-9049-0BBF8794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386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765EE0C-5B3F-4A54-AE40-E82A01A6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A3DB1B2-7F0B-40CC-AA08-B8AE9B46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Topology never changes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001E0DD-0980-443D-82ED-10C63530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Nodes and routes change continuously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4329C-829E-4B43-BAD4-26512C69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386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4BA4329-F505-4EBE-858A-2A9EC91E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71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06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8935655-1DBF-4351-9865-FA8AE786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Observability can wait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10849EA-E0D5-4B0E-B06A-C2B0D2F0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00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Without traces, the real path stays hidden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120DF-AB3E-4079-BFFB-0AB2415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386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29" name="nav-home">
            <a:extLst xmlns:a="http://schemas.openxmlformats.org/drawingml/2006/main">
              <a:ext uri="{FF2B5EF4-FFF2-40B4-BE49-F238E27FC236}">
                <a16:creationId xmlns:a16="http://schemas.microsoft.com/office/drawing/2014/main" id="{81469FA1-DDDE-48D0-9215-D9B1DFA846C7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0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D91F2D95-A051-4D18-8FAA-D964164C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1" name="nav-back">
            <a:extLst xmlns:a="http://schemas.openxmlformats.org/drawingml/2006/main">
              <a:ext uri="{FF2B5EF4-FFF2-40B4-BE49-F238E27FC236}">
                <a16:creationId xmlns:a16="http://schemas.microsoft.com/office/drawing/2014/main" id="{3334F78B-1778-4709-AAF2-744BACCCB66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2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332C97D6-CCFF-4AAF-9EB1-E4CA25A2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3" name="nav-next">
            <a:extLst xmlns:a="http://schemas.openxmlformats.org/drawingml/2006/main">
              <a:ext uri="{FF2B5EF4-FFF2-40B4-BE49-F238E27FC236}">
                <a16:creationId xmlns:a16="http://schemas.microsoft.com/office/drawing/2014/main" id="{A83C8271-4343-4E73-8C14-0D703CA9B56F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4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D67DD59C-AC5E-485D-A4E2-7E7DB655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17478647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">
            <a:extLst xmlns:a="http://schemas.openxmlformats.org/drawingml/2006/main">
              <a:ext uri="{FF2B5EF4-FFF2-40B4-BE49-F238E27FC236}">
                <a16:creationId xmlns:a16="http://schemas.microsoft.com/office/drawing/2014/main" id="{2FE9CD2F-E834-4518-AFF6-5F574733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AFE0C2-FE34-4884-870B-D530B56A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Strong Architectures Separate the Data Plane from the Control Plane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DA31B-D4E8-43CE-B606-B10C5905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E9AD08D-E63B-4709-B8B1-ED79B1D5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5A909-05B6-4ADA-81F1-77D63F7B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C5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F2962-11AB-4910-A1EA-251B4315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C5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F4A92-739F-4118-A33F-7F804458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C5C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3EADC-E34B-4C71-B902-C55D5936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286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19AA2-D8BF-4757-96E8-E34493BC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8F3BF0-1A0A-4B83-9B14-89458D3F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Clients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C5C9E5-F5D6-4DD1-A219-6A6E98A8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Web / Mobile /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F9089-3C1D-4E32-8E22-C64DDAC6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286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C7DE1-0220-49C8-9871-8374D509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D586F3E-AC1D-41A3-A98E-C8A50893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Edge &amp; Gateway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0C70EB6-CD9C-426C-8721-CD37CC5E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718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Auth • Rate limit •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7E409-3BA3-486A-8C20-A8506AFA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286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68B46-9291-4423-9BA4-A62229F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3B1F1E1-574B-4C39-97F0-1A9055F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Services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7DA48F6-5DD0-45A5-B299-DC8F7E9E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Stateless compute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7D677-D9F4-4742-978A-1CE98B1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2286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85708-EF2E-4411-B4F6-D86071C3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5EFAB63-19C6-4744-B29C-E29E7449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Data Layer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96E5581-4612-40D9-A07C-347A6A15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Shards • Replicas • Cache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752BBB9-CAE1-47A2-93C2-24CAE4EF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5CE7"/>
                </a:solidFill>
              </a:defRPr>
            </a:pPr>
            <a:r>
              <a:rPr sz="1350" b="1">
                <a:solidFill>
                  <a:srgbClr val="6C5CE7"/>
                </a:solidFill>
              </a:rPr>
              <a:t>Data plane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CAD1E-99FE-4F41-B717-CDC908C8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0A3442-FEE3-4E31-BFDE-1840CA44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628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D00E211-5793-4F86-B2BC-5493B08A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9112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Control plane: discovery • scheduling • configuration • policy • observability</a:t>
            </a:r>
          </a:p>
        </p:txBody>
      </p:sp>
      <p:sp>
        <p:nvSpPr>
          <p:cNvPr id="28" name="nav-home">
            <a:extLst xmlns:a="http://schemas.openxmlformats.org/drawingml/2006/main">
              <a:ext uri="{FF2B5EF4-FFF2-40B4-BE49-F238E27FC236}">
                <a16:creationId xmlns:a16="http://schemas.microsoft.com/office/drawing/2014/main" id="{40A458BA-ADB4-464C-B455-8F778EA1E9C7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9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F6867D6C-AEDB-4E27-99D7-CA8026F6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0" name="nav-back">
            <a:extLst xmlns:a="http://schemas.openxmlformats.org/drawingml/2006/main">
              <a:ext uri="{FF2B5EF4-FFF2-40B4-BE49-F238E27FC236}">
                <a16:creationId xmlns:a16="http://schemas.microsoft.com/office/drawing/2014/main" id="{6332D1F7-07E9-4CE1-A1E5-A6AB8C08CDCE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1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799C992E-1083-4F61-ACD9-A33E4A9C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2" name="nav-next">
            <a:extLst xmlns:a="http://schemas.openxmlformats.org/drawingml/2006/main">
              <a:ext uri="{FF2B5EF4-FFF2-40B4-BE49-F238E27FC236}">
                <a16:creationId xmlns:a16="http://schemas.microsoft.com/office/drawing/2014/main" id="{A3740F39-F2A8-4D0A-9D29-D2CAB624C61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3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8310C5C8-34B5-4ECB-91E1-C619A862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67590701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">
            <a:extLst xmlns:a="http://schemas.openxmlformats.org/drawingml/2006/main">
              <a:ext uri="{FF2B5EF4-FFF2-40B4-BE49-F238E27FC236}">
                <a16:creationId xmlns:a16="http://schemas.microsoft.com/office/drawing/2014/main" id="{D818E8AF-C418-409E-A33C-221B4888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COMMUNICATION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899E4C-1AEB-4070-BFE2-E52657BA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Communication Style Determines Both Performance and Failure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C5800-BE78-45FD-AFDF-41352ADF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B408748-9DED-4E28-B3D5-992BAF78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2FE9A6-C532-4B1F-ADA7-4EE63137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C5CE7"/>
                </a:solidFill>
              </a:defRPr>
            </a:pPr>
            <a:r>
              <a:rPr sz="2250" b="1">
                <a:solidFill>
                  <a:srgbClr val="6C5CE7"/>
                </a:solidFill>
              </a:rPr>
              <a:t>Synchronous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1DC271-7850-44EB-87CC-62607899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71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B8A6"/>
                </a:solidFill>
              </a:defRPr>
            </a:pPr>
            <a:r>
              <a:rPr sz="2250" b="1">
                <a:solidFill>
                  <a:srgbClr val="16B8A6"/>
                </a:solidFill>
              </a:rPr>
              <a:t>Asynchronous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9FDEA-5D2D-4A2E-9FEA-C1B9A3D3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095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EDF11-8064-4B9B-B06A-9E6240E1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ED8407-70D8-4E0F-8B7A-3EC3A143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14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Request / Response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1F23F94-013D-4544-A09F-8C0FDA1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38425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Simple and immediate, but it couples service response times.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EFF64-7751-4BC2-B5ED-D3D4D460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4095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BD2F3-BCE4-4B83-AE39-5A5C520F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3ACDE9F-D76C-4915-ACF9-8BB1D4B0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14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Messages / Events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0451EA6-E591-4F16-B15D-5FA17690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38425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Decouples producers and consumers and absorbs spikes, but adds ordering and duplication complexity.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EA9AD-E8E4-4679-A6FA-E0B301C7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2095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1A9ED-D613-49CD-BF67-B3018BDE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5C593A-6EF4-40EC-8693-0C19C09B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When to choose it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8F9892B-90ED-4754-B2C1-8ACF05DE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Immediate reads or short, clearly bounded operations.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7432E-D2DB-449E-8A3B-D5E1590B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04EF8E8-63FC-41B6-AC98-CBA4FF3D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910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When to choose it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388C042-011E-4085-A0AD-58C3D393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577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Long-running work, integrations, fan-out, or major traffic spikes.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CD571DF-C19A-4ED5-8782-3C02C24B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6B"/>
                </a:solidFill>
              </a:defRPr>
            </a:pPr>
            <a:r>
              <a:rPr sz="1500" b="1">
                <a:solidFill>
                  <a:srgbClr val="FF6B6B"/>
                </a:solidFill>
              </a:rPr>
              <a:t>Practical rule: timeout, retry, and idempotency belong in the contract—not in a later optimization phase.</a:t>
            </a:r>
          </a:p>
        </p:txBody>
      </p:sp>
      <p:sp>
        <p:nvSpPr>
          <p:cNvPr id="23" name="nav-home">
            <a:extLst xmlns:a="http://schemas.openxmlformats.org/drawingml/2006/main">
              <a:ext uri="{FF2B5EF4-FFF2-40B4-BE49-F238E27FC236}">
                <a16:creationId xmlns:a16="http://schemas.microsoft.com/office/drawing/2014/main" id="{346F5F38-3E9C-4FCC-BAEE-E27968EAE88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4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F2837502-6A07-4A88-A882-189093F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5" name="nav-back">
            <a:extLst xmlns:a="http://schemas.openxmlformats.org/drawingml/2006/main">
              <a:ext uri="{FF2B5EF4-FFF2-40B4-BE49-F238E27FC236}">
                <a16:creationId xmlns:a16="http://schemas.microsoft.com/office/drawing/2014/main" id="{E4BBCEB4-080B-4DDF-9DA5-33C08EDC7BB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6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A43B3344-6C44-4994-A6B9-FF448361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7" name="nav-next">
            <a:extLst xmlns:a="http://schemas.openxmlformats.org/drawingml/2006/main">
              <a:ext uri="{FF2B5EF4-FFF2-40B4-BE49-F238E27FC236}">
                <a16:creationId xmlns:a16="http://schemas.microsoft.com/office/drawing/2014/main" id="{83A37134-54E6-477C-ACCF-39F103045179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8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273617AD-3F0F-4CCD-BABF-410ACFA8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41181512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">
            <a:extLst xmlns:a="http://schemas.openxmlformats.org/drawingml/2006/main">
              <a:ext uri="{FF2B5EF4-FFF2-40B4-BE49-F238E27FC236}">
                <a16:creationId xmlns:a16="http://schemas.microsoft.com/office/drawing/2014/main" id="{15522247-19E8-4768-B618-2B3B0B20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DA0B32-9204-44A0-8DF0-9AA1B9D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Data Scale Depends on Two Decisions: Placement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86849-8D0E-4BDE-A2D4-DAFEAD36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BCF528F-9D97-4537-9CF6-C8F82731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7A95F-B5A3-46DE-AFDC-DC404D1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DA617-A37C-45C3-8F03-668A0D22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E38ED7-90D2-4CBB-8158-E97140DD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Partitioning / Sharding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4F5722-5211-4083-91D6-0E920244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Splits data by key, range, or hash to increase capacity and parallelism.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92BB5-83F7-400B-B96C-EE5301D7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ED310-39E2-4871-9EF2-83FC9762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9A1EA31-AB14-4447-820F-0D4D1BB6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95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Replication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EEAC45-E7BE-4E35-86C0-ACC0EB22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Creates copies to improve availability, read throughput, and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5B97C-0981-4537-9DCA-FBA31142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66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33C48-19FA-4D41-A7E6-5E427DBA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57625"/>
            <a:ext cx="66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92D27-0B36-4403-A534-8C005F39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66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56E3D-26AF-44E7-B1C1-439645A1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57625"/>
            <a:ext cx="66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E4FD1F3-4B16-4F30-8538-03A68182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Partition the 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572B1-703E-43EA-B25F-9B14CD94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0431B-EFDB-40C8-A885-A081888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C9A66-88EB-42C8-9325-E35CD57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33875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4D860-D321-4965-958B-D5C5A64A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DB9EC-27EA-445D-A816-C6948820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33875"/>
            <a:ext cx="147637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A557EDD-195A-4399-9861-2572D6B5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Replicate the state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C89FA16-00BD-4E46-A1B2-D418081C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</a:defRPr>
            </a:pPr>
            <a:r>
              <a:rPr sz="1350" b="1">
                <a:solidFill>
                  <a:srgbClr val="FF6B6B"/>
                </a:solidFill>
              </a:rPr>
              <a:t>Trade‑off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8817BD5-AF66-4108-88AD-00B0D66A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6987"/>
                </a:solidFill>
              </a:defRPr>
            </a:pPr>
            <a:r>
              <a:rPr sz="1275" b="1">
                <a:solidFill>
                  <a:srgbClr val="716987"/>
                </a:solidFill>
              </a:rPr>
              <a:t>Partitioning increases coordination; replication creates a consistency question.</a:t>
            </a:r>
          </a:p>
        </p:txBody>
      </p:sp>
      <p:sp>
        <p:nvSpPr>
          <p:cNvPr id="26" name="nav-home">
            <a:extLst xmlns:a="http://schemas.openxmlformats.org/drawingml/2006/main">
              <a:ext uri="{FF2B5EF4-FFF2-40B4-BE49-F238E27FC236}">
                <a16:creationId xmlns:a16="http://schemas.microsoft.com/office/drawing/2014/main" id="{AAE6BD21-07D4-41EA-BA17-F372BC592ED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7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173FF67D-0805-4A63-8734-247A3B8F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8" name="nav-back">
            <a:extLst xmlns:a="http://schemas.openxmlformats.org/drawingml/2006/main">
              <a:ext uri="{FF2B5EF4-FFF2-40B4-BE49-F238E27FC236}">
                <a16:creationId xmlns:a16="http://schemas.microsoft.com/office/drawing/2014/main" id="{767DA56D-943B-480A-B752-005ADCA7D87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9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E8EA795F-0434-44D1-B42C-AF6F7A2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0" name="nav-next">
            <a:extLst xmlns:a="http://schemas.openxmlformats.org/drawingml/2006/main">
              <a:ext uri="{FF2B5EF4-FFF2-40B4-BE49-F238E27FC236}">
                <a16:creationId xmlns:a16="http://schemas.microsoft.com/office/drawing/2014/main" id="{C3A9E146-5008-4354-BA9F-4A5A65B1015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1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1CF486AB-78FD-4530-9038-D3EA5978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119195459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">
            <a:extLst xmlns:a="http://schemas.openxmlformats.org/drawingml/2006/main">
              <a:ext uri="{FF2B5EF4-FFF2-40B4-BE49-F238E27FC236}">
                <a16:creationId xmlns:a16="http://schemas.microsoft.com/office/drawing/2014/main" id="{40C70DCC-2298-44F4-A24B-5D7A63FA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E635"/>
                </a:solidFill>
              </a:defRPr>
            </a:pPr>
            <a:r>
              <a:rPr sz="975" b="1">
                <a:solidFill>
                  <a:srgbClr val="A3E635"/>
                </a:solidFill>
              </a:rPr>
              <a:t>CONSISTENCY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2AD877-B0B9-4A92-9406-14F651A6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CAP Is Not Simply “Pick Two”—It Defines Behavior During a Partition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1C9E7-61C2-4021-948C-C82C658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A3E3C64-34BF-4D5C-B388-9D305040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B3C9"/>
                </a:solidFill>
              </a:defRPr>
            </a:pPr>
            <a:r>
              <a:rPr sz="900" b="1">
                <a:solidFill>
                  <a:srgbClr val="8FB3C9"/>
                </a:solidFill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0C8530-982F-41E8-94EB-53A9B325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000"/>
                </a:solidFill>
              </a:defRPr>
            </a:pPr>
            <a:r>
              <a:rPr sz="1875" b="1">
                <a:solidFill>
                  <a:srgbClr val="FFB000"/>
                </a:solidFill>
              </a:rPr>
              <a:t>During a network partition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EC561-0304-45EC-80FB-CA947D21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1238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FD36D-3EE5-4B35-BFAA-7B5274A7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1238250" cy="24003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11335-8201-4B6F-9A06-E233CC4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85875"/>
            <a:ext cx="5238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E78B9-9408-44E7-8888-04163AD1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85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B4DEE25-5719-4B2F-983A-AB3A24B0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362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CP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96903D-5C21-4242-B154-0DD46622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85925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Reject or delay some requests to preserve consistent reads and writes.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4A3EC-FE20-4A02-9E70-529C90FD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5238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A88FA-51ED-402D-9EC6-5551F5EA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E545E70-18F9-4B4D-9D4A-F0C3EF79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790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AP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4A24AB-8550-44FB-923D-1B36828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14800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Continue serving requests, accepting stale state and later convergence.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D16BFFF-D037-49DA-927A-216AFA38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PACELC adds the normal-state question: without a partition, do we prioritize latency or consistency?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3C440239-1675-4D70-BA27-0D788975ADD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18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E892CBA2-3140-4E87-BE05-8E766FC2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19" name="nav-back">
            <a:extLst xmlns:a="http://schemas.openxmlformats.org/drawingml/2006/main">
              <a:ext uri="{FF2B5EF4-FFF2-40B4-BE49-F238E27FC236}">
                <a16:creationId xmlns:a16="http://schemas.microsoft.com/office/drawing/2014/main" id="{A4BD4423-98B6-4A88-9A5E-F9FAB8CEDFB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0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FD6F565B-FAE1-49F1-8DDD-597CAF91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1" name="nav-next">
            <a:extLst xmlns:a="http://schemas.openxmlformats.org/drawingml/2006/main">
              <a:ext uri="{FF2B5EF4-FFF2-40B4-BE49-F238E27FC236}">
                <a16:creationId xmlns:a16="http://schemas.microsoft.com/office/drawing/2014/main" id="{EEC8BB7D-284E-4413-BED5-5A0CC770273C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2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29ED43CB-F65E-4E50-9C92-C9D0EFE6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6120800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">
            <a:extLst xmlns:a="http://schemas.openxmlformats.org/drawingml/2006/main">
              <a:ext uri="{FF2B5EF4-FFF2-40B4-BE49-F238E27FC236}">
                <a16:creationId xmlns:a16="http://schemas.microsoft.com/office/drawing/2014/main" id="{DED22EF5-CD5B-4EF6-B5B5-28D4CC7D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CONSENSUS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B20975-054F-4785-8269-D90A8FFA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Consensus Turns Multiple Replicas into One Agreed 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95191-57B3-4B33-8567-50841292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28C23D6-CEE4-4D18-9373-B2E1A83B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65267-3760-487B-9F41-AE35B2EB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14F33F-6B1B-4FA1-A79C-562E555B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24000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RAFT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E962A36-4E75-4E36-A2C8-A21FC91F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763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143D"/>
                </a:solidFill>
              </a:defRPr>
            </a:pPr>
            <a:r>
              <a:rPr sz="2100" b="1">
                <a:solidFill>
                  <a:srgbClr val="25143D"/>
                </a:solidFill>
              </a:rPr>
              <a:t>Leader election → Log replication →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C995E-FFB8-47EC-8731-32F91850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8F5D5F-ED06-49C0-85A3-46B76CF7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57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3E635"/>
                </a:solidFill>
              </a:defRPr>
            </a:pPr>
            <a:r>
              <a:rPr sz="1200" b="1">
                <a:solidFill>
                  <a:srgbClr val="A3E635"/>
                </a:solidFill>
              </a:rPr>
              <a:t>LEADER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9B2FC9-B9AC-4107-B920-29856A2E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861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Term 8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Log: … 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712C1-5F29-49E5-8D68-2239FF1A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81375"/>
            <a:ext cx="1428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4BAF8-694D-47EC-838A-C7B3CC68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526798-21AE-4B66-9C42-37145AD6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FOLLOWER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F95E400-D2F5-421D-95B1-1CD39A6F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861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Term 8</a:t>
            </a:r>
          </a:p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Log: … 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3BCCE-15E3-41C7-B3DD-D1D8C613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81375"/>
            <a:ext cx="1428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BAAEB-9DBD-4895-BA77-0990579A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DE19636-646B-452C-A719-AEE4B356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FOLLOWER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306415-4CF6-4FDA-A7A5-AA7B201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Term 8</a:t>
            </a:r>
          </a:p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Log: … 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6477F-62D9-4003-94DD-41020BF2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81375"/>
            <a:ext cx="1428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8D8A7-864B-429B-8432-8E95D3DE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F338F4A-7A23-4E69-9D5B-C025564B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57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FOLLOWER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B7253D1-4B73-41AE-9B8C-718771A4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Term 8</a:t>
            </a:r>
          </a:p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Log: … 42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80A76D5-A592-401E-9ACF-E6917264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143D"/>
                </a:solidFill>
              </a:defRPr>
            </a:pPr>
            <a:r>
              <a:rPr sz="1575" b="1">
                <a:solidFill>
                  <a:srgbClr val="25143D"/>
                </a:solidFill>
              </a:rPr>
              <a:t>In a five-node cluster, progress continues with a majority available—allowing two node failures.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1A07C49-297F-4B1F-AFC3-92418A28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768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6B"/>
                </a:solidFill>
              </a:defRPr>
            </a:pPr>
            <a:r>
              <a:rPr sz="1500" b="1">
                <a:solidFill>
                  <a:srgbClr val="FF6B6B"/>
                </a:solidFill>
              </a:rPr>
              <a:t>Consensus does not prevent failure—it prevents conflicting decisions.</a:t>
            </a:r>
          </a:p>
        </p:txBody>
      </p:sp>
      <p:sp>
        <p:nvSpPr>
          <p:cNvPr id="25" name="nav-home">
            <a:extLst xmlns:a="http://schemas.openxmlformats.org/drawingml/2006/main">
              <a:ext uri="{FF2B5EF4-FFF2-40B4-BE49-F238E27FC236}">
                <a16:creationId xmlns:a16="http://schemas.microsoft.com/office/drawing/2014/main" id="{95F16F7B-F7E0-474D-A330-461F7A0EF282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6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51750D61-35B0-43F3-BE89-8C094DA5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7" name="nav-back">
            <a:extLst xmlns:a="http://schemas.openxmlformats.org/drawingml/2006/main">
              <a:ext uri="{FF2B5EF4-FFF2-40B4-BE49-F238E27FC236}">
                <a16:creationId xmlns:a16="http://schemas.microsoft.com/office/drawing/2014/main" id="{F50953CB-A4B7-4639-95F5-FB16437A168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8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0EE33977-ED58-44A2-8483-EA9CC430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9" name="nav-next">
            <a:extLst xmlns:a="http://schemas.openxmlformats.org/drawingml/2006/main">
              <a:ext uri="{FF2B5EF4-FFF2-40B4-BE49-F238E27FC236}">
                <a16:creationId xmlns:a16="http://schemas.microsoft.com/office/drawing/2014/main" id="{A191F03D-A281-4461-B7F8-D91E24BA20F3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0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44B64EE8-A6EA-4708-A1AC-1DA758C1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445491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">
            <a:extLst xmlns:a="http://schemas.openxmlformats.org/drawingml/2006/main">
              <a:ext uri="{FF2B5EF4-FFF2-40B4-BE49-F238E27FC236}">
                <a16:creationId xmlns:a16="http://schemas.microsoft.com/office/drawing/2014/main" id="{ACE622A6-5A5D-4454-B065-2C559102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RESILIENCE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C59878-D8B8-4A98-90C7-A5FF730D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Reliability Is Built in Layers—Not Delivered by One Magic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6717A-6C0F-41A5-8CA7-5F3FF9AA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000A861-69B0-4057-A884-893265F8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172B8-4E9B-4A0F-ACF6-53533836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51C63-3E64-4512-ACDE-12FA7371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AE0D0EE-A8AF-4F94-82E8-C4AF2396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478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Timeouts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81F667-E0BF-476F-803D-42E81AE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716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Stop unbounded waiting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78346-67EC-411E-BD55-94D6E74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22B1F-A005-413E-A697-9037A90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9E8051B-41CD-479B-9BAF-79E3E7F5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478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Retries + Jitter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BF18680-36DC-431C-87B5-E01B1694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716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Retry without creating a thundering herd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9C883-4183-48A2-92AC-4C9F72E5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A8BA1-57E7-4EDF-B8D5-31CB50A6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CD36E55-F42C-421B-B8FF-75F0473E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478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Circuit Breaker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FDAECEB-58AE-4C71-87D2-A760CD9B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716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Isolate a failing dependency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A82F0-B039-450D-A1DC-FB0DEFEE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B63DB-D884-4D19-936C-0B1567EF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85D3FD3-8DCD-4710-A2C2-1EDE3B47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Bulkheads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F969AF3-6D60-4C7A-BEAD-D4B7255A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24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Prevent one failure from consuming every resource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47866-802B-4F2E-B09D-AC1E83CD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8E0D7-5275-4559-891C-2CF03411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11430">
            <a:solidFill>
              <a:srgbClr val="FF6B6B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177BC68-4AF2-47CC-8FEC-4449726B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Idempotency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E3139E1-69F0-4872-98AF-0324C6B3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24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Make repeated operations safe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61F86-DF12-42B8-BB5F-4447F039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24250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59F79-5EE1-49EB-B63C-346567DD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24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68861E2-94A4-481F-B391-5B72942E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Quorum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370C061-6314-4C8C-814A-EDEBD55A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24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Balance availability and consistency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043E32D-7F8F-4D85-A9C4-1FF12BDB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143D"/>
                </a:solidFill>
              </a:defRPr>
            </a:pPr>
            <a:r>
              <a:rPr sz="1725" b="1">
                <a:solidFill>
                  <a:srgbClr val="25143D"/>
                </a:solidFill>
              </a:rPr>
              <a:t>Design objective: graceful degradation instead of cascading collapse.</a:t>
            </a:r>
          </a:p>
        </p:txBody>
      </p:sp>
      <p:sp>
        <p:nvSpPr>
          <p:cNvPr id="30" name="nav-home">
            <a:extLst xmlns:a="http://schemas.openxmlformats.org/drawingml/2006/main">
              <a:ext uri="{FF2B5EF4-FFF2-40B4-BE49-F238E27FC236}">
                <a16:creationId xmlns:a16="http://schemas.microsoft.com/office/drawing/2014/main" id="{33EA9F06-1968-450A-9614-B332EC9CBCB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1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456C4DF6-D24C-497F-8880-0EB36317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2" name="nav-back">
            <a:extLst xmlns:a="http://schemas.openxmlformats.org/drawingml/2006/main">
              <a:ext uri="{FF2B5EF4-FFF2-40B4-BE49-F238E27FC236}">
                <a16:creationId xmlns:a16="http://schemas.microsoft.com/office/drawing/2014/main" id="{B3868CBD-7E4B-48C7-ACD5-0E98455A9014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3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DC3FC7CD-D9CE-4831-ACAB-D387109E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4" name="nav-next">
            <a:extLst xmlns:a="http://schemas.openxmlformats.org/drawingml/2006/main">
              <a:ext uri="{FF2B5EF4-FFF2-40B4-BE49-F238E27FC236}">
                <a16:creationId xmlns:a16="http://schemas.microsoft.com/office/drawing/2014/main" id="{6E1FFB10-C2FE-4F56-A768-8AE56A19476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5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EECDB6F1-D040-4648-BF41-CB837E59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11653239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">
            <a:extLst xmlns:a="http://schemas.openxmlformats.org/drawingml/2006/main">
              <a:ext uri="{FF2B5EF4-FFF2-40B4-BE49-F238E27FC236}">
                <a16:creationId xmlns:a16="http://schemas.microsoft.com/office/drawing/2014/main" id="{8DFC6DA7-780C-4980-ABA6-072C5877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ORDERING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1BE00A-6BDF-4F83-B48A-55FA74A5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Without a Global Clock, Causality Beats Timestamps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AF06B-36A3-4356-A329-13FCF583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01B69CA-04A3-4EEF-A86D-8FC9FB50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EE3BE6-F196-4301-B715-EE9591A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5CE7"/>
                </a:solidFill>
              </a:defRPr>
            </a:pPr>
            <a:r>
              <a:rPr sz="1500" b="1">
                <a:solidFill>
                  <a:srgbClr val="6C5CE7"/>
                </a:solidFill>
              </a:rPr>
              <a:t>Service 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47FE1FD-BBBD-480F-BA84-ECEFBD38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B8A6"/>
                </a:solidFill>
              </a:defRPr>
            </a:pPr>
            <a:r>
              <a:rPr sz="1500" b="1">
                <a:solidFill>
                  <a:srgbClr val="16B8A6"/>
                </a:solidFill>
              </a:rPr>
              <a:t>Service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B7E0E-B9C1-4C2F-99D9-CE2FC443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81200"/>
            <a:ext cx="819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BD532-F288-453D-B2D1-51AB5D25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819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8632D-216D-4755-A0D5-3BE75386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8F763E-5DE6-4B3B-8C23-184E79A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8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43AFF-DE9D-4693-975E-35A86D96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11430">
            <a:solidFill>
              <a:srgbClr val="FF6B6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131EF6-8CF7-4249-89BE-0A018BD5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38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262F3-4BC3-452C-BD4F-DB8B8BCA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73DF967-4DE4-43D5-B52A-9532FA6C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B0027-8F2B-4EDE-99B7-8A1DB766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077A18F-8847-4921-AA81-41EE59ED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B3460-D00D-44A9-93DB-DE7786DE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7F3BCED-1F4B-4191-AE3B-3FDB96AB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D828C-2D81-4CB1-8DA2-D161B65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443FF9E-073E-4F16-9A42-2A4A5FDF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19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AA1ED-9ADD-4263-AD52-00D5F72C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90725"/>
            <a:ext cx="1152525" cy="19431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5DF78-466E-4A9B-BBE6-9CADE4F2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90725"/>
            <a:ext cx="1152525" cy="19431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CFA98-4FCA-4D5A-BDD9-62464A13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3D8C540-4533-47E6-A96A-B76C63A5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0062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Logical clocks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5CCE2B4-047C-4503-892F-F200D1E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67325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Order causality when physical time cannot be trusted.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2D6E3-7A1E-4DD6-9D9F-35AF0D40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FDEF087-F145-4DBA-AE5F-BDD6993A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0062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Design implication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D13B5CF-A057-4D62-958E-7B607A2A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67325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Expect delayed, duplicated, and out-of-order messages.</a:t>
            </a:r>
          </a:p>
        </p:txBody>
      </p:sp>
      <p:sp>
        <p:nvSpPr>
          <p:cNvPr id="29" name="nav-home">
            <a:extLst xmlns:a="http://schemas.openxmlformats.org/drawingml/2006/main">
              <a:ext uri="{FF2B5EF4-FFF2-40B4-BE49-F238E27FC236}">
                <a16:creationId xmlns:a16="http://schemas.microsoft.com/office/drawing/2014/main" id="{9BA3D57C-C064-4F83-8C07-4AA993ED03E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0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56F04E04-F2DF-45B1-A4CA-BC81AEF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1" name="nav-back">
            <a:extLst xmlns:a="http://schemas.openxmlformats.org/drawingml/2006/main">
              <a:ext uri="{FF2B5EF4-FFF2-40B4-BE49-F238E27FC236}">
                <a16:creationId xmlns:a16="http://schemas.microsoft.com/office/drawing/2014/main" id="{DA02E19E-3850-4F1C-981A-6D0599AAD0FA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2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A92244C2-4AC5-499F-9257-E126C32F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3" name="nav-next">
            <a:extLst xmlns:a="http://schemas.openxmlformats.org/drawingml/2006/main">
              <a:ext uri="{FF2B5EF4-FFF2-40B4-BE49-F238E27FC236}">
                <a16:creationId xmlns:a16="http://schemas.microsoft.com/office/drawing/2014/main" id="{09EBA925-BE31-4252-870B-63D515086A3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4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728300E1-B69B-4FCE-95B8-0289A40F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617797169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">
            <a:extLst xmlns:a="http://schemas.openxmlformats.org/drawingml/2006/main">
              <a:ext uri="{FF2B5EF4-FFF2-40B4-BE49-F238E27FC236}">
                <a16:creationId xmlns:a16="http://schemas.microsoft.com/office/drawing/2014/main" id="{9F1CFBB6-CDFB-4D2C-B37D-9029A036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ARCHITECTURE STYLES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F318FB-9919-4670-9158-63C73198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Architecture Style Should Follow Change and Load—not Fashion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6E709-38BD-4AFA-9741-10921F41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CF6F7B1-28B7-48DE-873F-4C088A8F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DA340-B286-4FD8-9AD1-4D372CF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57175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F25A8-FACC-4E86-87F3-E2EFE8D0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16CD334-565E-48F1-BBAF-D849C15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43D"/>
                </a:solidFill>
              </a:defRPr>
            </a:pPr>
            <a:r>
              <a:rPr sz="1800" b="1">
                <a:solidFill>
                  <a:srgbClr val="25143D"/>
                </a:solidFill>
              </a:rPr>
              <a:t>Client–Server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BC4125-C3CD-4BD1-9D69-A30F2411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16987"/>
                </a:solidFill>
              </a:defRPr>
            </a:pPr>
            <a:r>
              <a:rPr sz="1275" b="0">
                <a:solidFill>
                  <a:srgbClr val="716987"/>
                </a:solidFill>
              </a:rPr>
              <a:t>Centralized control and operational simplicity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D58C3F-AE0E-4E82-88A4-8C7EDA65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5CE7"/>
                </a:solidFill>
              </a:defRPr>
            </a:pPr>
            <a:r>
              <a:rPr sz="1125" b="1">
                <a:solidFill>
                  <a:srgbClr val="6C5CE7"/>
                </a:solidFill>
              </a:rPr>
              <a:t>Best when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A12859-90A2-4C61-9216-47D4041A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43D"/>
                </a:solidFill>
              </a:defRPr>
            </a:pPr>
            <a:r>
              <a:rPr sz="1275" b="1">
                <a:solidFill>
                  <a:srgbClr val="25143D"/>
                </a:solidFill>
              </a:rPr>
              <a:t>Internal products and CRUD workloads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45F31-3107-41DD-841D-4B5609BE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257175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39137-49CB-4C77-BC80-B9E129D2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A4BF188-DE0D-43F1-B437-F2D6B270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43D"/>
                </a:solidFill>
              </a:defRPr>
            </a:pPr>
            <a:r>
              <a:rPr sz="1800" b="1">
                <a:solidFill>
                  <a:srgbClr val="25143D"/>
                </a:solidFill>
              </a:rPr>
              <a:t>Microservices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E640B86-BAB0-41BE-BF90-DEDF1774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16987"/>
                </a:solidFill>
              </a:defRPr>
            </a:pPr>
            <a:r>
              <a:rPr sz="1275" b="0">
                <a:solidFill>
                  <a:srgbClr val="716987"/>
                </a:solidFill>
              </a:rPr>
              <a:t>Team autonomy and selective scaling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49B8F4-8520-4723-85FC-8CBBF175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B8A6"/>
                </a:solidFill>
              </a:defRPr>
            </a:pPr>
            <a:r>
              <a:rPr sz="1125" b="1">
                <a:solidFill>
                  <a:srgbClr val="16B8A6"/>
                </a:solidFill>
              </a:rPr>
              <a:t>Best when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4ED8162-1C0F-43D9-ACD2-8142A0BA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43D"/>
                </a:solidFill>
              </a:defRPr>
            </a:pPr>
            <a:r>
              <a:rPr sz="1275" b="1">
                <a:solidFill>
                  <a:srgbClr val="25143D"/>
                </a:solidFill>
              </a:rPr>
              <a:t>Business domains with clear boundaries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2DE9A-0AF1-4EB1-9CE0-7CCE6360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257175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99083-1AAE-48FD-807D-CB608DC4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4408578-4E00-4117-8E38-DEEC800F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43D"/>
                </a:solidFill>
              </a:defRPr>
            </a:pPr>
            <a:r>
              <a:rPr sz="1800" b="1">
                <a:solidFill>
                  <a:srgbClr val="25143D"/>
                </a:solidFill>
              </a:rPr>
              <a:t>Event‑Driven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737F7BC-68D9-403A-983A-0C60A35F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16987"/>
                </a:solidFill>
              </a:defRPr>
            </a:pPr>
            <a:r>
              <a:rPr sz="1275" b="0">
                <a:solidFill>
                  <a:srgbClr val="716987"/>
                </a:solidFill>
              </a:rPr>
              <a:t>Temporal decoupling and spike resilience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5CE1649-D793-4701-A34D-1D464ECB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3E635"/>
                </a:solidFill>
              </a:defRPr>
            </a:pPr>
            <a:r>
              <a:rPr sz="1125" b="1">
                <a:solidFill>
                  <a:srgbClr val="A3E635"/>
                </a:solidFill>
              </a:rPr>
              <a:t>Best when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DEAA1A3-8145-4FF3-BC51-B887CB7F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43D"/>
                </a:solidFill>
              </a:defRPr>
            </a:pPr>
            <a:r>
              <a:rPr sz="1275" b="1">
                <a:solidFill>
                  <a:srgbClr val="25143D"/>
                </a:solidFill>
              </a:rPr>
              <a:t>Integrations and workflows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FCCBF-692F-4654-AD4E-082A8E86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257175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B2CF0-C955-4F52-B695-8F44E3BB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AA86C7C-80DD-49E4-9B95-BBEB4A16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43D"/>
                </a:solidFill>
              </a:defRPr>
            </a:pPr>
            <a:r>
              <a:rPr sz="1800" b="1">
                <a:solidFill>
                  <a:srgbClr val="25143D"/>
                </a:solidFill>
              </a:rPr>
              <a:t>Peer‑to‑Peer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BA254E2-1BE5-46AC-9A67-F603867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16987"/>
                </a:solidFill>
              </a:defRPr>
            </a:pPr>
            <a:r>
              <a:rPr sz="1275" b="0">
                <a:solidFill>
                  <a:srgbClr val="716987"/>
                </a:solidFill>
              </a:rPr>
              <a:t>Decentralization and resistance to a single failure point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E3A2B97-AE0E-4049-B501-9CA526F6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B000"/>
                </a:solidFill>
              </a:defRPr>
            </a:pPr>
            <a:r>
              <a:rPr sz="1125" b="1">
                <a:solidFill>
                  <a:srgbClr val="FFB000"/>
                </a:solidFill>
              </a:rPr>
              <a:t>Best when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B4DC4B9-934E-4733-9482-72754BE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43D"/>
                </a:solidFill>
              </a:defRPr>
            </a:pPr>
            <a:r>
              <a:rPr sz="1275" b="1">
                <a:solidFill>
                  <a:srgbClr val="25143D"/>
                </a:solidFill>
              </a:rPr>
              <a:t>Sharing and collaborative networks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0FD2A31-3E4C-42E9-A032-11F7337E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721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B6B"/>
                </a:solidFill>
              </a:defRPr>
            </a:pPr>
            <a:r>
              <a:rPr sz="1575" b="1">
                <a:solidFill>
                  <a:srgbClr val="FF6B6B"/>
                </a:solidFill>
              </a:rPr>
              <a:t>A distributed monolith combines network complexity with monolithic coupling.</a:t>
            </a:r>
          </a:p>
        </p:txBody>
      </p:sp>
      <p:sp>
        <p:nvSpPr>
          <p:cNvPr id="30" name="nav-home">
            <a:extLst xmlns:a="http://schemas.openxmlformats.org/drawingml/2006/main">
              <a:ext uri="{FF2B5EF4-FFF2-40B4-BE49-F238E27FC236}">
                <a16:creationId xmlns:a16="http://schemas.microsoft.com/office/drawing/2014/main" id="{798F0CBE-F51B-40D6-9F55-1895A9B3D15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1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37DBE4E7-3DF0-4C14-BA67-24E4B0B7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2" name="nav-back">
            <a:extLst xmlns:a="http://schemas.openxmlformats.org/drawingml/2006/main">
              <a:ext uri="{FF2B5EF4-FFF2-40B4-BE49-F238E27FC236}">
                <a16:creationId xmlns:a16="http://schemas.microsoft.com/office/drawing/2014/main" id="{E400433F-A1BF-4325-99C3-A95A3AEEF4F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3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808230C1-A037-40AD-9C17-BB90DE95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4" name="nav-next">
            <a:extLst xmlns:a="http://schemas.openxmlformats.org/drawingml/2006/main">
              <a:ext uri="{FF2B5EF4-FFF2-40B4-BE49-F238E27FC236}">
                <a16:creationId xmlns:a16="http://schemas.microsoft.com/office/drawing/2014/main" id="{8C2AA05D-F1D6-4F78-822C-223831A4A5F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5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2EC75FA3-C7B8-44DC-AC78-A13F8C8E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836321874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">
            <a:extLst xmlns:a="http://schemas.openxmlformats.org/drawingml/2006/main">
              <a:ext uri="{FF2B5EF4-FFF2-40B4-BE49-F238E27FC236}">
                <a16:creationId xmlns:a16="http://schemas.microsoft.com/office/drawing/2014/main" id="{17077ED1-8E37-403B-B3EC-B278F5B0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PLATFORMS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837132-D08A-4C38-9E2F-F416AD56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Modern Platforms Hide Complexity—They Do Not Eliminate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24382-8CD8-4847-9C82-97DB3087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CFC5A74-0FA7-43DC-82DF-8CFB071A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D609F2-79A7-4570-A2C2-A52278C0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Containers + Kubernetes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FBB50-7B12-42A6-9CC4-20C1F393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59D226-8F35-48DF-B96A-9850080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Scheduling • service discovery • self-healing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5D3749-B189-4BBE-B321-FE5F2C01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Distributed data stores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3CA1B-F457-45BF-B115-DE1BCC06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E79AAB-566A-430C-9011-867623F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241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Sharding • replication • indexes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0D3535-5917-4DCE-ABA6-2AB478E1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Streaming &amp; queues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6BE92-5357-4B8B-A1D9-5A5821A0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41DD31-41A7-4513-976C-5740CF40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Buffering • ordering • delivery semantics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9CBF394-9529-46D0-9697-D7122C15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Batch data 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41ECA-CEFA-4BAE-9684-893BAAC9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958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8F3BB75-3E57-41E1-9045-157D96B8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243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Parallel execution • failure recovery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24716D7-0CA8-4ABE-83F4-02FA205E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Foundational research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22529A-D5F3-4670-BF96-B604CA78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435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GFS • MapReduce • Bigtable • Raft</a:t>
            </a:r>
          </a:p>
        </p:txBody>
      </p:sp>
      <p:sp>
        <p:nvSpPr>
          <p:cNvPr id="19" name="nav-home">
            <a:extLst xmlns:a="http://schemas.openxmlformats.org/drawingml/2006/main">
              <a:ext uri="{FF2B5EF4-FFF2-40B4-BE49-F238E27FC236}">
                <a16:creationId xmlns:a16="http://schemas.microsoft.com/office/drawing/2014/main" id="{DAFD1CC5-36FC-45B1-9E62-CEFCF71A80D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0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823D8D67-03FB-489F-982E-937952E0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1" name="nav-back">
            <a:extLst xmlns:a="http://schemas.openxmlformats.org/drawingml/2006/main">
              <a:ext uri="{FF2B5EF4-FFF2-40B4-BE49-F238E27FC236}">
                <a16:creationId xmlns:a16="http://schemas.microsoft.com/office/drawing/2014/main" id="{7162485B-7617-4E85-8A6B-AE433E26271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2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A47BC06A-B6CC-4211-A3C3-D11BF437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3" name="nav-next">
            <a:extLst xmlns:a="http://schemas.openxmlformats.org/drawingml/2006/main">
              <a:ext uri="{FF2B5EF4-FFF2-40B4-BE49-F238E27FC236}">
                <a16:creationId xmlns:a16="http://schemas.microsoft.com/office/drawing/2014/main" id="{1D8EE2BA-3E0A-4CE3-A5B7-0755470658F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4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2DD659B4-7015-4E8E-BF7C-B4E9C411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667747564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">
            <a:extLst xmlns:a="http://schemas.openxmlformats.org/drawingml/2006/main">
              <a:ext uri="{FF2B5EF4-FFF2-40B4-BE49-F238E27FC236}">
                <a16:creationId xmlns:a16="http://schemas.microsoft.com/office/drawing/2014/main" id="{9D7BE8C1-FFDC-4338-8953-6C6DEF57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UNIVERSITY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F20737-01BE-44F1-8EF5-48F4E275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Your OS Course Already Contains the Foundations of Distributed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23233-639A-4E66-B84D-2C8E1AC2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C8B574F-2691-4444-A470-AA035AC3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67A9E8-F008-457A-9272-F2FB7575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143D"/>
                </a:solidFill>
              </a:defRPr>
            </a:pPr>
            <a:r>
              <a:rPr sz="1575" b="1">
                <a:solidFill>
                  <a:srgbClr val="25143D"/>
                </a:solidFill>
              </a:rPr>
              <a:t>Operating Systems lectures provide a direct conceptual bridge from one machine to many networked nodes.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36145-627C-4CA8-9068-00F5348D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BFE60-391A-4BBE-832B-C18C90A3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5B0DB2-D793-4DEA-83EC-1501F76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Clustered systems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803182-4B17-4C9B-B163-6CCECA7C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Networked nodes provide high availability and survive individual failures.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2DC9B-62A9-47B7-8CF6-16643F8E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E1F68-FCDB-4FD3-B0E0-EA0E174B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A23848-B164-459A-8832-4532385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Distributed environments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E1A220-3FFF-4821-839B-54825F39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Client-server, peer-to-peer, and cloud are presented as operating environments.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0FE1E-4735-4977-A762-2E7438FA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DFD7D-67A1-4C1A-8935-355396BC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E4BAA4A-5ADE-49CB-A70E-BE594696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IPC → network messaging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00A4E47-8F04-4434-9144-F6279355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Shared memory gives way to message passing when processes do not share an address space.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8818F-22FF-4F48-A801-D46F36ED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1D0C8-9ADC-430E-BA6D-030D9C33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D10EE65-3E3C-4D02-ACDA-A418FBA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Sockets and synchronization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023B30-32DE-4CBA-8AA4-C4173350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624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Endpoints, blocking/non-blocking communication, races, and deadlocks shape correctness.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ADAEB8E-7911-43F5-8DF0-E198D5D0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Course insight → distributed design implication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59D613B-023A-49E8-8023-7D91D01D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6B"/>
                </a:solidFill>
              </a:defRPr>
            </a:pPr>
            <a:r>
              <a:rPr sz="1500" b="1">
                <a:solidFill>
                  <a:srgbClr val="FF6B6B"/>
                </a:solidFill>
              </a:rPr>
              <a:t>Resource sharing creates value; coordination and partial failure create the engineering cost.</a:t>
            </a:r>
          </a:p>
        </p:txBody>
      </p:sp>
      <p:sp>
        <p:nvSpPr>
          <p:cNvPr id="24" name="nav-home">
            <a:extLst xmlns:a="http://schemas.openxmlformats.org/drawingml/2006/main">
              <a:ext uri="{FF2B5EF4-FFF2-40B4-BE49-F238E27FC236}">
                <a16:creationId xmlns:a16="http://schemas.microsoft.com/office/drawing/2014/main" id="{991DC713-7387-400F-AD05-2F59EBC0CD4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5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34FCB7DA-9FD5-4D59-A2FA-22BDBE76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6" name="nav-back">
            <a:extLst xmlns:a="http://schemas.openxmlformats.org/drawingml/2006/main">
              <a:ext uri="{FF2B5EF4-FFF2-40B4-BE49-F238E27FC236}">
                <a16:creationId xmlns:a16="http://schemas.microsoft.com/office/drawing/2014/main" id="{C14D1D0E-3491-47A0-A0FD-E00F4805C1C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7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D4CDFEA1-2FC5-48B0-BF8E-A2BAC4F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8" name="nav-next">
            <a:extLst xmlns:a="http://schemas.openxmlformats.org/drawingml/2006/main">
              <a:ext uri="{FF2B5EF4-FFF2-40B4-BE49-F238E27FC236}">
                <a16:creationId xmlns:a16="http://schemas.microsoft.com/office/drawing/2014/main" id="{128145E2-B352-489E-B76C-EA5B5C5D4B8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9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998273E9-8095-431B-8F9B-7CB826B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6192134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">
            <a:extLst xmlns:a="http://schemas.openxmlformats.org/drawingml/2006/main">
              <a:ext uri="{FF2B5EF4-FFF2-40B4-BE49-F238E27FC236}">
                <a16:creationId xmlns:a16="http://schemas.microsoft.com/office/drawing/2014/main" id="{580980FA-6757-445F-A4F6-070F01D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E635"/>
                </a:solidFill>
              </a:defRPr>
            </a:pPr>
            <a:r>
              <a:rPr sz="975" b="1">
                <a:solidFill>
                  <a:srgbClr val="A3E635"/>
                </a:solidFill>
              </a:rPr>
              <a:t>OPERATIONS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FB043B-A91C-4B59-838E-8535942F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Operate What You Can Observe; Scale What You Can Secure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184D6-AE56-4DE4-B175-EF50E06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EAEF1FB-8BA7-468C-BACB-D578C6E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B3C9"/>
                </a:solidFill>
              </a:defRPr>
            </a:pPr>
            <a:r>
              <a:rPr sz="900" b="1">
                <a:solidFill>
                  <a:srgbClr val="8FB3C9"/>
                </a:solidFill>
              </a:rPr>
              <a:t>15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24A35E-B264-4030-A10C-23B4F999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OBSERVABILITY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14FD1C-854C-4938-8D56-25D4E1CD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E635"/>
                </a:solidFill>
              </a:defRPr>
            </a:pPr>
            <a:r>
              <a:rPr sz="1875" b="1">
                <a:solidFill>
                  <a:srgbClr val="A3E635"/>
                </a:solidFill>
              </a:rPr>
              <a:t>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95E50-DE86-40CD-B6CA-9C93228E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4EB52-407E-4705-818B-B6293E92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64B3413-DD99-4499-8312-FD56D072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Metrics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2F37F5-D1E5-459C-A509-4499A855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What is happening?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84E63-8DFA-479A-9C4A-5B153C09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A16A6-5889-4925-9CEC-EB06D2B9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735B17-1122-4C10-94A6-74C013FE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Logs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9CBA6AF-473C-455F-B275-60ACE512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052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Why did it happen?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18574-3B45-469B-B37F-8FB4E627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F5BA3-3A47-4F71-B173-A7002EEE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A9A4B51-3F65-409C-BF06-BED34DB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Traces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24E59AC-6149-4ABA-ADFE-A78A21F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720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Where did the request slow down?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3D47A-C771-4F1D-B4FB-8832225B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D649F-342F-485E-88B0-09638F9B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5912982-A04A-4097-A6FE-35656DD1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14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Identity first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2B70E99-A8E5-4D5B-BD89-32369E50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384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mTLS • workload identity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08AF1-4EC5-40AB-9703-EF0D5CA5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2E7F3-ECE1-4B4D-892F-2D72E9F1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0E046BE-22DC-4FAE-B731-8A14159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Least privilege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0E4C565-F56C-4EF6-9219-28795A81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052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Policy for every service and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711845-5922-421C-AC79-1A62730E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719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B5671-E7FF-4565-92BD-41B8D5F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719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4894CA3-60D3-4E46-973D-78EC4F6E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481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Supply chain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B20E383-4D11-4B37-AA3D-03161ABB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720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Images • dependencies • secrets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6AEA020-E1C6-4463-80A4-F9DA9A79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102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SLOs turn measurement from attractive dashboards into an agreement about service quality.</a:t>
            </a:r>
          </a:p>
        </p:txBody>
      </p:sp>
      <p:sp>
        <p:nvSpPr>
          <p:cNvPr id="32" name="nav-home">
            <a:extLst xmlns:a="http://schemas.openxmlformats.org/drawingml/2006/main">
              <a:ext uri="{FF2B5EF4-FFF2-40B4-BE49-F238E27FC236}">
                <a16:creationId xmlns:a16="http://schemas.microsoft.com/office/drawing/2014/main" id="{82E0B8E3-632D-40AA-A6C3-345C84AD5BB2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3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ED33F494-CFAF-4F90-82E5-CD69C177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4" name="nav-back">
            <a:extLst xmlns:a="http://schemas.openxmlformats.org/drawingml/2006/main">
              <a:ext uri="{FF2B5EF4-FFF2-40B4-BE49-F238E27FC236}">
                <a16:creationId xmlns:a16="http://schemas.microsoft.com/office/drawing/2014/main" id="{00270FE9-02C7-40B3-847C-6B79F5526D7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5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C23EE90B-EEA3-453E-B65F-657400F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6" name="nav-next">
            <a:extLst xmlns:a="http://schemas.openxmlformats.org/drawingml/2006/main">
              <a:ext uri="{FF2B5EF4-FFF2-40B4-BE49-F238E27FC236}">
                <a16:creationId xmlns:a16="http://schemas.microsoft.com/office/drawing/2014/main" id="{BE292DA8-F6C0-48A1-8704-04BD468D7AAA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7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8C1A8D2C-39AA-4DDF-AEF0-D3FC545D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04777470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FC8CEEEC-E965-4307-A790-E5E09A0A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HOSTING DECISION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183B21-1553-4B4E-826C-DE9790A6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Workload Placement Matters More Than “Server vs Cloud”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646AD-07B6-402B-8FAE-4FEAC8FD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68400CA-6CA6-4E10-B96C-9E3B8B16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6788EB-4045-4973-975E-7A3AC0F4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C5CE7"/>
                </a:solidFill>
              </a:defRPr>
            </a:pPr>
            <a:r>
              <a:rPr sz="2025" b="1">
                <a:solidFill>
                  <a:srgbClr val="6C5CE7"/>
                </a:solidFill>
              </a:rPr>
              <a:t>ON‑PREMISES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71D2DC-A154-4F4D-A6D7-2630EFC1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6B8A6"/>
                </a:solidFill>
              </a:defRPr>
            </a:pPr>
            <a:r>
              <a:rPr sz="2025" b="1">
                <a:solidFill>
                  <a:srgbClr val="16B8A6"/>
                </a:solidFill>
              </a:rPr>
              <a:t>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32ED0-58F4-4304-8D42-62258BE9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000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9F13CF-A108-494B-B023-84455AED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Direct control</a:t>
            </a:r>
          </a:p>
          <a:p xmlns:a="http://schemas.openxmlformats.org/drawingml/2006/main">
            <a:pPr algn="r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Proximity to sites and machines</a:t>
            </a:r>
          </a:p>
          <a:p xmlns:a="http://schemas.openxmlformats.org/drawingml/2006/main">
            <a:pPr algn="r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Predictable cost at stable utilization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AECBA-48F2-40D8-B102-5105616B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4000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828D21C-3BFD-419A-864E-A7716068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14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Rapid elasticity</a:t>
            </a:r>
          </a:p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Managed services and global reach</a:t>
            </a:r>
          </a:p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Consumption-based pricing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ED20F-E437-49D5-8D82-ECF106A1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ADEACB8-52BC-49F4-8434-D8775230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113A"/>
                </a:solidFill>
              </a:defRPr>
            </a:pPr>
            <a:r>
              <a:rPr sz="1725" b="1">
                <a:solidFill>
                  <a:srgbClr val="20113A"/>
                </a:solidFill>
              </a:rPr>
              <a:t>HYBRID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29E20E-C82A-41E1-B414-FACC9431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29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113A"/>
                </a:solidFill>
              </a:defRPr>
            </a:pPr>
            <a:r>
              <a:rPr sz="1275" b="1">
                <a:solidFill>
                  <a:srgbClr val="20113A"/>
                </a:solidFill>
              </a:rPr>
              <a:t>Keep constraints local</a:t>
            </a:r>
          </a:p>
          <a:p xmlns:a="http://schemas.openxmlformats.org/drawingml/2006/main">
            <a:pPr algn="ctr">
              <a:defRPr sz="1275" b="1">
                <a:solidFill>
                  <a:srgbClr val="20113A"/>
                </a:solidFill>
              </a:defRPr>
            </a:pPr>
            <a:r>
              <a:rPr sz="1275" b="1">
                <a:solidFill>
                  <a:srgbClr val="20113A"/>
                </a:solidFill>
              </a:rPr>
              <a:t>and elasticity in the cloud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74DEBF-76FB-4859-B811-4536A9B8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8162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6B"/>
                </a:solidFill>
              </a:defRPr>
            </a:pPr>
            <a:r>
              <a:rPr sz="1725" b="1">
                <a:solidFill>
                  <a:srgbClr val="FF6B6B"/>
                </a:solidFill>
              </a:rPr>
              <a:t>The right answer changes by workload—not by corporate slogan.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4EB977BF-F452-4189-A589-893B3373A01D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16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87468AB5-3C42-4887-A05B-4D604129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17" name="nav-back">
            <a:extLst xmlns:a="http://schemas.openxmlformats.org/drawingml/2006/main">
              <a:ext uri="{FF2B5EF4-FFF2-40B4-BE49-F238E27FC236}">
                <a16:creationId xmlns:a16="http://schemas.microsoft.com/office/drawing/2014/main" id="{70C97ECE-46A2-49B3-881F-667F078B295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8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310B0C60-6B07-457B-B513-502C77C2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BA1F26C9-8376-4E7A-947C-2D3F43E29E37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0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FC5E43A5-4A3E-4661-A70D-698AD7CC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626091301"/>
      </p:ext>
    </p:extLst>
  </p:cSld>
  <p:transition spd="fast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ction">
            <a:extLst xmlns:a="http://schemas.openxmlformats.org/drawingml/2006/main">
              <a:ext uri="{FF2B5EF4-FFF2-40B4-BE49-F238E27FC236}">
                <a16:creationId xmlns:a16="http://schemas.microsoft.com/office/drawing/2014/main" id="{36C4F035-EDD0-439A-8DDF-B28FC5AC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916794-7D78-49C1-9F6C-72E31153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Practical Comparison: Each Option Wins in a Different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617F3-51B0-4700-93CD-A69F8B11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00EC1FF-A874-4856-B7E4-E3F00A77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16CCC9-DED4-4BC3-8913-148DF948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16987"/>
                </a:solidFill>
              </a:defRPr>
            </a:pPr>
            <a:r>
              <a:rPr sz="1350" b="1">
                <a:solidFill>
                  <a:srgbClr val="716987"/>
                </a:solidFill>
              </a:rPr>
              <a:t>Criterion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D594C-1A6A-4B91-B4BC-F2C359AA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28750"/>
            <a:ext cx="2952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6E7E3F6-1167-4D0E-8587-D3E6374E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287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56D3A-E523-42FA-8728-12A2C2BD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000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55B4FB-25EB-4E75-86F8-F5AD927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8FF23-20C0-4625-A0CC-45FA70E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1430">
            <a:solidFill>
              <a:srgbClr val="EAF2F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65FFF1-7280-4602-BFF5-84F36B97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Investment model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5C3104-1852-411F-9917-D83D0B67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Upfront CapEx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7933CF-8EDD-429C-84A6-F97FBE0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Variable OpEx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BE44D0-EEB6-4A26-85D7-5C486C29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Elasticity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50E9821-4A52-4C42-8811-1C793E8B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38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Slower: procure and install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04F0A6C-4277-48BF-BD62-AF21219A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384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Minutes through 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BDBC4-5938-4BB6-8B13-2AB2B784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1430">
            <a:solidFill>
              <a:srgbClr val="EAF2F7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1F1E90C-AD48-45AB-8605-9464FBD1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Control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BEEE4EA-2CBE-4732-BE51-B84406EA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Maximum physical and operational control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C3F954B-28E4-4556-BC05-25533F6B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241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Logical control within provider boundaries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D9EF3D-E4F1-4AB3-A146-3229AC75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Local latency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E9B87EF-1C20-4E3F-9EC9-88264191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09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Excellent for factories and local sites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0E681EA-5FA2-4878-9BAE-CA9CA42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09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Depends on connectivity and region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CF6188-8EEB-4F2E-9D32-9040CEE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1430">
            <a:solidFill>
              <a:srgbClr val="EAF2F7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AD6EB41-A4EA-4BF0-94F5-3E2E5899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Global reach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2263317-0348-4764-9508-94A67103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957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Costly and complex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AF9F0B5-D082-4764-88F3-95AB129A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A core platform capability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7AAE45E-BC8B-49BA-B6FD-EC783F8B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Skills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52A4DCC-4335-430E-A070-1A4B5D2A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81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Hardware + facilities + ops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4B36FCF-34A3-4CD7-8A08-D79359F1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81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Cloud + FinOps + 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52068-6C1E-4830-B1D1-CCCD1661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1430">
            <a:solidFill>
              <a:srgbClr val="EAF2F7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5CA4A00-0035-4F7B-9B35-8E200FC6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Disaster recovery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085FA5D-48F6-44A0-9AC6-30B3E7A5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672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A second site is expensive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440A63D-B5C3-4DD8-81A0-0836384B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672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Multi-region services are available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2C1FDE11-B1EC-419D-A9C3-3858D741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Lock‑in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910014E-474B-4B18-880D-2BE99977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53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Hardware/virtualization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69AEFA9-2F45-4560-8389-559B298C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530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Managed services and provider APIs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C2D6470C-1C52-448C-A372-1F560AB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007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6B"/>
                </a:solidFill>
              </a:defRPr>
            </a:pPr>
            <a:r>
              <a:rPr sz="1275" b="1">
                <a:solidFill>
                  <a:srgbClr val="FF6B6B"/>
                </a:solidFill>
              </a:rPr>
              <a:t>Do not score the options until each criterion has an explicit weight.</a:t>
            </a:r>
          </a:p>
        </p:txBody>
      </p:sp>
      <p:sp>
        <p:nvSpPr>
          <p:cNvPr id="39" name="nav-home">
            <a:extLst xmlns:a="http://schemas.openxmlformats.org/drawingml/2006/main">
              <a:ext uri="{FF2B5EF4-FFF2-40B4-BE49-F238E27FC236}">
                <a16:creationId xmlns:a16="http://schemas.microsoft.com/office/drawing/2014/main" id="{1A14DA68-2848-4A0B-B95E-AE6833A0B6C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0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73260357-C3D1-4A7C-A119-59C562FD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41" name="nav-back">
            <a:extLst xmlns:a="http://schemas.openxmlformats.org/drawingml/2006/main">
              <a:ext uri="{FF2B5EF4-FFF2-40B4-BE49-F238E27FC236}">
                <a16:creationId xmlns:a16="http://schemas.microsoft.com/office/drawing/2014/main" id="{9411062B-DD1D-4C4F-9805-3893A989402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42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C50BD1B3-6F68-489D-ADA3-3BFFE245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43" name="nav-next">
            <a:extLst xmlns:a="http://schemas.openxmlformats.org/drawingml/2006/main">
              <a:ext uri="{FF2B5EF4-FFF2-40B4-BE49-F238E27FC236}">
                <a16:creationId xmlns:a16="http://schemas.microsoft.com/office/drawing/2014/main" id="{AF8EEFAE-4C31-4A62-AF5E-A48FB575528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44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7CA92B29-5CCC-4D1B-9AFF-BA7177A3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742805288"/>
      </p:ext>
    </p:extLst>
  </p:cSld>
  <p:transition spd="fast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">
            <a:extLst xmlns:a="http://schemas.openxmlformats.org/drawingml/2006/main">
              <a:ext uri="{FF2B5EF4-FFF2-40B4-BE49-F238E27FC236}">
                <a16:creationId xmlns:a16="http://schemas.microsoft.com/office/drawing/2014/main" id="{31920A05-93C7-4E5D-9A5F-56F00D7C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ECONOMICS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056216-6F53-4458-B367-02CECC85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True TCO Extends Beyond the Server Invoice or Cloud Bill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EBF40-5403-4BCE-8A63-403443E9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03BCE76-48CE-4BA2-8200-AABD01C4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F1DAF3-686F-4933-B660-6E419E93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C5CE7"/>
                </a:solidFill>
              </a:defRPr>
            </a:pPr>
            <a:r>
              <a:rPr sz="2025" b="1">
                <a:solidFill>
                  <a:srgbClr val="6C5CE7"/>
                </a:solidFill>
              </a:rPr>
              <a:t>LOCAL TCO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F675C7-891F-44C2-8B34-51634AF3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B8A6"/>
                </a:solidFill>
              </a:defRPr>
            </a:pPr>
            <a:r>
              <a:rPr sz="2025" b="1">
                <a:solidFill>
                  <a:srgbClr val="16B8A6"/>
                </a:solidFill>
              </a:rPr>
              <a:t>CLOUD TCO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AFA1B-CCFA-44BF-AC05-1C7C6872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B0D31D-AD81-48A0-AB37-4E5D02EC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Hardware + refresh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69512-08EF-47A8-8829-475D4DE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EE0641-ADCF-4627-B080-E5D51550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098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Power + cooling + 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CEB46-F2D8-49DB-8880-CEB12512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7F8"/>
          </a:solidFill>
          <a:ln xmlns:a="http://schemas.openxmlformats.org/drawingml/2006/main" w="11430">
            <a:solidFill>
              <a:srgbClr val="9DC7F8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D47EBB-31F6-4D2D-B890-1666550E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81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Network + licenses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10D45-2B64-4118-9561-2ACE7182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7F8"/>
          </a:solidFill>
          <a:ln xmlns:a="http://schemas.openxmlformats.org/drawingml/2006/main" w="11430">
            <a:solidFill>
              <a:srgbClr val="9DC7F8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48A3DDC-0202-442B-874B-6970EE1C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528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People + 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E5774-E6AB-48BA-BE1F-25545387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7F8"/>
          </a:solidFill>
          <a:ln xmlns:a="http://schemas.openxmlformats.org/drawingml/2006/main" w="11430">
            <a:solidFill>
              <a:srgbClr val="9DC7F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25D506A-41C8-475F-98A0-D636D3B0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Idle capacity + DR 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B96C9-DC2A-4AAC-9E89-60B4781D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B4E67A-7745-46B1-A02A-14C0792F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Compute + 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D0264-E157-4723-A5AD-5BBFBA86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98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41AFD10-2173-4E03-B2FC-E3DCDB96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098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Data transfer + requests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E5CBA-80CA-4297-9C5F-C6ACAD6E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8EF"/>
          </a:solidFill>
          <a:ln xmlns:a="http://schemas.openxmlformats.org/drawingml/2006/main" w="11430">
            <a:solidFill>
              <a:srgbClr val="A8E8E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6AF719A-3C34-4779-9CD1-33D34417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Managed services premium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752BC-C344-4C8B-A428-9D88B59C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528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8EF"/>
          </a:solidFill>
          <a:ln xmlns:a="http://schemas.openxmlformats.org/drawingml/2006/main" w="11430">
            <a:solidFill>
              <a:srgbClr val="A8E8EF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AC73DC6-F5AB-49AD-8F1B-607B2D41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528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Support + observability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12A98-A9CB-4EF4-874A-142BEB55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2437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8EF"/>
          </a:solidFill>
          <a:ln xmlns:a="http://schemas.openxmlformats.org/drawingml/2006/main" w="11430">
            <a:solidFill>
              <a:srgbClr val="A8E8EF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38C7EDA-0932-451B-AE8B-C7BD0D13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24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Engineering + FinOps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624C9E4-6D96-41C6-AAD7-5F6B4976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6987"/>
                </a:solidFill>
              </a:defRPr>
            </a:pPr>
            <a:r>
              <a:rPr sz="1125" b="1">
                <a:solidFill>
                  <a:srgbClr val="716987"/>
                </a:solidFill>
              </a:rPr>
              <a:t>CapEx amortized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E04B4A7-5585-47C0-9DAF-B40E3235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86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6987"/>
                </a:solidFill>
              </a:defRPr>
            </a:pPr>
            <a:r>
              <a:rPr sz="1125" b="1">
                <a:solidFill>
                  <a:srgbClr val="716987"/>
                </a:solidFill>
              </a:rPr>
              <a:t>Consumption × rate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2F872-D76C-411C-997C-3735C09E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28875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48FBAB4-BD3D-4C8F-8321-AEDCE0D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193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3E635"/>
                </a:solidFill>
              </a:defRPr>
            </a:pPr>
            <a:r>
              <a:rPr sz="1350" b="1">
                <a:solidFill>
                  <a:srgbClr val="A3E635"/>
                </a:solidFill>
              </a:rPr>
              <a:t>Break‑even depends on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23D15CB-9C9C-4689-97BA-290253B1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Utilization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Growth volatility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 egress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Staffing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Risk tolerance</a:t>
            </a:r>
          </a:p>
        </p:txBody>
      </p:sp>
      <p:sp>
        <p:nvSpPr>
          <p:cNvPr id="32" name="nav-home">
            <a:extLst xmlns:a="http://schemas.openxmlformats.org/drawingml/2006/main">
              <a:ext uri="{FF2B5EF4-FFF2-40B4-BE49-F238E27FC236}">
                <a16:creationId xmlns:a16="http://schemas.microsoft.com/office/drawing/2014/main" id="{3480587F-8F58-4A43-AA9D-48FC5665C9F7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3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825333A9-1226-4AEB-8F6A-081A7958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4" name="nav-back">
            <a:extLst xmlns:a="http://schemas.openxmlformats.org/drawingml/2006/main">
              <a:ext uri="{FF2B5EF4-FFF2-40B4-BE49-F238E27FC236}">
                <a16:creationId xmlns:a16="http://schemas.microsoft.com/office/drawing/2014/main" id="{D9AD9A63-48AE-439C-B5C8-90765BBF35E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5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FF247AD4-F26D-4404-937F-C4081BB8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6" name="nav-next">
            <a:extLst xmlns:a="http://schemas.openxmlformats.org/drawingml/2006/main">
              <a:ext uri="{FF2B5EF4-FFF2-40B4-BE49-F238E27FC236}">
                <a16:creationId xmlns:a16="http://schemas.microsoft.com/office/drawing/2014/main" id="{98B14100-5CA4-441C-AEA4-2DEC103778F0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7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045F6062-B8F1-4E2F-B738-014821B1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745402966"/>
      </p:ext>
    </p:extLst>
  </p:cSld>
  <p:transition spd="fast">
    <p:fade/>
  </p:transition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">
            <a:extLst xmlns:a="http://schemas.openxmlformats.org/drawingml/2006/main">
              <a:ext uri="{FF2B5EF4-FFF2-40B4-BE49-F238E27FC236}">
                <a16:creationId xmlns:a16="http://schemas.microsoft.com/office/drawing/2014/main" id="{29CE32F5-0412-45DF-BF92-D4EAADDF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E635"/>
                </a:solidFill>
              </a:defRPr>
            </a:pPr>
            <a:r>
              <a:rPr sz="975" b="1">
                <a:solidFill>
                  <a:srgbClr val="A3E635"/>
                </a:solidFill>
              </a:rPr>
              <a:t>DECISION 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660930-87B1-4FA8-ABAF-4224F74D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Test the Decision with Three Scenarios—not a Theoretical Debate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0BC4B-A6D1-4443-B501-48452112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9980BC1-FDE9-4096-B34C-845098B6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B3C9"/>
                </a:solidFill>
              </a:defRPr>
            </a:pPr>
            <a:r>
              <a:rPr sz="900" b="1">
                <a:solidFill>
                  <a:srgbClr val="8FB3C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59223-8EBA-4344-BCD7-84C8134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31536A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76B0BA-43FA-4765-9D2F-1A156DDF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B000"/>
                </a:solidFill>
              </a:defRPr>
            </a:pPr>
            <a:r>
              <a:rPr sz="3150" b="1">
                <a:solidFill>
                  <a:srgbClr val="FFB000"/>
                </a:solidFill>
              </a:rPr>
              <a:t>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5ABE111-3BFF-4808-B3B3-3B5DC48D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Factory with latency-critical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68B75-183A-4A6A-A6EA-62715774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A"/>
          </a:solidFill>
          <a:ln xmlns:a="http://schemas.openxmlformats.org/drawingml/2006/main" w="11430">
            <a:solidFill>
              <a:srgbClr val="31536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FE13AE-CD9E-4DF7-9919-79C9F7F1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B000"/>
                </a:solidFill>
              </a:defRPr>
            </a:pPr>
            <a:r>
              <a:rPr sz="1125" b="1">
                <a:solidFill>
                  <a:srgbClr val="FFB000"/>
                </a:solidFill>
              </a:rPr>
              <a:t>Likely choice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536D905-75A9-47A7-82AD-A9EF406A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7DDE8"/>
                </a:solidFill>
              </a:defRPr>
            </a:pPr>
            <a:r>
              <a:rPr sz="1350" b="1">
                <a:solidFill>
                  <a:srgbClr val="C7DDE8"/>
                </a:solidFill>
              </a:rPr>
              <a:t>Edge / Local + Cloud 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1ABD9-683A-4317-A4EC-04E93934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31536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6BD6BD-613B-4413-B624-9FBE0307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B8A6"/>
                </a:solidFill>
              </a:defRPr>
            </a:pPr>
            <a:r>
              <a:rPr sz="3150" b="1">
                <a:solidFill>
                  <a:srgbClr val="16B8A6"/>
                </a:solidFill>
              </a:rPr>
              <a:t>B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D52ACD-C8A9-4177-8FBF-6AB82151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Fast-growing digital 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100C2-6523-440E-BEBE-60FA909F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718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A"/>
          </a:solidFill>
          <a:ln xmlns:a="http://schemas.openxmlformats.org/drawingml/2006/main" w="11430">
            <a:solidFill>
              <a:srgbClr val="31536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94E76B7-DE5F-4AC3-9759-CB69FCB1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B8A6"/>
                </a:solidFill>
              </a:defRPr>
            </a:pPr>
            <a:r>
              <a:rPr sz="1125" b="1">
                <a:solidFill>
                  <a:srgbClr val="16B8A6"/>
                </a:solidFill>
              </a:rPr>
              <a:t>Likely choice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694C3FC-4758-41A5-96EB-59AC01FD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7DDE8"/>
                </a:solidFill>
              </a:defRPr>
            </a:pPr>
            <a:r>
              <a:rPr sz="1350" b="1">
                <a:solidFill>
                  <a:srgbClr val="C7DDE8"/>
                </a:solidFill>
              </a:rPr>
              <a:t>Cloud-native with governance guardrails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B1F8B-F633-4F1E-9C91-4092E95F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31536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B8561E-558F-4080-8A46-B90F174D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3E635"/>
                </a:solidFill>
              </a:defRPr>
            </a:pPr>
            <a:r>
              <a:rPr sz="3150" b="1">
                <a:solidFill>
                  <a:srgbClr val="A3E635"/>
                </a:solidFill>
              </a:rPr>
              <a:t>C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B1591D6-9A47-42C9-A127-56313A93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Highly sensitive data with volatile demand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00B41-CE5C-440A-AE07-E32F6743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A"/>
          </a:solidFill>
          <a:ln xmlns:a="http://schemas.openxmlformats.org/drawingml/2006/main" w="11430">
            <a:solidFill>
              <a:srgbClr val="31536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2E839AA-452E-408B-8505-E06681DC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3E635"/>
                </a:solidFill>
              </a:defRPr>
            </a:pPr>
            <a:r>
              <a:rPr sz="1125" b="1">
                <a:solidFill>
                  <a:srgbClr val="A3E635"/>
                </a:solidFill>
              </a:rPr>
              <a:t>Likely choice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30DD51E-E377-4A3A-854C-9ABDAADB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7DDE8"/>
                </a:solidFill>
              </a:defRPr>
            </a:pPr>
            <a:r>
              <a:rPr sz="1350" b="1">
                <a:solidFill>
                  <a:srgbClr val="C7DDE8"/>
                </a:solidFill>
              </a:rPr>
              <a:t>Hybrid: local data boundary + cloud bursting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2A71E5E-BE2E-488A-B6B8-3D6F8448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Interaction: let the audience choose first, then reveal the recommendation and challenge its assumptions.</a:t>
            </a:r>
          </a:p>
        </p:txBody>
      </p:sp>
      <p:sp>
        <p:nvSpPr>
          <p:cNvPr id="24" name="nav-home">
            <a:extLst xmlns:a="http://schemas.openxmlformats.org/drawingml/2006/main">
              <a:ext uri="{FF2B5EF4-FFF2-40B4-BE49-F238E27FC236}">
                <a16:creationId xmlns:a16="http://schemas.microsoft.com/office/drawing/2014/main" id="{4D334774-AABE-44E8-BBFD-8F922ED6365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5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B9421CF2-59A7-4312-8B01-961BFBF2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6" name="nav-back">
            <a:extLst xmlns:a="http://schemas.openxmlformats.org/drawingml/2006/main">
              <a:ext uri="{FF2B5EF4-FFF2-40B4-BE49-F238E27FC236}">
                <a16:creationId xmlns:a16="http://schemas.microsoft.com/office/drawing/2014/main" id="{6B0B04E1-5B9F-448E-98F4-FEFADA7A369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7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BBC40683-7834-4F77-97EA-1D34B953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8" name="nav-next">
            <a:extLst xmlns:a="http://schemas.openxmlformats.org/drawingml/2006/main">
              <a:ext uri="{FF2B5EF4-FFF2-40B4-BE49-F238E27FC236}">
                <a16:creationId xmlns:a16="http://schemas.microsoft.com/office/drawing/2014/main" id="{9FF4F4F6-9513-41B1-98BD-D7EAD5E07987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9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B490FBBD-9C7A-40F2-9D85-B444B6FA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85970189"/>
      </p:ext>
    </p:extLst>
  </p:cSld>
  <p:transition spd="fast">
    <p:fade/>
  </p:transition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">
            <a:extLst xmlns:a="http://schemas.openxmlformats.org/drawingml/2006/main">
              <a:ext uri="{FF2B5EF4-FFF2-40B4-BE49-F238E27FC236}">
                <a16:creationId xmlns:a16="http://schemas.microsoft.com/office/drawing/2014/main" id="{E1F15608-1C1D-4454-A6A8-4B4CE306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RECOMMENDATION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A7AE09-B8CD-4844-A089-AAD51654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Six Questions Turn an Opinion into an Architecture 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C50F5-C762-4B1A-A860-6D7ECBCE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3DCC1F7-2A31-45F8-AAF3-D351A1F3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20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8ACBC2-18E8-46AE-AACE-5D05F64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C5CE7"/>
                </a:solidFill>
              </a:defRPr>
            </a:pPr>
            <a:r>
              <a:rPr sz="2100" b="1">
                <a:solidFill>
                  <a:srgbClr val="6C5CE7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C922F2-6D8F-4275-8ACB-945CCE7B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Are local latency or data residency mandatory?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05B1C-D575-470C-8FA3-FDAC53F2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582BE6E-0C76-413F-AE69-496C5002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C5CE7"/>
                </a:solidFill>
              </a:defRPr>
            </a:pPr>
            <a:r>
              <a:rPr sz="2100" b="1">
                <a:solidFill>
                  <a:srgbClr val="6C5CE7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256229-6E61-4446-9B7E-F3B5B95E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Is demand stable or volatile?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1DD57-2963-4C60-8065-895D8F99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605D3B4-92A0-4AE6-AF7D-036D3CC7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B8A6"/>
                </a:solidFill>
              </a:defRPr>
            </a:pPr>
            <a:r>
              <a:rPr sz="2100" b="1">
                <a:solidFill>
                  <a:srgbClr val="16B8A6"/>
                </a:solidFill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80F84B-8AFC-4B40-8271-8FCF2396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98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What RTO and RPO are required?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1DC68-6EE3-48D2-B03D-2E70FB2C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3298899-4945-43C8-8F4F-FAC222CE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B8A6"/>
                </a:solidFill>
              </a:defRPr>
            </a:pPr>
            <a:r>
              <a:rPr sz="2100" b="1">
                <a:solidFill>
                  <a:srgbClr val="16B8A6"/>
                </a:solidFill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B77144-32B5-43D3-ACE1-B97E18C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98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What level of control and compliance is required?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3305F-3173-4219-87C3-C5A43D2D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5DB1CC2-2E92-4C19-A479-95200212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E635"/>
                </a:solidFill>
              </a:defRPr>
            </a:pPr>
            <a:r>
              <a:rPr sz="2100" b="1">
                <a:solidFill>
                  <a:srgbClr val="A3E635"/>
                </a:solidFill>
              </a:rPr>
              <a:t>05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29DCD26-AD0B-43AA-A058-CD0DFB5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What is the three-to-five-year TCO?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B509B-EC20-414B-8CED-6D1BE2C1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95F7FB-8DD1-488C-A806-EED9596E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E635"/>
                </a:solidFill>
              </a:defRPr>
            </a:pPr>
            <a:r>
              <a:rPr sz="2100" b="1">
                <a:solidFill>
                  <a:srgbClr val="A3E635"/>
                </a:solidFill>
              </a:rPr>
              <a:t>06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047CAE7-459F-463D-AF42-C7F72B7D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Can the team operate the platform securely?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7FA34-7C93-4EC2-BA0C-80F5FFF3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85556-2703-4D5B-BEB3-4412E8A4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306E859-564B-4D5F-A83D-B7A6025F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619750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Output: Local / Cloud / Hybrid + assumptions + exit plan + review date</a:t>
            </a:r>
          </a:p>
        </p:txBody>
      </p:sp>
      <p:sp>
        <p:nvSpPr>
          <p:cNvPr id="25" name="nav-home">
            <a:extLst xmlns:a="http://schemas.openxmlformats.org/drawingml/2006/main">
              <a:ext uri="{FF2B5EF4-FFF2-40B4-BE49-F238E27FC236}">
                <a16:creationId xmlns:a16="http://schemas.microsoft.com/office/drawing/2014/main" id="{0519CC00-FC63-4C23-A732-BAB9DFD0208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6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5357EE4A-8044-48C8-86F9-813F426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7" name="nav-back">
            <a:extLst xmlns:a="http://schemas.openxmlformats.org/drawingml/2006/main">
              <a:ext uri="{FF2B5EF4-FFF2-40B4-BE49-F238E27FC236}">
                <a16:creationId xmlns:a16="http://schemas.microsoft.com/office/drawing/2014/main" id="{65A4A253-D797-43B1-B00B-2F65EAB37A5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8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C9F60E51-0834-4D81-A8A6-0A558ABA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9" name="nav-next">
            <a:extLst xmlns:a="http://schemas.openxmlformats.org/drawingml/2006/main">
              <a:ext uri="{FF2B5EF4-FFF2-40B4-BE49-F238E27FC236}">
                <a16:creationId xmlns:a16="http://schemas.microsoft.com/office/drawing/2014/main" id="{A770415E-B89F-4A75-8F13-1B7C7401B840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0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0F790D21-D09F-4B29-9553-BA76CFAB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39299305"/>
      </p:ext>
    </p:extLst>
  </p:cSld>
  <p:transition spd="fast">
    <p:fade/>
  </p:transition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ection">
            <a:extLst xmlns:a="http://schemas.openxmlformats.org/drawingml/2006/main">
              <a:ext uri="{FF2B5EF4-FFF2-40B4-BE49-F238E27FC236}">
                <a16:creationId xmlns:a16="http://schemas.microsoft.com/office/drawing/2014/main" id="{49CCCD3B-20EA-4094-8F4D-BEAB491F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SOURCES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7AA0C2-48DE-4558-9D75-0FC70160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Source Library: Academic, Standards-Based, and Operational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C5561-6E6E-469E-9FCA-E050C6FE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D26759B-6A07-4ECA-9672-CDD349E9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65E8D-EA2D-435B-82DF-FEF8856C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4C5C6B-060D-4BD9-86E6-D29E5A07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906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NIST SP 800‑145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5DDA60-8127-4B1C-83DE-BB6FA17E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Cloud definition and models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FA54CF-30CC-4CDA-B77C-828E92A7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AEE9A-F8FF-4C90-9E80-A4B9707C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A8F84F7-75B7-46B4-9CBA-E36623AC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906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Lamport (1978)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5E5F3B8-0BC0-4CB4-B493-C433677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Ordering and logical clocks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E470A1-62D8-4E14-A235-603847FE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76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34A3F-5942-4511-8060-4199163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500D819-D087-4042-B015-AE1EF7FF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906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Brewer / CAP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E335735-D612-4DE8-899A-1BD9EA23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050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Consistency and availability during partitions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BB7F452-541D-4B35-870C-D3C16C9B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76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6B784-2BE7-477B-877C-DBD1EDC9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413BDC2-8AE0-4F52-B012-39C6075D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Ongaro &amp; Ousterhout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8D0AD03-DAC6-44A9-ABB2-0E8495ED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  <a:hlinkClick xmlns:r="http://schemas.openxmlformats.org/officeDocument/2006/relationships" r:id="R6d0abcac0c5a4f71"/>
              </a:rPr>
              <a:t>Raft consensus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C5E938E-CBB9-46F1-BC85-76CCCA57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93E34-F5CE-46E7-B576-5571537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82CA5BA-6EF7-4E08-A9FD-F5A7C97F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18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Google Research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2BF1F17-181C-4C73-A546-B7EBD3A4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861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  <a:hlinkClick xmlns:r="http://schemas.openxmlformats.org/officeDocument/2006/relationships" r:id="R9e756e340a734601"/>
              </a:rPr>
              <a:t>GFS • MapReduce • Bigtable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8897125-ABA9-4F5B-B638-B7E7C483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76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BBC21-C4AC-4D2A-AF06-3907AA82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52324F6-E6C4-4E14-A788-CF9744FD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NIST SP 800‑204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7B6E467-7EC8-4879-8034-0EA68DC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Microservices security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1B8C0EA-B2F3-48C2-B413-F56AAB41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A85B5-3084-4806-8220-63FDB462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E3A2374-D0C5-4357-AA2B-E3AA0636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Azure Architecture Center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49D30CD-B0A7-4392-AFFD-F0629617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Patterns and cost decisions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9434516-B77A-4039-A0A1-F795E072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242C65-2437-4DB2-A77B-215C686D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100A648-12C8-42F2-B568-1380DA29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529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AWS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774BDDF-1F51-40A5-92E8-FB814FF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  <a:hlinkClick xmlns:r="http://schemas.openxmlformats.org/officeDocument/2006/relationships" r:id="R7c6e7df7bfad44ff"/>
              </a:rPr>
              <a:t>Shared responsibility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3478088-EAE2-4CF5-B65E-0E2C02E4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387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999DE6-A292-4121-9C50-345698DE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F177EB12-875E-492D-9D0C-61C0839F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529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Kubernetes Docs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C0189AF4-EC20-48E7-A264-7C55489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  <a:hlinkClick xmlns:r="http://schemas.openxmlformats.org/officeDocument/2006/relationships" r:id="Ree0343a089164898"/>
              </a:rPr>
              <a:t>Cluster architecture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AD2C053-254D-4225-A35B-35429464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387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64F9B92-C1AB-4C18-948D-31B40081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055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Every non-trivial claim is also documented in each slide's speaker notes.</a:t>
            </a:r>
          </a:p>
        </p:txBody>
      </p:sp>
      <p:sp>
        <p:nvSpPr>
          <p:cNvPr id="42" name="nav-home">
            <a:extLst xmlns:a="http://schemas.openxmlformats.org/drawingml/2006/main">
              <a:ext uri="{FF2B5EF4-FFF2-40B4-BE49-F238E27FC236}">
                <a16:creationId xmlns:a16="http://schemas.microsoft.com/office/drawing/2014/main" id="{00EF1CB6-4357-4A62-A48E-926BBCD7A15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3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695E8B18-764D-41B4-B842-203AC2E7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44" name="nav-back">
            <a:extLst xmlns:a="http://schemas.openxmlformats.org/drawingml/2006/main">
              <a:ext uri="{FF2B5EF4-FFF2-40B4-BE49-F238E27FC236}">
                <a16:creationId xmlns:a16="http://schemas.microsoft.com/office/drawing/2014/main" id="{26EC99C8-192A-40C4-853D-58036F2F38E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45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7532D20B-0ACF-4D03-9F35-475D60DD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46" name="nav-next">
            <a:extLst xmlns:a="http://schemas.openxmlformats.org/drawingml/2006/main">
              <a:ext uri="{FF2B5EF4-FFF2-40B4-BE49-F238E27FC236}">
                <a16:creationId xmlns:a16="http://schemas.microsoft.com/office/drawing/2014/main" id="{640ACAFE-9926-4E87-B881-1F90BAE10420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47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A668B5E8-FC6B-4A02-8079-A496E3EE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690273251"/>
      </p:ext>
    </p:extLst>
  </p:cSld>
  <p:transition spd="fast">
    <p:fade/>
  </p:transition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97866D1-C7EA-47D3-85BD-12D269F4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E635"/>
                </a:solidFill>
              </a:defRPr>
            </a:pPr>
            <a:r>
              <a:rPr sz="1200" b="1">
                <a:solidFill>
                  <a:srgbClr val="A3E635"/>
                </a:solidFill>
              </a:rPr>
              <a:t>CONCLUSION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350856E-B310-47F8-B8C7-D24D3716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Distribute a system when the value of scale, elasticity, and reliability exceeds the cost of coordination.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3206E-DFE6-4137-85B9-CB20A370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762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BD56F6-1B3B-4485-B290-A044FD3F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B8A6"/>
                </a:solidFill>
              </a:defRPr>
            </a:pPr>
            <a:r>
              <a:rPr sz="2250" b="1">
                <a:solidFill>
                  <a:srgbClr val="16B8A6"/>
                </a:solidFill>
              </a:rPr>
              <a:t>Design for failure from day one.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50CFE5-2E0B-4BAD-A65A-86766FEA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D6E7"/>
                </a:solidFill>
              </a:defRPr>
            </a:pPr>
            <a:r>
              <a:rPr sz="1650" b="1">
                <a:solidFill>
                  <a:srgbClr val="B8D6E7"/>
                </a:solidFill>
              </a:rPr>
              <a:t>A mature decision is neither cloud-first nor local-first—it is constraint-first.</a:t>
            </a:r>
          </a:p>
        </p:txBody>
      </p:sp>
      <p:sp>
        <p:nvSpPr>
          <p:cNvPr id="6" name="nav-home">
            <a:extLst xmlns:a="http://schemas.openxmlformats.org/drawingml/2006/main">
              <a:ext uri="{FF2B5EF4-FFF2-40B4-BE49-F238E27FC236}">
                <a16:creationId xmlns:a16="http://schemas.microsoft.com/office/drawing/2014/main" id="{6C14DCB7-A994-4747-8221-8397312D63F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7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084FDC3A-0594-4AAB-BE1E-A746111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8" name="nav-back">
            <a:extLst xmlns:a="http://schemas.openxmlformats.org/drawingml/2006/main">
              <a:ext uri="{FF2B5EF4-FFF2-40B4-BE49-F238E27FC236}">
                <a16:creationId xmlns:a16="http://schemas.microsoft.com/office/drawing/2014/main" id="{75EA00B0-77E6-4FEB-92CA-4E497699BBB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9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71EB48D7-F711-4D41-93BB-1AB249F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</p:spTree>
    <p:extLst>
      <p:ext uri="{BB962C8B-B14F-4D97-AF65-F5344CB8AC3E}">
        <p14:creationId xmlns:p14="http://schemas.microsoft.com/office/powerpoint/2010/main" val="1162178544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2026-08-09T08:23:17.2290000Z</dcterms:created>
  <dcterms:modified xsi:type="dcterms:W3CDTF">2026-08-09T08:23:17.2290000Z</dcterms:modified>
</coreProperties>
</file>