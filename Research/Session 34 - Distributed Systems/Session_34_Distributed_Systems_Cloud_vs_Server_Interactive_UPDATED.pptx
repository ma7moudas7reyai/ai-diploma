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7e30b4369a4389" /><Relationship Type="http://schemas.openxmlformats.org/officeDocument/2006/relationships/extended-properties" Target="/docProps/app.xml" Id="R150cc2eadacb40a2" /><Relationship Type="http://schemas.openxmlformats.org/officeDocument/2006/relationships/officeDocument" Target="/ppt/presentation.xml" Id="Rcd05008e1a374b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9f46caf9146fa"/>
  </p:sldMasterIdLst>
  <p:notesMasterIdLst>
    <p:notesMasterId xmlns:r="http://schemas.openxmlformats.org/officeDocument/2006/relationships" r:id="R0371526180c04eaf"/>
  </p:notesMasterIdLst>
  <p:sldIdLst>
    <p:sldId xmlns:r="http://schemas.openxmlformats.org/officeDocument/2006/relationships" id="256" r:id="R6aa78d1282cb4497"/>
    <p:sldId xmlns:r="http://schemas.openxmlformats.org/officeDocument/2006/relationships" id="257" r:id="R76972592cf4d4ed3"/>
    <p:sldId xmlns:r="http://schemas.openxmlformats.org/officeDocument/2006/relationships" id="258" r:id="R5c1638e19b83428a"/>
    <p:sldId xmlns:r="http://schemas.openxmlformats.org/officeDocument/2006/relationships" id="259" r:id="R55c7787a04f8402d"/>
    <p:sldId xmlns:r="http://schemas.openxmlformats.org/officeDocument/2006/relationships" id="260" r:id="R7d990212f0814efa"/>
    <p:sldId xmlns:r="http://schemas.openxmlformats.org/officeDocument/2006/relationships" id="261" r:id="R482be43965174337"/>
    <p:sldId xmlns:r="http://schemas.openxmlformats.org/officeDocument/2006/relationships" id="262" r:id="R3c5f223266d84124"/>
    <p:sldId xmlns:r="http://schemas.openxmlformats.org/officeDocument/2006/relationships" id="263" r:id="R1345b6d2d1ce4131"/>
    <p:sldId xmlns:r="http://schemas.openxmlformats.org/officeDocument/2006/relationships" id="264" r:id="R07d2305281cb483a"/>
    <p:sldId xmlns:r="http://schemas.openxmlformats.org/officeDocument/2006/relationships" id="265" r:id="R708cdeafb5a94eff"/>
    <p:sldId xmlns:r="http://schemas.openxmlformats.org/officeDocument/2006/relationships" id="266" r:id="Rab1784efb5a54890"/>
    <p:sldId xmlns:r="http://schemas.openxmlformats.org/officeDocument/2006/relationships" id="267" r:id="R59a52fb0d3fd4b5d"/>
    <p:sldId xmlns:r="http://schemas.openxmlformats.org/officeDocument/2006/relationships" id="268" r:id="R1f7dbe7d7a144625"/>
    <p:sldId xmlns:r="http://schemas.openxmlformats.org/officeDocument/2006/relationships" id="269" r:id="R1c2df6e36acd450c"/>
    <p:sldId xmlns:r="http://schemas.openxmlformats.org/officeDocument/2006/relationships" id="270" r:id="R6396f395731c4fcc"/>
    <p:sldId xmlns:r="http://schemas.openxmlformats.org/officeDocument/2006/relationships" id="271" r:id="R80ce8f86fdef4c8c"/>
    <p:sldId xmlns:r="http://schemas.openxmlformats.org/officeDocument/2006/relationships" id="272" r:id="R4e7a8ac5b7bd4751"/>
    <p:sldId xmlns:r="http://schemas.openxmlformats.org/officeDocument/2006/relationships" id="273" r:id="Rddd5837d252140e9"/>
    <p:sldId xmlns:r="http://schemas.openxmlformats.org/officeDocument/2006/relationships" id="274" r:id="Rf96ae09274ca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a6e8604b974c75" /><Relationship Type="http://schemas.openxmlformats.org/officeDocument/2006/relationships/slideMaster" Target="/ppt/slideMasters/slideMaster1.xml" Id="R8a19f46caf9146fa" /><Relationship Type="http://schemas.openxmlformats.org/officeDocument/2006/relationships/notesMaster" Target="/ppt/notesMasters/notesMaster1.xml" Id="R0371526180c04eaf" /><Relationship Type="http://schemas.openxmlformats.org/officeDocument/2006/relationships/presProps" Target="/ppt/presProps.xml" Id="Ra65f6595571e47cd" /><Relationship Type="http://schemas.openxmlformats.org/officeDocument/2006/relationships/tableStyles" Target="/ppt/tableStyles.xml" Id="R242e23d76e214c4c" /><Relationship Type="http://schemas.openxmlformats.org/officeDocument/2006/relationships/slide" Target="/ppt/slides/slide1.xml" Id="R6aa78d1282cb4497" /><Relationship Type="http://schemas.openxmlformats.org/officeDocument/2006/relationships/slide" Target="/ppt/slides/slide2.xml" Id="R76972592cf4d4ed3" /><Relationship Type="http://schemas.openxmlformats.org/officeDocument/2006/relationships/slide" Target="/ppt/slides/slide3.xml" Id="R5c1638e19b83428a" /><Relationship Type="http://schemas.openxmlformats.org/officeDocument/2006/relationships/slide" Target="/ppt/slides/slide4.xml" Id="R55c7787a04f8402d" /><Relationship Type="http://schemas.openxmlformats.org/officeDocument/2006/relationships/slide" Target="/ppt/slides/slide5.xml" Id="R7d990212f0814efa" /><Relationship Type="http://schemas.openxmlformats.org/officeDocument/2006/relationships/slide" Target="/ppt/slides/slide6.xml" Id="R482be43965174337" /><Relationship Type="http://schemas.openxmlformats.org/officeDocument/2006/relationships/slide" Target="/ppt/slides/slide7.xml" Id="R3c5f223266d84124" /><Relationship Type="http://schemas.openxmlformats.org/officeDocument/2006/relationships/slide" Target="/ppt/slides/slide8.xml" Id="R1345b6d2d1ce4131" /><Relationship Type="http://schemas.openxmlformats.org/officeDocument/2006/relationships/slide" Target="/ppt/slides/slide9.xml" Id="R07d2305281cb483a" /><Relationship Type="http://schemas.openxmlformats.org/officeDocument/2006/relationships/slide" Target="/ppt/slides/slide10.xml" Id="R708cdeafb5a94eff" /><Relationship Type="http://schemas.openxmlformats.org/officeDocument/2006/relationships/slide" Target="/ppt/slides/slide11.xml" Id="Rab1784efb5a54890" /><Relationship Type="http://schemas.openxmlformats.org/officeDocument/2006/relationships/slide" Target="/ppt/slides/slide12.xml" Id="R59a52fb0d3fd4b5d" /><Relationship Type="http://schemas.openxmlformats.org/officeDocument/2006/relationships/slide" Target="/ppt/slides/slide13.xml" Id="R1f7dbe7d7a144625" /><Relationship Type="http://schemas.openxmlformats.org/officeDocument/2006/relationships/slide" Target="/ppt/slides/slide14.xml" Id="R1c2df6e36acd450c" /><Relationship Type="http://schemas.openxmlformats.org/officeDocument/2006/relationships/slide" Target="/ppt/slides/slide15.xml" Id="R6396f395731c4fcc" /><Relationship Type="http://schemas.openxmlformats.org/officeDocument/2006/relationships/slide" Target="/ppt/slides/slide16.xml" Id="R80ce8f86fdef4c8c" /><Relationship Type="http://schemas.openxmlformats.org/officeDocument/2006/relationships/slide" Target="/ppt/slides/slide17.xml" Id="R4e7a8ac5b7bd4751" /><Relationship Type="http://schemas.openxmlformats.org/officeDocument/2006/relationships/slide" Target="/ppt/slides/slide18.xml" Id="Rddd5837d252140e9" /><Relationship Type="http://schemas.openxmlformats.org/officeDocument/2006/relationships/slide" Target="/ppt/slides/slide19.xml" Id="Rf96ae09274ca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74300b2b094b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2e2ea127343a0" /><Relationship Type="http://schemas.openxmlformats.org/officeDocument/2006/relationships/notesMaster" Target="/ppt/notesMasters/notesMaster1.xml" Id="Rfe702851b2e64b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f21f2a0294669" /><Relationship Type="http://schemas.openxmlformats.org/officeDocument/2006/relationships/notesMaster" Target="/ppt/notesMasters/notesMaster1.xml" Id="Ra03e0e3a865844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7df5b549a4158" /><Relationship Type="http://schemas.openxmlformats.org/officeDocument/2006/relationships/notesMaster" Target="/ppt/notesMasters/notesMaster1.xml" Id="R3fcc1e45224b40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a6f24416b64413" /><Relationship Type="http://schemas.openxmlformats.org/officeDocument/2006/relationships/notesMaster" Target="/ppt/notesMasters/notesMaster1.xml" Id="R41f788b1672746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c8ea81ddd64ab3" /><Relationship Type="http://schemas.openxmlformats.org/officeDocument/2006/relationships/notesMaster" Target="/ppt/notesMasters/notesMaster1.xml" Id="Rdc3a548d7f99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211f32f9b4e1a" /><Relationship Type="http://schemas.openxmlformats.org/officeDocument/2006/relationships/notesMaster" Target="/ppt/notesMasters/notesMaster1.xml" Id="R8b9f8113c29040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110a2e453241df" /><Relationship Type="http://schemas.openxmlformats.org/officeDocument/2006/relationships/notesMaster" Target="/ppt/notesMasters/notesMaster1.xml" Id="Rfa8f4b606ffb47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8ac253d1734013" /><Relationship Type="http://schemas.openxmlformats.org/officeDocument/2006/relationships/notesMaster" Target="/ppt/notesMasters/notesMaster1.xml" Id="Rce768199e85a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56c101788f4e9b" /><Relationship Type="http://schemas.openxmlformats.org/officeDocument/2006/relationships/notesMaster" Target="/ppt/notesMasters/notesMaster1.xml" Id="R0a5f27996c7b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fd707d1fd24110" /><Relationship Type="http://schemas.openxmlformats.org/officeDocument/2006/relationships/notesMaster" Target="/ppt/notesMasters/notesMaster1.xml" Id="Rbb6ccb439f7543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612d0049764f77" /><Relationship Type="http://schemas.openxmlformats.org/officeDocument/2006/relationships/notesMaster" Target="/ppt/notesMasters/notesMaster1.xml" Id="Ra524229502ba49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85d0fd4273410a" /><Relationship Type="http://schemas.openxmlformats.org/officeDocument/2006/relationships/notesMaster" Target="/ppt/notesMasters/notesMaster1.xml" Id="R670498eaea4d41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2ba464f3db4bce" /><Relationship Type="http://schemas.openxmlformats.org/officeDocument/2006/relationships/notesMaster" Target="/ppt/notesMasters/notesMaster1.xml" Id="Re3cee1764f4741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42d13a54a84fe5" /><Relationship Type="http://schemas.openxmlformats.org/officeDocument/2006/relationships/notesMaster" Target="/ppt/notesMasters/notesMaster1.xml" Id="R7df85541cad548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77734f41f144d2" /><Relationship Type="http://schemas.openxmlformats.org/officeDocument/2006/relationships/notesMaster" Target="/ppt/notesMasters/notesMaster1.xml" Id="Rcf37d609342c4a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21f6175b8940f8" /><Relationship Type="http://schemas.openxmlformats.org/officeDocument/2006/relationships/notesMaster" Target="/ppt/notesMasters/notesMaster1.xml" Id="R19d48e86ea0e4f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c62f7487044fe3" /><Relationship Type="http://schemas.openxmlformats.org/officeDocument/2006/relationships/notesMaster" Target="/ppt/notesMasters/notesMaster1.xml" Id="Rf4f6ef421c2e4b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59a0dd50e7409a" /><Relationship Type="http://schemas.openxmlformats.org/officeDocument/2006/relationships/notesMaster" Target="/ppt/notesMasters/notesMaster1.xml" Id="R80536545308744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13b2b3e99b4d78" /><Relationship Type="http://schemas.openxmlformats.org/officeDocument/2006/relationships/notesMaster" Target="/ppt/notesMasters/notesMaster1.xml" Id="Rfc0a8c97f10e46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a question: what happens when one machine is no longer sufficient—or reliable?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https://raft.github.io/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is designed as a learning path that culminates in a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  <a:p xmlns:a="http://schemas.openxmlformats.org/drawingml/2006/main">
            <a:r>
              <a:t>https://csrc.nist.gov/pubs/sp/800/145/final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autonomy, messaging, and partial failure define the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https://doi.org/10.1145/359545.359563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distributed-computing fallacies summarized by Azure Architecture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request flow with the control systems that maintain the platform's desired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https://kubernetes.io/docs/concepts/index.html</a:t>
            </a:r>
          </a:p>
          <a:p xmlns:a="http://schemas.openxmlformats.org/drawingml/2006/main">
            <a:r>
              <a:t>https://csrc.nist.gov/pubs/sp/800/204/final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retry without idempotency can execute the same business operation twice.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GFS and Bigtable are classic examples of partitioning and replication on commodity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https://research.google/pubs/the-google-file-system/</a:t>
            </a:r>
          </a:p>
          <a:p xmlns:a="http://schemas.openxmlformats.org/drawingml/2006/main">
            <a:r>
              <a:t>https://research.google/pubs/bigtable-a-distributed-storage-system-for-structured-data/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Partition tolerance is not optional across a real network; the design decision is how the system behaves when a partition occurs.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https://doi.org/10.1145/564585.564601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Raft decomposes consensus into leader election, log replication, and safety, and progresses when a majority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https://raft.github.io/raft.pdf</a:t>
            </a:r>
          </a:p>
          <a:p xmlns:a="http://schemas.openxmlformats.org/drawingml/2006/main">
            <a:r>
              <a:t>https://raft.github.io/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pattern to a specific failure mode and explain its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Lamport's 1978 paper introduces the happened-before relation and logical clocks.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https://doi.org/10.1145/359545.359563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default to microservices; use them when domain boundaries and operational independence justify their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https://csrc.nist.gov/pubs/sp/800/204/final</a:t>
            </a:r>
          </a:p>
          <a:p xmlns:a="http://schemas.openxmlformats.org/drawingml/2006/main">
            <a:r>
              <a:t>https://learn.microsoft.com/en-us/azure/architecture/patterns/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platform as an abstraction layer with limits and operational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https://kubernetes.io/docs/concepts/index.html</a:t>
            </a:r>
          </a:p>
          <a:p xmlns:a="http://schemas.openxmlformats.org/drawingml/2006/main">
            <a:r>
              <a:t>https://research.google/pubs/the-google-file-system/</a:t>
            </a:r>
          </a:p>
          <a:p xmlns:a="http://schemas.openxmlformats.org/drawingml/2006/main">
            <a:r>
              <a:t>https://research.google/pubs/mapreduce-simplified-data-processing-on-large-clusters/</a:t>
            </a:r>
          </a:p>
          <a:p xmlns:a="http://schemas.openxmlformats.org/drawingml/2006/main">
            <a:r>
              <a:t>https://research.google/pubs/bigtable-a-distributed-storage-system-for-structured-data/</a:t>
            </a:r>
          </a:p>
          <a:p xmlns:a="http://schemas.openxmlformats.org/drawingml/2006/main">
            <a:r>
              <a:t>https://raft.github.io/raft.pdf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student's Operating Systems curriculum to the distributed-systems concepts used throughout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D:/University/3- Semester 1/Operating Systems/Lectures/Operating Systems - Lecture 10.pdf (pp. 4-5)</a:t>
            </a:r>
          </a:p>
          <a:p xmlns:a="http://schemas.openxmlformats.org/drawingml/2006/main">
            <a:r>
              <a:t>D:/University/2- Semester 1/Computer Network Technology/Lectures/Computer Network Technology - Chapter 0 - Introduction.pdf (pp. 7-9)</a:t>
            </a:r>
          </a:p>
          <a:p xmlns:a="http://schemas.openxmlformats.org/drawingml/2006/main">
            <a:r>
              <a:t>D:/University/2- Semester 1/Computer Network Technology/Lectures/Computer Network Technology - Chapter 1.pdf (pp. 6, 10-12)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recommends service-mesh controls and centralized monitoring; in cloud environments, customers remain responsible for data, identity, and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https://csrc.nist.gov/pubs/sp/800/204/final</a:t>
            </a:r>
          </a:p>
          <a:p xmlns:a="http://schemas.openxmlformats.org/drawingml/2006/main">
            <a:r>
              <a:t>https://aws.amazon.com/compliance/shared-responsibility-model/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distinguishes deployment models; Azure recommends aligning architecture with cost, business model, and nonfunctional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qualitative comparison; actual cost and performance require workload measurements and current quotes.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https://aws.amazon.com/compliance/shared-responsibility-model/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are clickable in presentation mode and repeated in the speaker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https://csrc.nist.gov/pubs/sp/800/145/final</a:t>
            </a:r>
          </a:p>
          <a:p xmlns:a="http://schemas.openxmlformats.org/drawingml/2006/main">
            <a:r>
              <a:t>https://raft.github.io/raft.pdf</a:t>
            </a:r>
          </a:p>
          <a:p xmlns:a="http://schemas.openxmlformats.org/drawingml/2006/main">
            <a:r>
              <a:t>https://raft.github.io/</a:t>
            </a:r>
          </a:p>
          <a:p xmlns:a="http://schemas.openxmlformats.org/drawingml/2006/main">
            <a:r>
              <a:t>https://research.google/pubs/mapreduce-simplified-data-processing-on-large-clusters/</a:t>
            </a:r>
          </a:p>
          <a:p xmlns:a="http://schemas.openxmlformats.org/drawingml/2006/main">
            <a:r>
              <a:t>https://research.google/pubs/the-google-file-system/</a:t>
            </a:r>
          </a:p>
          <a:p xmlns:a="http://schemas.openxmlformats.org/drawingml/2006/main">
            <a:r>
              <a:t>https://research.google/pubs/bigtable-a-distributed-storage-system-for-structured-data/</a:t>
            </a:r>
          </a:p>
          <a:p xmlns:a="http://schemas.openxmlformats.org/drawingml/2006/main">
            <a:r>
              <a:t>https://csrc.nist.gov/pubs/sp/800/204/final</a:t>
            </a:r>
          </a:p>
          <a:p xmlns:a="http://schemas.openxmlformats.org/drawingml/2006/main">
            <a:r>
              <a:t>https://aws.amazon.com/compliance/shared-responsibility-model/</a:t>
            </a:r>
          </a:p>
          <a:p xmlns:a="http://schemas.openxmlformats.org/drawingml/2006/main">
            <a:r>
              <a:t>https://learn.microsoft.com/en-us/azure/architecture/patterns/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  <a:p xmlns:a="http://schemas.openxmlformats.org/drawingml/2006/main">
            <a:r>
              <a:t>https://kubernetes.io/docs/concepts/index.html</a:t>
            </a:r>
          </a:p>
          <a:p xmlns:a="http://schemas.openxmlformats.org/drawingml/2006/main">
            <a:r>
              <a:t>https://doi.org/10.1145/564585.564601</a:t>
            </a:r>
          </a:p>
          <a:p xmlns:a="http://schemas.openxmlformats.org/drawingml/2006/main">
            <a:r>
              <a:t>https://doi.org/10.1145/359545.359563</a:t>
            </a:r>
          </a:p>
          <a:p xmlns:a="http://schemas.openxmlformats.org/drawingml/2006/main">
            <a:r>
              <a:t>https://aws.amazon.com/builders-library/challenges-with-distributed-systems/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reconnecting technical complexity to hosting: constraints first, then architecture style, then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https://learn.microsoft.com/en-us/azure/architecture/patterns/</a:t>
            </a:r>
          </a:p>
          <a:p xmlns:a="http://schemas.openxmlformats.org/drawingml/2006/main">
            <a:r>
              <a:t>https://learn.microsoft.com/en-us/azure/architecture/guide/design-principles/build-for-business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9423a38f8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987a4372ec42d0" /><Relationship Type="http://schemas.openxmlformats.org/officeDocument/2006/relationships/slideLayout" Target="/ppt/slideLayouts/slideLayout1.xml" Id="R0bae2f8c0567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e2f8c0567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c87e51437944180" /><Relationship Type="http://schemas.openxmlformats.org/officeDocument/2006/relationships/notesSlide" Target="/ppt/notesSlides/notesSlide1.xml" Id="Rf90259108cf34b26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91d12fe45114e74" /><Relationship Type="http://schemas.openxmlformats.org/officeDocument/2006/relationships/notesSlide" Target="/ppt/notesSlides/notesSlide2.xml" Id="R67d093bb36c24156" /><Relationship Id="rId1" Type="http://schemas.openxmlformats.org/officeDocument/2006/relationships/slide" Target="slide3.xml" /><Relationship Id="rId2" Type="http://schemas.openxmlformats.org/officeDocument/2006/relationships/slide" Target="slide6.xml" /><Relationship Id="rId3" Type="http://schemas.openxmlformats.org/officeDocument/2006/relationships/slide" Target="slide10.xml" /><Relationship Id="rId4" Type="http://schemas.openxmlformats.org/officeDocument/2006/relationships/slide" Target="slide14.xml" /><Relationship Id="rId5" Type="http://schemas.openxmlformats.org/officeDocument/2006/relationships/slide" Target="slide16.xml" /><Relationship Id="rId6" Type="http://schemas.openxmlformats.org/officeDocument/2006/relationships/slide" Target="slide18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84f4fe5af68406c" /><Relationship Type="http://schemas.openxmlformats.org/officeDocument/2006/relationships/notesSlide" Target="/ppt/notesSlides/notesSlide3.xml" Id="R405653789bdb4560" /><Relationship Id="rId1" Type="http://schemas.openxmlformats.org/officeDocument/2006/relationships/slide" Target="slide2.xml" /><Relationship Id="rId2" Type="http://schemas.openxmlformats.org/officeDocument/2006/relationships/slide" Target="slide2.xml" /><Relationship Id="rId3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f54aff0b3c84998" /><Relationship Type="http://schemas.openxmlformats.org/officeDocument/2006/relationships/notesSlide" Target="/ppt/notesSlides/notesSlide4.xml" Id="Re676e8e3504f4861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e260b757baa4019" /><Relationship Type="http://schemas.openxmlformats.org/officeDocument/2006/relationships/notesSlide" Target="/ppt/notesSlides/notesSlide5.xml" Id="R162771e33302453e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c46ace0f0824887" /><Relationship Type="http://schemas.openxmlformats.org/officeDocument/2006/relationships/notesSlide" Target="/ppt/notesSlides/notesSlide6.xml" Id="R7f5b7ae9dacf4234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ca58078316457d" /><Relationship Type="http://schemas.openxmlformats.org/officeDocument/2006/relationships/notesSlide" Target="/ppt/notesSlides/notesSlide7.xml" Id="R08e435a007f949b4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a909dd2c89f4a4b" /><Relationship Type="http://schemas.openxmlformats.org/officeDocument/2006/relationships/notesSlide" Target="/ppt/notesSlides/notesSlide8.xml" Id="Rf9bea0e845d046ee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53d9b79191b41ad" /><Relationship Type="http://schemas.openxmlformats.org/officeDocument/2006/relationships/notesSlide" Target="/ppt/notesSlides/notesSlide9.xml" Id="R3744dc5ae9cd456d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944da7e2dff4507" /><Relationship Type="http://schemas.openxmlformats.org/officeDocument/2006/relationships/notesSlide" Target="/ppt/notesSlides/notesSlide10.xml" Id="R1dc83c4ca52943c3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0d7dd3ccced4887" /><Relationship Type="http://schemas.openxmlformats.org/officeDocument/2006/relationships/notesSlide" Target="/ppt/notesSlides/notesSlide11.xml" Id="R3a8cc7e3946e45d3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3580a1bdd324dd4" /><Relationship Type="http://schemas.openxmlformats.org/officeDocument/2006/relationships/notesSlide" Target="/ppt/notesSlides/notesSlide12.xml" Id="Rd06a50bb85fa429b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3413e310a704678" /><Relationship Type="http://schemas.openxmlformats.org/officeDocument/2006/relationships/notesSlide" Target="/ppt/notesSlides/notesSlide13.xml" Id="R81a6332485d74dd1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f434d5c0a294cbb" /><Relationship Type="http://schemas.openxmlformats.org/officeDocument/2006/relationships/notesSlide" Target="/ppt/notesSlides/notesSlide14.xml" Id="R5cc5d39881f74faa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8b202eb3fa04bf1" /><Relationship Type="http://schemas.openxmlformats.org/officeDocument/2006/relationships/notesSlide" Target="/ppt/notesSlides/notesSlide15.xml" Id="R8a7b8f713e9b4716" /><Relationship Id="rId1" Type="http://schemas.openxmlformats.org/officeDocument/2006/relationships/slide" Target="slide2.xml" /><Relationship Id="rId2" Type="http://schemas.openxmlformats.org/officeDocument/2006/relationships/slide" Target="slide14.xml" /><Relationship Id="rId3" Type="http://schemas.openxmlformats.org/officeDocument/2006/relationships/slide" Target="slide16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1b25579aa06444b" /><Relationship Type="http://schemas.openxmlformats.org/officeDocument/2006/relationships/notesSlide" Target="/ppt/notesSlides/notesSlide16.xml" Id="R7c51425f0d1a4d61" /><Relationship Id="rId1" Type="http://schemas.openxmlformats.org/officeDocument/2006/relationships/slide" Target="slide2.xml" /><Relationship Id="rId2" Type="http://schemas.openxmlformats.org/officeDocument/2006/relationships/slide" Target="slide15.xml" /><Relationship Id="rId3" Type="http://schemas.openxmlformats.org/officeDocument/2006/relationships/slide" Target="slide17.xml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5a2a170df03404c" /><Relationship Type="http://schemas.openxmlformats.org/officeDocument/2006/relationships/notesSlide" Target="/ppt/notesSlides/notesSlide17.xml" Id="R5a29540697b44a29" /><Relationship Id="rId1" Type="http://schemas.openxmlformats.org/officeDocument/2006/relationships/slide" Target="slide2.xml" /><Relationship Id="rId2" Type="http://schemas.openxmlformats.org/officeDocument/2006/relationships/slide" Target="slide16.xml" /><Relationship Id="rId3" Type="http://schemas.openxmlformats.org/officeDocument/2006/relationships/slide" Target="slide18.xml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61e7743a94242d3" /><Relationship Type="http://schemas.openxmlformats.org/officeDocument/2006/relationships/hyperlink" Target="https://raft.github.io/raft.pdf" TargetMode="External" Id="Rd27e3792eb7743c8" /><Relationship Type="http://schemas.openxmlformats.org/officeDocument/2006/relationships/hyperlink" Target="https://research.google/pubs/mapreduce-simplified-data-processing-on-large-clusters/" TargetMode="External" Id="R9cae55e7777b4ebc" /><Relationship Type="http://schemas.openxmlformats.org/officeDocument/2006/relationships/hyperlink" Target="https://aws.amazon.com/compliance/shared-responsibility-model/" TargetMode="External" Id="Rc04a3fa73cc747c5" /><Relationship Type="http://schemas.openxmlformats.org/officeDocument/2006/relationships/hyperlink" Target="https://kubernetes.io/docs/concepts/index.html" TargetMode="External" Id="R6c007c44c4c441b4" /><Relationship Type="http://schemas.openxmlformats.org/officeDocument/2006/relationships/notesSlide" Target="/ppt/notesSlides/notesSlide18.xml" Id="Rf56011030b044833" /><Relationship Id="rId1" Type="http://schemas.openxmlformats.org/officeDocument/2006/relationships/slide" Target="slide2.xml" /><Relationship Id="rId2" Type="http://schemas.openxmlformats.org/officeDocument/2006/relationships/slide" Target="slide17.xml" /><Relationship Id="rId3" Type="http://schemas.openxmlformats.org/officeDocument/2006/relationships/slide" Target="slide19.xml" 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3e30ffe54e14380" /><Relationship Type="http://schemas.openxmlformats.org/officeDocument/2006/relationships/notesSlide" Target="/ppt/notesSlides/notesSlide19.xml" Id="R6264bd1c36ff4423" /><Relationship Id="rId1" Type="http://schemas.openxmlformats.org/officeDocument/2006/relationships/slide" Target="slide2.xml" /><Relationship Id="rId2" Type="http://schemas.openxmlformats.org/officeDocument/2006/relationships/slide" Target="slide18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9181C-38C1-449F-8E48-449E84E8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550"/>
          </a:solidFill>
          <a:ln xmlns:a="http://schemas.openxmlformats.org/drawingml/2006/main" w="11430">
            <a:solidFill>
              <a:srgbClr val="0D35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DF9AD-667F-450A-93DD-633E526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25B"/>
          </a:solidFill>
          <a:ln xmlns:a="http://schemas.openxmlformats.org/drawingml/2006/main" w="11430">
            <a:solidFill>
              <a:srgbClr val="1042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F0A2C-7BD6-4AA2-A8A0-E35F0716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C881D-B955-49DA-9BE0-36176357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10001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82F03-382D-403D-8287-2ABD87C8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28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C6B89-2217-48DA-B704-D43160B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762000" cy="1714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AA9AC-30EF-472F-977A-0684A962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92E01-43BE-4100-822E-452E3F5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714500" cy="2762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48E70-9590-4C74-BD78-9D62E535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8A35F-C984-4E81-8B9D-6DF90AF4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1619250" cy="3143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D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A0E50-29E2-4427-BEC3-1DBF144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312025-7F10-4634-98A3-F2F4C5AA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E635"/>
                </a:solidFill>
              </a:defRPr>
            </a:pPr>
            <a:r>
              <a:rPr sz="1125" b="1">
                <a:solidFill>
                  <a:srgbClr val="A3E635"/>
                </a:solidFill>
              </a:rPr>
              <a:t>SESSION 34  /  RESEARCH TASK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247A72-4BBA-437B-B718-E2F99FF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Distributed Systems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6535B24-F1E5-428C-8E2E-F1FB84A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8D6E7"/>
                </a:solidFill>
              </a:defRPr>
            </a:pPr>
            <a:r>
              <a:rPr sz="2025" b="0">
                <a:solidFill>
                  <a:srgbClr val="B8D6E7"/>
                </a:solidFill>
              </a:rPr>
              <a:t>From Core Principles to Infrastructure Decisions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CF2C0B-A8A0-473D-814D-A2D65960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B3C9"/>
                </a:solidFill>
              </a:defRPr>
            </a:pPr>
            <a:r>
              <a:rPr sz="1350" b="0">
                <a:solidFill>
                  <a:srgbClr val="8FB3C9"/>
                </a:solidFill>
              </a:rPr>
              <a:t>Professional Research Deck • On-Premises vs Cloud • Architecture Decision Framework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43D5A-7344-4005-8C0F-C3BA073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AECB751-93B3-4237-ABA7-3EE8E78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INTERACTIVE DECK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50BD3D-62C8-4259-8D63-83208F4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9" name="start">
            <a:extLst xmlns:a="http://schemas.openxmlformats.org/drawingml/2006/main">
              <a:ext uri="{FF2B5EF4-FFF2-40B4-BE49-F238E27FC236}">
                <a16:creationId xmlns:a16="http://schemas.microsoft.com/office/drawing/2014/main" id="{5EDE4683-F110-4CC6-A661-646FF61618B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start-label">
            <a:extLst xmlns:a="http://schemas.openxmlformats.org/drawingml/2006/main">
              <a:ext uri="{FF2B5EF4-FFF2-40B4-BE49-F238E27FC236}">
                <a16:creationId xmlns:a16="http://schemas.microsoft.com/office/drawing/2014/main" id="{0E8E686C-7E6F-40F3-A99D-B79B33F5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START  →</a:t>
            </a:r>
          </a:p>
        </p:txBody>
      </p:sp>
    </p:spTree>
    <p:extLst>
      <p:ext uri="{BB962C8B-B14F-4D97-AF65-F5344CB8AC3E}">
        <p14:creationId xmlns:p14="http://schemas.microsoft.com/office/powerpoint/2010/main" val="1342021821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">
            <a:extLst xmlns:a="http://schemas.openxmlformats.org/drawingml/2006/main">
              <a:ext uri="{FF2B5EF4-FFF2-40B4-BE49-F238E27FC236}">
                <a16:creationId xmlns:a16="http://schemas.microsoft.com/office/drawing/2014/main" id="{2F26F13A-A926-4B83-A6BA-732C3B28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NAVIGATION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CC309D-7D4C-423E-9116-6614A739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Presentation Map: Understand → Design → Decide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41685-A363-4052-A96C-75AAC38D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885EA2B-C9C8-4BCA-B709-3F89980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BF8E5E-A8C6-4F04-BBBC-12C52B51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C5CE7"/>
                </a:solidFill>
              </a:defRPr>
            </a:pPr>
            <a:r>
              <a:rPr sz="2850" b="1">
                <a:solidFill>
                  <a:srgbClr val="6C5CE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7F604-72BF-4394-AA22-9029BEA6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478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A64E59-DCF8-400F-9851-A2AE1E2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Foundations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76991EB-1628-4743-8067-D8BAF0A1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240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Definition, drivers, and network fallacies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9FCB1D-C15E-4106-9C97-BEB9201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B8A6"/>
                </a:solidFill>
              </a:defRPr>
            </a:pPr>
            <a:r>
              <a:rPr sz="2850" b="1">
                <a:solidFill>
                  <a:srgbClr val="16B8A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25F63-8575-4F41-872B-E721AEE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146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8F7A5F-A5B3-4841-938C-1EB7C61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Design Core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88F01C-974E-4FE9-BF22-97835F5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Replication, partitioning, and consistency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6CFC79-AC0D-4D73-A4AD-2F7C748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3E635"/>
                </a:solidFill>
              </a:defRPr>
            </a:pPr>
            <a:r>
              <a:rPr sz="2850" b="1">
                <a:solidFill>
                  <a:srgbClr val="A3E6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F3D65-DE17-46AB-8275-B119479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814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889ED5-3384-4A9C-A85A-88F6AB19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Reliability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EAA9328-11E7-4440-B3E2-EE6E026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Consensus, failures, observability, and security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6C2B864-BE5C-4AD3-B864-DA2BE1D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B000"/>
                </a:solidFill>
              </a:defRPr>
            </a:pPr>
            <a:r>
              <a:rPr sz="2850" b="1">
                <a:solidFill>
                  <a:srgbClr val="FFB00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5C64F-5A77-4600-BDC7-4FC8449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0D448EA-5309-4175-A965-BE94D15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143D"/>
                </a:solidFill>
              </a:defRPr>
            </a:pPr>
            <a:r>
              <a:rPr sz="1875" b="1">
                <a:solidFill>
                  <a:srgbClr val="25143D"/>
                </a:solidFill>
              </a:rPr>
              <a:t>Hosting Decision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84038DA-B3B3-4184-926A-C62D307F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244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Local vs cloud vs hybrid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C701AA1-A623-48BE-8CF3-4E19989A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81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5CE7"/>
                </a:solidFill>
              </a:defRPr>
            </a:pPr>
            <a:r>
              <a:rPr sz="1125" b="1">
                <a:solidFill>
                  <a:srgbClr val="6C5CE7"/>
                </a:solidFill>
              </a:rPr>
              <a:t>Use slides 17–20 as an interactive decision workshop</a:t>
            </a:r>
          </a:p>
        </p:txBody>
      </p:sp>
      <p:sp>
        <p:nvSpPr>
          <p:cNvPr id="22" name="menu-foundations">
            <a:extLst xmlns:a="http://schemas.openxmlformats.org/drawingml/2006/main">
              <a:ext uri="{FF2B5EF4-FFF2-40B4-BE49-F238E27FC236}">
                <a16:creationId xmlns:a16="http://schemas.microsoft.com/office/drawing/2014/main" id="{271B5E3F-DD4C-438A-97E4-BE8070CF882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3" name="menu-foundations-label">
            <a:extLst xmlns:a="http://schemas.openxmlformats.org/drawingml/2006/main">
              <a:ext uri="{FF2B5EF4-FFF2-40B4-BE49-F238E27FC236}">
                <a16:creationId xmlns:a16="http://schemas.microsoft.com/office/drawing/2014/main" id="{7D61AD86-0000-492D-B0C5-A7A72FB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24" name="menu-design">
            <a:extLst xmlns:a="http://schemas.openxmlformats.org/drawingml/2006/main">
              <a:ext uri="{FF2B5EF4-FFF2-40B4-BE49-F238E27FC236}">
                <a16:creationId xmlns:a16="http://schemas.microsoft.com/office/drawing/2014/main" id="{6540CAF6-52DD-453D-BC54-12287839B71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5" name="menu-design-label">
            <a:extLst xmlns:a="http://schemas.openxmlformats.org/drawingml/2006/main">
              <a:ext uri="{FF2B5EF4-FFF2-40B4-BE49-F238E27FC236}">
                <a16:creationId xmlns:a16="http://schemas.microsoft.com/office/drawing/2014/main" id="{5E983D39-D38D-4D74-9679-1F7FDA94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DESIGN CORE</a:t>
            </a:r>
          </a:p>
        </p:txBody>
      </p:sp>
      <p:sp>
        <p:nvSpPr>
          <p:cNvPr id="26" name="menu-reliability">
            <a:extLst xmlns:a="http://schemas.openxmlformats.org/drawingml/2006/main">
              <a:ext uri="{FF2B5EF4-FFF2-40B4-BE49-F238E27FC236}">
                <a16:creationId xmlns:a16="http://schemas.microsoft.com/office/drawing/2014/main" id="{5AE503E1-40BA-4DE6-965F-7094BA25897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11430">
            <a:solidFill>
              <a:srgbClr val="FF6B6B"/>
            </a:solidFill>
            <a:prstDash val="solid"/>
          </a:ln>
        </p:spPr>
      </p:sp>
      <p:sp>
        <p:nvSpPr>
          <p:cNvPr id="27" name="menu-reliability-label">
            <a:extLst xmlns:a="http://schemas.openxmlformats.org/drawingml/2006/main">
              <a:ext uri="{FF2B5EF4-FFF2-40B4-BE49-F238E27FC236}">
                <a16:creationId xmlns:a16="http://schemas.microsoft.com/office/drawing/2014/main" id="{FF013923-F1E4-417F-A2A6-B8B9E87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28" name="menu-university">
            <a:extLst xmlns:a="http://schemas.openxmlformats.org/drawingml/2006/main">
              <a:ext uri="{FF2B5EF4-FFF2-40B4-BE49-F238E27FC236}">
                <a16:creationId xmlns:a16="http://schemas.microsoft.com/office/drawing/2014/main" id="{2DFF859F-9FCA-49BF-B079-B0E5A959FEB6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9" name="menu-university-label">
            <a:extLst xmlns:a="http://schemas.openxmlformats.org/drawingml/2006/main">
              <a:ext uri="{FF2B5EF4-FFF2-40B4-BE49-F238E27FC236}">
                <a16:creationId xmlns:a16="http://schemas.microsoft.com/office/drawing/2014/main" id="{1612D066-2E81-41D7-9D19-14DBF608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UNIVERSITY</a:t>
            </a:r>
          </a:p>
        </p:txBody>
      </p:sp>
      <p:sp>
        <p:nvSpPr>
          <p:cNvPr id="30" name="menu-cloud">
            <a:extLst xmlns:a="http://schemas.openxmlformats.org/drawingml/2006/main">
              <a:ext uri="{FF2B5EF4-FFF2-40B4-BE49-F238E27FC236}">
                <a16:creationId xmlns:a16="http://schemas.microsoft.com/office/drawing/2014/main" id="{A32EBCB8-3615-49D3-8A09-8235A48A681A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31" name="menu-cloud-label">
            <a:extLst xmlns:a="http://schemas.openxmlformats.org/drawingml/2006/main">
              <a:ext uri="{FF2B5EF4-FFF2-40B4-BE49-F238E27FC236}">
                <a16:creationId xmlns:a16="http://schemas.microsoft.com/office/drawing/2014/main" id="{D9CF8E28-9186-4D7B-832D-76B33D9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143D"/>
                </a:solidFill>
              </a:defRPr>
            </a:pPr>
            <a:r>
              <a:rPr sz="975" b="1">
                <a:solidFill>
                  <a:srgbClr val="25143D"/>
                </a:solidFill>
              </a:rPr>
              <a:t>CLOUD / SERVER</a:t>
            </a:r>
          </a:p>
        </p:txBody>
      </p:sp>
      <p:sp>
        <p:nvSpPr>
          <p:cNvPr id="32" name="menu-sources">
            <a:extLst xmlns:a="http://schemas.openxmlformats.org/drawingml/2006/main">
              <a:ext uri="{FF2B5EF4-FFF2-40B4-BE49-F238E27FC236}">
                <a16:creationId xmlns:a16="http://schemas.microsoft.com/office/drawing/2014/main" id="{D37709DD-72FB-4E38-8874-61E622E686B5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150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3" name="menu-sources-label">
            <a:extLst xmlns:a="http://schemas.openxmlformats.org/drawingml/2006/main">
              <a:ext uri="{FF2B5EF4-FFF2-40B4-BE49-F238E27FC236}">
                <a16:creationId xmlns:a16="http://schemas.microsoft.com/office/drawing/2014/main" id="{9BA180B9-9FA5-4A70-A574-393934C3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1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07677038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">
            <a:extLst xmlns:a="http://schemas.openxmlformats.org/drawingml/2006/main">
              <a:ext uri="{FF2B5EF4-FFF2-40B4-BE49-F238E27FC236}">
                <a16:creationId xmlns:a16="http://schemas.microsoft.com/office/drawing/2014/main" id="{7FE15D22-E03A-4370-AFCC-A4B5442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FOUNDATION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FAB72A-9AE5-441A-B5BF-2719E25C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A Distributed System Appears Unified—Despite Its Many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5330-2FA5-405F-A7BA-4683A0C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292F971-9C83-42F5-BEA9-7FC63FD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90E84F-D116-4134-B8ED-1A06D832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143D"/>
                </a:solidFill>
              </a:defRPr>
            </a:pPr>
            <a:r>
              <a:rPr sz="2025" b="1">
                <a:solidFill>
                  <a:srgbClr val="25143D"/>
                </a:solidFill>
              </a:rPr>
              <a:t>A set of independent processes that communicate over a network, coordinate their work, and deliver one coherent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3D4DF-15F7-4B45-BBB5-AB6C78C3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2B558-55FE-4806-9328-B71FA78A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71F399-195E-44CB-B022-E5C36222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A08D0F-B792-4D72-9924-7C0B68B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Independent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31F47-D57E-41C1-9F25-0B5932C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EABB4-20DC-407D-9C4C-4FACE676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78003DC-4E12-4D05-939D-A4D3AA0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4C88DF-ACA3-4D74-96E3-938DC1F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Network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3AB17-6C6F-4421-9988-ECECE32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1D158-3FDD-4F97-91B0-DEB1E3A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36B661-6A62-4E4F-8739-6F7B340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5CE7"/>
                </a:solidFill>
              </a:defRPr>
            </a:pPr>
            <a:r>
              <a:rPr sz="2100" b="1">
                <a:solidFill>
                  <a:srgbClr val="6C5CE7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939261-5BC1-46F7-8D56-BFFB956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Distributed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44AC7-0A54-4B68-89FE-A6CE788C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CEBE59-9E36-46BF-BAB3-509F879A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05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3E635"/>
                </a:solidFill>
              </a:defRPr>
            </a:pPr>
            <a:r>
              <a:rPr sz="2100" b="1">
                <a:solidFill>
                  <a:srgbClr val="A3E635"/>
                </a:solidFill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9267A54-3F31-463F-87A3-5B8F3787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Shared objective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0752622-6D1C-4571-8993-3ABDFA59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6B"/>
                </a:solidFill>
              </a:defRPr>
            </a:pPr>
            <a:r>
              <a:rPr sz="1650" b="1">
                <a:solidFill>
                  <a:srgbClr val="FF6B6B"/>
                </a:solidFill>
              </a:rPr>
              <a:t>The real challenge: no global clock, no shared memory, and no guaranteed network.</a:t>
            </a:r>
          </a:p>
        </p:txBody>
      </p:sp>
      <p:sp>
        <p:nvSpPr>
          <p:cNvPr id="22" name="nav-home">
            <a:extLst xmlns:a="http://schemas.openxmlformats.org/drawingml/2006/main">
              <a:ext uri="{FF2B5EF4-FFF2-40B4-BE49-F238E27FC236}">
                <a16:creationId xmlns:a16="http://schemas.microsoft.com/office/drawing/2014/main" id="{7307C0EA-18B8-484F-AF66-31CBDF30323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62864305-CE44-49D9-B674-007A96DA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4" name="nav-back">
            <a:extLst xmlns:a="http://schemas.openxmlformats.org/drawingml/2006/main">
              <a:ext uri="{FF2B5EF4-FFF2-40B4-BE49-F238E27FC236}">
                <a16:creationId xmlns:a16="http://schemas.microsoft.com/office/drawing/2014/main" id="{6A2B96ED-79EB-4878-978A-E679470305F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B6C7D7C3-280E-4247-ADF5-83221A52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6" name="nav-next">
            <a:extLst xmlns:a="http://schemas.openxmlformats.org/drawingml/2006/main">
              <a:ext uri="{FF2B5EF4-FFF2-40B4-BE49-F238E27FC236}">
                <a16:creationId xmlns:a16="http://schemas.microsoft.com/office/drawing/2014/main" id="{6E4C23C7-3E0E-4EA6-B32D-0164471F288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78BC1637-3526-479F-A4CB-71EF632E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55919437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">
            <a:extLst xmlns:a="http://schemas.openxmlformats.org/drawingml/2006/main">
              <a:ext uri="{FF2B5EF4-FFF2-40B4-BE49-F238E27FC236}">
                <a16:creationId xmlns:a16="http://schemas.microsoft.com/office/drawing/2014/main" id="{280606C2-4902-4BB3-9DA3-305261D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FOUNDATION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829318-9710-4A5A-8AE0-BEBF109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Distribution Turns Simple Assumptions into Operational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DBBF5-B268-4E35-9430-08E15D0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42C54FF-9BEE-428F-B592-6E6D9518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B463E8-FE10-4E22-878F-77A39FD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B0F9E4-501E-4E07-A038-DDBAA73C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The network is reliable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8BE2F2-92C8-4860-BB22-E1E39CA9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Packets can be lost or duplicated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FBE35-5556-4B7B-9E7F-8EAE3A3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B4415E-E2B0-4928-BC8B-8B7C047E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355178-53A0-4C2E-BDFB-FAFFA802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Latency is zero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110929-CBF3-46B6-84F8-63CACF3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Distance changes the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B70BC-B4CB-4A54-AE87-D55B947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B578D4-7B83-4302-9D12-8874086C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6EA64FE-438D-4366-B54B-268D2B6B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Bandwidth is infinite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3E0CB4-4580-49E3-8EB6-D6D4B60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Data movement has cost and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AF7D8-B171-4133-8B32-BA0917A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6A7E1DA-BE05-4A31-B944-F61BCA6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6030710-8C29-4B86-B3F5-AF5768F7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The network is secure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7ABC69D-2562-4C88-90B7-6ABED28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Every connection expands the attack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EBCFC-96C9-4E9D-B464-24351059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386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4799A4-F16F-4447-AD2C-45321A83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15892D-5729-4DDE-ABC2-4B2F426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Topology never changes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9AFEF3F-338D-43A8-93EF-83EB0A7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Nodes and routes change continuously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12C1C-0EB7-4E01-9ECB-25B05D67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386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D77E030-3460-45D3-BBA4-8B1714FF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71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06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2A71C3F-EFFE-4AD3-B133-76A5B23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Observability can wait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6DCDE6E-8825-45B5-8707-61792EA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00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9C7D8"/>
                </a:solidFill>
              </a:defRPr>
            </a:pPr>
            <a:r>
              <a:rPr sz="1200" b="0">
                <a:solidFill>
                  <a:srgbClr val="A9C7D8"/>
                </a:solidFill>
              </a:rPr>
              <a:t>Without traces, the real path stays hidden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99DA0-8AAA-46C9-98B4-B147D1AB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386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62"/>
          </a:solidFill>
          <a:ln xmlns:a="http://schemas.openxmlformats.org/drawingml/2006/main" w="11430">
            <a:solidFill>
              <a:srgbClr val="244A62"/>
            </a:solidFill>
            <a:prstDash val="solid"/>
          </a:ln>
        </p:spPr>
      </p:sp>
      <p:sp>
        <p:nvSpPr>
          <p:cNvPr id="29" name="nav-home">
            <a:extLst xmlns:a="http://schemas.openxmlformats.org/drawingml/2006/main">
              <a:ext uri="{FF2B5EF4-FFF2-40B4-BE49-F238E27FC236}">
                <a16:creationId xmlns:a16="http://schemas.microsoft.com/office/drawing/2014/main" id="{DEBCF7A0-B8AD-4FA1-8D58-AEBB855E9C4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7F6949A0-9A2A-4774-9F40-B2C95CC5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1" name="nav-back">
            <a:extLst xmlns:a="http://schemas.openxmlformats.org/drawingml/2006/main">
              <a:ext uri="{FF2B5EF4-FFF2-40B4-BE49-F238E27FC236}">
                <a16:creationId xmlns:a16="http://schemas.microsoft.com/office/drawing/2014/main" id="{56E1B386-5132-4645-B1AF-AF40F0FDB70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D15C618F-48A2-4FD1-B6AD-46F2185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3" name="nav-next">
            <a:extLst xmlns:a="http://schemas.openxmlformats.org/drawingml/2006/main">
              <a:ext uri="{FF2B5EF4-FFF2-40B4-BE49-F238E27FC236}">
                <a16:creationId xmlns:a16="http://schemas.microsoft.com/office/drawing/2014/main" id="{58DCE912-EB1F-4B9F-B962-E1A89F30739D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6D57719C-5203-404E-B047-124E130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09059241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">
            <a:extLst xmlns:a="http://schemas.openxmlformats.org/drawingml/2006/main">
              <a:ext uri="{FF2B5EF4-FFF2-40B4-BE49-F238E27FC236}">
                <a16:creationId xmlns:a16="http://schemas.microsoft.com/office/drawing/2014/main" id="{DC312A4E-75C4-4FE4-BC4D-D701B36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58A244-0E96-4983-BD7D-B7CE3FE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Strong Architectures Separate the Data Plane from the Control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4E0DA-8482-4244-9DEE-18C9EAC5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028F48F-F4F1-4DE2-B444-7BFA856A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BEFA4-53EB-4AF5-A2FF-89B004D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5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650FE-10D7-466C-A8FE-32E6F9FA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5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942F5-225C-4727-BACD-47844A2C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5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8D54A-150A-4513-B331-8DF3CA46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6547A-327F-4BDD-A758-8B83A407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4A0346-A66A-4E17-A8D5-FE9F7667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Clients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8D989B-5668-4189-86F3-31932BF3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Web / Mobile /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6A12E-26E2-43EF-AA25-F248A66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27AC8-B9CC-4D78-A88D-0C147B8E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17C577-8299-4FDB-AC5B-EBA7CF5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Edge &amp; Gateway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4ADCBB-8754-469C-B194-87AC4EC6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Auth • Rate limit •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8E241-4CB3-4F6E-985C-5DC8FE20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7390F-6B42-4ABD-B89D-49411D6C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E7AD57C-0A8B-43C3-BAF2-2A25C3D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Services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55983EB-4DED-4571-90FA-2E373AE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Stateless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F0850-B463-4157-8E37-850E907C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286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8F5C4-B80C-4674-9D9A-D8252B78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7FBD544-64E5-49A5-A073-DBC0412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Data Layer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83DF82B-8C4B-4C95-90A9-DFBD53B4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Shards • Replicas • Cache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EAE73E4-D770-495E-9909-1839F74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Data plane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AC741-D1CE-4FD9-A03E-14A3E17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CEA82-62A1-4BFA-8587-D09BDF24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628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91A75B5-9F51-4E90-B9F4-2E23BBC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911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 plane: discovery • scheduling • configuration • policy • observability</a:t>
            </a:r>
          </a:p>
        </p:txBody>
      </p:sp>
      <p:sp>
        <p:nvSpPr>
          <p:cNvPr id="28" name="nav-home">
            <a:extLst xmlns:a="http://schemas.openxmlformats.org/drawingml/2006/main">
              <a:ext uri="{FF2B5EF4-FFF2-40B4-BE49-F238E27FC236}">
                <a16:creationId xmlns:a16="http://schemas.microsoft.com/office/drawing/2014/main" id="{2303925A-4602-4B67-8266-6147471C8B4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9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904D6313-C1F0-40B6-8D1B-7EAD13EC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0" name="nav-back">
            <a:extLst xmlns:a="http://schemas.openxmlformats.org/drawingml/2006/main">
              <a:ext uri="{FF2B5EF4-FFF2-40B4-BE49-F238E27FC236}">
                <a16:creationId xmlns:a16="http://schemas.microsoft.com/office/drawing/2014/main" id="{C3D2ED62-1036-405C-803D-CEC56E52DEE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1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BB100466-897E-46E7-9B30-B1C1E6A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2" name="nav-next">
            <a:extLst xmlns:a="http://schemas.openxmlformats.org/drawingml/2006/main">
              <a:ext uri="{FF2B5EF4-FFF2-40B4-BE49-F238E27FC236}">
                <a16:creationId xmlns:a16="http://schemas.microsoft.com/office/drawing/2014/main" id="{A0315AC0-BB74-4DB1-BD7F-730FB3FC44B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3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463B4734-546A-4C29-A673-DF589302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895473515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">
            <a:extLst xmlns:a="http://schemas.openxmlformats.org/drawingml/2006/main">
              <a:ext uri="{FF2B5EF4-FFF2-40B4-BE49-F238E27FC236}">
                <a16:creationId xmlns:a16="http://schemas.microsoft.com/office/drawing/2014/main" id="{E2F307CD-D593-4A13-BED4-81370CDD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COMMUNICATION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06F02E-597A-4060-9F97-33C9BA88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Communication Style Determines Both Performance and Failure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3768B-B48D-46D7-B45E-9CA045F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1F0F9E4-45CC-40C1-B714-832FE3E5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B2B7F1-5272-479B-B60F-70EEB0A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C5CE7"/>
                </a:solidFill>
              </a:defRPr>
            </a:pPr>
            <a:r>
              <a:rPr sz="2250" b="1">
                <a:solidFill>
                  <a:srgbClr val="6C5CE7"/>
                </a:solidFill>
              </a:rPr>
              <a:t>Synchronous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97F221-FD13-4E62-A31B-94AAB1BC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71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B8A6"/>
                </a:solidFill>
              </a:defRPr>
            </a:pPr>
            <a:r>
              <a:rPr sz="2250" b="1">
                <a:solidFill>
                  <a:srgbClr val="16B8A6"/>
                </a:solidFill>
              </a:rPr>
              <a:t>Asynchronous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EC2FA-B181-4AA0-B1AC-B47FE61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095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059B7-6BEC-4F29-B860-50E3C49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8DFBB0-B242-4AB4-B3C8-16FA84DB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14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Request / Response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00E27D-1A44-443C-95AD-57BEF1FF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3842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Simple and immediate, but it couples service response times.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8AD2C-3498-48C6-801E-A1C05CDD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4095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55E59-AC4A-4C3A-BCC2-4776B547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88F1B1-A87D-41E3-99F6-FC97ADD6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14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Messages / Events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CDF8DB-3808-4A2F-B5A7-B88FF541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3842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Decouples producers and consumers and absorbs spikes, but adds ordering and duplication complexity.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DBECC-952F-45EF-A99D-6294CAA7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2095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1968A-61A5-4099-B0F1-40B62E2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4DC9FE-CBB9-4DD4-93D4-EF96DCFF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When to choose it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A2F42F-23EC-4EE5-ADD7-53C4C6CD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Immediate reads or short, clearly bounded operations.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90E37-D473-4AE4-B195-18E28791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820C02D-E80A-46C8-A219-5C08CE0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When to choose it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221516C-C7BC-41A4-AD38-E990FBF6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577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Long-running work, integrations, fan-out, or major traffic spikes.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5E50CA5-0301-4AA0-B010-362031F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Practical rule: timeout, retry, and idempotency belong in the contract—not in a later optimization phase.</a:t>
            </a:r>
          </a:p>
        </p:txBody>
      </p:sp>
      <p:sp>
        <p:nvSpPr>
          <p:cNvPr id="23" name="nav-home">
            <a:extLst xmlns:a="http://schemas.openxmlformats.org/drawingml/2006/main">
              <a:ext uri="{FF2B5EF4-FFF2-40B4-BE49-F238E27FC236}">
                <a16:creationId xmlns:a16="http://schemas.microsoft.com/office/drawing/2014/main" id="{D8CBD846-8346-4A70-8441-11500493FA3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4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5C7246B8-8877-43E9-AFD4-38E4ADDF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5" name="nav-back">
            <a:extLst xmlns:a="http://schemas.openxmlformats.org/drawingml/2006/main">
              <a:ext uri="{FF2B5EF4-FFF2-40B4-BE49-F238E27FC236}">
                <a16:creationId xmlns:a16="http://schemas.microsoft.com/office/drawing/2014/main" id="{39B56A49-F77D-411A-97CD-1880473EC26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6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27F5B19A-0634-4B04-9B50-3FED91B3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7" name="nav-next">
            <a:extLst xmlns:a="http://schemas.openxmlformats.org/drawingml/2006/main">
              <a:ext uri="{FF2B5EF4-FFF2-40B4-BE49-F238E27FC236}">
                <a16:creationId xmlns:a16="http://schemas.microsoft.com/office/drawing/2014/main" id="{7215C965-37D9-4931-9E1E-DEF91905A96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8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C851F67B-8869-44F1-871E-B145F599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82411544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">
            <a:extLst xmlns:a="http://schemas.openxmlformats.org/drawingml/2006/main">
              <a:ext uri="{FF2B5EF4-FFF2-40B4-BE49-F238E27FC236}">
                <a16:creationId xmlns:a16="http://schemas.microsoft.com/office/drawing/2014/main" id="{009B594F-BEC1-44B6-84AA-6240185E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7691AB-A22A-4F58-B534-111E549B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Data Scale Depends on Two Decisions: Placement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5B8F2-9C32-4755-93D2-40D2B22B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E646EE7-6719-4CA6-A68C-F443C57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0E5F3-3C03-4652-A3C1-94C8B3C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9DDEF-0858-4E60-84F9-FD74EF0A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6DDDC6-651D-495F-B504-D2E4ACCD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Partitioning / Sharding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221B26-B8BD-43AB-9D93-649ED06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Splits data by key, range, or hash to increase capacity and parallelism.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C31E6-63E2-4B1A-A237-8FE8925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E8D7E-B8A1-4EBB-A6CD-908F801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1138A8-01EA-4E97-B1AC-4AF8C1AF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Replication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46B86C-46C8-4888-8249-614D1F79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Creates copies to improve availability, read throughput, and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BBDF9-7638-4B9D-89C9-70387BA6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B4C82-B986-40EB-A2DE-23F280DE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A5A7B-FFC5-467F-B278-C77EE347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18BD7-B54C-471E-84E7-AE94A92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57625"/>
            <a:ext cx="66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D5D116-DC8F-482F-8521-B9480089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Partition the 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57A88-1BD3-40B5-9012-77019F0D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58110-AF7D-445E-A2D2-C64386D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02BCD-F0F8-4C51-829D-4DC58F2A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6863E-DCAB-4E6C-A2DD-92DD8E7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74C3C-809A-471F-96BB-CD8F986B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147637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D621D21-12C4-41BC-9C0B-019EFC3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Replicate the state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446A306-F261-4162-8118-0EDD6819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</a:rPr>
              <a:t>Trade‑off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A54592C-AF08-4365-BAA7-27ABB01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6987"/>
                </a:solidFill>
              </a:defRPr>
            </a:pPr>
            <a:r>
              <a:rPr sz="1275" b="1">
                <a:solidFill>
                  <a:srgbClr val="716987"/>
                </a:solidFill>
              </a:rPr>
              <a:t>Partitioning increases coordination; replication creates a consistency question.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C7899C79-20A4-42C6-818F-14FB0543F4B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7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27D10F9E-1E6B-4C81-99CD-D9CFCBE3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8" name="nav-back">
            <a:extLst xmlns:a="http://schemas.openxmlformats.org/drawingml/2006/main">
              <a:ext uri="{FF2B5EF4-FFF2-40B4-BE49-F238E27FC236}">
                <a16:creationId xmlns:a16="http://schemas.microsoft.com/office/drawing/2014/main" id="{C3CB97B3-CCB4-4049-A13A-8AA0F4646DA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9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4391FB22-152B-4E72-BBB2-FBB1991B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0" name="nav-next">
            <a:extLst xmlns:a="http://schemas.openxmlformats.org/drawingml/2006/main">
              <a:ext uri="{FF2B5EF4-FFF2-40B4-BE49-F238E27FC236}">
                <a16:creationId xmlns:a16="http://schemas.microsoft.com/office/drawing/2014/main" id="{C68DD22E-BB1F-43DC-9CE6-CE751604FCE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1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AF12FD67-E15F-4B17-BFCF-2E18CE6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80208819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">
            <a:extLst xmlns:a="http://schemas.openxmlformats.org/drawingml/2006/main">
              <a:ext uri="{FF2B5EF4-FFF2-40B4-BE49-F238E27FC236}">
                <a16:creationId xmlns:a16="http://schemas.microsoft.com/office/drawing/2014/main" id="{76A12AA9-AC3D-4B83-9C83-5E39D6E6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CONSISTENCY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95EE6C-4E03-413C-813D-50FDFAE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CAP Is Not Simply “Pick Two”—It Defines Behavior During a Partition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91AEE-3CA7-47CE-A917-025F7BB3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8FC1BFF-7755-4AEF-A2A7-1286FE47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DBB839-90EC-47B1-9810-099A8803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000"/>
                </a:solidFill>
              </a:defRPr>
            </a:pPr>
            <a:r>
              <a:rPr sz="1875" b="1">
                <a:solidFill>
                  <a:srgbClr val="FFB000"/>
                </a:solidFill>
              </a:rPr>
              <a:t>During a network partition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FE4DC-BEE5-446D-ADB6-998D7F1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1238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AA065-C092-4522-83D2-58575B99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1238250" cy="24003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7F765-746E-43DE-94C0-4F406B51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5238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4A312-63C7-4F20-8659-A53C183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709129-198B-45A7-9A84-B31D6C30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362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FB771D9-1D77-4345-B714-278AABB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85925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Reject or delay some requests to preserve consistent reads and writes.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41BE5-8598-4306-A0C8-A494E45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5238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DA577-4577-4D65-BB50-810F864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B7DDD27-05FB-435A-8507-6301DDDC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790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AP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1F1848-97E0-4E45-9DED-55AFAB3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1480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Continue serving requests, accepting stale state and later convergence.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C049D5-F12E-489E-915B-F0EFCDE5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PACELC adds the normal-state question: without a partition, do we prioritize latency or consistency?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B8635D70-D10A-4F9A-B847-1BC743C333D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8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D5E386F9-345D-44A7-9F46-D8AD9E13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19" name="nav-back">
            <a:extLst xmlns:a="http://schemas.openxmlformats.org/drawingml/2006/main">
              <a:ext uri="{FF2B5EF4-FFF2-40B4-BE49-F238E27FC236}">
                <a16:creationId xmlns:a16="http://schemas.microsoft.com/office/drawing/2014/main" id="{BBF3407E-21CF-4159-9E54-A126344127A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0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A5471F14-47FE-47FA-9E9D-DE4373A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1" name="nav-next">
            <a:extLst xmlns:a="http://schemas.openxmlformats.org/drawingml/2006/main">
              <a:ext uri="{FF2B5EF4-FFF2-40B4-BE49-F238E27FC236}">
                <a16:creationId xmlns:a16="http://schemas.microsoft.com/office/drawing/2014/main" id="{3BD2711D-E21E-483B-8A07-A5B38FCD923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2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8A063E49-CA50-4BCD-BB43-F5A03740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442040417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761908ED-0603-476C-ACF3-E29F3F7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CONSENSUS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B34DE0-677E-4FF0-A9C0-D5D6AFE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Consensus Turns Multiple Replicas into One Agreed 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706F1-F8C4-4F2B-844F-9A99127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6F9D58A-4E91-42B5-A51A-094AD168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33873-8C14-4824-ADF5-03174CE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1C3A31-9CD2-4366-8D60-CD4DFB74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2400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RAFT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B2B36B-0ECF-4139-8368-A7437A6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76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143D"/>
                </a:solidFill>
              </a:defRPr>
            </a:pPr>
            <a:r>
              <a:rPr sz="2100" b="1">
                <a:solidFill>
                  <a:srgbClr val="25143D"/>
                </a:solidFill>
              </a:rPr>
              <a:t>Leader election → Log replication →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A8887-9C8F-4472-B1AA-37EF8C14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54390D-FFC2-426E-AD22-58218385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3E635"/>
                </a:solidFill>
              </a:defRPr>
            </a:pPr>
            <a:r>
              <a:rPr sz="1200" b="1">
                <a:solidFill>
                  <a:srgbClr val="A3E635"/>
                </a:solidFill>
              </a:rPr>
              <a:t>LEADER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85DEB9-A2F6-4C2E-811F-39182C6A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Log: … 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BD539-644E-4E93-A9FB-991E3FC1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1428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AF512-61C3-4289-86AC-75C522A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2DDC0F-CD9F-4EF1-98A8-63B7888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FOLLOWER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E551F9-85CE-4163-B6FF-E63A083D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Log: … 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489E8-5BEF-474F-B089-286D8FBB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81375"/>
            <a:ext cx="1428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84671-6224-4ECB-9B81-C74F55A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7D2B1B-8830-4AEA-9EFC-E2872A6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FOLLOWER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6C0E373-2531-4424-AAD3-5ED8BB2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Log: … 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44561-896F-49AD-B82B-3A7F0E9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81375"/>
            <a:ext cx="14287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169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0F5E8-0807-4760-A21A-9804EB22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B9F1BD0-F0F5-4F43-8B84-46476399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FOLLOWER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82ECD99-247E-4AE3-87C0-393761B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Term 8</a:t>
            </a:r>
          </a:p>
          <a:p xmlns:a="http://schemas.openxmlformats.org/drawingml/2006/main">
            <a:pPr algn="ctr">
              <a:defRPr sz="1350" b="0">
                <a:solidFill>
                  <a:srgbClr val="25143D"/>
                </a:solidFill>
              </a:defRPr>
            </a:pPr>
            <a:r>
              <a:rPr sz="1350" b="0">
                <a:solidFill>
                  <a:srgbClr val="25143D"/>
                </a:solidFill>
              </a:rPr>
              <a:t>Log: … 42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112F6D4-E32A-407C-B0C5-54402E98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143D"/>
                </a:solidFill>
              </a:defRPr>
            </a:pPr>
            <a:r>
              <a:rPr sz="1575" b="1">
                <a:solidFill>
                  <a:srgbClr val="25143D"/>
                </a:solidFill>
              </a:rPr>
              <a:t>In a five-node cluster, progress continues with a majority available—allowing two node failures.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3DBA738-139B-44FA-B7B6-119BC623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Consensus does not prevent failure—it prevents conflicting decisions.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C1EFE081-C3F5-4DB3-9B65-9B5C00E36E7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6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19533263-CBFA-4570-8B6E-BFC52783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5EAA011C-D3C0-41F7-81F9-33F620D0149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8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23564B94-8DBE-4D2E-B0F8-D73076F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9" name="nav-next">
            <a:extLst xmlns:a="http://schemas.openxmlformats.org/drawingml/2006/main">
              <a:ext uri="{FF2B5EF4-FFF2-40B4-BE49-F238E27FC236}">
                <a16:creationId xmlns:a16="http://schemas.microsoft.com/office/drawing/2014/main" id="{B5AF40FB-BBAC-45AB-9CC6-E290D250FDE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0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D10066B7-74CE-401C-8F88-942CA739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18721823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">
            <a:extLst xmlns:a="http://schemas.openxmlformats.org/drawingml/2006/main">
              <a:ext uri="{FF2B5EF4-FFF2-40B4-BE49-F238E27FC236}">
                <a16:creationId xmlns:a16="http://schemas.microsoft.com/office/drawing/2014/main" id="{2536CA66-B65F-4F9D-9906-D60D4ED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RESILIENCE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ED6782-D567-4B78-A8D5-B56E221B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Reliability Is Built in Layers—Not Delivered by One Magic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F819B-64D6-4D01-8AB1-EC4142B9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3A10941-D65C-4B95-BD60-6AECA8D7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89D1D-ED26-4F7B-BFF0-1E9CF34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A4FB5-87DE-48F4-A301-969DCE8A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35ABC2-95DE-43BC-9AC6-9BA03F11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4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Timeouts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E0DCDE-F253-4834-AC3A-39EB7E04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716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Stop unbounded waiting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87868-C36C-4E0E-BCAD-7FFB611E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FB759-9F55-442C-B8C3-9942514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ADC6B2-89A0-46BC-A37E-E80F932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4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Retries + Jitter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5455B65-5E3D-490C-A5AC-13A0C474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Retry without creating a thundering herd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91F41-A6A0-470F-A1D1-A406EA42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0A4D6-0C74-41E7-8B4F-1828E69C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4DC8F8-31CE-41E6-B1BC-58E98AE9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4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Circuit Breaker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C15C070-2952-40E4-B390-69CE97E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716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Isolate a failing 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EEEB2-A700-4FFE-A4AC-850849E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8A9A6-1246-494F-8577-A0550BAC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FEC597-180A-4E63-94C7-C8B412A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Bulkheads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BBA838C-4F42-426B-AC34-1F194B3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24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Prevent one failure from consuming every resource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595FF-F78D-4231-96D3-FE1C4AE0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C6454-D290-4C53-A8AE-D43BAD28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11430">
            <a:solidFill>
              <a:srgbClr val="FF6B6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A7DF04B-B9D1-46B9-9F0A-BD390BA1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Idempotency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5B5C9B-CE93-4FDA-95AE-93E31749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24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Make repeated operations safe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874E2-0257-478D-A87C-7FDA35B9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3333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7B28A-D6F7-4D91-8B97-9EC5083C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4CDA3EF-40AF-4CBD-818D-8D2EA0A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00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Quorum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10162AE-E35D-4FEB-B837-67A5CFB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24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Balance availability and consistency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71C4A99-FFD2-4703-AA29-86BCF17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143D"/>
                </a:solidFill>
              </a:defRPr>
            </a:pPr>
            <a:r>
              <a:rPr sz="1725" b="1">
                <a:solidFill>
                  <a:srgbClr val="25143D"/>
                </a:solidFill>
              </a:rPr>
              <a:t>Design objective: graceful degradation instead of cascading collapse.</a:t>
            </a:r>
          </a:p>
        </p:txBody>
      </p:sp>
      <p:sp>
        <p:nvSpPr>
          <p:cNvPr id="30" name="nav-home">
            <a:extLst xmlns:a="http://schemas.openxmlformats.org/drawingml/2006/main">
              <a:ext uri="{FF2B5EF4-FFF2-40B4-BE49-F238E27FC236}">
                <a16:creationId xmlns:a16="http://schemas.microsoft.com/office/drawing/2014/main" id="{805F380D-49E9-4BB0-BF53-45A8EF1FAC3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1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326B4CB5-8DDB-4CB6-82B1-B089661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2" name="nav-back">
            <a:extLst xmlns:a="http://schemas.openxmlformats.org/drawingml/2006/main">
              <a:ext uri="{FF2B5EF4-FFF2-40B4-BE49-F238E27FC236}">
                <a16:creationId xmlns:a16="http://schemas.microsoft.com/office/drawing/2014/main" id="{DD1B3151-C84E-4A7A-9719-3ED236205BA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3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51117812-8171-44AE-99C7-F79C375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4" name="nav-next">
            <a:extLst xmlns:a="http://schemas.openxmlformats.org/drawingml/2006/main">
              <a:ext uri="{FF2B5EF4-FFF2-40B4-BE49-F238E27FC236}">
                <a16:creationId xmlns:a16="http://schemas.microsoft.com/office/drawing/2014/main" id="{09477BDA-5AA8-423A-B9D3-1404669C5AB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5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BC0A4E34-3B1C-48B7-9095-ECC6F72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762970030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">
            <a:extLst xmlns:a="http://schemas.openxmlformats.org/drawingml/2006/main">
              <a:ext uri="{FF2B5EF4-FFF2-40B4-BE49-F238E27FC236}">
                <a16:creationId xmlns:a16="http://schemas.microsoft.com/office/drawing/2014/main" id="{36F45EEE-47AD-4845-A6FC-EB89F70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ORDERING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17637E-5A7D-4CC9-85F0-B712E59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Without a Global Clock, Causality Beats Timestamps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9686C-F263-4385-893A-7ABFB78F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393CD2E-2E28-40F6-8623-0554CDC6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AB7A15-81DB-46AF-9238-F9194DD7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5CE7"/>
                </a:solidFill>
              </a:defRPr>
            </a:pPr>
            <a:r>
              <a:rPr sz="1500" b="1">
                <a:solidFill>
                  <a:srgbClr val="6C5CE7"/>
                </a:solidFill>
              </a:rPr>
              <a:t>Service 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688765-BCE8-4BE1-85A5-7A412E2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B8A6"/>
                </a:solidFill>
              </a:defRPr>
            </a:pPr>
            <a:r>
              <a:rPr sz="1500" b="1">
                <a:solidFill>
                  <a:srgbClr val="16B8A6"/>
                </a:solidFill>
              </a:rPr>
              <a:t>Service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8F499-B76B-4220-AE75-05C434DF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EE5A3-7540-48AF-9EBF-4672DEB5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B0735-22EC-45AC-A94C-73C0EED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DDD212-F636-4532-81D8-046A7922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8EC9A-9985-4F86-810D-44DE8E96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11430">
            <a:solidFill>
              <a:srgbClr val="FF6B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CBD8A7-9094-49E0-A0A6-025A306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38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7B28C-9F33-406F-8D05-27D880D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49EF5B-0E8D-4A73-818B-AF2CDD0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22D17-8BD4-4188-9E77-7CEF630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D095EF-3C81-42FC-99A9-999BE9BE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B3891-7174-4DA4-BC91-D96ABAD7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A17B120-F656-4B7C-B98C-92CD5E3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FA2E7-311C-431A-AF5C-92C0E691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34C3F76-6FCF-40BF-B4F6-E8103E0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19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6987"/>
                </a:solidFill>
              </a:defRPr>
            </a:pPr>
            <a:r>
              <a:rPr sz="1050" b="1">
                <a:solidFill>
                  <a:srgbClr val="716987"/>
                </a:solidFill>
              </a:rPr>
              <a:t>e6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DF16E-1EC8-4DB8-B77C-29E213A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90725"/>
            <a:ext cx="1152525" cy="1943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0117B-0D3B-44A4-B402-7BCEFBCB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90725"/>
            <a:ext cx="1152525" cy="1943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B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54E2C-1BDF-4F54-B5BE-F304ADD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95B7E53-49E5-4EA2-B424-9C6701E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006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Logical clocks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2D27CE1-D873-426D-95F4-1DFD7F7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6732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Order causality when physical time cannot be trusted.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0F010-5EDC-4737-A5FF-A760AF1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B9E82EB-BEA1-46A3-999F-F365BFD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0062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43D"/>
                </a:solidFill>
              </a:defRPr>
            </a:pPr>
            <a:r>
              <a:rPr sz="1425" b="1">
                <a:solidFill>
                  <a:srgbClr val="25143D"/>
                </a:solidFill>
              </a:rPr>
              <a:t>Design implication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5B99713-934C-4BFA-B003-125E62BA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67325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Expect delayed, duplicated, and out-of-order messages.</a:t>
            </a:r>
          </a:p>
        </p:txBody>
      </p:sp>
      <p:sp>
        <p:nvSpPr>
          <p:cNvPr id="29" name="nav-home">
            <a:extLst xmlns:a="http://schemas.openxmlformats.org/drawingml/2006/main">
              <a:ext uri="{FF2B5EF4-FFF2-40B4-BE49-F238E27FC236}">
                <a16:creationId xmlns:a16="http://schemas.microsoft.com/office/drawing/2014/main" id="{E03BA355-9D24-4963-B6F6-D5080907D16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9B9CB531-6822-4392-9031-07C6DB44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1" name="nav-back">
            <a:extLst xmlns:a="http://schemas.openxmlformats.org/drawingml/2006/main">
              <a:ext uri="{FF2B5EF4-FFF2-40B4-BE49-F238E27FC236}">
                <a16:creationId xmlns:a16="http://schemas.microsoft.com/office/drawing/2014/main" id="{8A13CF45-8709-42C4-B9C3-D2EBC404181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B4C8B237-A180-43C1-8B1A-4B115EC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3" name="nav-next">
            <a:extLst xmlns:a="http://schemas.openxmlformats.org/drawingml/2006/main">
              <a:ext uri="{FF2B5EF4-FFF2-40B4-BE49-F238E27FC236}">
                <a16:creationId xmlns:a16="http://schemas.microsoft.com/office/drawing/2014/main" id="{0ABDAFA4-5D6F-4D21-874F-9EF13EBA10D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0CF84ACD-C20A-464C-91CF-02400DA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986191343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">
            <a:extLst xmlns:a="http://schemas.openxmlformats.org/drawingml/2006/main">
              <a:ext uri="{FF2B5EF4-FFF2-40B4-BE49-F238E27FC236}">
                <a16:creationId xmlns:a16="http://schemas.microsoft.com/office/drawing/2014/main" id="{EB40D719-C6DB-4FDC-BF4A-E12FEE6C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ARCHITECTURE STYLES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FE7CE2-5613-40C3-B798-76AA516C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Architecture Style Should Follow Change and Load—not Fashion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AA562-CEE5-484B-8F9F-2B243DD6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36E22C3-C36A-4459-A5BB-8AEF9F58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1FA75-DD14-4C73-AC2A-BB8268EB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D1739-601E-496D-8DCD-76D00C7A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4CD1E9-DFFA-4B75-84C7-D2CDA17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Client–Server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FF1891-A8DC-4950-BADA-11538251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Centralized control and operational simplicity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2AA44E-386C-477C-9C98-19CED689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5CE7"/>
                </a:solidFill>
              </a:defRPr>
            </a:pPr>
            <a:r>
              <a:rPr sz="1125" b="1">
                <a:solidFill>
                  <a:srgbClr val="6C5CE7"/>
                </a:solidFill>
              </a:rPr>
              <a:t>Best when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6F810F-B1EA-4624-9547-CD4890F6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Internal products and CRUD workloads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CF2BA-EFB9-48C4-91E7-40A1CF7A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C623D-1125-4302-A835-E495A628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95CCE5-E355-49D7-8B7D-43009A55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Microservices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ED5E91-1AB8-4761-816C-94D0C58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Team autonomy and selective scaling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4529C2-730F-4C8B-A949-CB7F5EE0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B8A6"/>
                </a:solidFill>
              </a:defRPr>
            </a:pPr>
            <a:r>
              <a:rPr sz="1125" b="1">
                <a:solidFill>
                  <a:srgbClr val="16B8A6"/>
                </a:solidFill>
              </a:rPr>
              <a:t>Best when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E594DA-B407-43E3-92BF-FDFA758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Business domains with clear boundaries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9294-B3D9-4EEE-8B1B-F0C5173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61B97-DAE0-42A8-8DF0-1FE0A70C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8DBDDB6-2355-4050-A688-51AA1C2B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Event‑Driven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F6D424-0B32-4804-A957-32357608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Temporal decoupling and spike resilience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E289342-5B19-45B8-AA66-3834951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3E635"/>
                </a:solidFill>
              </a:defRPr>
            </a:pPr>
            <a:r>
              <a:rPr sz="1125" b="1">
                <a:solidFill>
                  <a:srgbClr val="A3E635"/>
                </a:solidFill>
              </a:rPr>
              <a:t>Best when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91C5CF4-A98B-4425-98FF-36BCB82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Integrations and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70D11-A6A7-48C1-9A50-EFB3DED9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16CD4-D052-4BFE-BC3B-A068C268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A57017E-9333-46F6-A343-9CF3EAE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43D"/>
                </a:solidFill>
              </a:defRPr>
            </a:pPr>
            <a:r>
              <a:rPr sz="1800" b="1">
                <a:solidFill>
                  <a:srgbClr val="25143D"/>
                </a:solidFill>
              </a:rPr>
              <a:t>Peer‑to‑Peer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B4B4C74-475D-4C7D-956A-A0254540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16987"/>
                </a:solidFill>
              </a:defRPr>
            </a:pPr>
            <a:r>
              <a:rPr sz="1275" b="0">
                <a:solidFill>
                  <a:srgbClr val="716987"/>
                </a:solidFill>
              </a:rPr>
              <a:t>Decentralization and resistance to a single failure point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6C835CE-1DBB-47EA-94DD-C50AA338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B000"/>
                </a:solidFill>
              </a:defRPr>
            </a:pPr>
            <a:r>
              <a:rPr sz="1125" b="1">
                <a:solidFill>
                  <a:srgbClr val="FFB000"/>
                </a:solidFill>
              </a:rPr>
              <a:t>Best when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624C422-13B1-46D8-8C0A-E719233F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43D"/>
                </a:solidFill>
              </a:defRPr>
            </a:pPr>
            <a:r>
              <a:rPr sz="1275" b="1">
                <a:solidFill>
                  <a:srgbClr val="25143D"/>
                </a:solidFill>
              </a:rPr>
              <a:t>Sharing and collaborative networks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56D724B-FAD9-4B34-92D7-457EF35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721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6B"/>
                </a:solidFill>
              </a:defRPr>
            </a:pPr>
            <a:r>
              <a:rPr sz="1575" b="1">
                <a:solidFill>
                  <a:srgbClr val="FF6B6B"/>
                </a:solidFill>
              </a:rPr>
              <a:t>A distributed monolith combines network complexity with monolithic coupling.</a:t>
            </a:r>
          </a:p>
        </p:txBody>
      </p:sp>
      <p:sp>
        <p:nvSpPr>
          <p:cNvPr id="30" name="nav-home">
            <a:extLst xmlns:a="http://schemas.openxmlformats.org/drawingml/2006/main">
              <a:ext uri="{FF2B5EF4-FFF2-40B4-BE49-F238E27FC236}">
                <a16:creationId xmlns:a16="http://schemas.microsoft.com/office/drawing/2014/main" id="{36650F74-916C-46FA-8907-A4C2724B5CD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1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5BB74867-A816-4EA6-A510-183DEC73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2" name="nav-back">
            <a:extLst xmlns:a="http://schemas.openxmlformats.org/drawingml/2006/main">
              <a:ext uri="{FF2B5EF4-FFF2-40B4-BE49-F238E27FC236}">
                <a16:creationId xmlns:a16="http://schemas.microsoft.com/office/drawing/2014/main" id="{7ACD105A-C036-4795-9513-1DAA6E2BFEA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3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0E4A3DE5-BFB5-4E13-9618-DB386D6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4" name="nav-next">
            <a:extLst xmlns:a="http://schemas.openxmlformats.org/drawingml/2006/main">
              <a:ext uri="{FF2B5EF4-FFF2-40B4-BE49-F238E27FC236}">
                <a16:creationId xmlns:a16="http://schemas.microsoft.com/office/drawing/2014/main" id="{8F5180BE-590B-4819-91E0-156407066A81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5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207C7074-25CE-4E7C-B5D2-B9FC1A01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52639742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C18AD7AD-9A6B-4A37-8F54-944BAC1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PLATFORMS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EBAC47-339D-438D-B728-0F718C9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Modern Platforms Hide Complexity—They Do Not Eliminate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85653-C81D-44EB-ABB4-8E6583B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BA2C837-71E2-46ED-BDA0-2698F59E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9FDDD8-C3AB-480B-AD2E-9038208E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Containers + Kubernetes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9FBB5-9546-47A1-8CF6-CF68E5EF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E9F238-1C35-4C7E-AC8B-FEC26777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Scheduling • service discovery • self-healing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71AA8A-E513-4E49-9C91-A8967C5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Distributed data stores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76613-51B4-4577-8FED-87D191E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26CE17-3603-439C-B426-CBDC13F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241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Sharding • replication • indexes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2BE9BF-11C7-497F-86AC-675084C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Streaming &amp; queues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0266E-86BF-4F5D-991A-2DD4FB08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0A5015-613D-485D-A80A-3C2B6F45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Buffering • ordering • delivery semantics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54CDB7-8657-4A07-B29C-0DD7494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Batch data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F499F-BA81-4C97-B920-7E6965C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ABAC84-86FE-4B9C-B11D-2891516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87"/>
                </a:solidFill>
              </a:defRPr>
            </a:pPr>
            <a:r>
              <a:rPr sz="1350" b="0">
                <a:solidFill>
                  <a:srgbClr val="716987"/>
                </a:solidFill>
              </a:rPr>
              <a:t>Parallel execution • failure recovery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31D98CD-A8C3-41D8-A3B6-791DFF6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Foundational research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FBD75D2-6DD9-47E1-B361-FC7BD675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43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GFS • MapReduce • Bigtable • Raft</a:t>
            </a:r>
          </a:p>
        </p:txBody>
      </p:sp>
      <p:sp>
        <p:nvSpPr>
          <p:cNvPr id="19" name="nav-home">
            <a:extLst xmlns:a="http://schemas.openxmlformats.org/drawingml/2006/main">
              <a:ext uri="{FF2B5EF4-FFF2-40B4-BE49-F238E27FC236}">
                <a16:creationId xmlns:a16="http://schemas.microsoft.com/office/drawing/2014/main" id="{80C94B7A-E258-4ED3-BAF1-F26A74C6827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14387E88-E7DD-4C30-A9EA-58DD875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63D1A4E7-B4B6-4042-8DCF-99C93902DC3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7144DFE1-1956-4443-8A49-AC12141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3" name="nav-next">
            <a:extLst xmlns:a="http://schemas.openxmlformats.org/drawingml/2006/main">
              <a:ext uri="{FF2B5EF4-FFF2-40B4-BE49-F238E27FC236}">
                <a16:creationId xmlns:a16="http://schemas.microsoft.com/office/drawing/2014/main" id="{07DD3FB8-1280-467D-9668-0B8867307181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BF66B563-FE15-40FB-B056-FB0565E9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9662377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">
            <a:extLst xmlns:a="http://schemas.openxmlformats.org/drawingml/2006/main">
              <a:ext uri="{FF2B5EF4-FFF2-40B4-BE49-F238E27FC236}">
                <a16:creationId xmlns:a16="http://schemas.microsoft.com/office/drawing/2014/main" id="{95A3183E-F735-4A27-B1EA-FBFC372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UNIVERSITY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BD6F97-27D8-41F6-827C-3029FA86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Your OS Course Already Contains the Foundations of Distributed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DF21B-645F-439C-9D0E-8414C33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56E5F06-D2C6-428A-9A6C-FA67E64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0FCF50-549A-458A-A69E-DF27D482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43D"/>
                </a:solidFill>
              </a:defRPr>
            </a:pPr>
            <a:r>
              <a:rPr sz="1575" b="1">
                <a:solidFill>
                  <a:srgbClr val="25143D"/>
                </a:solidFill>
              </a:rPr>
              <a:t>Operating Systems lectures provide a direct conceptual bridge from one machine to many networked nodes.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86103-6C97-4604-8EF7-6521052B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396DF-BAC3-44B7-BDFA-216DFE7D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B30A3D-5017-4CA3-9C29-263E7B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Clustered systems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269B03-E501-4FD9-9DD1-E4AF751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Networked nodes provide high availability and survive individual failures.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7FE56-E096-4D18-9123-C3A29AD6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65CD5-D92C-4031-B627-5B185FC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4FFB04-2492-4B92-B7D4-9D686D59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Distributed environments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73196E-8E15-47BA-91F4-256794CF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Client-server, peer-to-peer, and cloud are presented as operating environments.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DAB8C-AB79-4AD1-88D4-068EF7C9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C0982-968C-4AB1-99AD-01D409A7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74BAE4-9917-4803-B399-4AF2BB6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IPC → network messaging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B5D6367-08C6-4BEC-AB51-815E190E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Shared memory gives way to message passing when processes do not share an address space.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AD1FA-D5A5-4CBF-90C6-80889B8F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AF6BA-4DF0-46F0-A535-4A9BE6D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8364D3B-2227-45A9-893C-C3B9AA1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Sockets and synchronization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8DFF3DE-EC2A-4A99-90AC-E0856215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62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Endpoints, blocking/non-blocking communication, races, and deadlocks shape correctness.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3BFBEC-9D8E-4F6C-A976-DC888924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Course insight → distributed design implication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46B6391-27A3-4C59-A532-8053F88A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</a:defRPr>
            </a:pPr>
            <a:r>
              <a:rPr sz="1500" b="1">
                <a:solidFill>
                  <a:srgbClr val="FF6B6B"/>
                </a:solidFill>
              </a:rPr>
              <a:t>Resource sharing creates value; coordination and partial failure create the engineering cost.</a:t>
            </a:r>
          </a:p>
        </p:txBody>
      </p:sp>
      <p:sp>
        <p:nvSpPr>
          <p:cNvPr id="24" name="nav-home">
            <a:extLst xmlns:a="http://schemas.openxmlformats.org/drawingml/2006/main">
              <a:ext uri="{FF2B5EF4-FFF2-40B4-BE49-F238E27FC236}">
                <a16:creationId xmlns:a16="http://schemas.microsoft.com/office/drawing/2014/main" id="{7000F92B-D037-453F-BCA6-6DBD7772727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25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11652DB6-43DC-47BF-84EA-811F32A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EFB8FB01-B929-4D88-A13E-447B133C2B9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27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23151512-C1C9-496A-AD35-BE405CA1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041C6C25-494E-4443-AFA2-7C2F5DA6DB8D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9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D64DBF2A-9F5F-47FD-AD59-E503EF3D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91245861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">
            <a:extLst xmlns:a="http://schemas.openxmlformats.org/drawingml/2006/main">
              <a:ext uri="{FF2B5EF4-FFF2-40B4-BE49-F238E27FC236}">
                <a16:creationId xmlns:a16="http://schemas.microsoft.com/office/drawing/2014/main" id="{E666A094-B7C0-40C1-80CB-95FEE789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E635"/>
                </a:solidFill>
              </a:defRPr>
            </a:pPr>
            <a:r>
              <a:rPr sz="975" b="1">
                <a:solidFill>
                  <a:srgbClr val="A3E635"/>
                </a:solidFill>
              </a:rPr>
              <a:t>OPERATIONS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57C2E6-D943-4597-826D-34926FE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Operate What You Can Observe; Scale What You Can Secure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8DE79-D489-4AEB-986B-1968734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1110784-9858-49B3-982C-5A654680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B3C9"/>
                </a:solidFill>
              </a:defRPr>
            </a:pPr>
            <a:r>
              <a:rPr sz="900" b="1">
                <a:solidFill>
                  <a:srgbClr val="8FB3C9"/>
                </a:solidFill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29AA7C8-A784-49A9-A333-5063A39F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B8A6"/>
                </a:solidFill>
              </a:defRPr>
            </a:pPr>
            <a:r>
              <a:rPr sz="1875" b="1">
                <a:solidFill>
                  <a:srgbClr val="16B8A6"/>
                </a:solidFill>
              </a:rPr>
              <a:t>OBSERVABILITY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2324DD-CAAA-4DFA-AB08-A9D08882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E635"/>
                </a:solidFill>
              </a:defRPr>
            </a:pPr>
            <a:r>
              <a:rPr sz="1875" b="1">
                <a:solidFill>
                  <a:srgbClr val="A3E635"/>
                </a:solidFill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A86F1-0C09-4BE3-B499-F9D950F2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1353D-B12E-46BA-8AEE-8535C0E5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1AF0C2-80C0-4BCE-87E3-69EF3032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Metrics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53A184-320C-40EF-B15A-77143D97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What is happening?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5BFFE-9AB0-483F-A350-4068879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AA836-B695-4D7D-B7BD-BF94A7D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CB0387D-B7D6-48E7-93BB-CCD89B3F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Logs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CC4189-3498-46E0-813C-1BD91E6F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Why did it happen?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9B7F8-55B2-4430-A2FF-64ECE12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2C623-F2CC-4822-ABE4-F997528B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AF37E4-E9FD-48B9-B7CA-882DCF2C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Traces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DA23051-E026-4205-A828-06076AF7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Where did the request slow down?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F55B6-2534-4D4B-BBC2-59CB2C3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2E909-01BE-4941-8FFE-03502F77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2C827A1-B9F2-4343-95B3-236C4DA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14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Identity first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859EF64-4EE1-4B7A-B322-837487BB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384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mTLS • workload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2000A-6AA5-4132-BBC6-3E7F9487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A7076-1E94-4866-B85C-477462D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E10F50B-96B7-4F7C-89C7-FC2A28F2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Least privilege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AAD383A-82C1-421C-82B3-8DF699F6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05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Policy for every service and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3B96F-2F69-48C3-8B03-DD8EA68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457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E646A-55F4-4E0B-998C-01D38B7E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11430">
            <a:solidFill>
              <a:srgbClr val="A3E635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49AC670-259F-455B-9554-8ECC9FF4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481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43D"/>
                </a:solidFill>
              </a:defRPr>
            </a:pPr>
            <a:r>
              <a:rPr sz="1500" b="1">
                <a:solidFill>
                  <a:srgbClr val="25143D"/>
                </a:solidFill>
              </a:rPr>
              <a:t>Supply chain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F777C86-0358-489D-8C4D-8338423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720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Images • dependencies • secrets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FD110C8-E92B-4F35-96FC-D3164EB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0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SLOs turn measurement from attractive dashboards into an agreement about service quality.</a:t>
            </a:r>
          </a:p>
        </p:txBody>
      </p:sp>
      <p:sp>
        <p:nvSpPr>
          <p:cNvPr id="32" name="nav-home">
            <a:extLst xmlns:a="http://schemas.openxmlformats.org/drawingml/2006/main">
              <a:ext uri="{FF2B5EF4-FFF2-40B4-BE49-F238E27FC236}">
                <a16:creationId xmlns:a16="http://schemas.microsoft.com/office/drawing/2014/main" id="{FCC3EF0E-6541-4A0D-9B8B-A95204DC87B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3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BDB2858F-C21F-4B97-BEF1-6FB15227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34" name="nav-back">
            <a:extLst xmlns:a="http://schemas.openxmlformats.org/drawingml/2006/main">
              <a:ext uri="{FF2B5EF4-FFF2-40B4-BE49-F238E27FC236}">
                <a16:creationId xmlns:a16="http://schemas.microsoft.com/office/drawing/2014/main" id="{D55D582E-1610-4549-84D9-A7B8CECDDB6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3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B749A7F2-2411-4E9F-8299-A1FE0BD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36" name="nav-next">
            <a:extLst xmlns:a="http://schemas.openxmlformats.org/drawingml/2006/main">
              <a:ext uri="{FF2B5EF4-FFF2-40B4-BE49-F238E27FC236}">
                <a16:creationId xmlns:a16="http://schemas.microsoft.com/office/drawing/2014/main" id="{8C269474-F974-4E2E-B2A0-B36FD0927B8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3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4FD480D9-7567-4ACE-B09D-488E00D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57590363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653CD5FE-D52F-4FDC-867C-2F36ED8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HOSTING DECISION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1E58DA-E3F0-4699-A4C3-62E8E1E8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Workload Placement Matters More Than “Server vs Cloud”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F4550-CEFB-4B4A-BCEA-9C079B40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092A923-513E-44AF-9DDE-FC4EECBB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88AB23-05E9-4596-ABC3-E0108B00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C5CE7"/>
                </a:solidFill>
              </a:defRPr>
            </a:pPr>
            <a:r>
              <a:rPr sz="2025" b="1">
                <a:solidFill>
                  <a:srgbClr val="6C5CE7"/>
                </a:solidFill>
              </a:rPr>
              <a:t>ON‑PREMISES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7C57CD-B149-470E-A939-EED98903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6B8A6"/>
                </a:solidFill>
              </a:defRPr>
            </a:pPr>
            <a:r>
              <a:rPr sz="2025" b="1">
                <a:solidFill>
                  <a:srgbClr val="16B8A6"/>
                </a:solidFill>
              </a:rPr>
              <a:t>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FBE42-8E4D-4C61-8489-B9925561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000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DF73F1-E7DE-4184-991C-11C68C1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Direct control</a:t>
            </a:r>
          </a:p>
          <a:p xmlns:a="http://schemas.openxmlformats.org/drawingml/2006/main">
            <a:pPr algn="r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Proximity to sites and machines</a:t>
            </a:r>
          </a:p>
          <a:p xmlns:a="http://schemas.openxmlformats.org/drawingml/2006/main">
            <a:pPr algn="r">
              <a:defRPr sz="1650" b="1">
                <a:solidFill>
                  <a:srgbClr val="25143D"/>
                </a:solidFill>
              </a:defRPr>
            </a:pPr>
            <a:r>
              <a:rPr sz="1650" b="1">
                <a:solidFill>
                  <a:srgbClr val="25143D"/>
                </a:solidFill>
              </a:rPr>
              <a:t>Predictable cost at stable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D531-173F-46A1-B209-9082B01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000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49F804-A662-4CFD-B7AD-11B79121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14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Rapid elasticity</a:t>
            </a:r>
          </a:p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Managed services and global reach</a:t>
            </a:r>
          </a:p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Consumption-based 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A1785-A233-4C8C-8BCB-02617596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1A1742-4237-4846-9F44-2C3E238F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113A"/>
                </a:solidFill>
              </a:defRPr>
            </a:pPr>
            <a:r>
              <a:rPr sz="1725" b="1">
                <a:solidFill>
                  <a:srgbClr val="20113A"/>
                </a:solidFill>
              </a:rPr>
              <a:t>HYBRID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D8082F-16E9-4497-8DC6-439343C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29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113A"/>
                </a:solidFill>
              </a:defRPr>
            </a:pPr>
            <a:r>
              <a:rPr sz="1275" b="1">
                <a:solidFill>
                  <a:srgbClr val="20113A"/>
                </a:solidFill>
              </a:rPr>
              <a:t>Keep constraints local</a:t>
            </a:r>
          </a:p>
          <a:p xmlns:a="http://schemas.openxmlformats.org/drawingml/2006/main">
            <a:pPr algn="ctr">
              <a:defRPr sz="1275" b="1">
                <a:solidFill>
                  <a:srgbClr val="20113A"/>
                </a:solidFill>
              </a:defRPr>
            </a:pPr>
            <a:r>
              <a:rPr sz="1275" b="1">
                <a:solidFill>
                  <a:srgbClr val="20113A"/>
                </a:solidFill>
              </a:rPr>
              <a:t>and elasticity in the cloud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7C4FBD-2F2A-4D68-A113-ADE0C3E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8162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6B"/>
                </a:solidFill>
              </a:defRPr>
            </a:pPr>
            <a:r>
              <a:rPr sz="1725" b="1">
                <a:solidFill>
                  <a:srgbClr val="FF6B6B"/>
                </a:solidFill>
              </a:rPr>
              <a:t>The right answer changes by workload—not by corporate slogan.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883116C1-6634-4057-AC35-B051F847C06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16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83132983-8BFE-451C-B663-A8A6F3E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17" name="nav-back">
            <a:extLst xmlns:a="http://schemas.openxmlformats.org/drawingml/2006/main">
              <a:ext uri="{FF2B5EF4-FFF2-40B4-BE49-F238E27FC236}">
                <a16:creationId xmlns:a16="http://schemas.microsoft.com/office/drawing/2014/main" id="{37102B7C-E6DA-4861-972C-6AB86E14826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18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8207D755-900C-4DA0-9939-78CE4AB1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65C10511-5236-4286-9961-77D15304976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20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5CE9AAFA-BB7E-4DCA-ACBA-08FC592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52258041"/>
      </p:ext>
    </p:extLst>
  </p:cSld>
  <p:transition spd="fast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">
            <a:extLst xmlns:a="http://schemas.openxmlformats.org/drawingml/2006/main">
              <a:ext uri="{FF2B5EF4-FFF2-40B4-BE49-F238E27FC236}">
                <a16:creationId xmlns:a16="http://schemas.microsoft.com/office/drawing/2014/main" id="{4E2020A2-3D48-4AB7-A12A-E348A7F7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E5118E-8509-45BD-9F7E-9956BC54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Practical Comparison: Each Option Wins in a Different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FE8C-9F63-4537-A08D-625A62D4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343ABD4-5613-4C8C-9545-505CA90D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FCD29C-ABA0-4E08-875E-76429F92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16987"/>
                </a:solidFill>
              </a:defRPr>
            </a:pPr>
            <a:r>
              <a:rPr sz="1350" b="1">
                <a:solidFill>
                  <a:srgbClr val="716987"/>
                </a:solidFill>
              </a:rPr>
              <a:t>Criterion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C4C93-3F74-4CA2-853A-DAAA07E9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2952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64972C-7730-4D03-87C1-306DCE25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287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22144-6121-4CBE-B0F6-148C530F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000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6FA948-C15D-4322-845C-0DE4863E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C0FE7-9AF4-4C71-B1AB-5DBD0FE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3362A3-D74C-4E78-BDB5-4594337A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Investment model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649F15A-4B75-423E-A86E-87B593B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Upfront CapEx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FB947D-9AB5-4542-9F90-EFDFF292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Variable OpEx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1D4213F-BD08-4A93-B355-BAA7F682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Elasticity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CDBD819-F931-4B88-8C3C-F51909C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Slower: procure and install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B0B58B-095A-481C-84A7-3999E188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384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Minutes through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3BA49-2C73-4344-A077-CB9179C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24ACC4E-64BD-4FB8-9093-4DC65DD7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Control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FC5CDD-C266-4EEF-8F1D-FF4769D6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Maximum physical and operational control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8014E77-16BF-4031-AF14-9AAC5E6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241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Logical control within provider boundaries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6E268BC-8C5B-4317-9DEC-2C69F8A6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Local latency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6AA5D76-13DE-49FE-BD53-37757BE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09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Excellent for factories and local sites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CA27665-71A1-46EA-8972-AD56F22A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09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Depends on connectivity and region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F45B2-8EE9-4E23-A4C7-149944AF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C15BAFA-7E86-480A-836B-E636626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Global reach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77604E5-341B-4460-81BD-63A3B19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957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Costly and complex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8E11193-0722-4F5D-A492-68F8404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A core platform capability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59713B9-E76A-4784-8C27-29343FFA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Skills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29E773D-B0FA-4697-BC49-409A6EF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81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Hardware + facilities + ops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1FC2743-1B89-43D4-8889-04394703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81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Cloud + FinOps + 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3D2CE9-3D54-4F2B-BF37-C8E9E49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1430">
            <a:solidFill>
              <a:srgbClr val="EAF2F7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025D525-2E91-4877-AC8F-4FAF50E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Disaster recovery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6D2FC55-A216-44C5-A205-120F0EA6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672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A second site is expensive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0CC48C4-C35F-4750-AF1D-50CDF982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672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Multi-region services are available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2E4079B-27E6-4CD3-8FF6-44F87456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143D"/>
                </a:solidFill>
              </a:defRPr>
            </a:pPr>
            <a:r>
              <a:rPr sz="1200" b="1">
                <a:solidFill>
                  <a:srgbClr val="25143D"/>
                </a:solidFill>
              </a:rPr>
              <a:t>Lock‑in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52AC8F6-B4A5-4BE1-A953-ED9F088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53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Hardware/virtualization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2E6F01C-4E81-4C6C-A230-C739E651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53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143D"/>
                </a:solidFill>
              </a:defRPr>
            </a:pPr>
            <a:r>
              <a:rPr sz="1125" b="0">
                <a:solidFill>
                  <a:srgbClr val="25143D"/>
                </a:solidFill>
              </a:rPr>
              <a:t>Managed services and provider APIs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37F8B25-5505-43EE-B3B1-44F6B870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007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6B"/>
                </a:solidFill>
              </a:defRPr>
            </a:pPr>
            <a:r>
              <a:rPr sz="1275" b="1">
                <a:solidFill>
                  <a:srgbClr val="FF6B6B"/>
                </a:solidFill>
              </a:rPr>
              <a:t>Do not score the options until each criterion has an explicit weight.</a:t>
            </a:r>
          </a:p>
        </p:txBody>
      </p:sp>
      <p:sp>
        <p:nvSpPr>
          <p:cNvPr id="39" name="nav-home">
            <a:extLst xmlns:a="http://schemas.openxmlformats.org/drawingml/2006/main">
              <a:ext uri="{FF2B5EF4-FFF2-40B4-BE49-F238E27FC236}">
                <a16:creationId xmlns:a16="http://schemas.microsoft.com/office/drawing/2014/main" id="{5DFCF24C-4346-4960-B9B4-10ED0244EDB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0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EF7AB60C-EC0A-4434-97F5-3D8532D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41" name="nav-back">
            <a:extLst xmlns:a="http://schemas.openxmlformats.org/drawingml/2006/main">
              <a:ext uri="{FF2B5EF4-FFF2-40B4-BE49-F238E27FC236}">
                <a16:creationId xmlns:a16="http://schemas.microsoft.com/office/drawing/2014/main" id="{B618DC74-6DE1-4811-9EFF-EFCF86370BC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42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9DB1948A-7A00-4AE9-A9A9-22821550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43" name="nav-next">
            <a:extLst xmlns:a="http://schemas.openxmlformats.org/drawingml/2006/main">
              <a:ext uri="{FF2B5EF4-FFF2-40B4-BE49-F238E27FC236}">
                <a16:creationId xmlns:a16="http://schemas.microsoft.com/office/drawing/2014/main" id="{3527A097-114A-4D03-B228-1BC886C3D3D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44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8B83CA41-6876-4989-B231-4A879F2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687956918"/>
      </p:ext>
    </p:extLst>
  </p:cSld>
  <p:transition spd="fast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ction">
            <a:extLst xmlns:a="http://schemas.openxmlformats.org/drawingml/2006/main">
              <a:ext uri="{FF2B5EF4-FFF2-40B4-BE49-F238E27FC236}">
                <a16:creationId xmlns:a16="http://schemas.microsoft.com/office/drawing/2014/main" id="{E1CDA356-9E79-4E27-A4B0-5083669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5CE7"/>
                </a:solidFill>
              </a:defRPr>
            </a:pPr>
            <a:r>
              <a:rPr sz="975" b="1">
                <a:solidFill>
                  <a:srgbClr val="6C5CE7"/>
                </a:solidFill>
              </a:rPr>
              <a:t>SOURCES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E8B89C-A008-4091-9BFF-4FED6A9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143D"/>
                </a:solidFill>
              </a:defRPr>
            </a:pPr>
            <a:r>
              <a:rPr sz="2700" b="1">
                <a:solidFill>
                  <a:srgbClr val="25143D"/>
                </a:solidFill>
              </a:rPr>
              <a:t>Source Library: Academic, Standards-Based, and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F3AF-8BCB-4D15-B9B7-FC6F773C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EC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AF12853-6D34-4003-A6F5-0857CBF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6987"/>
                </a:solidFill>
              </a:defRPr>
            </a:pPr>
            <a:r>
              <a:rPr sz="900" b="1">
                <a:solidFill>
                  <a:srgbClr val="71698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BA21A-BF42-47E7-9407-E4CB163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60439C-697B-4B2C-8E2F-5CFC987D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906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NIST SP 800‑145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773060-E088-4828-B70B-63FC77A5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Cloud definition and models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366C6C-9746-4EBE-B0DC-6C3D29A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6EA51-EA39-45B5-83C2-B16B6FC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9416D0-A522-41F4-BE75-15F01C64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906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Lamport (1978)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20B0B3-CC31-4235-983D-DECCAFD0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Ordering and logical clocks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884799-F3BA-4CFD-806B-371890B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6D52A-6C21-43CC-A132-52E977C2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B26587-D451-4F62-98B4-A75D1250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906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Brewer / CAP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50276D-F018-43E2-B2FF-9066184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Consistency and availability during partitions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EFEB7D-7C48-4151-A72F-D30692BE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3258E-DCCB-41F6-B35C-C111EAAC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8DCE30B-3E97-4817-9EB9-95BEE875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Ongaro &amp; Ousterhout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8D1217D-405B-4BC5-9F26-7C357851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d27e3792eb7743c8"/>
              </a:rPr>
              <a:t>Raft consensus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15014A-D625-41E6-AB6D-C4D4381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7810B-2F3C-4FD1-92FA-DC6DA0FB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224CD3C-63AF-4D4F-AF22-4F30DC8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Google Research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DFEF535-49B0-46E6-92E0-C82B3335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9cae55e7777b4ebc"/>
              </a:rPr>
              <a:t>GFS • MapReduce • Bigtable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77538EC-143C-4094-BE90-4AD3846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91C3D-04A9-4074-A56A-16C96C7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14804B6-7F29-4D33-B442-765261D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NIST SP 800‑204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C4E58A5-0634-4639-8172-660A5828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Microservices security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2D19F99-95CC-4E88-8787-782216F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E30170-FD19-4EEF-A257-60923E8E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2C81CB8-30EF-42E9-A628-D3CF71C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Azure Architecture Center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CD4B6D3-989A-470C-9D55-0CEEDFA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</a:rPr>
              <a:t>Patterns and cost decisions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C8BF70C-5132-49DA-8E86-1249AE5A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ACC094-640D-4BE2-87CA-7A9790B6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9B5432C-9AE6-4643-ACEE-8D05CE0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529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AWS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90858EDE-E3EB-4C8B-819E-9B00BE2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c04a3fa73cc747c5"/>
              </a:rPr>
              <a:t>Shared responsibility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3DFE50D-0A57-46B0-A958-EEB2CF20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38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3BBCD5-9EC5-42F6-BED7-104D2C5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FEC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247E943-E623-4E63-9A60-952502AA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529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43D"/>
                </a:solidFill>
              </a:defRPr>
            </a:pPr>
            <a:r>
              <a:rPr sz="1350" b="1">
                <a:solidFill>
                  <a:srgbClr val="25143D"/>
                </a:solidFill>
              </a:rPr>
              <a:t>Kubernetes Docs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AC1D89F-4130-4955-A8FF-F10D08CC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987"/>
                </a:solidFill>
              </a:defRPr>
            </a:pPr>
            <a:r>
              <a:rPr sz="1125" b="0">
                <a:solidFill>
                  <a:srgbClr val="716987"/>
                </a:solidFill>
                <a:hlinkClick xmlns:r="http://schemas.openxmlformats.org/officeDocument/2006/relationships" r:id="R6c007c44c4c441b4"/>
              </a:rPr>
              <a:t>Cluster architecture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607916C0-5B37-4232-B5AB-E5754AF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38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5CE7"/>
                </a:solidFill>
              </a:defRPr>
            </a:pPr>
            <a:r>
              <a:rPr sz="825" b="1">
                <a:solidFill>
                  <a:srgbClr val="6C5CE7"/>
                </a:solidFill>
              </a:rPr>
              <a:t>OPEN ↗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AC0350A-6CC2-433F-8B55-4F38B52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055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Every non-trivial claim is also documented in each slide's speaker notes.</a:t>
            </a:r>
          </a:p>
        </p:txBody>
      </p:sp>
      <p:sp>
        <p:nvSpPr>
          <p:cNvPr id="42" name="nav-home">
            <a:extLst xmlns:a="http://schemas.openxmlformats.org/drawingml/2006/main">
              <a:ext uri="{FF2B5EF4-FFF2-40B4-BE49-F238E27FC236}">
                <a16:creationId xmlns:a16="http://schemas.microsoft.com/office/drawing/2014/main" id="{F2FB91F9-CD42-4540-A1BA-4E69F25B535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43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3D3D8310-2996-4885-AD86-175F6F25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44" name="nav-back">
            <a:extLst xmlns:a="http://schemas.openxmlformats.org/drawingml/2006/main">
              <a:ext uri="{FF2B5EF4-FFF2-40B4-BE49-F238E27FC236}">
                <a16:creationId xmlns:a16="http://schemas.microsoft.com/office/drawing/2014/main" id="{3D2252D8-450D-477F-B00A-CD7149E97D5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45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0E65A1DF-D99D-44B0-A472-6714474E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46" name="nav-next">
            <a:extLst xmlns:a="http://schemas.openxmlformats.org/drawingml/2006/main">
              <a:ext uri="{FF2B5EF4-FFF2-40B4-BE49-F238E27FC236}">
                <a16:creationId xmlns:a16="http://schemas.microsoft.com/office/drawing/2014/main" id="{2424ED56-B11A-4A6B-8140-FD66C008499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47" name="nav-next-label">
            <a:extLst xmlns:a="http://schemas.openxmlformats.org/drawingml/2006/main">
              <a:ext uri="{FF2B5EF4-FFF2-40B4-BE49-F238E27FC236}">
                <a16:creationId xmlns:a16="http://schemas.microsoft.com/office/drawing/2014/main" id="{F17C8E45-1D60-41AF-8AD8-7FDDC3CB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810759962"/>
      </p:ext>
    </p:extLst>
  </p:cSld>
  <p:transition spd="fast">
    <p:fade/>
  </p:transition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1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0A6A76-BD7A-437A-9BC4-793DF026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3E635"/>
                </a:solidFill>
              </a:defRPr>
            </a:pPr>
            <a:r>
              <a:rPr sz="1200" b="1">
                <a:solidFill>
                  <a:srgbClr val="A3E635"/>
                </a:solidFill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A29432-3D60-4860-BBDC-40C4302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Distribute a system when the value of scale, elasticity, and reliability exceeds the cost of coordination.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E64B1-8C2A-43DC-A389-03B2FE2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11430">
            <a:solidFill>
              <a:srgbClr val="16B8A6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60DA4E-A1AA-40D6-A70A-98A52C56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B8A6"/>
                </a:solidFill>
              </a:defRPr>
            </a:pPr>
            <a:r>
              <a:rPr sz="2250" b="1">
                <a:solidFill>
                  <a:srgbClr val="16B8A6"/>
                </a:solidFill>
              </a:rPr>
              <a:t>Design for failure from day one.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EA49DA-74C0-4034-B4DC-FCBA9EA9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D6E7"/>
                </a:solidFill>
              </a:defRPr>
            </a:pPr>
            <a:r>
              <a:rPr sz="1650" b="1">
                <a:solidFill>
                  <a:srgbClr val="B8D6E7"/>
                </a:solidFill>
              </a:rPr>
              <a:t>A mature decision is neither cloud-first nor local-first—it is constraint-first.</a:t>
            </a:r>
          </a:p>
        </p:txBody>
      </p:sp>
      <p:sp>
        <p:nvSpPr>
          <p:cNvPr id="6" name="nav-home">
            <a:extLst xmlns:a="http://schemas.openxmlformats.org/drawingml/2006/main">
              <a:ext uri="{FF2B5EF4-FFF2-40B4-BE49-F238E27FC236}">
                <a16:creationId xmlns:a16="http://schemas.microsoft.com/office/drawing/2014/main" id="{FB7E1BE0-D64E-43C2-A6AB-12DE5D86F2F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2255"/>
          </a:solidFill>
          <a:ln xmlns:a="http://schemas.openxmlformats.org/drawingml/2006/main" w="11430">
            <a:solidFill>
              <a:srgbClr val="342255"/>
            </a:solidFill>
            <a:prstDash val="solid"/>
          </a:ln>
        </p:spPr>
      </p:sp>
      <p:sp>
        <p:nvSpPr>
          <p:cNvPr id="7" name="nav-home-label">
            <a:extLst xmlns:a="http://schemas.openxmlformats.org/drawingml/2006/main">
              <a:ext uri="{FF2B5EF4-FFF2-40B4-BE49-F238E27FC236}">
                <a16:creationId xmlns:a16="http://schemas.microsoft.com/office/drawing/2014/main" id="{E7EC8340-91E1-447C-9645-6527204E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⌂</a:t>
            </a:r>
          </a:p>
        </p:txBody>
      </p:sp>
      <p:sp>
        <p:nvSpPr>
          <p:cNvPr id="8" name="nav-back">
            <a:extLst xmlns:a="http://schemas.openxmlformats.org/drawingml/2006/main">
              <a:ext uri="{FF2B5EF4-FFF2-40B4-BE49-F238E27FC236}">
                <a16:creationId xmlns:a16="http://schemas.microsoft.com/office/drawing/2014/main" id="{C6780B54-97C6-4F3F-868E-8C6A7852892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1430">
            <a:solidFill>
              <a:srgbClr val="6C5CE7"/>
            </a:solidFill>
            <a:prstDash val="solid"/>
          </a:ln>
        </p:spPr>
      </p:sp>
      <p:sp>
        <p:nvSpPr>
          <p:cNvPr id="9" name="nav-back-label">
            <a:extLst xmlns:a="http://schemas.openxmlformats.org/drawingml/2006/main">
              <a:ext uri="{FF2B5EF4-FFF2-40B4-BE49-F238E27FC236}">
                <a16:creationId xmlns:a16="http://schemas.microsoft.com/office/drawing/2014/main" id="{8189DDD4-056A-4BA2-940B-B4D52850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05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←</a:t>
            </a:r>
          </a:p>
        </p:txBody>
      </p:sp>
    </p:spTree>
    <p:extLst>
      <p:ext uri="{BB962C8B-B14F-4D97-AF65-F5344CB8AC3E}">
        <p14:creationId xmlns:p14="http://schemas.microsoft.com/office/powerpoint/2010/main" val="1739192317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2026-08-12T17:59:53.0960000Z</dcterms:created>
  <dcterms:modified xsi:type="dcterms:W3CDTF">2026-08-12T17:59:53.0960000Z</dcterms:modified>
</coreProperties>
</file>