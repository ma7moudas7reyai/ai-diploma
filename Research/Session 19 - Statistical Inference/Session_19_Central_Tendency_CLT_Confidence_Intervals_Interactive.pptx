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20165430c34517" /><Relationship Type="http://schemas.openxmlformats.org/officeDocument/2006/relationships/extended-properties" Target="/docProps/app.xml" Id="Raf64c99671834133" /><Relationship Type="http://schemas.openxmlformats.org/officeDocument/2006/relationships/officeDocument" Target="/ppt/presentation.xml" Id="Rdb943a79795b4a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a086b868d44756"/>
  </p:sldMasterIdLst>
  <p:notesMasterIdLst>
    <p:notesMasterId xmlns:r="http://schemas.openxmlformats.org/officeDocument/2006/relationships" r:id="Ra2a51571794f4ddc"/>
  </p:notesMasterIdLst>
  <p:sldIdLst>
    <p:sldId xmlns:r="http://schemas.openxmlformats.org/officeDocument/2006/relationships" id="256" r:id="R947891a4d128453b"/>
    <p:sldId xmlns:r="http://schemas.openxmlformats.org/officeDocument/2006/relationships" id="257" r:id="Rb741ae379b874b12"/>
    <p:sldId xmlns:r="http://schemas.openxmlformats.org/officeDocument/2006/relationships" id="258" r:id="Rf4754aed330847fc"/>
    <p:sldId xmlns:r="http://schemas.openxmlformats.org/officeDocument/2006/relationships" id="259" r:id="R698568d5203b4eac"/>
    <p:sldId xmlns:r="http://schemas.openxmlformats.org/officeDocument/2006/relationships" id="260" r:id="Rb49b2658ec5b4a35"/>
    <p:sldId xmlns:r="http://schemas.openxmlformats.org/officeDocument/2006/relationships" id="261" r:id="Ra876f6f39f6b492c"/>
    <p:sldId xmlns:r="http://schemas.openxmlformats.org/officeDocument/2006/relationships" id="262" r:id="Rc54a26be800c4418"/>
    <p:sldId xmlns:r="http://schemas.openxmlformats.org/officeDocument/2006/relationships" id="263" r:id="R9e7ed635adf7497d"/>
    <p:sldId xmlns:r="http://schemas.openxmlformats.org/officeDocument/2006/relationships" id="264" r:id="R56448a260756420b"/>
    <p:sldId xmlns:r="http://schemas.openxmlformats.org/officeDocument/2006/relationships" id="265" r:id="Rde6b6f00b7ed4d8f"/>
    <p:sldId xmlns:r="http://schemas.openxmlformats.org/officeDocument/2006/relationships" id="266" r:id="R8b6f559ad24548af"/>
    <p:sldId xmlns:r="http://schemas.openxmlformats.org/officeDocument/2006/relationships" id="267" r:id="R8d21301a4d3f41b3"/>
    <p:sldId xmlns:r="http://schemas.openxmlformats.org/officeDocument/2006/relationships" id="268" r:id="R16c08fbbebb54ae2"/>
    <p:sldId xmlns:r="http://schemas.openxmlformats.org/officeDocument/2006/relationships" id="269" r:id="R280d43814dff49c7"/>
    <p:sldId xmlns:r="http://schemas.openxmlformats.org/officeDocument/2006/relationships" id="270" r:id="R7c2c747f3e084ce6"/>
    <p:sldId xmlns:r="http://schemas.openxmlformats.org/officeDocument/2006/relationships" id="271" r:id="R7fe4013ac4b14d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f4377ad9d64bb9" /><Relationship Type="http://schemas.openxmlformats.org/officeDocument/2006/relationships/slideMaster" Target="/ppt/slideMasters/slideMaster1.xml" Id="Rbaa086b868d44756" /><Relationship Type="http://schemas.openxmlformats.org/officeDocument/2006/relationships/notesMaster" Target="/ppt/notesMasters/notesMaster1.xml" Id="Ra2a51571794f4ddc" /><Relationship Type="http://schemas.openxmlformats.org/officeDocument/2006/relationships/presProps" Target="/ppt/presProps.xml" Id="Re1c693d8a1774332" /><Relationship Type="http://schemas.openxmlformats.org/officeDocument/2006/relationships/tableStyles" Target="/ppt/tableStyles.xml" Id="R2bfea4b5313a4385" /><Relationship Type="http://schemas.openxmlformats.org/officeDocument/2006/relationships/slide" Target="/ppt/slides/slide1.xml" Id="R947891a4d128453b" /><Relationship Type="http://schemas.openxmlformats.org/officeDocument/2006/relationships/slide" Target="/ppt/slides/slide2.xml" Id="Rb741ae379b874b12" /><Relationship Type="http://schemas.openxmlformats.org/officeDocument/2006/relationships/slide" Target="/ppt/slides/slide3.xml" Id="Rf4754aed330847fc" /><Relationship Type="http://schemas.openxmlformats.org/officeDocument/2006/relationships/slide" Target="/ppt/slides/slide4.xml" Id="R698568d5203b4eac" /><Relationship Type="http://schemas.openxmlformats.org/officeDocument/2006/relationships/slide" Target="/ppt/slides/slide5.xml" Id="Rb49b2658ec5b4a35" /><Relationship Type="http://schemas.openxmlformats.org/officeDocument/2006/relationships/slide" Target="/ppt/slides/slide6.xml" Id="Ra876f6f39f6b492c" /><Relationship Type="http://schemas.openxmlformats.org/officeDocument/2006/relationships/slide" Target="/ppt/slides/slide7.xml" Id="Rc54a26be800c4418" /><Relationship Type="http://schemas.openxmlformats.org/officeDocument/2006/relationships/slide" Target="/ppt/slides/slide8.xml" Id="R9e7ed635adf7497d" /><Relationship Type="http://schemas.openxmlformats.org/officeDocument/2006/relationships/slide" Target="/ppt/slides/slide9.xml" Id="R56448a260756420b" /><Relationship Type="http://schemas.openxmlformats.org/officeDocument/2006/relationships/slide" Target="/ppt/slides/slide10.xml" Id="Rde6b6f00b7ed4d8f" /><Relationship Type="http://schemas.openxmlformats.org/officeDocument/2006/relationships/slide" Target="/ppt/slides/slide11.xml" Id="R8b6f559ad24548af" /><Relationship Type="http://schemas.openxmlformats.org/officeDocument/2006/relationships/slide" Target="/ppt/slides/slide12.xml" Id="R8d21301a4d3f41b3" /><Relationship Type="http://schemas.openxmlformats.org/officeDocument/2006/relationships/slide" Target="/ppt/slides/slide13.xml" Id="R16c08fbbebb54ae2" /><Relationship Type="http://schemas.openxmlformats.org/officeDocument/2006/relationships/slide" Target="/ppt/slides/slide14.xml" Id="R280d43814dff49c7" /><Relationship Type="http://schemas.openxmlformats.org/officeDocument/2006/relationships/slide" Target="/ppt/slides/slide15.xml" Id="R7c2c747f3e084ce6" /><Relationship Type="http://schemas.openxmlformats.org/officeDocument/2006/relationships/slide" Target="/ppt/slides/slide16.xml" Id="R7fe4013ac4b1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241896de504d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8eddc56388417d" /><Relationship Type="http://schemas.openxmlformats.org/officeDocument/2006/relationships/notesMaster" Target="/ppt/notesMasters/notesMaster1.xml" Id="Rd97b553c397548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bdb17ed63a448c" /><Relationship Type="http://schemas.openxmlformats.org/officeDocument/2006/relationships/notesMaster" Target="/ppt/notesMasters/notesMaster1.xml" Id="R92eb9f10d5e24e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deb82accb41a8" /><Relationship Type="http://schemas.openxmlformats.org/officeDocument/2006/relationships/notesMaster" Target="/ppt/notesMasters/notesMaster1.xml" Id="R4d6a2a9fab0f47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99b3203f3547dd" /><Relationship Type="http://schemas.openxmlformats.org/officeDocument/2006/relationships/notesMaster" Target="/ppt/notesMasters/notesMaster1.xml" Id="Raaad6909f4934a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9a3084398842e9" /><Relationship Type="http://schemas.openxmlformats.org/officeDocument/2006/relationships/notesMaster" Target="/ppt/notesMasters/notesMaster1.xml" Id="Rf94a4b192bd142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b4288987a64d4b" /><Relationship Type="http://schemas.openxmlformats.org/officeDocument/2006/relationships/notesMaster" Target="/ppt/notesMasters/notesMaster1.xml" Id="Rb61514898fa149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c7ec61a229460e" /><Relationship Type="http://schemas.openxmlformats.org/officeDocument/2006/relationships/notesMaster" Target="/ppt/notesMasters/notesMaster1.xml" Id="R4a36ee736ecf43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98b372634b47bb" /><Relationship Type="http://schemas.openxmlformats.org/officeDocument/2006/relationships/notesMaster" Target="/ppt/notesMasters/notesMaster1.xml" Id="R02fd4479788142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320cf6f97441ad" /><Relationship Type="http://schemas.openxmlformats.org/officeDocument/2006/relationships/notesMaster" Target="/ppt/notesMasters/notesMaster1.xml" Id="R937937d9be5446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426fe002b24c9b" /><Relationship Type="http://schemas.openxmlformats.org/officeDocument/2006/relationships/notesMaster" Target="/ppt/notesMasters/notesMaster1.xml" Id="R234a59cf6b0b43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8b87d8c84a4494" /><Relationship Type="http://schemas.openxmlformats.org/officeDocument/2006/relationships/notesMaster" Target="/ppt/notesMasters/notesMaster1.xml" Id="Rf11689f68b384d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94207c0aba483c" /><Relationship Type="http://schemas.openxmlformats.org/officeDocument/2006/relationships/notesMaster" Target="/ppt/notesMasters/notesMaster1.xml" Id="R3436f394570d4c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317f6f72714ed6" /><Relationship Type="http://schemas.openxmlformats.org/officeDocument/2006/relationships/notesMaster" Target="/ppt/notesMasters/notesMaster1.xml" Id="Re7b53f13f85340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911662a66c41f7" /><Relationship Type="http://schemas.openxmlformats.org/officeDocument/2006/relationships/notesMaster" Target="/ppt/notesMasters/notesMaster1.xml" Id="Rfdaa647589e448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137cef4ab94414" /><Relationship Type="http://schemas.openxmlformats.org/officeDocument/2006/relationships/notesMaster" Target="/ppt/notesMasters/notesMaster1.xml" Id="R2971e580f4fb43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902354ddfc4ded" /><Relationship Type="http://schemas.openxmlformats.org/officeDocument/2006/relationships/notesMaster" Target="/ppt/notesMasters/notesMaster1.xml" Id="Rd4015913e0b546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https://itl.nist.gov/div898/handbook/eda/section3/eda351.htm</a:t>
            </a:r>
          </a:p>
          <a:p xmlns:a="http://schemas.openxmlformats.org/drawingml/2006/main">
            <a:r>
              <a:t>- https://openstax.org/books/principles-data-science/pages/4-1-statistical-inference-and-confidence-intervals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https://itl.nist.gov/div898/handbook/eda/section3/eda351.htm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https://itl.nist.gov/div898/handbook/eda/section3/eda351.htm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https://itl.nist.gov/div898/handbook/eda/section3/eda351.htm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https://itl.nist.gov/div898/handbook/eda/section3/eda351.htm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https://itl.nist.gov/div898/handbook/eda/section3/eda351.htm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https://openstax.org/books/principles-data-science/pages/4-1-statistical-inference-and-confidence-intervals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https://openstax.org/books/principles-data-science/pages/4-1-statistical-inference-and-confidence-intervals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- https://www.itl.nist.gov/div898/handbook/prc/section1/prc14.htm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- https://www.itl.nist.gov/div898/handbook/prc/section1/prc14.htm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https://itl.nist.gov/div898/handbook/eda/section3/eda351.htm</a:t>
            </a:r>
          </a:p>
          <a:p xmlns:a="http://schemas.openxmlformats.org/drawingml/2006/main">
            <a:r>
              <a:t>- https://openstax.org/books/principles-data-science/pages/4-1-statistical-inference-and-confidence-intervals</a:t>
            </a:r>
          </a:p>
          <a:p xmlns:a="http://schemas.openxmlformats.org/drawingml/2006/main">
            <a:r>
              <a:t>- https://www.itl.nist.gov/div898/handbook/eda/section3/eda352.htm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67a568aa75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82c1aff4834607" /><Relationship Type="http://schemas.openxmlformats.org/officeDocument/2006/relationships/slideLayout" Target="/ppt/slideLayouts/slideLayout1.xml" Id="R92fe551e3a7a44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fe551e3a7a44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bf03c0564804561" /><Relationship Type="http://schemas.openxmlformats.org/officeDocument/2006/relationships/notesSlide" Target="/ppt/notesSlides/notesSlide1.xml" Id="Ra3e9f1c3742a4cab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dc88eae3a9d4feb" /><Relationship Type="http://schemas.openxmlformats.org/officeDocument/2006/relationships/notesSlide" Target="/ppt/notesSlides/notesSlide2.xml" Id="R0bc9f8b4881247e3" /><Relationship Id="rId1" Type="http://schemas.openxmlformats.org/officeDocument/2006/relationships/slide" Target="slide3.xml" /><Relationship Id="rId2" Type="http://schemas.openxmlformats.org/officeDocument/2006/relationships/slide" Target="slide5.xml" /><Relationship Id="rId3" Type="http://schemas.openxmlformats.org/officeDocument/2006/relationships/slide" Target="slide7.xml" /><Relationship Id="rId4" Type="http://schemas.openxmlformats.org/officeDocument/2006/relationships/slide" Target="slide9.xml" /><Relationship Id="rId5" Type="http://schemas.openxmlformats.org/officeDocument/2006/relationships/slide" Target="slide10.xml" /><Relationship Id="rId6" Type="http://schemas.openxmlformats.org/officeDocument/2006/relationships/slide" Target="slide14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c92f2e37131405c" /><Relationship Type="http://schemas.openxmlformats.org/officeDocument/2006/relationships/notesSlide" Target="/ppt/notesSlides/notesSlide3.xml" Id="R21e9a168c342438d" /><Relationship Id="rId1" Type="http://schemas.openxmlformats.org/officeDocument/2006/relationships/slide" Target="slide2.xml" /><Relationship Id="rId2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e9a59bd6957492c" /><Relationship Type="http://schemas.openxmlformats.org/officeDocument/2006/relationships/notesSlide" Target="/ppt/notesSlides/notesSlide4.xml" Id="R81b6181c950a4e96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2e1e99cef244f71" /><Relationship Type="http://schemas.openxmlformats.org/officeDocument/2006/relationships/notesSlide" Target="/ppt/notesSlides/notesSlide5.xml" Id="Rac8d5ade99b6456e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511e5d32e2d4890" /><Relationship Type="http://schemas.openxmlformats.org/officeDocument/2006/relationships/notesSlide" Target="/ppt/notesSlides/notesSlide6.xml" Id="Rccd63bd1f2724d9e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26f7b3a3f584782" /><Relationship Type="http://schemas.openxmlformats.org/officeDocument/2006/relationships/notesSlide" Target="/ppt/notesSlides/notesSlide7.xml" Id="Ra381a201c1b142f3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44882db69564134" /><Relationship Type="http://schemas.openxmlformats.org/officeDocument/2006/relationships/notesSlide" Target="/ppt/notesSlides/notesSlide8.xml" Id="R037a2e3ad37548ce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de894e78a3348fc" /><Relationship Type="http://schemas.openxmlformats.org/officeDocument/2006/relationships/notesSlide" Target="/ppt/notesSlides/notesSlide9.xml" Id="Red4ae55e157c45c0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6f1ef6c05b743f4" /><Relationship Type="http://schemas.openxmlformats.org/officeDocument/2006/relationships/notesSlide" Target="/ppt/notesSlides/notesSlide10.xml" Id="R55e857d2ae3e47c0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97484316a5240ff" /><Relationship Type="http://schemas.openxmlformats.org/officeDocument/2006/relationships/notesSlide" Target="/ppt/notesSlides/notesSlide11.xml" Id="R06ba1f5fdb8f479f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355a2714def4a36" /><Relationship Type="http://schemas.openxmlformats.org/officeDocument/2006/relationships/notesSlide" Target="/ppt/notesSlides/notesSlide12.xml" Id="R4359717fe2924100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0721d76dc324be1" /><Relationship Type="http://schemas.openxmlformats.org/officeDocument/2006/relationships/notesSlide" Target="/ppt/notesSlides/notesSlide13.xml" Id="R85f3c846e2e94e04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ae4023d8acd54caf" /><Relationship Type="http://schemas.openxmlformats.org/officeDocument/2006/relationships/notesSlide" Target="/ppt/notesSlides/notesSlide14.xml" Id="R62360806ef5b4b5c" /><Relationship Id="rId1" Type="http://schemas.openxmlformats.org/officeDocument/2006/relationships/slide" Target="slide2.xml" /><Relationship Id="rId2" Type="http://schemas.openxmlformats.org/officeDocument/2006/relationships/slide" Target="slide13.xml" /><Relationship Id="rId3" Type="http://schemas.openxmlformats.org/officeDocument/2006/relationships/slide" Target="slide15.xml" /><Relationship Id="rId4" Type="http://schemas.openxmlformats.org/officeDocument/2006/relationships/slide" Target="slide16.xml" /><Relationship Id="rId5" Type="http://schemas.openxmlformats.org/officeDocument/2006/relationships/slide" Target="slide15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c8cbd1040a4429b" /><Relationship Type="http://schemas.openxmlformats.org/officeDocument/2006/relationships/notesSlide" Target="/ppt/notesSlides/notesSlide15.xml" Id="Raea8a891eea34e52" /><Relationship Id="rId1" Type="http://schemas.openxmlformats.org/officeDocument/2006/relationships/slide" Target="slide14.xml" /><Relationship Id="rId2" Type="http://schemas.openxmlformats.org/officeDocument/2006/relationships/slide" Target="slide2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f5c6fac147b4ce6" /><Relationship Type="http://schemas.openxmlformats.org/officeDocument/2006/relationships/notesSlide" Target="/ppt/notesSlides/notesSlide16.xml" Id="R0b1b2b7b7d344d5b" /><Relationship Id="rId1" Type="http://schemas.openxmlformats.org/officeDocument/2006/relationships/slide" Target="slide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B26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ld">
            <a:extLst xmlns:a="http://schemas.openxmlformats.org/drawingml/2006/main">
              <a:ext uri="{FF2B5EF4-FFF2-40B4-BE49-F238E27FC236}">
                <a16:creationId xmlns:a16="http://schemas.microsoft.com/office/drawing/2014/main" id="{4D2F9A37-3DFE-4FE4-B683-679644C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al">
            <a:extLst xmlns:a="http://schemas.openxmlformats.org/drawingml/2006/main">
              <a:ext uri="{FF2B5EF4-FFF2-40B4-BE49-F238E27FC236}">
                <a16:creationId xmlns:a16="http://schemas.microsoft.com/office/drawing/2014/main" id="{A6F1D537-3276-4D32-B2F0-CF829E5F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095875"/>
            <a:ext cx="1809750" cy="1571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8EED934-7897-4490-B55F-D7AA4DF6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SESSION 19  /  SEARCH TASK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82765D5-AD2F-4F8D-8744-B1952CB5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6667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From center</a:t>
            </a:r>
          </a:p>
          <a:p xmlns:a="http://schemas.openxmlformats.org/drawingml/2006/main">
            <a:pPr algn="l">
              <a:defRPr sz="5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 certainty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92C94D-14F9-4FC7-A3F5-AC2E5D2F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Central tendency · Central Limit Theorem · Confidence intervals</a:t>
            </a:r>
          </a:p>
        </p:txBody>
      </p:sp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711B3628-47F7-4270-ABE3-309326F1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4572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25062D-5B55-4169-BE4E-7BFC3BAA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B13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2B134"/>
                </a:solidFill>
                <a:latin typeface="Cambria Math"/>
                <a:ea typeface="Cambria Math"/>
                <a:cs typeface="Cambria Math"/>
              </a:rPr>
              <a:t>sample  →  estimate  →  interval</a:t>
            </a:r>
          </a:p>
        </p:txBody>
      </p:sp>
      <p:sp>
        <p:nvSpPr>
          <p:cNvPr id="8" name="start">
            <a:extLst xmlns:a="http://schemas.openxmlformats.org/drawingml/2006/main">
              <a:ext uri="{FF2B5EF4-FFF2-40B4-BE49-F238E27FC236}">
                <a16:creationId xmlns:a16="http://schemas.microsoft.com/office/drawing/2014/main" id="{A36C6394-A970-4AB5-A941-D5B290A340E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BEGIN THE INFERENCE</a:t>
            </a:r>
          </a:p>
        </p:txBody>
      </p:sp>
    </p:spTree>
    <p:extLst>
      <p:ext uri="{BB962C8B-B14F-4D97-AF65-F5344CB8AC3E}">
        <p14:creationId xmlns:p14="http://schemas.microsoft.com/office/powerpoint/2010/main" val="887013417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F50CB25-D610-4C75-8865-90B47CE7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rPr>
              <a:t>INTERACTIVE MAP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987B4DE-55D5-44BF-AA68-1534C20C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77"/>
          </a:solidFill>
          <a:ln xmlns:a="http://schemas.openxmlformats.org/drawingml/2006/main" w="0">
            <a:solidFill>
              <a:srgbClr val="D95D77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F4936EA-457D-4DF5-8A29-6A4EDF48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Follow the logic from data to population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52F4D02-7899-4A25-9014-8D6C60A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5" name="menu-center">
            <a:extLst xmlns:a="http://schemas.openxmlformats.org/drawingml/2006/main">
              <a:ext uri="{FF2B5EF4-FFF2-40B4-BE49-F238E27FC236}">
                <a16:creationId xmlns:a16="http://schemas.microsoft.com/office/drawing/2014/main" id="{C2855E6A-A517-4B3F-9114-6FA980603E6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8B2635"/>
          </a:solidFill>
          <a:ln xmlns:a="http://schemas.openxmlformats.org/drawingml/2006/main" w="9525">
            <a:solidFill>
              <a:srgbClr val="8B2635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CENTER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mean · median · mode</a:t>
            </a:r>
          </a:p>
        </p:txBody>
      </p:sp>
      <p:sp>
        <p:nvSpPr>
          <p:cNvPr id="6" name="menu-shape">
            <a:extLst xmlns:a="http://schemas.openxmlformats.org/drawingml/2006/main">
              <a:ext uri="{FF2B5EF4-FFF2-40B4-BE49-F238E27FC236}">
                <a16:creationId xmlns:a16="http://schemas.microsoft.com/office/drawing/2014/main" id="{DBD9C4B9-8ECD-4675-A316-7FDD1FC25E5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9525">
            <a:solidFill>
              <a:srgbClr val="F2B13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SHAPE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skew · outliers</a:t>
            </a:r>
          </a:p>
        </p:txBody>
      </p:sp>
      <p:sp>
        <p:nvSpPr>
          <p:cNvPr id="7" name="menu-clt">
            <a:extLst xmlns:a="http://schemas.openxmlformats.org/drawingml/2006/main">
              <a:ext uri="{FF2B5EF4-FFF2-40B4-BE49-F238E27FC236}">
                <a16:creationId xmlns:a16="http://schemas.microsoft.com/office/drawing/2014/main" id="{B384E977-D7E8-4340-A75A-7C9295AF0ABD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sampling distributions</a:t>
            </a:r>
          </a:p>
        </p:txBody>
      </p:sp>
      <p:sp>
        <p:nvSpPr>
          <p:cNvPr id="8" name="menu-se">
            <a:extLst xmlns:a="http://schemas.openxmlformats.org/drawingml/2006/main">
              <a:ext uri="{FF2B5EF4-FFF2-40B4-BE49-F238E27FC236}">
                <a16:creationId xmlns:a16="http://schemas.microsoft.com/office/drawing/2014/main" id="{863622E8-FE2D-43D5-AD72-8227442E38C7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7FA58A"/>
          </a:solidFill>
          <a:ln xmlns:a="http://schemas.openxmlformats.org/drawingml/2006/main" w="9525">
            <a:solidFill>
              <a:srgbClr val="7FA58A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standard error</a:t>
            </a:r>
          </a:p>
        </p:txBody>
      </p:sp>
      <p:sp>
        <p:nvSpPr>
          <p:cNvPr id="9" name="menu-ci">
            <a:extLst xmlns:a="http://schemas.openxmlformats.org/drawingml/2006/main">
              <a:ext uri="{FF2B5EF4-FFF2-40B4-BE49-F238E27FC236}">
                <a16:creationId xmlns:a16="http://schemas.microsoft.com/office/drawing/2014/main" id="{3EAD9114-9AA2-4202-85A3-F60EB33FCD54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52625"/>
            <a:ext cx="2028825" cy="223837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27364B"/>
          </a:solidFill>
          <a:ln xmlns:a="http://schemas.openxmlformats.org/drawingml/2006/main" w="9525">
            <a:solidFill>
              <a:srgbClr val="27364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confidence limits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B515B6-2706-400F-B2C4-B0A56277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One sample gives a point. Statistical inference adds calibrated uncertainty.</a:t>
            </a:r>
          </a:p>
        </p:txBody>
      </p:sp>
      <p:sp>
        <p:nvSpPr>
          <p:cNvPr id="11" name="menu-quiz">
            <a:extLst xmlns:a="http://schemas.openxmlformats.org/drawingml/2006/main">
              <a:ext uri="{FF2B5EF4-FFF2-40B4-BE49-F238E27FC236}">
                <a16:creationId xmlns:a16="http://schemas.microsoft.com/office/drawing/2014/main" id="{2B37253F-A1C3-4D6C-96A0-59A48CB7D22D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34000"/>
            <a:ext cx="35528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95D77"/>
          </a:solidFill>
          <a:ln xmlns:a="http://schemas.openxmlformats.org/drawingml/2006/main" w="9525">
            <a:solidFill>
              <a:srgbClr val="D95D77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CHECK YOUR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661661535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29473D1-3655-46B3-A7AF-B44E215B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CENTRAL TENDENCY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892DD5A-23BD-46A4-A6C2-9C3BE6D7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635"/>
          </a:solidFill>
          <a:ln xmlns:a="http://schemas.openxmlformats.org/drawingml/2006/main" w="0">
            <a:solidFill>
              <a:srgbClr val="8B263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F8FE41C-676E-4C67-B2DB-53D24259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Central tendency answers “what is typical?”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A7DC11-3A01-46FA-9BCF-A7433C44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3626C2-86A3-4123-8A99-5CBAB678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MEAN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DC604C-6B53-4947-A217-8030E24E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9825"/>
            <a:ext cx="333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Uses every value; best for symmetric, well-behaved data.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F7B7EF-5AB6-4680-ABB6-62007FA0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MEDIAN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96B084-E281-49CB-B4DD-EFE85CF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9825"/>
            <a:ext cx="333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The middle rank; resistant to extreme values and skew.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3A9C161-BF5E-4817-B860-A86D2520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MODE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A7CC32B-6659-48E6-BAE6-05B46205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9825"/>
            <a:ext cx="333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The most frequent value or category; may be multiple or absent.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1E790D67-9385-49A7-931F-AE8A7FE5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857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2635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7403FB-9299-4B54-BB5A-52C9716F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1487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B263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8B2635"/>
                </a:solidFill>
                <a:latin typeface="Cambria Math"/>
                <a:ea typeface="Cambria Math"/>
                <a:cs typeface="Cambria Math"/>
              </a:rPr>
              <a:t>location is a choice about meaning—not just arithmetic</a:t>
            </a:r>
          </a:p>
        </p:txBody>
      </p:sp>
      <p:sp>
        <p:nvSpPr>
          <p:cNvPr id="13" name="nav-home">
            <a:extLst xmlns:a="http://schemas.openxmlformats.org/drawingml/2006/main">
              <a:ext uri="{FF2B5EF4-FFF2-40B4-BE49-F238E27FC236}">
                <a16:creationId xmlns:a16="http://schemas.microsoft.com/office/drawing/2014/main" id="{170ED46C-A490-4EC5-BF2D-55BB4F92D312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632C0809-8A2D-48F3-BAF4-5B1AFB5BC884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900430020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BB63E03-7ACD-47BF-993B-5ED7E30C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CENTER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D1AE9C2-A3D4-46A0-B0C9-CDD2697C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635"/>
          </a:solidFill>
          <a:ln xmlns:a="http://schemas.openxmlformats.org/drawingml/2006/main" w="0">
            <a:solidFill>
              <a:srgbClr val="8B2635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F35E5A9-5FC9-4E53-AE4F-A1C56B66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Mean balances values; median balances ranks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9929030-7911-4CCA-8BE5-AB07DE46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28C51B49-E77E-46AC-8449-251053FF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048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2635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57DD557-B348-4D41-B61F-E3CB806F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B263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8B2635"/>
                </a:solidFill>
                <a:latin typeface="Cambria Math"/>
                <a:ea typeface="Cambria Math"/>
                <a:cs typeface="Cambria Math"/>
              </a:rPr>
              <a:t>x̄ = (Σxᵢ) / n</a:t>
            </a:r>
          </a:p>
        </p:txBody>
      </p:sp>
      <p:sp>
        <p:nvSpPr>
          <p:cNvPr id="7" name="formula">
            <a:extLst xmlns:a="http://schemas.openxmlformats.org/drawingml/2006/main">
              <a:ext uri="{FF2B5EF4-FFF2-40B4-BE49-F238E27FC236}">
                <a16:creationId xmlns:a16="http://schemas.microsoft.com/office/drawing/2014/main" id="{8368B7CD-EC74-444D-B9EB-C9462A2E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6007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46F131-6363-415A-8D58-A86B4E4A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521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87E8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087E8B"/>
                </a:solidFill>
                <a:latin typeface="Cambria Math"/>
                <a:ea typeface="Cambria Math"/>
                <a:cs typeface="Cambria Math"/>
              </a:rPr>
              <a:t>median = middle ordered value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1750366-8D8B-46CD-98CC-3190C13C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Data: 2, 3, 3, 4, 8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9EC730-BE61-41EE-9378-06CCA3AC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mean = 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C22A00-2CA0-4C92-BA7A-404A77A2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62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median = 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68CF63-D0E5-4957-88FF-9AA3ED6B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mode = 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38AC08D-79DA-4C5B-B6E6-9506D13B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Each measure answers a slightly different question about “center.”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9EDA2EF1-4D12-415D-A066-55590978FA37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9E6EFE3E-28A8-4085-8356-1DC109C4C03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CF40C484-EBB4-4FE5-ACE1-EB2206432C5D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750766067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A1D285-6495-4651-A539-E9DB0B1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ROBUSTNESS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C55BAFA-535F-4442-B924-7F597E1C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08C4A71-BD05-4ACE-8382-9B837B7F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One outlier can move the mean dramatically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F1EFAC2-DB1F-448D-80B1-DF944271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A6D1E9C-8FF3-42FA-B6D5-26252B1F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2  3  3  4  8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CC5899-5DF8-4C5A-AA25-2CC44B3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x̄ = 4   |   median = 3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B80078FF-B439-47DB-8A1E-99B1853A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85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5C7"/>
          </a:solidFill>
          <a:ln xmlns:a="http://schemas.openxmlformats.org/drawingml/2006/main" w="0">
            <a:solidFill>
              <a:srgbClr val="E4D5C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6F718C-5115-4244-BDCB-E2196A73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2  3  3  4  80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250EF83-8E34-4C65-B57F-05E682E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x̄ = 18.4   |   median = 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EFF72A-697E-4E5A-B498-572C3070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rPr>
              <a:t>+72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5E9DA3-0F09-469F-AC6E-B8C9A6DE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The median stays fixed because ranks—not distances—define it.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2C546ECC-37F9-487D-86EA-90FD74929FF6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F932016D-428A-4B36-AF4E-CE5CF84B7A5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9F32CA9B-E786-4EF5-BEAF-DFD1484D021D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817094738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AE5A7A0-3EF1-4AC8-BA67-AF7F77CD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SHAPE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E2FEB82-4184-4B55-B0FD-3BE4825D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07024D1-24E1-403C-AB4E-699DD85A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Distribution shape decides which center communicates best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FF9CF4D-FE24-4A7A-A604-62D10E42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EE3E81-4FE5-48B6-AF4F-DCBE5B2D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SYMMETRIC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1F8FCD-8DDA-4EEE-B2B8-766BE94D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D2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2B1D24"/>
                </a:solidFill>
                <a:latin typeface="Cambria Math"/>
                <a:ea typeface="Cambria Math"/>
                <a:cs typeface="Cambria Math"/>
              </a:rPr>
              <a:t>mean ≈ median ≈ mode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E43BCA-3B51-4F41-8524-48292E57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mean is often informative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9178CD-8A4F-4106-B1FC-C74E6FFB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RIGHT-SKEWED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930A5D-D1A3-40DA-BD23-C5C2FF95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D2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2B1D24"/>
                </a:solidFill>
                <a:latin typeface="Cambria Math"/>
                <a:ea typeface="Cambria Math"/>
                <a:cs typeface="Cambria Math"/>
              </a:rPr>
              <a:t>mode &lt; median &lt; mean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873E00-0EA2-44C8-9AB8-9780305A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median often reflects a typical case better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1EBF2FC-C5C2-4C0D-B925-63B56D2A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29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HEAVY TAILS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3949387-E41D-492D-A8C1-887155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D2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0">
                <a:solidFill>
                  <a:srgbClr val="2B1D24"/>
                </a:solidFill>
                <a:latin typeface="Cambria Math"/>
                <a:ea typeface="Cambria Math"/>
                <a:cs typeface="Cambria Math"/>
              </a:rPr>
              <a:t>extremes destabilize mean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86951E2-0ECB-4048-B3FD-348FB772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use robust summaries and show the distribution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6362C5-CD15-4E11-A60C-FDB585DB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245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rPr>
              <a:t>Always pair a center with spread and a plot.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231751AB-E16A-4B70-840A-742B2C1D467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6" name="nav-back">
            <a:extLst xmlns:a="http://schemas.openxmlformats.org/drawingml/2006/main">
              <a:ext uri="{FF2B5EF4-FFF2-40B4-BE49-F238E27FC236}">
                <a16:creationId xmlns:a16="http://schemas.microsoft.com/office/drawing/2014/main" id="{E2E3199D-0D48-4AAF-B3A0-7B80B4880C5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7" name="nav-next">
            <a:extLst xmlns:a="http://schemas.openxmlformats.org/drawingml/2006/main">
              <a:ext uri="{FF2B5EF4-FFF2-40B4-BE49-F238E27FC236}">
                <a16:creationId xmlns:a16="http://schemas.microsoft.com/office/drawing/2014/main" id="{F68C3994-6830-432B-B7A6-0B7337CB120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85722649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451C231-2B38-411A-BF99-4AB47ADF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CENTRAL LIMIT THEOREM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64F768A-42F7-48B0-979B-CB1AD936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F839721-0C27-47B0-B090-35353C2E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The CLT is about sample means—not raw data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48BFBD-2442-4FDD-93B3-F9E11BA8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B2CF78-7C46-411F-B4C3-02ED1BEB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POPULATION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48BE86-8C1A-4EE6-9C24-C2C6AE8E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may be skewed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D9AA4C-0E2E-4C9D-B8BC-49FD4312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REPEATED SAMPLES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28E5CA-5195-45F2-9E82-53570D13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same size 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10AF32-896D-442B-A89E-D0D41283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SAMPLE MEANS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FB9BB2A-40D6-467F-A87D-238A00A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form a sampling distribution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D2F5AAD8-EAF9-4A56-A787-F338F73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8382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A30277-E079-4FF4-96CA-D0168B9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00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87E8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087E8B"/>
                </a:solidFill>
                <a:latin typeface="Cambria Math"/>
                <a:ea typeface="Cambria Math"/>
                <a:cs typeface="Cambria Math"/>
              </a:rPr>
              <a:t>as n grows:  x̄  becomes approximately normal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BCDB45-0E9C-4E2E-B3B2-C1805955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Assuming independent sampling and finite variance; the approximation improves with suitable sample size.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B089565F-9FFA-4D55-99BA-002CD16F702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93D5FECD-D426-44A7-A186-918C5B3FE200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6D9579B0-ABB3-4672-BAEE-8B4ED665973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568268288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AF4DC61-F1D3-48EC-A3FD-96032BE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CLT EFFECT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13BBD0A-AB82-463D-8FEF-C69ED0C5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87E8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083D883-78C1-4EB4-A0B8-ED7E47D1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Larger samples tighten the distribution of means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4DCB3E-B4BD-491E-A23A-C1B70E4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5" name="dist">
            <a:extLst xmlns:a="http://schemas.openxmlformats.org/drawingml/2006/main">
              <a:ext uri="{FF2B5EF4-FFF2-40B4-BE49-F238E27FC236}">
                <a16:creationId xmlns:a16="http://schemas.microsoft.com/office/drawing/2014/main" id="{DFDFB2DE-E15B-4860-BF1E-63D2142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762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D8"/>
          </a:solidFill>
          <a:ln xmlns:a="http://schemas.openxmlformats.org/drawingml/2006/main" w="28575">
            <a:solidFill>
              <a:srgbClr val="F2B13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8D2D89-31E2-4AA8-83FC-FBF8E21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n = 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CA021C-2F98-42C3-B3E4-FD2E36E4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wide</a:t>
            </a:r>
          </a:p>
        </p:txBody>
      </p:sp>
      <p:sp>
        <p:nvSpPr>
          <p:cNvPr id="8" name="dist">
            <a:extLst xmlns:a="http://schemas.openxmlformats.org/drawingml/2006/main">
              <a:ext uri="{FF2B5EF4-FFF2-40B4-BE49-F238E27FC236}">
                <a16:creationId xmlns:a16="http://schemas.microsoft.com/office/drawing/2014/main" id="{69F77193-1E02-446B-BB7E-DD216CFC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333625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D8"/>
          </a:solidFill>
          <a:ln xmlns:a="http://schemas.openxmlformats.org/drawingml/2006/main" w="28575">
            <a:solidFill>
              <a:srgbClr val="7FA58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3B1432-E2B5-44C1-BF3A-355EB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FA58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7FA58A"/>
                </a:solidFill>
                <a:latin typeface="Aptos Display"/>
                <a:ea typeface="Aptos Display"/>
                <a:cs typeface="Aptos Display"/>
              </a:rPr>
              <a:t>n = 25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AFAE163-5020-4E16-90B2-8DC21ABC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narrower</a:t>
            </a:r>
          </a:p>
        </p:txBody>
      </p:sp>
      <p:sp>
        <p:nvSpPr>
          <p:cNvPr id="11" name="dist">
            <a:extLst xmlns:a="http://schemas.openxmlformats.org/drawingml/2006/main">
              <a:ext uri="{FF2B5EF4-FFF2-40B4-BE49-F238E27FC236}">
                <a16:creationId xmlns:a16="http://schemas.microsoft.com/office/drawing/2014/main" id="{ECF7D634-46CA-4E4E-BE44-0E0409E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19050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D8"/>
          </a:solidFill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00704E2-6847-4D97-9AFF-21FCE5EB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n = 100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D13548B-77A2-45F8-ABB3-2F7AC4D9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tight</a:t>
            </a:r>
          </a:p>
        </p:txBody>
      </p:sp>
      <p:sp>
        <p:nvSpPr>
          <p:cNvPr id="14" name="formula">
            <a:extLst xmlns:a="http://schemas.openxmlformats.org/drawingml/2006/main">
              <a:ext uri="{FF2B5EF4-FFF2-40B4-BE49-F238E27FC236}">
                <a16:creationId xmlns:a16="http://schemas.microsoft.com/office/drawing/2014/main" id="{89DD24AA-1C70-4819-8673-70388ADC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24375"/>
            <a:ext cx="5905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20FBAB6-D4F7-4561-8428-0217CD97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87E8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087E8B"/>
                </a:solidFill>
                <a:latin typeface="Cambria Math"/>
                <a:ea typeface="Cambria Math"/>
                <a:cs typeface="Cambria Math"/>
              </a:rPr>
              <a:t>SD(x̄) = σ / √n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0D08CC5-9DA4-47B8-8FAB-BA8DBC4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4768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Quadrupling n halves the standard error.</a:t>
            </a:r>
          </a:p>
        </p:txBody>
      </p:sp>
      <p:sp>
        <p:nvSpPr>
          <p:cNvPr id="17" name="nav-home">
            <a:extLst xmlns:a="http://schemas.openxmlformats.org/drawingml/2006/main">
              <a:ext uri="{FF2B5EF4-FFF2-40B4-BE49-F238E27FC236}">
                <a16:creationId xmlns:a16="http://schemas.microsoft.com/office/drawing/2014/main" id="{E26878B6-7910-47E5-A8E6-0BE2E8976E8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8" name="nav-back">
            <a:extLst xmlns:a="http://schemas.openxmlformats.org/drawingml/2006/main">
              <a:ext uri="{FF2B5EF4-FFF2-40B4-BE49-F238E27FC236}">
                <a16:creationId xmlns:a16="http://schemas.microsoft.com/office/drawing/2014/main" id="{9B149A81-3557-470F-A399-11FE7C2EB205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9" name="nav-next">
            <a:extLst xmlns:a="http://schemas.openxmlformats.org/drawingml/2006/main">
              <a:ext uri="{FF2B5EF4-FFF2-40B4-BE49-F238E27FC236}">
                <a16:creationId xmlns:a16="http://schemas.microsoft.com/office/drawing/2014/main" id="{164D7A03-69B7-4CFC-9CE9-12AAD862ED7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626267178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49CC612-061C-4592-8B68-BBC86840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A58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7FA58A"/>
                </a:solidFill>
                <a:latin typeface="Aptos Display"/>
                <a:ea typeface="Aptos Display"/>
                <a:cs typeface="Aptos Display"/>
              </a:rPr>
              <a:t>UNCERTAINTY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BE0AF49-30D7-4A76-9238-32424303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58A"/>
          </a:solidFill>
          <a:ln xmlns:a="http://schemas.openxmlformats.org/drawingml/2006/main" w="0">
            <a:solidFill>
              <a:srgbClr val="7FA58A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3C064A-DA8B-4966-8111-DA047E20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Standard error measures estimate-to-estimate variation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767D4A-50E0-49B9-B893-8E98910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75AA3894-D6E0-4E61-A828-DFF6C2DA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143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FA58A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F48C1D-D312-4136-99D2-D5CFA136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7FA58A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7FA58A"/>
                </a:solidFill>
                <a:latin typeface="Cambria Math"/>
                <a:ea typeface="Cambria Math"/>
                <a:cs typeface="Cambria Math"/>
              </a:rPr>
              <a:t>SE(x̄) = s / √n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EF0098-CAFD-490B-ADC1-4CE005CC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s = sample standard deviation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394405C-A3F5-4298-9213-775A3B89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n = sample size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37B9BD-ED5E-4C53-A287-CA18467D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35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SE is not the spread of individual observations.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385314-2232-469B-8034-F77AFD10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It estimates how much the sample mean would vary across repeated samples.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8A37F7F-C353-4CFA-A455-3435FD81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More data ↓ SE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EAB4723C-D9B3-4E14-A6F2-CC083899D4F8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30777AD7-87E9-49DE-A8A3-DD8BCF9723CD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AEF1CA47-403E-45AB-8F0B-688DF24B7532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011244517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DB6FD31-0CED-43D0-9C13-9DCDBBB7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364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27364B"/>
                </a:solidFill>
                <a:latin typeface="Aptos Display"/>
                <a:ea typeface="Aptos Display"/>
                <a:cs typeface="Aptos Display"/>
              </a:rPr>
              <a:t>CONFIDENCE INTERVAL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48D7670E-4F64-463A-8CB7-D1AAEA3D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4B"/>
          </a:solidFill>
          <a:ln xmlns:a="http://schemas.openxmlformats.org/drawingml/2006/main" w="0">
            <a:solidFill>
              <a:srgbClr val="27364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1FE5FB7-4BBE-4D3A-8C89-E85D5A79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A confidence interval adds a margin of error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49ED4F5-AEF2-4AA3-AF6B-3DE2C5A0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5" name="formula">
            <a:extLst xmlns:a="http://schemas.openxmlformats.org/drawingml/2006/main">
              <a:ext uri="{FF2B5EF4-FFF2-40B4-BE49-F238E27FC236}">
                <a16:creationId xmlns:a16="http://schemas.microsoft.com/office/drawing/2014/main" id="{36B8C5FE-CEE4-4694-B9CF-C622DE52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62125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364B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660AEA1-0A0E-485B-9294-FB4B92F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5737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364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27364B"/>
                </a:solidFill>
                <a:latin typeface="Cambria Math"/>
                <a:ea typeface="Cambria Math"/>
                <a:cs typeface="Cambria Math"/>
              </a:rPr>
              <a:t>estimate ± critical value × standard error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B2FB21C-C783-487B-9287-65BF9385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CENTER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FA186DA-CDFC-4CFB-AA08-FFEDBB49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sample mean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3B6145-CD0E-44A1-BE87-78168C56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CONFIDENCE LEVEL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BE26551-5C94-49AC-B56C-B12403BF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sets critical value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A0B17A-3883-47C3-84F8-88621E7B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PRECISION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0248F0-41A1-4B8A-B5C8-7E7733FA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052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controlled by SE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6F2CAFA-80B0-4B85-8556-5D73A88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Narrower means more precise—not automatically more correct.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CA6D5A4E-4398-407F-B5BC-1A1295B5407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62838651-6695-4EE3-A404-94E02B81EA2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C0348959-ECA9-4925-BE6A-96AEA416CB4E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419372811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08400B4-F5A0-4CE2-A8E2-6322892D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364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27364B"/>
                </a:solidFill>
                <a:latin typeface="Aptos Display"/>
                <a:ea typeface="Aptos Display"/>
                <a:cs typeface="Aptos Display"/>
              </a:rPr>
              <a:t>Z OR T?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1C4A607-B6D5-4CEB-BCB4-016BB373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4B"/>
          </a:solidFill>
          <a:ln xmlns:a="http://schemas.openxmlformats.org/drawingml/2006/main" w="0">
            <a:solidFill>
              <a:srgbClr val="27364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E28BB97-953B-4861-AEDD-742D7313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Use t when population σ is unknown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B40EE9-9892-4A54-8D35-DCBF982E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5D78591-2946-434A-98FE-4EC539C4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Z INTERVAL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A3901C-1C1C-42A1-893D-EB7BEE7B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4953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Uses the normal critical value when population σ is known; uncommon in ordinary applied work.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626C9F-D1D3-4119-979C-F20788DD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t INTERVAL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BC92839-9260-4818-8F8A-9E11D371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5143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Uses sample s and a t critical value with n−1 degrees of freedom; wider for small samples.</a:t>
            </a:r>
          </a:p>
        </p:txBody>
      </p:sp>
      <p:sp>
        <p:nvSpPr>
          <p:cNvPr id="9" name="formula">
            <a:extLst xmlns:a="http://schemas.openxmlformats.org/drawingml/2006/main">
              <a:ext uri="{FF2B5EF4-FFF2-40B4-BE49-F238E27FC236}">
                <a16:creationId xmlns:a16="http://schemas.microsoft.com/office/drawing/2014/main" id="{27740794-4BB4-456B-AAB5-B798BCE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9625"/>
            <a:ext cx="5715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364B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15D24B-5984-4093-8D2E-4271469D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48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364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27364B"/>
                </a:solidFill>
                <a:latin typeface="Cambria Math"/>
                <a:ea typeface="Cambria Math"/>
                <a:cs typeface="Cambria Math"/>
              </a:rPr>
              <a:t>x̄ ± t* · s/√n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4E08F9F-6313-491B-8D61-7F71CB45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As degrees of freedom increase, t approaches the normal distribution.</a:t>
            </a:r>
          </a:p>
        </p:txBody>
      </p:sp>
      <p:sp>
        <p:nvSpPr>
          <p:cNvPr id="12" name="nav-home">
            <a:extLst xmlns:a="http://schemas.openxmlformats.org/drawingml/2006/main">
              <a:ext uri="{FF2B5EF4-FFF2-40B4-BE49-F238E27FC236}">
                <a16:creationId xmlns:a16="http://schemas.microsoft.com/office/drawing/2014/main" id="{AB18E340-7F42-41A3-8027-CE075DD91B9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3" name="nav-back">
            <a:extLst xmlns:a="http://schemas.openxmlformats.org/drawingml/2006/main">
              <a:ext uri="{FF2B5EF4-FFF2-40B4-BE49-F238E27FC236}">
                <a16:creationId xmlns:a16="http://schemas.microsoft.com/office/drawing/2014/main" id="{D9B4D5EE-D269-4857-BF56-2295B87F631C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4" name="nav-next">
            <a:extLst xmlns:a="http://schemas.openxmlformats.org/drawingml/2006/main">
              <a:ext uri="{FF2B5EF4-FFF2-40B4-BE49-F238E27FC236}">
                <a16:creationId xmlns:a16="http://schemas.microsoft.com/office/drawing/2014/main" id="{4F52ED91-B589-4A06-8DB7-F1187437207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766246035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370EBB0-A83E-4951-80C9-D8CC69BC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364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27364B"/>
                </a:solidFill>
                <a:latin typeface="Aptos Display"/>
                <a:ea typeface="Aptos Display"/>
                <a:cs typeface="Aptos Display"/>
              </a:rPr>
              <a:t>EXAMPLE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54BA022-9EDA-4D1D-B734-B9E7A054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4B"/>
          </a:solidFill>
          <a:ln xmlns:a="http://schemas.openxmlformats.org/drawingml/2006/main" w="0">
            <a:solidFill>
              <a:srgbClr val="27364B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80FC1B0-35C1-45B0-A4A3-768DF73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A worked 95% interval makes uncertainty visible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6C9648-36C0-4F00-B968-F6862B19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092EAB-EFCF-4101-A553-E8465EAD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n = 25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923E61-5035-4937-83A7-98B5676A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x̄ = 72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06B0FF7-85BB-4C9C-B285-9F81CB08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956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s = 10</a:t>
            </a:r>
          </a:p>
        </p:txBody>
      </p:sp>
      <p:sp>
        <p:nvSpPr>
          <p:cNvPr id="8" name="formula">
            <a:extLst xmlns:a="http://schemas.openxmlformats.org/drawingml/2006/main">
              <a:ext uri="{FF2B5EF4-FFF2-40B4-BE49-F238E27FC236}">
                <a16:creationId xmlns:a16="http://schemas.microsoft.com/office/drawing/2014/main" id="{82DC0D03-803E-4D4D-B9C4-F0D193EB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3714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674271E-B985-448D-9C2F-CA46535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050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87E8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087E8B"/>
                </a:solidFill>
                <a:latin typeface="Cambria Math"/>
                <a:ea typeface="Cambria Math"/>
                <a:cs typeface="Cambria Math"/>
              </a:rPr>
              <a:t>SE = 10/√25 = 2</a:t>
            </a:r>
          </a:p>
        </p:txBody>
      </p:sp>
      <p:sp>
        <p:nvSpPr>
          <p:cNvPr id="10" name="formula">
            <a:extLst xmlns:a="http://schemas.openxmlformats.org/drawingml/2006/main">
              <a:ext uri="{FF2B5EF4-FFF2-40B4-BE49-F238E27FC236}">
                <a16:creationId xmlns:a16="http://schemas.microsoft.com/office/drawing/2014/main" id="{57937C3F-EA74-4E96-8228-2B327D7E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429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2635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9DF6801-0EC2-4E09-89A1-ECED98BD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8B263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8B2635"/>
                </a:solidFill>
                <a:latin typeface="Cambria Math"/>
                <a:ea typeface="Cambria Math"/>
                <a:cs typeface="Cambria Math"/>
              </a:rPr>
              <a:t>t* ≈ 2.064</a:t>
            </a:r>
          </a:p>
        </p:txBody>
      </p:sp>
      <p:sp>
        <p:nvSpPr>
          <p:cNvPr id="12" name="formula">
            <a:extLst xmlns:a="http://schemas.openxmlformats.org/drawingml/2006/main">
              <a:ext uri="{FF2B5EF4-FFF2-40B4-BE49-F238E27FC236}">
                <a16:creationId xmlns:a16="http://schemas.microsoft.com/office/drawing/2014/main" id="{C8B58A8B-6E9C-4E64-AD1E-4A785433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95625"/>
            <a:ext cx="7572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7364B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C87E24-7F22-4FF7-8AB9-42F324F8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90875"/>
            <a:ext cx="719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364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27364B"/>
                </a:solidFill>
                <a:latin typeface="Cambria Math"/>
                <a:ea typeface="Cambria Math"/>
                <a:cs typeface="Cambria Math"/>
              </a:rPr>
              <a:t>72 ± 2.064×2 = 72 ± 4.128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84177E7-8C44-470F-BAC2-5E34DCAF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338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95% CI ≈ (67.87, 76.13)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5F2E423-0089-42B3-882A-6917D774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rPr>
              <a:t>This interval describes uncertainty about the population mean—not where 95% of observations lie.</a:t>
            </a:r>
          </a:p>
        </p:txBody>
      </p:sp>
      <p:sp>
        <p:nvSpPr>
          <p:cNvPr id="16" name="nav-home">
            <a:extLst xmlns:a="http://schemas.openxmlformats.org/drawingml/2006/main">
              <a:ext uri="{FF2B5EF4-FFF2-40B4-BE49-F238E27FC236}">
                <a16:creationId xmlns:a16="http://schemas.microsoft.com/office/drawing/2014/main" id="{9A513665-9F71-4C9D-8996-2B0C2F7C5F29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7" name="nav-back">
            <a:extLst xmlns:a="http://schemas.openxmlformats.org/drawingml/2006/main">
              <a:ext uri="{FF2B5EF4-FFF2-40B4-BE49-F238E27FC236}">
                <a16:creationId xmlns:a16="http://schemas.microsoft.com/office/drawing/2014/main" id="{60472C46-F2C4-46E9-8141-9ADC5581CCB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8" name="nav-next">
            <a:extLst xmlns:a="http://schemas.openxmlformats.org/drawingml/2006/main">
              <a:ext uri="{FF2B5EF4-FFF2-40B4-BE49-F238E27FC236}">
                <a16:creationId xmlns:a16="http://schemas.microsoft.com/office/drawing/2014/main" id="{EFB5E7BC-2989-44B7-8297-F35A7BD300A2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2002278548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4FBC180-F6E5-4955-8A45-07AB280D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rPr>
              <a:t>INTERPRETATION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3F680FB-1A71-47DB-AF89-6D374E0C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77"/>
          </a:solidFill>
          <a:ln xmlns:a="http://schemas.openxmlformats.org/drawingml/2006/main" w="0">
            <a:solidFill>
              <a:srgbClr val="D95D77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12F49BC-4000-48C4-BDD2-81A24B53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95% confidence describes the method’s long-run coverage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95CC31-7747-4DD2-92FF-AF2D203C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2132359-5AB3-4686-BB9A-9FC2534D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74455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C74455"/>
                </a:solidFill>
                <a:latin typeface="Aptos Display"/>
                <a:ea typeface="Aptos Display"/>
                <a:cs typeface="Aptos Display"/>
              </a:rPr>
              <a:t>WRONG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824B74-219B-4400-81EB-B63CBA9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14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“There is a 95% probability that μ is inside this completed interval.”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DF684CA-74B8-4FC4-8C36-70158630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3856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23856D"/>
                </a:solidFill>
                <a:latin typeface="Aptos Display"/>
                <a:ea typeface="Aptos Display"/>
                <a:cs typeface="Aptos Display"/>
              </a:rPr>
              <a:t>RIGHT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25EEE1-A033-40FB-8C71-6E5B1EA7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051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“Across repeated samples, about 95% of intervals built this way capture μ.”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86D5FD2-41EF-4E7F-B03C-2E8B4B3F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5C7"/>
          </a:solidFill>
          <a:ln xmlns:a="http://schemas.openxmlformats.org/drawingml/2006/main" w="0">
            <a:solidFill>
              <a:srgbClr val="E4D5C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AB601DC-662F-43D4-B1E8-8BE684E1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9625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After data are observed, the fixed parameter is either inside the interval or it is not.</a:t>
            </a:r>
          </a:p>
        </p:txBody>
      </p:sp>
      <p:sp>
        <p:nvSpPr>
          <p:cNvPr id="11" name="nav-home">
            <a:extLst xmlns:a="http://schemas.openxmlformats.org/drawingml/2006/main">
              <a:ext uri="{FF2B5EF4-FFF2-40B4-BE49-F238E27FC236}">
                <a16:creationId xmlns:a16="http://schemas.microsoft.com/office/drawing/2014/main" id="{A78B472A-9E8C-4039-9B23-0E080930B41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2" name="nav-back">
            <a:extLst xmlns:a="http://schemas.openxmlformats.org/drawingml/2006/main">
              <a:ext uri="{FF2B5EF4-FFF2-40B4-BE49-F238E27FC236}">
                <a16:creationId xmlns:a16="http://schemas.microsoft.com/office/drawing/2014/main" id="{BD543CC9-2B43-4F43-A5EE-CB6B399484C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  <p:sp>
        <p:nvSpPr>
          <p:cNvPr id="13" name="nav-next">
            <a:extLst xmlns:a="http://schemas.openxmlformats.org/drawingml/2006/main">
              <a:ext uri="{FF2B5EF4-FFF2-40B4-BE49-F238E27FC236}">
                <a16:creationId xmlns:a16="http://schemas.microsoft.com/office/drawing/2014/main" id="{6A9A7E66-2EB7-4DC2-9E4B-5E7638F1D17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2865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956286164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AFBAE95-EDD1-4DD2-9BAF-604D8B91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D95D77"/>
                </a:solidFill>
                <a:latin typeface="Aptos Display"/>
                <a:ea typeface="Aptos Display"/>
                <a:cs typeface="Aptos Display"/>
              </a:rPr>
              <a:t>CLICK YOUR ANSWER</a:t>
            </a:r>
          </a:p>
        </p:txBody>
      </p:sp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E945AA0-2F3C-40D7-8B05-C96CB994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77"/>
          </a:solidFill>
          <a:ln xmlns:a="http://schemas.openxmlformats.org/drawingml/2006/main" w="0">
            <a:solidFill>
              <a:srgbClr val="D95D77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4257D9-DF16-49F8-9A01-125BD960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Challenge: what does 95% confidence mean?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A1DAE70-948B-4AB8-B1B0-3293A691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5E55F2-CF0A-4252-BF5C-786393BB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Choose the statistically correct interpretation.</a:t>
            </a:r>
          </a:p>
        </p:txBody>
      </p:sp>
      <p:sp>
        <p:nvSpPr>
          <p:cNvPr id="6" name="quiz-a">
            <a:extLst xmlns:a="http://schemas.openxmlformats.org/drawingml/2006/main">
              <a:ext uri="{FF2B5EF4-FFF2-40B4-BE49-F238E27FC236}">
                <a16:creationId xmlns:a16="http://schemas.microsoft.com/office/drawing/2014/main" id="{F945A53B-87D0-4C6B-A03B-977EC762FEED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0375"/>
            <a:ext cx="11391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A  95% of observations fall inside the interval</a:t>
            </a:r>
          </a:p>
        </p:txBody>
      </p:sp>
      <p:sp>
        <p:nvSpPr>
          <p:cNvPr id="7" name="quiz-b">
            <a:extLst xmlns:a="http://schemas.openxmlformats.org/drawingml/2006/main">
              <a:ext uri="{FF2B5EF4-FFF2-40B4-BE49-F238E27FC236}">
                <a16:creationId xmlns:a16="http://schemas.microsoft.com/office/drawing/2014/main" id="{C2258BD3-AF65-49FD-921E-D1D382173B36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391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  The method captures μ in about 95% of repeated samples</a:t>
            </a:r>
          </a:p>
        </p:txBody>
      </p:sp>
      <p:sp>
        <p:nvSpPr>
          <p:cNvPr id="8" name="quiz-c">
            <a:extLst xmlns:a="http://schemas.openxmlformats.org/drawingml/2006/main">
              <a:ext uri="{FF2B5EF4-FFF2-40B4-BE49-F238E27FC236}">
                <a16:creationId xmlns:a16="http://schemas.microsoft.com/office/drawing/2014/main" id="{662452A6-A034-4829-A6E3-C55B992FC017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1391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C  μ has a 95% chance of changing into this interval</a:t>
            </a:r>
          </a:p>
        </p:txBody>
      </p:sp>
      <p:sp>
        <p:nvSpPr>
          <p:cNvPr id="9" name="nav-home">
            <a:extLst xmlns:a="http://schemas.openxmlformats.org/drawingml/2006/main">
              <a:ext uri="{FF2B5EF4-FFF2-40B4-BE49-F238E27FC236}">
                <a16:creationId xmlns:a16="http://schemas.microsoft.com/office/drawing/2014/main" id="{0E9D5FAD-A78B-4AC4-B869-270E00BD558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10" name="nav-back">
            <a:extLst xmlns:a="http://schemas.openxmlformats.org/drawingml/2006/main">
              <a:ext uri="{FF2B5EF4-FFF2-40B4-BE49-F238E27FC236}">
                <a16:creationId xmlns:a16="http://schemas.microsoft.com/office/drawing/2014/main" id="{024332E0-66BA-4856-BC9A-0B0C26A742A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286500"/>
            <a:ext cx="666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9525">
            <a:solidFill>
              <a:srgbClr val="F4E7D8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7506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650551113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wrong">
            <a:extLst xmlns:a="http://schemas.openxmlformats.org/drawingml/2006/main">
              <a:ext uri="{FF2B5EF4-FFF2-40B4-BE49-F238E27FC236}">
                <a16:creationId xmlns:a16="http://schemas.microsoft.com/office/drawing/2014/main" id="{B1A9E4FE-226D-45D7-9F2E-B39B06E9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430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455"/>
          </a:solidFill>
          <a:ln xmlns:a="http://schemas.openxmlformats.org/drawingml/2006/main" w="19050">
            <a:solidFill>
              <a:srgbClr val="C74455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07441C4-5CAD-4665-A898-A6DB2E7A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6680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×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4525DA7-DD66-4FC2-88B6-86E93F3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38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7445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C74455"/>
                </a:solidFill>
                <a:latin typeface="Aptos Display"/>
                <a:ea typeface="Aptos Display"/>
                <a:cs typeface="Aptos Display"/>
              </a:rPr>
              <a:t>NOT QUITE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199C8F-4B95-4BE6-A980-AE2F0034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Confidence is about the</a:t>
            </a:r>
          </a:p>
          <a:p xmlns:a="http://schemas.openxmlformats.org/drawingml/2006/main">
            <a:pPr algn="l">
              <a:defRPr sz="30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2B1D24"/>
                </a:solidFill>
                <a:latin typeface="Aptos Display"/>
                <a:ea typeface="Aptos Display"/>
                <a:cs typeface="Aptos Display"/>
              </a:rPr>
              <a:t>procedure—not raw observations.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C137D0F-1CDC-47A5-86F0-7AFD726F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 i="0">
                <a:solidFill>
                  <a:srgbClr val="74656C"/>
                </a:solidFill>
                <a:latin typeface="Aptos Display"/>
                <a:ea typeface="Aptos Display"/>
                <a:cs typeface="Aptos Display"/>
              </a:rPr>
              <a:t>A confidence interval estimates an unknown population parameter. It is not a prediction interval for individual values.</a:t>
            </a:r>
          </a:p>
        </p:txBody>
      </p:sp>
      <p:sp>
        <p:nvSpPr>
          <p:cNvPr id="6" name="try-again">
            <a:extLst xmlns:a="http://schemas.openxmlformats.org/drawingml/2006/main">
              <a:ext uri="{FF2B5EF4-FFF2-40B4-BE49-F238E27FC236}">
                <a16:creationId xmlns:a16="http://schemas.microsoft.com/office/drawing/2014/main" id="{EA101180-B969-4C1D-9914-3BDFA11B5AAC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6250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74455"/>
          </a:solidFill>
          <a:ln xmlns:a="http://schemas.openxmlformats.org/drawingml/2006/main" w="9525">
            <a:solidFill>
              <a:srgbClr val="C74455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TRY AGAIN</a:t>
            </a:r>
          </a:p>
        </p:txBody>
      </p:sp>
      <p:sp>
        <p:nvSpPr>
          <p:cNvPr id="7" name="wrong-menu">
            <a:extLst xmlns:a="http://schemas.openxmlformats.org/drawingml/2006/main">
              <a:ext uri="{FF2B5EF4-FFF2-40B4-BE49-F238E27FC236}">
                <a16:creationId xmlns:a16="http://schemas.microsoft.com/office/drawing/2014/main" id="{C53AEBEC-CDB3-47D1-8CC1-0B9D8F5ACBBB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B1D24"/>
          </a:solidFill>
          <a:ln xmlns:a="http://schemas.openxmlformats.org/drawingml/2006/main" w="9525">
            <a:solidFill>
              <a:srgbClr val="2B1D24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 TO MAP</a:t>
            </a:r>
          </a:p>
        </p:txBody>
      </p:sp>
    </p:spTree>
    <p:extLst>
      <p:ext uri="{BB962C8B-B14F-4D97-AF65-F5344CB8AC3E}">
        <p14:creationId xmlns:p14="http://schemas.microsoft.com/office/powerpoint/2010/main" val="2001932873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8B26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rrect">
            <a:extLst xmlns:a="http://schemas.openxmlformats.org/drawingml/2006/main">
              <a:ext uri="{FF2B5EF4-FFF2-40B4-BE49-F238E27FC236}">
                <a16:creationId xmlns:a16="http://schemas.microsoft.com/office/drawing/2014/main" id="{A25FD8C8-04E1-4A4F-8A2F-D9C1D6FD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95375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19050">
            <a:solidFill>
              <a:srgbClr val="F2B134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D40C1D-9FFF-40FD-AF42-E2754B89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95375"/>
            <a:ext cx="1905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defRPr>
            </a:pPr>
            <a:r>
              <a:rPr sz="6750" b="1" i="0">
                <a:solidFill>
                  <a:srgbClr val="8B2635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D5D2FE3-7298-4C9A-B1EB-03EC2248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CORRECT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D9E50AC-B133-4D59-AC1E-6AF62224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CENTER → CLT → CI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9610E1-C8CF-4449-A092-30531C82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The complete logic: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46F6522-587D-4716-8946-583C7C41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i="0">
                <a:solidFill>
                  <a:srgbClr val="F2B134"/>
                </a:solidFill>
                <a:latin typeface="Aptos Display"/>
                <a:ea typeface="Aptos Display"/>
                <a:cs typeface="Aptos Display"/>
              </a:rPr>
              <a:t>summarize the sample · model sampling variation · report uncertainty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59B320F-AFD9-45B9-BA29-D699F6CB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strong statistical answer gives an estimate and explains its precision.</a:t>
            </a:r>
          </a:p>
        </p:txBody>
      </p:sp>
      <p:sp>
        <p:nvSpPr>
          <p:cNvPr id="8" name="summary-menu">
            <a:extLst xmlns:a="http://schemas.openxmlformats.org/drawingml/2006/main">
              <a:ext uri="{FF2B5EF4-FFF2-40B4-BE49-F238E27FC236}">
                <a16:creationId xmlns:a16="http://schemas.microsoft.com/office/drawing/2014/main" id="{5A460E75-0D92-4F18-AB2B-F388484F6193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6375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  <p:txBody>
          <a:bodyPr xmlns:a="http://schemas.openxmlformats.org/drawingml/2006/main" lIns="95250" tIns="47625" rIns="952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EXPLORE AGAIN</a:t>
            </a:r>
          </a:p>
        </p:txBody>
      </p:sp>
    </p:spTree>
    <p:extLst>
      <p:ext uri="{BB962C8B-B14F-4D97-AF65-F5344CB8AC3E}">
        <p14:creationId xmlns:p14="http://schemas.microsoft.com/office/powerpoint/2010/main" val="461676307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2026-08-08T14:35:12.7700000Z</dcterms:created>
  <dcterms:modified xsi:type="dcterms:W3CDTF">2026-08-08T14:35:12.7700000Z</dcterms:modified>
</coreProperties>
</file>