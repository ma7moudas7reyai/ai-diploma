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69e3b7b9d84db0" /><Relationship Type="http://schemas.openxmlformats.org/officeDocument/2006/relationships/extended-properties" Target="/docProps/app.xml" Id="Rf10add973d0c4ec4" /><Relationship Type="http://schemas.openxmlformats.org/officeDocument/2006/relationships/officeDocument" Target="/ppt/presentation.xml" Id="R7b32a055bbba4e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addcc906fe4e35"/>
  </p:sldMasterIdLst>
  <p:notesMasterIdLst>
    <p:notesMasterId xmlns:r="http://schemas.openxmlformats.org/officeDocument/2006/relationships" r:id="R8dd5c03730834e0b"/>
  </p:notesMasterIdLst>
  <p:sldIdLst>
    <p:sldId xmlns:r="http://schemas.openxmlformats.org/officeDocument/2006/relationships" id="256" r:id="R783e1da4633846a0"/>
    <p:sldId xmlns:r="http://schemas.openxmlformats.org/officeDocument/2006/relationships" id="257" r:id="R5350cff46e7141bf"/>
    <p:sldId xmlns:r="http://schemas.openxmlformats.org/officeDocument/2006/relationships" id="258" r:id="R2fc0970f3c0c4ad2"/>
    <p:sldId xmlns:r="http://schemas.openxmlformats.org/officeDocument/2006/relationships" id="259" r:id="Ra2d5d05867ad4019"/>
    <p:sldId xmlns:r="http://schemas.openxmlformats.org/officeDocument/2006/relationships" id="260" r:id="R53b0a3af56d04ed0"/>
    <p:sldId xmlns:r="http://schemas.openxmlformats.org/officeDocument/2006/relationships" id="261" r:id="R954f3f4944eb4432"/>
    <p:sldId xmlns:r="http://schemas.openxmlformats.org/officeDocument/2006/relationships" id="262" r:id="R3ce21b087e9342a3"/>
    <p:sldId xmlns:r="http://schemas.openxmlformats.org/officeDocument/2006/relationships" id="263" r:id="Rd8d67735f0ef4913"/>
    <p:sldId xmlns:r="http://schemas.openxmlformats.org/officeDocument/2006/relationships" id="264" r:id="R608e5f91ff4942a1"/>
    <p:sldId xmlns:r="http://schemas.openxmlformats.org/officeDocument/2006/relationships" id="265" r:id="R8945f4414a4840f2"/>
    <p:sldId xmlns:r="http://schemas.openxmlformats.org/officeDocument/2006/relationships" id="266" r:id="Rf3a0616cc6fa43b6"/>
    <p:sldId xmlns:r="http://schemas.openxmlformats.org/officeDocument/2006/relationships" id="267" r:id="R029d08d6fcc24a47"/>
    <p:sldId xmlns:r="http://schemas.openxmlformats.org/officeDocument/2006/relationships" id="268" r:id="R09304ae206094f00"/>
    <p:sldId xmlns:r="http://schemas.openxmlformats.org/officeDocument/2006/relationships" id="269" r:id="Rd891bc598fb04057"/>
    <p:sldId xmlns:r="http://schemas.openxmlformats.org/officeDocument/2006/relationships" id="270" r:id="R7d85446fbf354634"/>
    <p:sldId xmlns:r="http://schemas.openxmlformats.org/officeDocument/2006/relationships" id="271" r:id="Rddaa9417206a4a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c98e94d8b54d9b" /><Relationship Type="http://schemas.openxmlformats.org/officeDocument/2006/relationships/slideMaster" Target="/ppt/slideMasters/slideMaster1.xml" Id="R7caddcc906fe4e35" /><Relationship Type="http://schemas.openxmlformats.org/officeDocument/2006/relationships/notesMaster" Target="/ppt/notesMasters/notesMaster1.xml" Id="R8dd5c03730834e0b" /><Relationship Type="http://schemas.openxmlformats.org/officeDocument/2006/relationships/presProps" Target="/ppt/presProps.xml" Id="R2ee11f1bce39437b" /><Relationship Type="http://schemas.openxmlformats.org/officeDocument/2006/relationships/tableStyles" Target="/ppt/tableStyles.xml" Id="Rc5efb0c76c674aa1" /><Relationship Type="http://schemas.openxmlformats.org/officeDocument/2006/relationships/slide" Target="/ppt/slides/slide1.xml" Id="R783e1da4633846a0" /><Relationship Type="http://schemas.openxmlformats.org/officeDocument/2006/relationships/slide" Target="/ppt/slides/slide2.xml" Id="R5350cff46e7141bf" /><Relationship Type="http://schemas.openxmlformats.org/officeDocument/2006/relationships/slide" Target="/ppt/slides/slide3.xml" Id="R2fc0970f3c0c4ad2" /><Relationship Type="http://schemas.openxmlformats.org/officeDocument/2006/relationships/slide" Target="/ppt/slides/slide4.xml" Id="Ra2d5d05867ad4019" /><Relationship Type="http://schemas.openxmlformats.org/officeDocument/2006/relationships/slide" Target="/ppt/slides/slide5.xml" Id="R53b0a3af56d04ed0" /><Relationship Type="http://schemas.openxmlformats.org/officeDocument/2006/relationships/slide" Target="/ppt/slides/slide6.xml" Id="R954f3f4944eb4432" /><Relationship Type="http://schemas.openxmlformats.org/officeDocument/2006/relationships/slide" Target="/ppt/slides/slide7.xml" Id="R3ce21b087e9342a3" /><Relationship Type="http://schemas.openxmlformats.org/officeDocument/2006/relationships/slide" Target="/ppt/slides/slide8.xml" Id="Rd8d67735f0ef4913" /><Relationship Type="http://schemas.openxmlformats.org/officeDocument/2006/relationships/slide" Target="/ppt/slides/slide9.xml" Id="R608e5f91ff4942a1" /><Relationship Type="http://schemas.openxmlformats.org/officeDocument/2006/relationships/slide" Target="/ppt/slides/slide10.xml" Id="R8945f4414a4840f2" /><Relationship Type="http://schemas.openxmlformats.org/officeDocument/2006/relationships/slide" Target="/ppt/slides/slide11.xml" Id="Rf3a0616cc6fa43b6" /><Relationship Type="http://schemas.openxmlformats.org/officeDocument/2006/relationships/slide" Target="/ppt/slides/slide12.xml" Id="R029d08d6fcc24a47" /><Relationship Type="http://schemas.openxmlformats.org/officeDocument/2006/relationships/slide" Target="/ppt/slides/slide13.xml" Id="R09304ae206094f00" /><Relationship Type="http://schemas.openxmlformats.org/officeDocument/2006/relationships/slide" Target="/ppt/slides/slide14.xml" Id="Rd891bc598fb04057" /><Relationship Type="http://schemas.openxmlformats.org/officeDocument/2006/relationships/slide" Target="/ppt/slides/slide15.xml" Id="R7d85446fbf354634" /><Relationship Type="http://schemas.openxmlformats.org/officeDocument/2006/relationships/slide" Target="/ppt/slides/slide16.xml" Id="Rddaa9417206a4a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20dccd838b4f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70b034a1da4e3a" /><Relationship Type="http://schemas.openxmlformats.org/officeDocument/2006/relationships/notesMaster" Target="/ppt/notesMasters/notesMaster1.xml" Id="R724dbe08a7b540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80f93689fd412e" /><Relationship Type="http://schemas.openxmlformats.org/officeDocument/2006/relationships/notesMaster" Target="/ppt/notesMasters/notesMaster1.xml" Id="R1c74d2fdccf345d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df2a3aa2d8458f" /><Relationship Type="http://schemas.openxmlformats.org/officeDocument/2006/relationships/notesMaster" Target="/ppt/notesMasters/notesMaster1.xml" Id="R68ce1c2a483e42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3a1042be714b46" /><Relationship Type="http://schemas.openxmlformats.org/officeDocument/2006/relationships/notesMaster" Target="/ppt/notesMasters/notesMaster1.xml" Id="R4758fa3b837c4c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6eda0a5a094ef7" /><Relationship Type="http://schemas.openxmlformats.org/officeDocument/2006/relationships/notesMaster" Target="/ppt/notesMasters/notesMaster1.xml" Id="R52b0917bacb844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fecfe40844e1e" /><Relationship Type="http://schemas.openxmlformats.org/officeDocument/2006/relationships/notesMaster" Target="/ppt/notesMasters/notesMaster1.xml" Id="R2838e468ae78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e32260a1e340a2" /><Relationship Type="http://schemas.openxmlformats.org/officeDocument/2006/relationships/notesMaster" Target="/ppt/notesMasters/notesMaster1.xml" Id="R7c38897781c24e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dd65634f944485" /><Relationship Type="http://schemas.openxmlformats.org/officeDocument/2006/relationships/notesMaster" Target="/ppt/notesMasters/notesMaster1.xml" Id="R05a4ee284e7b41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f7ee1130084209" /><Relationship Type="http://schemas.openxmlformats.org/officeDocument/2006/relationships/notesMaster" Target="/ppt/notesMasters/notesMaster1.xml" Id="Rd144b833cf0f4f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b1c0223a934fd3" /><Relationship Type="http://schemas.openxmlformats.org/officeDocument/2006/relationships/notesMaster" Target="/ppt/notesMasters/notesMaster1.xml" Id="R3d9795c80d1e41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c9e0fbddc543d0" /><Relationship Type="http://schemas.openxmlformats.org/officeDocument/2006/relationships/notesMaster" Target="/ppt/notesMasters/notesMaster1.xml" Id="R2ea2abaaf08848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f8db12e5ce480a" /><Relationship Type="http://schemas.openxmlformats.org/officeDocument/2006/relationships/notesMaster" Target="/ppt/notesMasters/notesMaster1.xml" Id="R175fb190e5de4c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7e11eb190d4ddd" /><Relationship Type="http://schemas.openxmlformats.org/officeDocument/2006/relationships/notesMaster" Target="/ppt/notesMasters/notesMaster1.xml" Id="Ree29a421396f47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e6e1a38a1a475d" /><Relationship Type="http://schemas.openxmlformats.org/officeDocument/2006/relationships/notesMaster" Target="/ppt/notesMasters/notesMaster1.xml" Id="R09cc115a23d645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72c68f81b24901" /><Relationship Type="http://schemas.openxmlformats.org/officeDocument/2006/relationships/notesMaster" Target="/ppt/notesMasters/notesMaster1.xml" Id="Rc2fec5789ecc4ae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3464eccef71402b" /><Relationship Type="http://schemas.openxmlformats.org/officeDocument/2006/relationships/notesMaster" Target="/ppt/notesMasters/notesMaster1.xml" Id="R81383f16f03648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D:/AI-Diploma/Tasks/Task 3/Task 3.txt</a:t>
            </a:r>
          </a:p>
          <a:p xmlns:a="http://schemas.openxmlformats.org/drawingml/2006/main">
            <a:r>
              <a:t>- https://docs.python.org/3/library/stdtypes.html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</a:t>
            </a:r>
          </a:p>
          <a:p xmlns:a="http://schemas.openxmlformats.org/drawingml/2006/main">
            <a:r>
              <a:t>- https://docs.python.org/3/library/functions.html</a:t>
            </a:r>
          </a:p>
          <a:p xmlns:a="http://schemas.openxmlformats.org/drawingml/2006/main">
            <a:r>
              <a:t>- https://docs.python.org/3/library/re.html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- https://docs.python.org/3/library/stdtypes.html#str.index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https://docs.python.org/3/library/functions.html#enumerate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https://docs.python.org/3/reference/expressions.html#generator-expressions</a:t>
            </a:r>
          </a:p>
          <a:p xmlns:a="http://schemas.openxmlformats.org/drawingml/2006/main">
            <a:r>
              <a:t>- https://docs.python.org/3/library/functions.html#enumerate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https://docs.python.org/3/library/re.html#re.finditer</a:t>
            </a:r>
          </a:p>
          <a:p xmlns:a="http://schemas.openxmlformats.org/drawingml/2006/main">
            <a:r>
              <a:t>- https://docs.python.org/3/library/re.html#re.escape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https://docs.python.org/3/howto/unicode.html</a:t>
            </a:r>
          </a:p>
          <a:p xmlns:a="http://schemas.openxmlformats.org/drawingml/2006/main">
            <a:r>
              <a:t>- https://docs.python.org/3/library/unicodedata.html#unicodedata.normalize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</a:t>
            </a:r>
          </a:p>
          <a:p xmlns:a="http://schemas.openxmlformats.org/drawingml/2006/main">
            <a:r>
              <a:t>- https://docs.python.org/3/library/functions.html#enumerate</a:t>
            </a:r>
          </a:p>
          <a:p xmlns:a="http://schemas.openxmlformats.org/drawingml/2006/main">
            <a:r>
              <a:t>- https://docs.python.org/3/library/re.html#re.finditer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https://docs.python.org/3/library/timeit.html</a:t>
            </a:r>
          </a:p>
          <a:p xmlns:a="http://schemas.openxmlformats.org/drawingml/2006/main">
            <a:r>
              <a:t>- https://docs.python.org/3/library/re.html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https://docs.python.org/3/library/stdtypes.html#str.find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https://docs.python.org/3/library/stdtypes.html</a:t>
            </a:r>
          </a:p>
          <a:p xmlns:a="http://schemas.openxmlformats.org/drawingml/2006/main">
            <a:r>
              <a:t>- https://docs.python.org/3/library/functions.html#enumerate</a:t>
            </a:r>
          </a:p>
          <a:p xmlns:a="http://schemas.openxmlformats.org/drawingml/2006/main">
            <a:r>
              <a:t>- https://docs.python.org/3/library/re.html#re.finditer</a:t>
            </a:r>
          </a:p>
          <a:p xmlns:a="http://schemas.openxmlformats.org/drawingml/2006/main">
            <a:r>
              <a:t>- https://docs.python.org/3/howto/unicode.html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ffa086f1243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f7e215dcc4f9c" /><Relationship Type="http://schemas.openxmlformats.org/officeDocument/2006/relationships/slideLayout" Target="/ppt/slideLayouts/slideLayout1.xml" Id="R6797168d66e4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97168d66e4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4d9e422ca6046c2" /><Relationship Type="http://schemas.openxmlformats.org/officeDocument/2006/relationships/notesSlide" Target="/ppt/notesSlides/notesSlide1.xml" Id="Rc4af1a2e33a344d2" /><Relationship Id="rId1" Type="http://schemas.openxmlformats.org/officeDocument/2006/relationships/slide" Target="slide2.xml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399c787d39eb480c" /><Relationship Type="http://schemas.openxmlformats.org/officeDocument/2006/relationships/notesSlide" Target="/ppt/notesSlides/notesSlide2.xml" Id="R25cccba87b284e54" /><Relationship Id="rId1" Type="http://schemas.openxmlformats.org/officeDocument/2006/relationships/slide" Target="slide4.xml" /><Relationship Id="rId2" Type="http://schemas.openxmlformats.org/officeDocument/2006/relationships/slide" Target="slide5.xml" /><Relationship Id="rId3" Type="http://schemas.openxmlformats.org/officeDocument/2006/relationships/slide" Target="slide7.xml" /><Relationship Id="rId4" Type="http://schemas.openxmlformats.org/officeDocument/2006/relationships/slide" Target="slide9.xml" /><Relationship Id="rId5" Type="http://schemas.openxmlformats.org/officeDocument/2006/relationships/slide" Target="slide10.xml" /><Relationship Id="rId6" Type="http://schemas.openxmlformats.org/officeDocument/2006/relationships/slide" Target="slide13.xml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6f33e5df122a4a9d" /><Relationship Type="http://schemas.openxmlformats.org/officeDocument/2006/relationships/notesSlide" Target="/ppt/notesSlides/notesSlide3.xml" Id="R20749168f5974bfd" /><Relationship Id="rId1" Type="http://schemas.openxmlformats.org/officeDocument/2006/relationships/slide" Target="slide2.xml" /><Relationship Id="rId2" Type="http://schemas.openxmlformats.org/officeDocument/2006/relationships/slide" Target="slide4.xml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9f8fcb99a0e46a3" /><Relationship Type="http://schemas.openxmlformats.org/officeDocument/2006/relationships/notesSlide" Target="/ppt/notesSlides/notesSlide4.xml" Id="R9d846b10fe4040c0" /><Relationship Id="rId1" Type="http://schemas.openxmlformats.org/officeDocument/2006/relationships/slide" Target="slide2.xml" /><Relationship Id="rId2" Type="http://schemas.openxmlformats.org/officeDocument/2006/relationships/slide" Target="slide3.xml" /><Relationship Id="rId3" Type="http://schemas.openxmlformats.org/officeDocument/2006/relationships/slide" Target="slide5.xml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7805e1ea1e442b6" /><Relationship Type="http://schemas.openxmlformats.org/officeDocument/2006/relationships/notesSlide" Target="/ppt/notesSlides/notesSlide5.xml" Id="R0406aa2e6dca407c" /><Relationship Id="rId1" Type="http://schemas.openxmlformats.org/officeDocument/2006/relationships/slide" Target="slide2.xml" /><Relationship Id="rId2" Type="http://schemas.openxmlformats.org/officeDocument/2006/relationships/slide" Target="slide4.xml" /><Relationship Id="rId3" Type="http://schemas.openxmlformats.org/officeDocument/2006/relationships/slide" Target="slide6.xml" 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77412d221584385" /><Relationship Type="http://schemas.openxmlformats.org/officeDocument/2006/relationships/notesSlide" Target="/ppt/notesSlides/notesSlide6.xml" Id="Rf844af88866d467b" /><Relationship Id="rId1" Type="http://schemas.openxmlformats.org/officeDocument/2006/relationships/slide" Target="slide2.xml" /><Relationship Id="rId2" Type="http://schemas.openxmlformats.org/officeDocument/2006/relationships/slide" Target="slide5.xml" /><Relationship Id="rId3" Type="http://schemas.openxmlformats.org/officeDocument/2006/relationships/slide" Target="slide7.xml" 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f1e5cc44582408e" /><Relationship Type="http://schemas.openxmlformats.org/officeDocument/2006/relationships/notesSlide" Target="/ppt/notesSlides/notesSlide7.xml" Id="Ra3c9b7ddd684459b" /><Relationship Id="rId1" Type="http://schemas.openxmlformats.org/officeDocument/2006/relationships/slide" Target="slide2.xml" /><Relationship Id="rId2" Type="http://schemas.openxmlformats.org/officeDocument/2006/relationships/slide" Target="slide6.xml" /><Relationship Id="rId3" Type="http://schemas.openxmlformats.org/officeDocument/2006/relationships/slide" Target="slide8.xml" 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a568ea768874176" /><Relationship Type="http://schemas.openxmlformats.org/officeDocument/2006/relationships/notesSlide" Target="/ppt/notesSlides/notesSlide8.xml" Id="Rd949dd95b09c479a" /><Relationship Id="rId1" Type="http://schemas.openxmlformats.org/officeDocument/2006/relationships/slide" Target="slide2.xml" /><Relationship Id="rId2" Type="http://schemas.openxmlformats.org/officeDocument/2006/relationships/slide" Target="slide7.xml" /><Relationship Id="rId3" Type="http://schemas.openxmlformats.org/officeDocument/2006/relationships/slide" Target="slide9.xml" /></Relationships>
</file>

<file path=ppt/slides/_rels/slide9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ed3ce9b89d045da" /><Relationship Type="http://schemas.openxmlformats.org/officeDocument/2006/relationships/notesSlide" Target="/ppt/notesSlides/notesSlide9.xml" Id="R036297e5778a4137" /><Relationship Id="rId1" Type="http://schemas.openxmlformats.org/officeDocument/2006/relationships/slide" Target="slide2.xml" /><Relationship Id="rId2" Type="http://schemas.openxmlformats.org/officeDocument/2006/relationships/slide" Target="slide8.xml" /><Relationship Id="rId3" Type="http://schemas.openxmlformats.org/officeDocument/2006/relationships/slide" Target="slide10.xml" /></Relationships>
</file>

<file path=ppt/slides/_rels/slide10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25c781ad081453d" /><Relationship Type="http://schemas.openxmlformats.org/officeDocument/2006/relationships/notesSlide" Target="/ppt/notesSlides/notesSlide10.xml" Id="R37a2c4ab1db04410" /><Relationship Id="rId1" Type="http://schemas.openxmlformats.org/officeDocument/2006/relationships/slide" Target="slide2.xml" /><Relationship Id="rId2" Type="http://schemas.openxmlformats.org/officeDocument/2006/relationships/slide" Target="slide9.xml" /><Relationship Id="rId3" Type="http://schemas.openxmlformats.org/officeDocument/2006/relationships/slide" Target="slide11.xml" /></Relationships>
</file>

<file path=ppt/slides/_rels/slide1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0e7fb0b2c90a4d91" /><Relationship Type="http://schemas.openxmlformats.org/officeDocument/2006/relationships/notesSlide" Target="/ppt/notesSlides/notesSlide11.xml" Id="Rc98476ccfcf9439a" /><Relationship Id="rId1" Type="http://schemas.openxmlformats.org/officeDocument/2006/relationships/slide" Target="slide2.xml" /><Relationship Id="rId2" Type="http://schemas.openxmlformats.org/officeDocument/2006/relationships/slide" Target="slide10.xml" /><Relationship Id="rId3" Type="http://schemas.openxmlformats.org/officeDocument/2006/relationships/slide" Target="slide12.xml" /></Relationships>
</file>

<file path=ppt/slides/_rels/slide1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5dcfee7f47514fed" /><Relationship Type="http://schemas.openxmlformats.org/officeDocument/2006/relationships/notesSlide" Target="/ppt/notesSlides/notesSlide12.xml" Id="R62bb1f5f68894c83" /><Relationship Id="rId1" Type="http://schemas.openxmlformats.org/officeDocument/2006/relationships/slide" Target="slide2.xml" /><Relationship Id="rId2" Type="http://schemas.openxmlformats.org/officeDocument/2006/relationships/slide" Target="slide11.xml" /><Relationship Id="rId3" Type="http://schemas.openxmlformats.org/officeDocument/2006/relationships/slide" Target="slide13.xml" /></Relationships>
</file>

<file path=ppt/slides/_rels/slide1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20db177b50194615" /><Relationship Type="http://schemas.openxmlformats.org/officeDocument/2006/relationships/notesSlide" Target="/ppt/notesSlides/notesSlide13.xml" Id="R9105f60366a74473" /><Relationship Id="rId1" Type="http://schemas.openxmlformats.org/officeDocument/2006/relationships/slide" Target="slide2.xml" /><Relationship Id="rId2" Type="http://schemas.openxmlformats.org/officeDocument/2006/relationships/slide" Target="slide12.xml" /><Relationship Id="rId3" Type="http://schemas.openxmlformats.org/officeDocument/2006/relationships/slide" Target="slide14.xml" /><Relationship Id="rId4" Type="http://schemas.openxmlformats.org/officeDocument/2006/relationships/slide" Target="slide14.xml" /><Relationship Id="rId5" Type="http://schemas.openxmlformats.org/officeDocument/2006/relationships/slide" Target="slide15.xml" /></Relationships>
</file>

<file path=ppt/slides/_rels/slide14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7f26a40d94b94f0e" /><Relationship Type="http://schemas.openxmlformats.org/officeDocument/2006/relationships/notesSlide" Target="/ppt/notesSlides/notesSlide14.xml" Id="R9e1a8df1d49d4c26" /><Relationship Id="rId1" Type="http://schemas.openxmlformats.org/officeDocument/2006/relationships/slide" Target="slide13.xml" /><Relationship Id="rId2" Type="http://schemas.openxmlformats.org/officeDocument/2006/relationships/slide" Target="slide2.xml" /></Relationships>
</file>

<file path=ppt/slides/_rels/slide15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97732fd80b014be7" /><Relationship Type="http://schemas.openxmlformats.org/officeDocument/2006/relationships/notesSlide" Target="/ppt/notesSlides/notesSlide15.xml" Id="R2650d8b9df274cbc" /><Relationship Id="rId1" Type="http://schemas.openxmlformats.org/officeDocument/2006/relationships/slide" Target="slide16.xml" /><Relationship Id="rId2" Type="http://schemas.openxmlformats.org/officeDocument/2006/relationships/slide" Target="slide2.xml" /></Relationships>
</file>

<file path=ppt/slides/_rels/slide16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d114c2d1a09c4f26" /><Relationship Type="http://schemas.openxmlformats.org/officeDocument/2006/relationships/notesSlide" Target="/ppt/notesSlides/notesSlide16.xml" Id="Rffd0d0a2bb6b4555" /><Relationship Id="rId1" Type="http://schemas.openxmlformats.org/officeDocument/2006/relationships/slide" Target="slide2.xml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yan-orbit">
            <a:extLst xmlns:a="http://schemas.openxmlformats.org/drawingml/2006/main">
              <a:ext uri="{FF2B5EF4-FFF2-40B4-BE49-F238E27FC236}">
                <a16:creationId xmlns:a16="http://schemas.microsoft.com/office/drawing/2014/main" id="{E752EE8C-1B8A-4F7A-829A-9623563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381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3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violet-orbit">
            <a:extLst xmlns:a="http://schemas.openxmlformats.org/drawingml/2006/main">
              <a:ext uri="{FF2B5EF4-FFF2-40B4-BE49-F238E27FC236}">
                <a16:creationId xmlns:a16="http://schemas.microsoft.com/office/drawing/2014/main" id="{3F2CF54C-CDA8-4FE0-8E89-07D7FC37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257175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17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24793BC4-97AA-4483-A1EC-566E7AFF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095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B6EF88-1536-4D04-B3E6-657001E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RESEARCH • TASK 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91A6648-732A-4A27-A628-AE35A64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Every</a:t>
            </a:r>
          </a:p>
          <a:p xmlns:a="http://schemas.openxmlformats.org/drawingml/2006/main">
            <a:pPr algn="l">
              <a:defRPr sz="49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Occurrence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674739-D643-4E13-9263-19581EF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Python string search, without blind spots.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80050A0-7E78-4359-8C76-BA9A4F68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From one character to overlapping substrings, regex patterns, and Unicode-aware decisions.</a:t>
            </a:r>
          </a:p>
        </p:txBody>
      </p:sp>
      <p:sp>
        <p:nvSpPr>
          <p:cNvPr id="8" name="code">
            <a:extLst xmlns:a="http://schemas.openxmlformats.org/drawingml/2006/main">
              <a:ext uri="{FF2B5EF4-FFF2-40B4-BE49-F238E27FC236}">
                <a16:creationId xmlns:a16="http://schemas.microsoft.com/office/drawing/2014/main" id="{759948FC-57FC-4785-BFD1-D5F598B2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5718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4AB8ACD5-E545-4A4F-B95F-223857D7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3D77002-2C34-49F4-8C1D-51AE063B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14525"/>
            <a:ext cx="31718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"mahmoud ashrey"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01 234567 89…</a:t>
            </a:r>
          </a:p>
        </p:txBody>
      </p:sp>
      <p:sp>
        <p:nvSpPr>
          <p:cNvPr id="11" name="start">
            <a:extLst xmlns:a="http://schemas.openxmlformats.org/drawingml/2006/main">
              <a:ext uri="{FF2B5EF4-FFF2-40B4-BE49-F238E27FC236}">
                <a16:creationId xmlns:a16="http://schemas.microsoft.com/office/drawing/2014/main" id="{2D11A39B-9A82-4136-9BF9-467129DA242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2381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START EXPLORING  →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236CC1E-5815-4288-85D2-FC356611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AB2C2"/>
                </a:solidFill>
                <a:latin typeface="Aptos"/>
                <a:ea typeface="Aptos"/>
                <a:cs typeface="Aptos"/>
              </a:rPr>
              <a:t>AI Diploma • Session 03</a:t>
            </a:r>
          </a:p>
        </p:txBody>
      </p:sp>
    </p:spTree>
    <p:extLst>
      <p:ext uri="{BB962C8B-B14F-4D97-AF65-F5344CB8AC3E}">
        <p14:creationId xmlns:p14="http://schemas.microsoft.com/office/powerpoint/2010/main" val="1164470930"/>
      </p:ext>
    </p:extLst>
  </p:cSld>
  <p:transition spd="fast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CB89569C-E512-4ED6-81F5-A60EAAD3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CCF159E-4B09-4478-AC6D-E1281250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INTERACTIVE SEARCH MAP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A90C2F2-F108-4E4D-8703-C6687B9C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Choose the search problem you actually have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CB94358A-3192-4B55-ABF2-8515FE0D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75FBEB-8576-4F29-A3CE-BC30CFD5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7516AA-4773-48A3-959C-6E906057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The right method depends on the target: character, substring, pattern, or human-visible text.</a:t>
            </a:r>
          </a:p>
        </p:txBody>
      </p:sp>
      <p:sp>
        <p:nvSpPr>
          <p:cNvPr id="7" name="menu-first">
            <a:extLst xmlns:a="http://schemas.openxmlformats.org/drawingml/2006/main">
              <a:ext uri="{FF2B5EF4-FFF2-40B4-BE49-F238E27FC236}">
                <a16:creationId xmlns:a16="http://schemas.microsoft.com/office/drawing/2014/main" id="{898C9E97-CF8D-4C3D-87D2-B69DB182B69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01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ONE MATCH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 / index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2603A7F9-2738-48B8-86F0-0C6AE9A0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9" name="menu-char">
            <a:extLst xmlns:a="http://schemas.openxmlformats.org/drawingml/2006/main">
              <a:ext uri="{FF2B5EF4-FFF2-40B4-BE49-F238E27FC236}">
                <a16:creationId xmlns:a16="http://schemas.microsoft.com/office/drawing/2014/main" id="{DFB6D5CE-3278-4D27-AF59-E23F02E581F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9B6CFF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02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ALL CHARS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enumerate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214EAF3-3070-4068-890C-DF61F6E2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11" name="menu-sub">
            <a:extLst xmlns:a="http://schemas.openxmlformats.org/drawingml/2006/main">
              <a:ext uri="{FF2B5EF4-FFF2-40B4-BE49-F238E27FC236}">
                <a16:creationId xmlns:a16="http://schemas.microsoft.com/office/drawing/2014/main" id="{D7008078-CCE1-46BD-A5F9-D0FCCACFD97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A6EA3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03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SUBSTRINGS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repeated find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82FA66E1-281B-4D7B-B6D8-C0000434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13" name="menu-regex">
            <a:extLst xmlns:a="http://schemas.openxmlformats.org/drawingml/2006/main">
              <a:ext uri="{FF2B5EF4-FFF2-40B4-BE49-F238E27FC236}">
                <a16:creationId xmlns:a16="http://schemas.microsoft.com/office/drawing/2014/main" id="{302AFE59-D7ED-4EB7-8AB9-BFD20DCB24F9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FC247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04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PATTERNS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re.finditer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2404007A-AB14-4082-AC11-953AD3E8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15" name="menu-unicode">
            <a:extLst xmlns:a="http://schemas.openxmlformats.org/drawingml/2006/main">
              <a:ext uri="{FF2B5EF4-FFF2-40B4-BE49-F238E27FC236}">
                <a16:creationId xmlns:a16="http://schemas.microsoft.com/office/drawing/2014/main" id="{E2C39D03-D048-4679-8236-B69B2802A639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2571750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FF637D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05</a:t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UNICODE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code points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37C58AFD-3447-461C-8738-55828A52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28875"/>
            <a:ext cx="20288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17" name="menu-quiz">
            <a:extLst xmlns:a="http://schemas.openxmlformats.org/drawingml/2006/main">
              <a:ext uri="{FF2B5EF4-FFF2-40B4-BE49-F238E27FC236}">
                <a16:creationId xmlns:a16="http://schemas.microsoft.com/office/drawing/2014/main" id="{7FBB42A3-DB22-4FF2-984E-DCE2F2A805E2}"/>
              </a:ext>
            </a:extLst>
            <a:hlinkClick xmlns:p7="http://schemas.openxmlformats.org/officeDocument/2006/relationships" xmlns:a="http://schemas.openxmlformats.org/drawingml/2006/main" p7:id="rId6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67350"/>
            <a:ext cx="34575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TAKE THE SEARCH CHALLENGE  →</a:t>
            </a:r>
          </a:p>
        </p:txBody>
      </p:sp>
    </p:spTree>
    <p:extLst>
      <p:ext uri="{BB962C8B-B14F-4D97-AF65-F5344CB8AC3E}">
        <p14:creationId xmlns:p14="http://schemas.microsoft.com/office/powerpoint/2010/main" val="1168605263"/>
      </p:ext>
    </p:extLst>
  </p:cSld>
  <p:transition spd="fast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pill">
            <a:extLst xmlns:a="http://schemas.openxmlformats.org/drawingml/2006/main">
              <a:ext uri="{FF2B5EF4-FFF2-40B4-BE49-F238E27FC236}">
                <a16:creationId xmlns:a16="http://schemas.microsoft.com/office/drawing/2014/main" id="{27A7D276-214F-4481-AB4B-4B6C71D0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865FA3-23BF-4FEE-9171-C38DDB7F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FOUNDATION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75365FE-8126-4BE7-85DD-21C507C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An index is a position—not the character itself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72282E7-D31C-4814-999D-89834982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BBDB9C-7259-4548-8130-674F8BB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C5D295D-A330-44C4-9674-6B2A97C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Python uses zero-based indexing.</a:t>
            </a:r>
          </a:p>
        </p:txBody>
      </p:sp>
      <p:sp>
        <p:nvSpPr>
          <p:cNvPr id="7" name="cell">
            <a:extLst xmlns:a="http://schemas.openxmlformats.org/drawingml/2006/main">
              <a:ext uri="{FF2B5EF4-FFF2-40B4-BE49-F238E27FC236}">
                <a16:creationId xmlns:a16="http://schemas.microsoft.com/office/drawing/2014/main" id="{5AF444C5-EC82-4B63-BE52-71517573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DCF6846-2665-4DDA-92AD-02D401E7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B60F955-DB98-48FF-A59B-FDDB399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cell">
            <a:extLst xmlns:a="http://schemas.openxmlformats.org/drawingml/2006/main">
              <a:ext uri="{FF2B5EF4-FFF2-40B4-BE49-F238E27FC236}">
                <a16:creationId xmlns:a16="http://schemas.microsoft.com/office/drawing/2014/main" id="{100D64D5-A551-4206-9902-E02C1BFF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B34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19DD6F8-E274-45E0-BB46-C8A11CC5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DB63BB6-D9AE-484E-9469-67075DF9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cell">
            <a:extLst xmlns:a="http://schemas.openxmlformats.org/drawingml/2006/main">
              <a:ext uri="{FF2B5EF4-FFF2-40B4-BE49-F238E27FC236}">
                <a16:creationId xmlns:a16="http://schemas.microsoft.com/office/drawing/2014/main" id="{339D2BC4-7357-4AD1-BDE3-28CA3D38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BD09CF1-0A13-487A-95FE-4D7D0CB2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935D822-D4A7-4ECC-AC27-2B48C803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cell">
            <a:extLst xmlns:a="http://schemas.openxmlformats.org/drawingml/2006/main">
              <a:ext uri="{FF2B5EF4-FFF2-40B4-BE49-F238E27FC236}">
                <a16:creationId xmlns:a16="http://schemas.microsoft.com/office/drawing/2014/main" id="{074A7B4B-8ADB-429E-9D2A-81559827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43C083-1AB3-4B0C-8CA2-88A1AB61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F748C9B-A2FC-4CF8-B24F-2C6C3EA8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ell">
            <a:extLst xmlns:a="http://schemas.openxmlformats.org/drawingml/2006/main">
              <a:ext uri="{FF2B5EF4-FFF2-40B4-BE49-F238E27FC236}">
                <a16:creationId xmlns:a16="http://schemas.microsoft.com/office/drawing/2014/main" id="{98A464EC-3AAA-4FFD-B75A-51900745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DF6706-9990-44E9-9B0A-397567688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3FF3010-60BA-46B6-9E1F-789EAF7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cell">
            <a:extLst xmlns:a="http://schemas.openxmlformats.org/drawingml/2006/main">
              <a:ext uri="{FF2B5EF4-FFF2-40B4-BE49-F238E27FC236}">
                <a16:creationId xmlns:a16="http://schemas.microsoft.com/office/drawing/2014/main" id="{AAE556D7-5698-4149-B6B4-45D6DC4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E5C75A5-3488-4E67-BE9C-DF9038F0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76FF35-866E-49C5-8893-AEDD6161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cell">
            <a:extLst xmlns:a="http://schemas.openxmlformats.org/drawingml/2006/main">
              <a:ext uri="{FF2B5EF4-FFF2-40B4-BE49-F238E27FC236}">
                <a16:creationId xmlns:a16="http://schemas.microsoft.com/office/drawing/2014/main" id="{2EF64ED7-F725-4989-893B-ACFB5258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2756D5F-F030-467C-B317-E596A34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9C93E42-E12F-4A26-A481-3AE032BD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8" name="cell">
            <a:extLst xmlns:a="http://schemas.openxmlformats.org/drawingml/2006/main">
              <a:ext uri="{FF2B5EF4-FFF2-40B4-BE49-F238E27FC236}">
                <a16:creationId xmlns:a16="http://schemas.microsoft.com/office/drawing/2014/main" id="{8A49CC97-2422-4AE2-82DB-9986D674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1205EEC-3C8B-49CD-923A-E3DE870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␠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D3E9582-FB57-4EE7-B9C4-7C15A812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cell">
            <a:extLst xmlns:a="http://schemas.openxmlformats.org/drawingml/2006/main">
              <a:ext uri="{FF2B5EF4-FFF2-40B4-BE49-F238E27FC236}">
                <a16:creationId xmlns:a16="http://schemas.microsoft.com/office/drawing/2014/main" id="{3EFC29B1-DCD9-43D9-AB1A-591D603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B34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A3D9815D-B962-4698-85DC-CB42A765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26FFCA7-063B-4130-8950-B1F1800F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4" name="cell">
            <a:extLst xmlns:a="http://schemas.openxmlformats.org/drawingml/2006/main">
              <a:ext uri="{FF2B5EF4-FFF2-40B4-BE49-F238E27FC236}">
                <a16:creationId xmlns:a16="http://schemas.microsoft.com/office/drawing/2014/main" id="{B9201470-3DC6-47C9-8FB8-F76964D2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FBEE488D-CA8C-4C72-B4CD-65D3742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BAD93D2-5621-4D05-91CD-420A5240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7" name="cell">
            <a:extLst xmlns:a="http://schemas.openxmlformats.org/drawingml/2006/main">
              <a:ext uri="{FF2B5EF4-FFF2-40B4-BE49-F238E27FC236}">
                <a16:creationId xmlns:a16="http://schemas.microsoft.com/office/drawing/2014/main" id="{B39A435C-A3B5-4BB1-B55A-F62D87F0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10B3E645-2661-4362-B371-73CB046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h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18EB6202-EF97-4748-BE09-11A02CE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0" name="cell">
            <a:extLst xmlns:a="http://schemas.openxmlformats.org/drawingml/2006/main">
              <a:ext uri="{FF2B5EF4-FFF2-40B4-BE49-F238E27FC236}">
                <a16:creationId xmlns:a16="http://schemas.microsoft.com/office/drawing/2014/main" id="{1C06BB21-94E1-4298-B600-CDA18AE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11932023-1C2B-4D7E-A30F-61725964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E256FFB7-1A2A-4835-9DBD-B184E253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3" name="cell">
            <a:extLst xmlns:a="http://schemas.openxmlformats.org/drawingml/2006/main">
              <a:ext uri="{FF2B5EF4-FFF2-40B4-BE49-F238E27FC236}">
                <a16:creationId xmlns:a16="http://schemas.microsoft.com/office/drawing/2014/main" id="{50D43789-0C33-4FB7-B1E4-FC3F78B1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2B1043C5-CB47-456C-AF50-262FEF4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FC44C92C-379C-45BE-AE57-AAF876DA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6" name="cell">
            <a:extLst xmlns:a="http://schemas.openxmlformats.org/drawingml/2006/main">
              <a:ext uri="{FF2B5EF4-FFF2-40B4-BE49-F238E27FC236}">
                <a16:creationId xmlns:a16="http://schemas.microsoft.com/office/drawing/2014/main" id="{C15EE1F2-CEB7-4598-BF72-68353CF3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6670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7AADC6BE-095C-4D66-A7F0-BABDE133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66700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y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C1A2C9A8-7887-4C14-BC44-B9F17494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39090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1A57A30-6137-4803-A4F9-54438B85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letter 'a' appears at indices 1 and 8 in the exact string shown above.</a:t>
            </a:r>
          </a:p>
        </p:txBody>
      </p:sp>
      <p:sp>
        <p:nvSpPr>
          <p:cNvPr id="50" name="correction">
            <a:extLst xmlns:a="http://schemas.openxmlformats.org/drawingml/2006/main">
              <a:ext uri="{FF2B5EF4-FFF2-40B4-BE49-F238E27FC236}">
                <a16:creationId xmlns:a16="http://schemas.microsoft.com/office/drawing/2014/main" id="{5562EC89-334B-40B8-8A70-BB921141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391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1191B"/>
          </a:solidFill>
          <a:ln xmlns:a="http://schemas.openxmlformats.org/drawingml/2006/main" w="9525">
            <a:solidFill>
              <a:srgbClr val="FF637D"/>
            </a:solidFill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3BA2870E-351F-44FA-80BA-D3351C3C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1093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Check the input carefully: in 'mahmoud ashrey', the second 'a' is 8—not 9.</a:t>
            </a:r>
          </a:p>
        </p:txBody>
      </p:sp>
      <p:sp>
        <p:nvSpPr>
          <p:cNvPr id="52" name="nav-home">
            <a:extLst xmlns:a="http://schemas.openxmlformats.org/drawingml/2006/main">
              <a:ext uri="{FF2B5EF4-FFF2-40B4-BE49-F238E27FC236}">
                <a16:creationId xmlns:a16="http://schemas.microsoft.com/office/drawing/2014/main" id="{9DEA0117-C205-4EB1-85AC-F932099D0FC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53" name="nav-next">
            <a:extLst xmlns:a="http://schemas.openxmlformats.org/drawingml/2006/main">
              <a:ext uri="{FF2B5EF4-FFF2-40B4-BE49-F238E27FC236}">
                <a16:creationId xmlns:a16="http://schemas.microsoft.com/office/drawing/2014/main" id="{3A3FD05E-E540-474C-9977-5E0FD6A8B9E9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230248338"/>
      </p:ext>
    </p:extLst>
  </p:cSld>
  <p:transition spd="fast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ll">
            <a:extLst xmlns:a="http://schemas.openxmlformats.org/drawingml/2006/main">
              <a:ext uri="{FF2B5EF4-FFF2-40B4-BE49-F238E27FC236}">
                <a16:creationId xmlns:a16="http://schemas.microsoft.com/office/drawing/2014/main" id="{BA8F6291-9F83-4DC8-AD82-7FD3AB4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B8CEEEC-96D0-477B-8B68-A50DF639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FIRST OCCURRENCE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29AA99-898B-4EBD-9550-7A1F13E9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find() answers “where is the next match?”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9F3A64B-69F8-425C-AD7D-356E3FD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FB5385-32F3-45D7-9C5C-7BA52CE1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9D52FA10-D379-4736-8C9B-F8A8265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387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7E1D5EFE-7B38-4FFC-8C51-BB2D6AF8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AB06644-CB37-4696-AAD3-30FB2B5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48387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name = 'mahmoud ashrey'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name.find('a')      # 1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name.find('z')      # -1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0F88F8C-B74E-462A-963E-06C94C8B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find(sub[, start[, end]])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A55FB8-C811-464B-969D-F88F1C83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Returns the lowest matching index inside the optional slice. If nothing matches, it returns −1.</a:t>
            </a:r>
          </a:p>
        </p:txBody>
      </p:sp>
      <p:sp>
        <p:nvSpPr>
          <p:cNvPr id="11" name="warning">
            <a:extLst xmlns:a="http://schemas.openxmlformats.org/drawingml/2006/main">
              <a:ext uri="{FF2B5EF4-FFF2-40B4-BE49-F238E27FC236}">
                <a16:creationId xmlns:a16="http://schemas.microsoft.com/office/drawing/2014/main" id="{1752B21A-142E-4961-871E-7B3482C9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01A10"/>
          </a:solidFill>
          <a:ln xmlns:a="http://schemas.openxmlformats.org/drawingml/2006/main" w="9525">
            <a:solidFill>
              <a:srgbClr val="FFC247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7DEED5-FB49-4F18-8139-1EBD907C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910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Use index() when “not found” should raise ValueError instead.</a:t>
            </a:r>
          </a:p>
        </p:txBody>
      </p:sp>
      <p:sp>
        <p:nvSpPr>
          <p:cNvPr id="13" name="nav-home">
            <a:extLst xmlns:a="http://schemas.openxmlformats.org/drawingml/2006/main">
              <a:ext uri="{FF2B5EF4-FFF2-40B4-BE49-F238E27FC236}">
                <a16:creationId xmlns:a16="http://schemas.microsoft.com/office/drawing/2014/main" id="{33ABE797-074A-498C-A7A4-DB583A5E53C5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4" name="nav-back">
            <a:extLst xmlns:a="http://schemas.openxmlformats.org/drawingml/2006/main">
              <a:ext uri="{FF2B5EF4-FFF2-40B4-BE49-F238E27FC236}">
                <a16:creationId xmlns:a16="http://schemas.microsoft.com/office/drawing/2014/main" id="{CE52912F-7873-40A1-A352-32170EFA3DF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5" name="nav-next">
            <a:extLst xmlns:a="http://schemas.openxmlformats.org/drawingml/2006/main">
              <a:ext uri="{FF2B5EF4-FFF2-40B4-BE49-F238E27FC236}">
                <a16:creationId xmlns:a16="http://schemas.microsoft.com/office/drawing/2014/main" id="{DC5A9FA1-155F-44C0-B9C0-7B71DBEF95D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99278862"/>
      </p:ext>
    </p:extLst>
  </p:cSld>
  <p:transition spd="fast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ill">
            <a:extLst xmlns:a="http://schemas.openxmlformats.org/drawingml/2006/main">
              <a:ext uri="{FF2B5EF4-FFF2-40B4-BE49-F238E27FC236}">
                <a16:creationId xmlns:a16="http://schemas.microsoft.com/office/drawing/2014/main" id="{4A8F116C-6E34-4591-A2E5-872C8E2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B23619-0E5F-4137-A9C5-0963326C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ALL CHARACTER MATCHES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DF4D6CD-912F-44F3-BD93-568D1C2F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enumerate() is the clearest one-pass answer for a character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0B16AC1-FF77-46CC-94BF-BDDB9CE1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D5DABA4-24C2-4857-ACA0-A2414D87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EA34AE4F-B7AB-469C-92CC-0E5AC1BD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429375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5BA8D51B-8AF8-45A3-9A85-52199A86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9332D22-87FD-40C0-A7F1-4DB83A4F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6029325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name = 'mahmoud ashrey'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indices = [i for i, ch in enumerate(name)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   if ch == 'a']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print(indices)  # [1, 8]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719557-89E0-447D-9EE9-B3777A7F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WHY THIS VERSION?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3235483C-285E-41B3-B237-62E2865D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712ECDE-FC1E-4C0B-8806-B0BFDFF9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Reads index and value together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4CAAD3-5AE4-4B6D-B6DC-954735B3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956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91FE2E-A224-4742-8EDB-A9125F28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480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Visits the string once: O(n)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3ACDEF4-07BC-4296-B6FF-900223D0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D47E9B5-CEF6-45E7-8507-B3B582D6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71925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49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Returns a reusable list of positions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D5B6137A-0F65-486B-B50C-16587C98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10839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41F8077C-D89B-4287-BD32-794D385D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363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range(len(name)) works too; enumerate(name) states the intent more directly.</a:t>
            </a:r>
          </a:p>
        </p:txBody>
      </p:sp>
      <p:sp>
        <p:nvSpPr>
          <p:cNvPr id="18" name="nav-home">
            <a:extLst xmlns:a="http://schemas.openxmlformats.org/drawingml/2006/main">
              <a:ext uri="{FF2B5EF4-FFF2-40B4-BE49-F238E27FC236}">
                <a16:creationId xmlns:a16="http://schemas.microsoft.com/office/drawing/2014/main" id="{9278B16B-478A-4CCD-949E-BABE157D880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9" name="nav-back">
            <a:extLst xmlns:a="http://schemas.openxmlformats.org/drawingml/2006/main">
              <a:ext uri="{FF2B5EF4-FFF2-40B4-BE49-F238E27FC236}">
                <a16:creationId xmlns:a16="http://schemas.microsoft.com/office/drawing/2014/main" id="{8B945362-6C36-4E37-A02A-532DA4A5E471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0" name="nav-next">
            <a:extLst xmlns:a="http://schemas.openxmlformats.org/drawingml/2006/main">
              <a:ext uri="{FF2B5EF4-FFF2-40B4-BE49-F238E27FC236}">
                <a16:creationId xmlns:a16="http://schemas.microsoft.com/office/drawing/2014/main" id="{85214A54-D163-47FF-AE2B-07C127F1F5CB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108131072"/>
      </p:ext>
    </p:extLst>
  </p:cSld>
  <p:transition spd="fast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ill">
            <a:extLst xmlns:a="http://schemas.openxmlformats.org/drawingml/2006/main">
              <a:ext uri="{FF2B5EF4-FFF2-40B4-BE49-F238E27FC236}">
                <a16:creationId xmlns:a16="http://schemas.microsoft.com/office/drawing/2014/main" id="{2AC1F4EA-E93C-4882-8167-F3E6FCC2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9B6CFF"/>
          </a:solidFill>
          <a:ln xmlns:a="http://schemas.openxmlformats.org/drawingml/2006/main" w="0">
            <a:solidFill>
              <a:srgbClr val="9B6CFF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9E63F3F-25B5-4110-ABFC-5D68910E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MEMORY-AWARE VARIANT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E63EB5D7-47C5-433D-8AD5-AA7B94EC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generator avoids building a list you may not need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D3F8FF9-472B-4F83-9873-E6500E40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C4C49BB-16A2-41F7-A0A6-CD5F8E11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A5B70EB4-AC11-4093-A183-15BFD23E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6191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FFFEA91-4083-4484-B204-EE5095A1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9FF028-6EE0-4157-B660-8E85CE70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57912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matches = (i for i, ch in enumerate(text)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   if ch == target)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for index in matches: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process(index)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9B16769-2152-49DE-B77C-EF041588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LIST COMPREHENSION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8415AE9-1A75-4D40-BAFA-34947048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Best when you need all indices now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077617-4330-4F8A-8B91-DC7E5EF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GENERATOR EXPRESSION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BE0A8DC-45CD-4442-A5AA-CC42BF4D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Best when streaming or stopping early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883668E-D235-4DDE-ABD0-0E7BE10D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COMPLEXITY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E58E84-7B98-4423-94F2-C8460783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863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Both scan the text once: O(n)</a:t>
            </a:r>
          </a:p>
        </p:txBody>
      </p:sp>
      <p:sp>
        <p:nvSpPr>
          <p:cNvPr id="15" name="nav-home">
            <a:extLst xmlns:a="http://schemas.openxmlformats.org/drawingml/2006/main">
              <a:ext uri="{FF2B5EF4-FFF2-40B4-BE49-F238E27FC236}">
                <a16:creationId xmlns:a16="http://schemas.microsoft.com/office/drawing/2014/main" id="{46EC426E-A35F-49F6-ACCA-D647778BCED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6" name="nav-back">
            <a:extLst xmlns:a="http://schemas.openxmlformats.org/drawingml/2006/main">
              <a:ext uri="{FF2B5EF4-FFF2-40B4-BE49-F238E27FC236}">
                <a16:creationId xmlns:a16="http://schemas.microsoft.com/office/drawing/2014/main" id="{E799105D-4E53-4650-ABE9-0570AD45FB0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7" name="nav-next">
            <a:extLst xmlns:a="http://schemas.openxmlformats.org/drawingml/2006/main">
              <a:ext uri="{FF2B5EF4-FFF2-40B4-BE49-F238E27FC236}">
                <a16:creationId xmlns:a16="http://schemas.microsoft.com/office/drawing/2014/main" id="{B77AEB88-A49A-4400-9A49-8BDF9CC1C16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661562709"/>
      </p:ext>
    </p:extLst>
  </p:cSld>
  <p:transition spd="fast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ll">
            <a:extLst xmlns:a="http://schemas.openxmlformats.org/drawingml/2006/main">
              <a:ext uri="{FF2B5EF4-FFF2-40B4-BE49-F238E27FC236}">
                <a16:creationId xmlns:a16="http://schemas.microsoft.com/office/drawing/2014/main" id="{76731C08-7FCD-44D4-AEAF-2F950F3D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6025CF9-737D-456D-8A14-624BEE14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ALL SUBSTRING MATCHES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E16A534-AC66-4F80-9D90-82D002EF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Repeated find() generalizes naturally to substrings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52F49A86-ADA1-48FD-AD3A-F3725400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0A5F87C-6B42-4A3F-8394-7CEEF4F8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D0AD376B-48C6-473B-94D3-5BF7D483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6191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1DA731FA-732C-4954-980A-5D4FEBD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8156674-ED81-44EC-BDED-6140E4EE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579120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def find_all(text, sub):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start = 0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while True: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index = text.find(sub, start)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if index == -1: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yield index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        start = index + 1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22BAD7-8A96-415C-A4BF-56D90C53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4F7FB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F4F7FB"/>
                </a:solidFill>
                <a:latin typeface="Consolas"/>
                <a:ea typeface="Consolas"/>
                <a:cs typeface="Consolas"/>
              </a:rPr>
              <a:t>list(find_all('banana', 'ana'))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91B5B7A-A727-4FC3-9D21-AF61102E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[1, 3]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CDAA98F-7C1C-42DA-BAB9-1A1EF9C3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766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Advancing by 1 preserves overlapping matches.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DFD49DF-829D-45E4-A41C-95AABA04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29125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Advance by len(sub) when overlaps should be excluded.</a:t>
            </a:r>
          </a:p>
        </p:txBody>
      </p:sp>
      <p:sp>
        <p:nvSpPr>
          <p:cNvPr id="13" name="nav-home">
            <a:extLst xmlns:a="http://schemas.openxmlformats.org/drawingml/2006/main">
              <a:ext uri="{FF2B5EF4-FFF2-40B4-BE49-F238E27FC236}">
                <a16:creationId xmlns:a16="http://schemas.microsoft.com/office/drawing/2014/main" id="{742C9683-3EA3-4B9A-8F99-6C8C4811A064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4" name="nav-back">
            <a:extLst xmlns:a="http://schemas.openxmlformats.org/drawingml/2006/main">
              <a:ext uri="{FF2B5EF4-FFF2-40B4-BE49-F238E27FC236}">
                <a16:creationId xmlns:a16="http://schemas.microsoft.com/office/drawing/2014/main" id="{5AD0C763-81D4-433D-98F8-8A5B672B02FA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5" name="nav-next">
            <a:extLst xmlns:a="http://schemas.openxmlformats.org/drawingml/2006/main">
              <a:ext uri="{FF2B5EF4-FFF2-40B4-BE49-F238E27FC236}">
                <a16:creationId xmlns:a16="http://schemas.microsoft.com/office/drawing/2014/main" id="{0DE09349-3CF2-4F21-B01A-D9D3C25AD72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548079097"/>
      </p:ext>
    </p:extLst>
  </p:cSld>
  <p:transition spd="fast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ill">
            <a:extLst xmlns:a="http://schemas.openxmlformats.org/drawingml/2006/main">
              <a:ext uri="{FF2B5EF4-FFF2-40B4-BE49-F238E27FC236}">
                <a16:creationId xmlns:a16="http://schemas.microsoft.com/office/drawing/2014/main" id="{D38D6F07-778F-4285-B871-2F668CFB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8549C26-12F7-4DC8-AF8C-AA3297D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THE EDGE CASE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38C1F6-CDFF-433B-9498-E94B1102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Overlapping matches change the algorithm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9B0C18B-3F84-4A99-A1D5-4A6ECD9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F750761-7638-4F41-81D7-8FE437E2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234445E-B586-4E67-80EA-40E19BF1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Text:  banana     Target:  ana</a:t>
            </a:r>
          </a:p>
        </p:txBody>
      </p:sp>
      <p:sp>
        <p:nvSpPr>
          <p:cNvPr id="7" name="letter">
            <a:extLst xmlns:a="http://schemas.openxmlformats.org/drawingml/2006/main">
              <a:ext uri="{FF2B5EF4-FFF2-40B4-BE49-F238E27FC236}">
                <a16:creationId xmlns:a16="http://schemas.microsoft.com/office/drawing/2014/main" id="{512C7546-2918-44C3-9E74-B5C18108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9F9FE35-A62B-4209-B2CF-E20A563E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1BB686C-4C1A-452C-8030-E79292C6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0" name="letter">
            <a:extLst xmlns:a="http://schemas.openxmlformats.org/drawingml/2006/main">
              <a:ext uri="{FF2B5EF4-FFF2-40B4-BE49-F238E27FC236}">
                <a16:creationId xmlns:a16="http://schemas.microsoft.com/office/drawing/2014/main" id="{10A6E9CC-10DD-4E25-A446-6A40B809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A6EA3B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7242E83-783F-4B51-B281-0195BEB6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A9EE1B6-3C3E-4CB9-A8B3-B93997E0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letter">
            <a:extLst xmlns:a="http://schemas.openxmlformats.org/drawingml/2006/main">
              <a:ext uri="{FF2B5EF4-FFF2-40B4-BE49-F238E27FC236}">
                <a16:creationId xmlns:a16="http://schemas.microsoft.com/office/drawing/2014/main" id="{DA1DA51B-6AEC-4699-ACAB-954D0952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A6EA3B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2EB7C8-6BB8-4D5A-9F24-5699BDB6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7438152-3CB7-473B-A2E9-3407C6F9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letter">
            <a:extLst xmlns:a="http://schemas.openxmlformats.org/drawingml/2006/main">
              <a:ext uri="{FF2B5EF4-FFF2-40B4-BE49-F238E27FC236}">
                <a16:creationId xmlns:a16="http://schemas.microsoft.com/office/drawing/2014/main" id="{52AD8A7C-FC47-4762-AC56-3FDA4223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A6EA3B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719203D-E7E7-43AD-95A4-DD97D68A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FB7279-3690-4638-A57A-45A57D3E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letter">
            <a:extLst xmlns:a="http://schemas.openxmlformats.org/drawingml/2006/main">
              <a:ext uri="{FF2B5EF4-FFF2-40B4-BE49-F238E27FC236}">
                <a16:creationId xmlns:a16="http://schemas.microsoft.com/office/drawing/2014/main" id="{9E2B2FBA-4805-4CA4-BFE8-0DDA77D4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B1A65BB-E3EC-4FF1-8CB5-212A97C0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70B8B2D-E4B6-46D5-A119-5C0C7B44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letter">
            <a:extLst xmlns:a="http://schemas.openxmlformats.org/drawingml/2006/main">
              <a:ext uri="{FF2B5EF4-FFF2-40B4-BE49-F238E27FC236}">
                <a16:creationId xmlns:a16="http://schemas.microsoft.com/office/drawing/2014/main" id="{21AE5625-122A-470B-87AF-E3FE844F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819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19050">
            <a:solidFill>
              <a:srgbClr val="2B3240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6153C2-0C19-4207-9883-D346AB32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6225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C7604D5-38C5-4390-9313-8A956466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F4375674-C683-4B3A-A66B-20B5BDB6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EA3B"/>
          </a:solidFill>
          <a:ln xmlns:a="http://schemas.openxmlformats.org/drawingml/2006/main" w="0">
            <a:solidFill>
              <a:srgbClr val="A6EA3B"/>
            </a:solidFill>
            <a:prstDash val="solid"/>
          </a:ln>
        </p:spPr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615E9504-19BC-4DDF-A338-2BB9338F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72000"/>
            <a:ext cx="3105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2A803DA1-F46A-4115-B666-20B2E381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10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match at 1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9102990-3FC8-4E32-A650-D561B01E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1911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match at 3</a:t>
            </a:r>
          </a:p>
        </p:txBody>
      </p:sp>
      <p:sp>
        <p:nvSpPr>
          <p:cNvPr id="29" name="nav-home">
            <a:extLst xmlns:a="http://schemas.openxmlformats.org/drawingml/2006/main">
              <a:ext uri="{FF2B5EF4-FFF2-40B4-BE49-F238E27FC236}">
                <a16:creationId xmlns:a16="http://schemas.microsoft.com/office/drawing/2014/main" id="{E274B0A8-019A-4D9C-BAF1-9E1B46090D5C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30" name="nav-back">
            <a:extLst xmlns:a="http://schemas.openxmlformats.org/drawingml/2006/main">
              <a:ext uri="{FF2B5EF4-FFF2-40B4-BE49-F238E27FC236}">
                <a16:creationId xmlns:a16="http://schemas.microsoft.com/office/drawing/2014/main" id="{B71B78C2-F668-4DDD-AE41-EA02427CE7A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31" name="nav-next">
            <a:extLst xmlns:a="http://schemas.openxmlformats.org/drawingml/2006/main">
              <a:ext uri="{FF2B5EF4-FFF2-40B4-BE49-F238E27FC236}">
                <a16:creationId xmlns:a16="http://schemas.microsoft.com/office/drawing/2014/main" id="{20B3622A-99F6-4939-AA8B-2EDC0F651A3C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264761831"/>
      </p:ext>
    </p:extLst>
  </p:cSld>
  <p:transition spd="fast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ll">
            <a:extLst xmlns:a="http://schemas.openxmlformats.org/drawingml/2006/main">
              <a:ext uri="{FF2B5EF4-FFF2-40B4-BE49-F238E27FC236}">
                <a16:creationId xmlns:a16="http://schemas.microsoft.com/office/drawing/2014/main" id="{F74369AE-0926-4146-9A98-3AD5AAA6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C247"/>
          </a:solidFill>
          <a:ln xmlns:a="http://schemas.openxmlformats.org/drawingml/2006/main" w="0">
            <a:solidFill>
              <a:srgbClr val="FFC247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51A8B7C-03C7-4D04-86F4-4F23336D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REGULAR EXPRESSIONS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52515C7-DF60-4A2C-AECF-ADA31DBE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Use re.finditer() when the target is a pattern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3AFBBD0-C55A-4603-8D4B-98F647A5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FCBF719-02B9-4279-8A78-B709682B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code">
            <a:extLst xmlns:a="http://schemas.openxmlformats.org/drawingml/2006/main">
              <a:ext uri="{FF2B5EF4-FFF2-40B4-BE49-F238E27FC236}">
                <a16:creationId xmlns:a16="http://schemas.microsoft.com/office/drawing/2014/main" id="{444D4028-4920-442D-A0AB-70D17726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6858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DCA490CC-8F68-498D-BFF7-5333159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7D195D-F3D4-4BDC-B012-D23E412E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64579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import re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text = 'Order 12, then 345'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positions = [m.start() for m in re.finditer(r'\d+', text)]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# [6, 15]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C4A3E01-CF75-42FF-A931-88872D0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finditer() returns match objects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6F1959-A2A6-4380-86F0-E6A45011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Each match exposes start(), end(), span(), and the matched text.</a:t>
            </a:r>
          </a:p>
        </p:txBody>
      </p:sp>
      <p:sp>
        <p:nvSpPr>
          <p:cNvPr id="11" name="literal">
            <a:extLst xmlns:a="http://schemas.openxmlformats.org/drawingml/2006/main">
              <a:ext uri="{FF2B5EF4-FFF2-40B4-BE49-F238E27FC236}">
                <a16:creationId xmlns:a16="http://schemas.microsoft.com/office/drawing/2014/main" id="{80BF51C1-3F36-478C-A655-D3A4DD32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0839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63D26F-7350-49FB-AC64-CC48E7B4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For literal text, str.find is simpler. For a regex built from user text, escape it with re.escape().</a:t>
            </a:r>
          </a:p>
        </p:txBody>
      </p:sp>
      <p:sp>
        <p:nvSpPr>
          <p:cNvPr id="13" name="nav-home">
            <a:extLst xmlns:a="http://schemas.openxmlformats.org/drawingml/2006/main">
              <a:ext uri="{FF2B5EF4-FFF2-40B4-BE49-F238E27FC236}">
                <a16:creationId xmlns:a16="http://schemas.microsoft.com/office/drawing/2014/main" id="{D141A9B1-3620-4F0C-A76A-249E09C004E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4" name="nav-back">
            <a:extLst xmlns:a="http://schemas.openxmlformats.org/drawingml/2006/main">
              <a:ext uri="{FF2B5EF4-FFF2-40B4-BE49-F238E27FC236}">
                <a16:creationId xmlns:a16="http://schemas.microsoft.com/office/drawing/2014/main" id="{54F90616-2C13-4A07-9142-BB37B39EC57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5" name="nav-next">
            <a:extLst xmlns:a="http://schemas.openxmlformats.org/drawingml/2006/main">
              <a:ext uri="{FF2B5EF4-FFF2-40B4-BE49-F238E27FC236}">
                <a16:creationId xmlns:a16="http://schemas.microsoft.com/office/drawing/2014/main" id="{CA996DD4-C1A5-43DF-9D82-2A209C01F185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982932417"/>
      </p:ext>
    </p:extLst>
  </p:cSld>
  <p:transition spd="fast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pill">
            <a:extLst xmlns:a="http://schemas.openxmlformats.org/drawingml/2006/main">
              <a:ext uri="{FF2B5EF4-FFF2-40B4-BE49-F238E27FC236}">
                <a16:creationId xmlns:a16="http://schemas.microsoft.com/office/drawing/2014/main" id="{8741FF2D-E9F6-46E8-9C9E-50613F67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37D"/>
          </a:solidFill>
          <a:ln xmlns:a="http://schemas.openxmlformats.org/drawingml/2006/main" w="0">
            <a:solidFill>
              <a:srgbClr val="FF637D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4E41314C-1CC2-4D02-8C94-F07A987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UNICODE REALITY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974F9A5-223F-469D-A12F-EE40847D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Python string indices count Unicode code points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FDABADE8-5BA9-4A00-A701-0038E696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31CEFD5-8305-4A88-B33E-FE1791D2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26A9CD-91E1-48F3-BAAA-B22EFE0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342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637D"/>
                </a:solidFill>
                <a:latin typeface="Consolas"/>
                <a:ea typeface="Consolas"/>
                <a:cs typeface="Consolas"/>
              </a:defRPr>
            </a:pPr>
            <a:r>
              <a:rPr sz="3450" b="1">
                <a:solidFill>
                  <a:srgbClr val="FF637D"/>
                </a:solidFill>
                <a:latin typeface="Consolas"/>
                <a:ea typeface="Consolas"/>
                <a:cs typeface="Consolas"/>
              </a:rPr>
              <a:t>'A😀B'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DCE0BF8-9B93-430D-8B1F-7D92C337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AB2C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AAB2C2"/>
                </a:solidFill>
                <a:latin typeface="Consolas"/>
                <a:ea typeface="Consolas"/>
                <a:cs typeface="Consolas"/>
              </a:rPr>
              <a:t>indices: 0   1   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68237EE-9822-456F-BEE9-C0F66955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6000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That is not always the same as bytes—or what a user sees as one symbol.</a:t>
            </a:r>
          </a:p>
        </p:txBody>
      </p:sp>
      <p:sp>
        <p:nvSpPr>
          <p:cNvPr id="9" name="code">
            <a:extLst xmlns:a="http://schemas.openxmlformats.org/drawingml/2006/main">
              <a:ext uri="{FF2B5EF4-FFF2-40B4-BE49-F238E27FC236}">
                <a16:creationId xmlns:a16="http://schemas.microsoft.com/office/drawing/2014/main" id="{C6876E7F-4A37-4CB0-BBF7-0F1A75AF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5243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0E14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B5B0B70-9B27-4B05-93DD-E944574D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7625" cy="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831291B-9FCE-4DD1-B36C-1B053AE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05025"/>
            <a:ext cx="41243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text = 'A😀B'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len(text)            # 3</a:t>
            </a:r>
          </a:p>
          <a:p xmlns:a="http://schemas.openxmlformats.org/drawingml/2006/main">
            <a:pPr algn="l">
              <a:defRPr sz="1350" b="0">
                <a:solidFill>
                  <a:srgbClr val="D8E2F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8E2F0"/>
                </a:solidFill>
                <a:latin typeface="Consolas"/>
                <a:ea typeface="Consolas"/>
                <a:cs typeface="Consolas"/>
              </a:rPr>
              <a:t>len(text.encode())   # 6 bytes in UTF-8</a:t>
            </a:r>
          </a:p>
        </p:txBody>
      </p:sp>
      <p:sp>
        <p:nvSpPr>
          <p:cNvPr id="12" name="unicode-note">
            <a:extLst xmlns:a="http://schemas.openxmlformats.org/drawingml/2006/main">
              <a:ext uri="{FF2B5EF4-FFF2-40B4-BE49-F238E27FC236}">
                <a16:creationId xmlns:a16="http://schemas.microsoft.com/office/drawing/2014/main" id="{FB7BDE57-A03D-4492-BA39-D20981D4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33875"/>
            <a:ext cx="4524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1151A"/>
          </a:solidFill>
          <a:ln xmlns:a="http://schemas.openxmlformats.org/drawingml/2006/main" w="9525">
            <a:solidFill>
              <a:srgbClr val="FF637D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10B7019-97CD-4EC9-B390-3B2EB1BD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4048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Combining marks can make one visible glyph span multiple code points. Normalize when the comparison rules require it.</a:t>
            </a:r>
          </a:p>
        </p:txBody>
      </p:sp>
      <p:sp>
        <p:nvSpPr>
          <p:cNvPr id="14" name="nav-home">
            <a:extLst xmlns:a="http://schemas.openxmlformats.org/drawingml/2006/main">
              <a:ext uri="{FF2B5EF4-FFF2-40B4-BE49-F238E27FC236}">
                <a16:creationId xmlns:a16="http://schemas.microsoft.com/office/drawing/2014/main" id="{8BD24C1E-2EE5-4F84-9C33-0670CE24A26B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5" name="nav-back">
            <a:extLst xmlns:a="http://schemas.openxmlformats.org/drawingml/2006/main">
              <a:ext uri="{FF2B5EF4-FFF2-40B4-BE49-F238E27FC236}">
                <a16:creationId xmlns:a16="http://schemas.microsoft.com/office/drawing/2014/main" id="{B52D25A2-6614-48C9-8ACA-775130B2D0C8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16" name="nav-next">
            <a:extLst xmlns:a="http://schemas.openxmlformats.org/drawingml/2006/main">
              <a:ext uri="{FF2B5EF4-FFF2-40B4-BE49-F238E27FC236}">
                <a16:creationId xmlns:a16="http://schemas.microsoft.com/office/drawing/2014/main" id="{EDB46588-5925-4826-9498-B98F02AB8F53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975166734"/>
      </p:ext>
    </p:extLst>
  </p:cSld>
  <p:transition spd="fast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ill">
            <a:extLst xmlns:a="http://schemas.openxmlformats.org/drawingml/2006/main">
              <a:ext uri="{FF2B5EF4-FFF2-40B4-BE49-F238E27FC236}">
                <a16:creationId xmlns:a16="http://schemas.microsoft.com/office/drawing/2014/main" id="{57FB1E1E-C366-4DF4-8052-A957D1FC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8AEE694-CAF8-4904-8A68-87D08334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DECISION GUIDE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C49F83A-8854-4A67-9B5F-07EB9FA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Choose the method from the search contract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AB3E00E-AE13-4EC1-A3B8-47535E97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D15100F-6F6A-41BF-A681-726D535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C33EC91-1A4A-4D54-B886-70CA4AEC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D24D814C-85A9-4422-A71E-6A474CDC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621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676D28-2EF9-48FE-84D3-38F36FDD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Need only the first literal match?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BB75DF2-9C46-4A02-A861-A9EB9595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str.find()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A4FFCC0-CB75-4AE0-8628-2A118804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EC61CB2-79ED-4A29-AF2A-9D8A797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6CF0864-134A-43D4-9454-B934CD0F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Need all positions of one character?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E23AA6B-1EEB-498F-8D74-F0F9C521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enumerate()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2440009-E565-44E6-918B-ACF35DE0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71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C3B7B7E-0591-4E3D-B7DA-EACD51B7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242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E423A9D-C1A0-4261-84F0-2D5F462A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718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Need overlapping substrings?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8DD6452-8A31-46A7-85BF-2281AE1E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repeated find + step 1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B8FC793-A4AC-4CE8-80C6-A038BCE2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D04F449-1B03-4788-B868-78B450C3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84B0BAD-C057-45D4-882C-C17E8A7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Need a pattern?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1DBDFAF-6DCA-496B-9D86-23FE419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re.finditer()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992D09D-2A47-44B9-B3F1-B2E47363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9FFA5CF9-9A79-4CFA-A9BE-4A3986BD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8635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40C02CE-FFD6-435D-B6AA-CC030D41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339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Need human-visible characters?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E292AF5-EC0C-42AD-82A9-2BB19F90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339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define Unicode rules first</a:t>
            </a:r>
          </a:p>
        </p:txBody>
      </p:sp>
      <p:sp>
        <p:nvSpPr>
          <p:cNvPr id="26" name="nav-home">
            <a:extLst xmlns:a="http://schemas.openxmlformats.org/drawingml/2006/main">
              <a:ext uri="{FF2B5EF4-FFF2-40B4-BE49-F238E27FC236}">
                <a16:creationId xmlns:a16="http://schemas.microsoft.com/office/drawing/2014/main" id="{AC17041C-4E9C-4EAE-9DC6-1C07B301A3DF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7" name="nav-back">
            <a:extLst xmlns:a="http://schemas.openxmlformats.org/drawingml/2006/main">
              <a:ext uri="{FF2B5EF4-FFF2-40B4-BE49-F238E27FC236}">
                <a16:creationId xmlns:a16="http://schemas.microsoft.com/office/drawing/2014/main" id="{46CB99A8-D43C-45F6-9329-63E7AC55D4F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8" name="nav-next">
            <a:extLst xmlns:a="http://schemas.openxmlformats.org/drawingml/2006/main">
              <a:ext uri="{FF2B5EF4-FFF2-40B4-BE49-F238E27FC236}">
                <a16:creationId xmlns:a16="http://schemas.microsoft.com/office/drawing/2014/main" id="{C7EECB79-50B7-4F3F-993F-3D8E6E8C9694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1029879778"/>
      </p:ext>
    </p:extLst>
  </p:cSld>
  <p:transition spd="fast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ill">
            <a:extLst xmlns:a="http://schemas.openxmlformats.org/drawingml/2006/main">
              <a:ext uri="{FF2B5EF4-FFF2-40B4-BE49-F238E27FC236}">
                <a16:creationId xmlns:a16="http://schemas.microsoft.com/office/drawing/2014/main" id="{78B7063E-20B8-451D-BA0C-295CD729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7F45132-219A-46BB-BC18-8CA952A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PERFORMANCE WITHOUT MYTHS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7F25915-4A21-4A83-BEF9-FF7E7BC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812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“Pythonic” means clear and appropriate—not automatically fastest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6050499-9A65-466F-9E26-7813C6E7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5C6828E-BF1C-46A2-9B5B-5B42C2EF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3E31158-1806-4857-8C9B-E047A5B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ENUMERATE SCAN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A0003B-2C0D-42CF-9373-D6D99DA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9547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O(n)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111B493-DEE0-4A1C-97E5-80B9D1DB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5262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Straightforward for one character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6DE4BA64-5F20-4DD7-971F-F9F3ECF9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474D71E-3CF6-4418-BE75-D2797F06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REPEATED FIND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DD8241B-3543-4D12-9F86-193D7BB9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861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depends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3D8D192-196C-437A-A4C7-51498B4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Good substring semantics; implementation optimized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4929D339-B2AE-40B9-B822-B2B0048C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53498AF-FF2C-4439-8976-8C7E03E3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33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REGEX FINDITER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D66191-7B8F-48F7-8BF3-BCE1F3A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76725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depends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2E1B1DF-ED30-4716-9765-5D86E15E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Powerful patterns with engine overhead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86DDB34-1C79-4CEE-87C3-E3022E44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8" name="measure">
            <a:extLst xmlns:a="http://schemas.openxmlformats.org/drawingml/2006/main">
              <a:ext uri="{FF2B5EF4-FFF2-40B4-BE49-F238E27FC236}">
                <a16:creationId xmlns:a16="http://schemas.microsoft.com/office/drawing/2014/main" id="{E3E00206-5E5F-4ED2-A2A4-D3D80422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8394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02027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388FFC-33EB-4B34-BB54-E97781EB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2452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For real performance decisions, benchmark representative inputs with timeit.</a:t>
            </a:r>
          </a:p>
        </p:txBody>
      </p:sp>
      <p:sp>
        <p:nvSpPr>
          <p:cNvPr id="20" name="nav-home">
            <a:extLst xmlns:a="http://schemas.openxmlformats.org/drawingml/2006/main">
              <a:ext uri="{FF2B5EF4-FFF2-40B4-BE49-F238E27FC236}">
                <a16:creationId xmlns:a16="http://schemas.microsoft.com/office/drawing/2014/main" id="{1654BF7D-66B6-45FA-A580-9853AF80F680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21" name="nav-back">
            <a:extLst xmlns:a="http://schemas.openxmlformats.org/drawingml/2006/main">
              <a:ext uri="{FF2B5EF4-FFF2-40B4-BE49-F238E27FC236}">
                <a16:creationId xmlns:a16="http://schemas.microsoft.com/office/drawing/2014/main" id="{C968F7B9-7DFD-4CC2-9A89-E80FCF089276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  <p:sp>
        <p:nvSpPr>
          <p:cNvPr id="22" name="nav-next">
            <a:extLst xmlns:a="http://schemas.openxmlformats.org/drawingml/2006/main">
              <a:ext uri="{FF2B5EF4-FFF2-40B4-BE49-F238E27FC236}">
                <a16:creationId xmlns:a16="http://schemas.microsoft.com/office/drawing/2014/main" id="{C988AD94-933E-4E3A-A448-54B4B5DC8AA1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286500"/>
            <a:ext cx="1009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F4F7FB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NEXT →</a:t>
            </a:r>
          </a:p>
        </p:txBody>
      </p:sp>
    </p:spTree>
    <p:extLst>
      <p:ext uri="{BB962C8B-B14F-4D97-AF65-F5344CB8AC3E}">
        <p14:creationId xmlns:p14="http://schemas.microsoft.com/office/powerpoint/2010/main" val="966769789"/>
      </p:ext>
    </p:extLst>
  </p:cSld>
  <p:transition spd="fast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ill">
            <a:extLst xmlns:a="http://schemas.openxmlformats.org/drawingml/2006/main">
              <a:ext uri="{FF2B5EF4-FFF2-40B4-BE49-F238E27FC236}">
                <a16:creationId xmlns:a16="http://schemas.microsoft.com/office/drawing/2014/main" id="{1C25B4E6-9461-4C31-98C3-D454DA6F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D78C2CC-EFAF-4312-AABD-65496E09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CLICK YOUR ANSWER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AEA8D81-679E-44BD-B997-1E312C80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Challenge: preserve overlapping matches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2CA5DE09-1826-41B4-A301-4321F956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06F4B2D-B11F-4A0D-8A76-5FE3391F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scenario">
            <a:extLst xmlns:a="http://schemas.openxmlformats.org/drawingml/2006/main">
              <a:ext uri="{FF2B5EF4-FFF2-40B4-BE49-F238E27FC236}">
                <a16:creationId xmlns:a16="http://schemas.microsoft.com/office/drawing/2014/main" id="{57702294-231F-48A6-8FE5-FCE69EA5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113919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1141B"/>
          </a:solidFill>
          <a:ln xmlns:a="http://schemas.openxmlformats.org/drawingml/2006/main" w="9525">
            <a:solidFill>
              <a:srgbClr val="27D3EE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FE2036-0856-4C07-B328-DED75B5F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You need every occurrence of 'ana' inside 'banana', including overlaps.</a:t>
            </a:r>
          </a:p>
        </p:txBody>
      </p:sp>
      <p:sp>
        <p:nvSpPr>
          <p:cNvPr id="8" name="quiz-a">
            <a:extLst xmlns:a="http://schemas.openxmlformats.org/drawingml/2006/main">
              <a:ext uri="{FF2B5EF4-FFF2-40B4-BE49-F238E27FC236}">
                <a16:creationId xmlns:a16="http://schemas.microsoft.com/office/drawing/2014/main" id="{57CAB4FF-3A09-4829-BAAF-4AA6DB473282}"/>
              </a:ext>
            </a:extLst>
            <a:hlinkClick xmlns:p7="http://schemas.openxmlformats.org/officeDocument/2006/relationships" xmlns:a="http://schemas.openxmlformats.org/drawingml/2006/main" p7:id="rId3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A • text.count("ana")</a:t>
            </a:r>
          </a:p>
        </p:txBody>
      </p:sp>
      <p:sp>
        <p:nvSpPr>
          <p:cNvPr id="9" name="quiz-b">
            <a:extLst xmlns:a="http://schemas.openxmlformats.org/drawingml/2006/main">
              <a:ext uri="{FF2B5EF4-FFF2-40B4-BE49-F238E27FC236}">
                <a16:creationId xmlns:a16="http://schemas.microsoft.com/office/drawing/2014/main" id="{DE91A03E-4BE9-446D-97D4-43A67CFC22C6}"/>
              </a:ext>
            </a:extLst>
            <a:hlinkClick xmlns:p7="http://schemas.openxmlformats.org/officeDocument/2006/relationships" xmlns:a="http://schemas.openxmlformats.org/drawingml/2006/main" p7:id="rId4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B • repeated find(), advancing by len(sub)</a:t>
            </a:r>
          </a:p>
        </p:txBody>
      </p:sp>
      <p:sp>
        <p:nvSpPr>
          <p:cNvPr id="10" name="quiz-c">
            <a:extLst xmlns:a="http://schemas.openxmlformats.org/drawingml/2006/main">
              <a:ext uri="{FF2B5EF4-FFF2-40B4-BE49-F238E27FC236}">
                <a16:creationId xmlns:a16="http://schemas.microsoft.com/office/drawing/2014/main" id="{363BB095-EC6C-4EEF-B0F0-33292FF40ACE}"/>
              </a:ext>
            </a:extLst>
            <a:hlinkClick xmlns:p7="http://schemas.openxmlformats.org/officeDocument/2006/relationships" xmlns:a="http://schemas.openxmlformats.org/drawingml/2006/main" p7:id="rId5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251F"/>
          </a:solidFill>
          <a:ln xmlns:a="http://schemas.openxmlformats.org/drawingml/2006/main" w="9525">
            <a:solidFill>
              <a:srgbClr val="35D79A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C • repeated find(), advancing by 1</a:t>
            </a:r>
          </a:p>
        </p:txBody>
      </p:sp>
      <p:sp>
        <p:nvSpPr>
          <p:cNvPr id="11" name="nav-home">
            <a:extLst xmlns:a="http://schemas.openxmlformats.org/drawingml/2006/main">
              <a:ext uri="{FF2B5EF4-FFF2-40B4-BE49-F238E27FC236}">
                <a16:creationId xmlns:a16="http://schemas.microsoft.com/office/drawing/2014/main" id="{E334E035-9837-4BFA-8E70-5C7938FBA7F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  <p:sp>
        <p:nvSpPr>
          <p:cNvPr id="12" name="nav-back">
            <a:extLst xmlns:a="http://schemas.openxmlformats.org/drawingml/2006/main">
              <a:ext uri="{FF2B5EF4-FFF2-40B4-BE49-F238E27FC236}">
                <a16:creationId xmlns:a16="http://schemas.microsoft.com/office/drawing/2014/main" id="{F84544EA-7881-460F-8443-3E422DC1828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45655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← BACK</a:t>
            </a:r>
          </a:p>
        </p:txBody>
      </p:sp>
    </p:spTree>
    <p:extLst>
      <p:ext uri="{BB962C8B-B14F-4D97-AF65-F5344CB8AC3E}">
        <p14:creationId xmlns:p14="http://schemas.microsoft.com/office/powerpoint/2010/main" val="1220852119"/>
      </p:ext>
    </p:extLst>
  </p:cSld>
  <p:transition spd="fast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wrong">
            <a:extLst xmlns:a="http://schemas.openxmlformats.org/drawingml/2006/main">
              <a:ext uri="{FF2B5EF4-FFF2-40B4-BE49-F238E27FC236}">
                <a16:creationId xmlns:a16="http://schemas.microsoft.com/office/drawing/2014/main" id="{7068E1F8-AC2C-461F-9804-C71F61DD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1118"/>
          </a:solidFill>
          <a:ln xmlns:a="http://schemas.openxmlformats.org/drawingml/2006/main" w="28575">
            <a:solidFill>
              <a:srgbClr val="FF6577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DA8A812-4F11-43B2-9ADD-579C340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0" b="1">
                <a:solidFill>
                  <a:srgbClr val="FF6577"/>
                </a:solidFill>
                <a:latin typeface="Aptos"/>
                <a:ea typeface="Aptos"/>
                <a:cs typeface="Aptos"/>
              </a:defRPr>
            </a:pPr>
            <a:r>
              <a:rPr sz="7500" b="1">
                <a:solidFill>
                  <a:srgbClr val="FF6577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88F8B269-9687-4CB1-B2C6-8DF9318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428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6577"/>
          </a:solidFill>
          <a:ln xmlns:a="http://schemas.openxmlformats.org/drawingml/2006/main" w="0">
            <a:solidFill>
              <a:srgbClr val="FF6577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5A138BC-8B81-4788-A444-FB9C180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NOT QUITE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A4B4D50-84B1-48A1-BA10-75E242EA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That choice skips or hides overlaps.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855E77B-BD52-4913-B77F-46D2FD7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752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The second 'ana' starts before the first match has fully finished. Advance the next search by 1 to preserve it.</a:t>
            </a:r>
          </a:p>
        </p:txBody>
      </p:sp>
      <p:sp>
        <p:nvSpPr>
          <p:cNvPr id="7" name="try-again">
            <a:extLst xmlns:a="http://schemas.openxmlformats.org/drawingml/2006/main">
              <a:ext uri="{FF2B5EF4-FFF2-40B4-BE49-F238E27FC236}">
                <a16:creationId xmlns:a16="http://schemas.microsoft.com/office/drawing/2014/main" id="{D33067FA-6466-4ADB-AD7D-8D45B6FC693A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67250"/>
            <a:ext cx="209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6577"/>
          </a:solidFill>
          <a:ln xmlns:a="http://schemas.openxmlformats.org/drawingml/2006/main" w="9525">
            <a:solidFill>
              <a:srgbClr val="FF6577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← TRY AGAIN</a:t>
            </a:r>
          </a:p>
        </p:txBody>
      </p:sp>
      <p:sp>
        <p:nvSpPr>
          <p:cNvPr id="8" name="wrong-menu">
            <a:extLst xmlns:a="http://schemas.openxmlformats.org/drawingml/2006/main">
              <a:ext uri="{FF2B5EF4-FFF2-40B4-BE49-F238E27FC236}">
                <a16:creationId xmlns:a16="http://schemas.microsoft.com/office/drawing/2014/main" id="{8B95C824-FB75-4AA6-AF30-6547CF59C123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6725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RETURN TO MENU</a:t>
            </a:r>
          </a:p>
        </p:txBody>
      </p:sp>
    </p:spTree>
    <p:extLst>
      <p:ext uri="{BB962C8B-B14F-4D97-AF65-F5344CB8AC3E}">
        <p14:creationId xmlns:p14="http://schemas.microsoft.com/office/powerpoint/2010/main" val="755759544"/>
      </p:ext>
    </p:extLst>
  </p:cSld>
  <p:transition spd="fast">
    <p:fade/>
  </p:transition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rrect">
            <a:extLst xmlns:a="http://schemas.openxmlformats.org/drawingml/2006/main">
              <a:ext uri="{FF2B5EF4-FFF2-40B4-BE49-F238E27FC236}">
                <a16:creationId xmlns:a16="http://schemas.microsoft.com/office/drawing/2014/main" id="{32F5BFE6-B270-436F-80DC-52C4D27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71E"/>
          </a:solidFill>
          <a:ln xmlns:a="http://schemas.openxmlformats.org/drawingml/2006/main" w="28575">
            <a:solidFill>
              <a:srgbClr val="35D79A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00B27FA1-FF62-426E-87C7-FEEE5DF9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90625"/>
            <a:ext cx="1714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050" b="1">
                <a:solidFill>
                  <a:srgbClr val="35D79A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35D79A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pill">
            <a:extLst xmlns:a="http://schemas.openxmlformats.org/drawingml/2006/main">
              <a:ext uri="{FF2B5EF4-FFF2-40B4-BE49-F238E27FC236}">
                <a16:creationId xmlns:a16="http://schemas.microsoft.com/office/drawing/2014/main" id="{6AFF9D7A-D7AB-4DDC-BD50-3726C04D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285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D79A"/>
          </a:solidFill>
          <a:ln xmlns:a="http://schemas.openxmlformats.org/drawingml/2006/main" w="0">
            <a:solidFill>
              <a:srgbClr val="35D79A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87FA2D5-D5EB-4F96-AE17-5C10D649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23825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CORRECT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E2CC430-E145-45BB-9789-BBAA5457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905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The step controls the meaning of “all”.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70416B-060D-48D0-AF47-92B015B5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43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Starting the next search at index + 1 returns both matches: [1, 3].</a:t>
            </a:r>
          </a:p>
        </p:txBody>
      </p:sp>
      <p:sp>
        <p:nvSpPr>
          <p:cNvPr id="7" name="continue-summary">
            <a:extLst xmlns:a="http://schemas.openxmlformats.org/drawingml/2006/main">
              <a:ext uri="{FF2B5EF4-FFF2-40B4-BE49-F238E27FC236}">
                <a16:creationId xmlns:a16="http://schemas.microsoft.com/office/drawing/2014/main" id="{FDB0075A-4F98-4D53-A370-CCFC90F37A2E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672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5D79A"/>
          </a:solidFill>
          <a:ln xmlns:a="http://schemas.openxmlformats.org/drawingml/2006/main" w="9525">
            <a:solidFill>
              <a:srgbClr val="35D79A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SEE THE FINAL MODEL →</a:t>
            </a:r>
          </a:p>
        </p:txBody>
      </p:sp>
      <p:sp>
        <p:nvSpPr>
          <p:cNvPr id="8" name="correct-menu">
            <a:extLst xmlns:a="http://schemas.openxmlformats.org/drawingml/2006/main">
              <a:ext uri="{FF2B5EF4-FFF2-40B4-BE49-F238E27FC236}">
                <a16:creationId xmlns:a16="http://schemas.microsoft.com/office/drawing/2014/main" id="{DACF976B-9239-4F1E-9BDA-3C5ECB3D12AF}"/>
              </a:ext>
            </a:extLst>
            <a:hlinkClick xmlns:p7="http://schemas.openxmlformats.org/officeDocument/2006/relationships" xmlns:a="http://schemas.openxmlformats.org/drawingml/2006/main" p7:id="rId2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67250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MENU</a:t>
            </a:r>
          </a:p>
        </p:txBody>
      </p:sp>
    </p:spTree>
    <p:extLst>
      <p:ext uri="{BB962C8B-B14F-4D97-AF65-F5344CB8AC3E}">
        <p14:creationId xmlns:p14="http://schemas.microsoft.com/office/powerpoint/2010/main" val="1472531043"/>
      </p:ext>
    </p:extLst>
  </p:cSld>
  <p:transition spd="fast">
    <p:fade/>
  </p:transition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7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ill">
            <a:extLst xmlns:a="http://schemas.openxmlformats.org/drawingml/2006/main">
              <a:ext uri="{FF2B5EF4-FFF2-40B4-BE49-F238E27FC236}">
                <a16:creationId xmlns:a16="http://schemas.microsoft.com/office/drawing/2014/main" id="{47FB873D-2D87-4BB2-829A-35043EF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D3EE"/>
          </a:solidFill>
          <a:ln xmlns:a="http://schemas.openxmlformats.org/drawingml/2006/main" w="0">
            <a:solidFill>
              <a:srgbClr val="27D3EE"/>
            </a:solidFill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D57233D-3A3D-43BC-90F4-F91050E2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070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070A"/>
                </a:solidFill>
                <a:latin typeface="Aptos"/>
                <a:ea typeface="Aptos"/>
                <a:cs typeface="Aptos"/>
              </a:rPr>
              <a:t>FINAL MODEL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95A19FB-DE38-4D3A-8128-F8CDF61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Five questions prevent almost every string-search mistake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B0D59F2-05EC-4587-9D03-0400025F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7908E61-BB52-4AAD-8A39-0CBC035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03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F1C9B78-43FB-4DFB-A384-B8BE4677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9C18FAC1-28D1-456B-9BD6-D9CF8611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335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74C5E58-BEB4-4FAA-89BB-409D47E7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90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7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7D3EE"/>
                </a:solidFill>
                <a:latin typeface="Aptos"/>
                <a:ea typeface="Aptos"/>
                <a:cs typeface="Aptos"/>
              </a:rPr>
              <a:t>WHAT IS THE TARGET?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3CFE38A-CAB2-45B9-9D7E-F62A2B68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90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character, substring, or pattern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2FFF9A9B-1F6D-49ED-AA66-3E89F26F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564D0392-2677-485F-8C1E-1A8158DF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9B9E7A-1814-4A2E-B50B-5B9019F2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717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6C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6CFF"/>
                </a:solidFill>
                <a:latin typeface="Aptos"/>
                <a:ea typeface="Aptos"/>
                <a:cs typeface="Aptos"/>
              </a:rPr>
              <a:t>FIRST OR ALL?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3EEB97-EAB6-43AB-9519-31ECAF3E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71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one index or every index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B7C4C4B-CD6D-4394-A007-27422511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0C704EC-C96F-46ED-9E67-06DFD393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956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9A47AFD-1DB9-4EE8-9497-BCA795FA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EA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6EA3B"/>
                </a:solidFill>
                <a:latin typeface="Aptos"/>
                <a:ea typeface="Aptos"/>
                <a:cs typeface="Aptos"/>
              </a:rPr>
              <a:t>CAN MATCHES OVERLAP?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7154CD6-74A0-40E7-BF01-A5653FAA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choose the next start carefully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2A8568-A7D9-4338-88F9-233DB44D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F020CAB4-F9C3-49DE-B156-27B8A0F7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64A5AEA-5B51-48FD-90E5-7B09B0DA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33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C24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C247"/>
                </a:solidFill>
                <a:latin typeface="Aptos"/>
                <a:ea typeface="Aptos"/>
                <a:cs typeface="Aptos"/>
              </a:rPr>
              <a:t>WHAT DOES INDEX MEAN?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7EA453B-9449-4D07-807F-FB5C0A04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code point, byte, or user-visible unit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8E3FCFB-ECE3-435C-A974-D3DC44ED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B44BE10C-740D-4A5B-990B-03E21C9D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57775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240"/>
          </a:solidFill>
          <a:ln xmlns:a="http://schemas.openxmlformats.org/drawingml/2006/main" w="0">
            <a:solidFill>
              <a:srgbClr val="2B3240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8510281-2301-409E-9897-6011C2DF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37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637D"/>
                </a:solidFill>
                <a:latin typeface="Aptos"/>
                <a:ea typeface="Aptos"/>
                <a:cs typeface="Aptos"/>
              </a:rPr>
              <a:t>DO YOU NEED A LIST?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A1862BB-CD77-45D2-981C-5807730B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AB2C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2C2"/>
                </a:solidFill>
                <a:latin typeface="Aptos"/>
                <a:ea typeface="Aptos"/>
                <a:cs typeface="Aptos"/>
              </a:rPr>
              <a:t>collect now or stream results</a:t>
            </a:r>
          </a:p>
        </p:txBody>
      </p:sp>
      <p:sp>
        <p:nvSpPr>
          <p:cNvPr id="26" name="summary-menu">
            <a:extLst xmlns:a="http://schemas.openxmlformats.org/drawingml/2006/main">
              <a:ext uri="{FF2B5EF4-FFF2-40B4-BE49-F238E27FC236}">
                <a16:creationId xmlns:a16="http://schemas.microsoft.com/office/drawing/2014/main" id="{E8A45AF6-14CB-49D3-9AEE-6A51540353BD}"/>
              </a:ext>
            </a:extLst>
            <a:hlinkClick xmlns:p7="http://schemas.openxmlformats.org/officeDocument/2006/relationships" xmlns:a="http://schemas.openxmlformats.org/drawingml/2006/main" p7:id="rId1" action="ppaction://hlinksldjump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2000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1B25"/>
          </a:solidFill>
          <a:ln xmlns:a="http://schemas.openxmlformats.org/drawingml/2006/main" w="9525">
            <a:solidFill>
              <a:srgbClr val="2B3240"/>
            </a:solidFill>
            <a:prstDash val="solid"/>
          </a:ln>
        </p:spPr>
        <p:txBody>
          <a:bodyPr xmlns:a="http://schemas.openxmlformats.org/drawingml/2006/main" lIns="133350" tIns="76200" rIns="133350" bIns="76200" anchor="ctr">
            <a:normAutofit fontScale="84871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⌂ EXPLORE AGAIN</a:t>
            </a:r>
          </a:p>
        </p:txBody>
      </p:sp>
    </p:spTree>
    <p:extLst>
      <p:ext uri="{BB962C8B-B14F-4D97-AF65-F5344CB8AC3E}">
        <p14:creationId xmlns:p14="http://schemas.microsoft.com/office/powerpoint/2010/main" val="918488078"/>
      </p:ext>
    </p:extLst>
  </p:cSld>
  <p:transition spd="fast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2026-08-07T19:52:26.7620000Z</dcterms:created>
  <dcterms:modified xsi:type="dcterms:W3CDTF">2026-08-07T19:52:26.7630000Z</dcterms:modified>
</coreProperties>
</file>