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f0278f972b4c81" /><Relationship Type="http://schemas.openxmlformats.org/officeDocument/2006/relationships/extended-properties" Target="/docProps/app.xml" Id="R9f8e22207dcd4a65" /><Relationship Type="http://schemas.openxmlformats.org/officeDocument/2006/relationships/officeDocument" Target="/ppt/presentation.xml" Id="R14b8a226ba424690" /></Relationships>
</file>

<file path=ppt/presentation.xml><?xml version="1.0" encoding="utf-8"?>
<p:presentation xmlns:p="http://schemas.openxmlformats.org/presentationml/2006/main">
  <p:sldMasterIdLst>
    <p:sldMasterId xmlns:r="http://schemas.openxmlformats.org/officeDocument/2006/relationships" id="2147483648" r:id="R1b0d7ebee90e4caf"/>
  </p:sldMasterIdLst>
  <p:notesMasterIdLst>
    <p:notesMasterId xmlns:r="http://schemas.openxmlformats.org/officeDocument/2006/relationships" r:id="Rda7c089bcc1a494a"/>
  </p:notesMasterIdLst>
  <p:sldIdLst>
    <p:sldId xmlns:r="http://schemas.openxmlformats.org/officeDocument/2006/relationships" id="256" r:id="Rdcbcbea63bbb43c2"/>
    <p:sldId xmlns:r="http://schemas.openxmlformats.org/officeDocument/2006/relationships" id="257" r:id="Ra53eba13be10440d"/>
    <p:sldId xmlns:r="http://schemas.openxmlformats.org/officeDocument/2006/relationships" id="258" r:id="R2a4010394cbb4293"/>
    <p:sldId xmlns:r="http://schemas.openxmlformats.org/officeDocument/2006/relationships" id="259" r:id="R6263a0fdc91947fd"/>
    <p:sldId xmlns:r="http://schemas.openxmlformats.org/officeDocument/2006/relationships" id="260" r:id="Rc4dfc06ac8264939"/>
    <p:sldId xmlns:r="http://schemas.openxmlformats.org/officeDocument/2006/relationships" id="261" r:id="R723e0a27de0e44b5"/>
    <p:sldId xmlns:r="http://schemas.openxmlformats.org/officeDocument/2006/relationships" id="262" r:id="R4e6283b9ff15469c"/>
    <p:sldId xmlns:r="http://schemas.openxmlformats.org/officeDocument/2006/relationships" id="263" r:id="Red46b223b07c47d8"/>
    <p:sldId xmlns:r="http://schemas.openxmlformats.org/officeDocument/2006/relationships" id="264" r:id="R442b2a98103b404b"/>
    <p:sldId xmlns:r="http://schemas.openxmlformats.org/officeDocument/2006/relationships" id="265" r:id="R9b25e38ffe8542bc"/>
    <p:sldId xmlns:r="http://schemas.openxmlformats.org/officeDocument/2006/relationships" id="266" r:id="Rfc8c653ae41d4e13"/>
    <p:sldId xmlns:r="http://schemas.openxmlformats.org/officeDocument/2006/relationships" id="267" r:id="R83fb05b3494741bc"/>
    <p:sldId xmlns:r="http://schemas.openxmlformats.org/officeDocument/2006/relationships" id="268" r:id="Rfc97701df0cc41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05552cb2d94dc0" /><Relationship Type="http://schemas.openxmlformats.org/officeDocument/2006/relationships/slideMaster" Target="/ppt/slideMasters/slideMaster1.xml" Id="R1b0d7ebee90e4caf" /><Relationship Type="http://schemas.openxmlformats.org/officeDocument/2006/relationships/notesMaster" Target="/ppt/notesMasters/notesMaster1.xml" Id="Rda7c089bcc1a494a" /><Relationship Type="http://schemas.openxmlformats.org/officeDocument/2006/relationships/presProps" Target="/ppt/presProps.xml" Id="R1d42527c05954243" /><Relationship Type="http://schemas.openxmlformats.org/officeDocument/2006/relationships/tableStyles" Target="/ppt/tableStyles.xml" Id="R4eb7f24f0b6649fc" /><Relationship Type="http://schemas.openxmlformats.org/officeDocument/2006/relationships/slide" Target="/ppt/slides/slide1.xml" Id="Rdcbcbea63bbb43c2" /><Relationship Type="http://schemas.openxmlformats.org/officeDocument/2006/relationships/slide" Target="/ppt/slides/slide2.xml" Id="Ra53eba13be10440d" /><Relationship Type="http://schemas.openxmlformats.org/officeDocument/2006/relationships/slide" Target="/ppt/slides/slide3.xml" Id="R2a4010394cbb4293" /><Relationship Type="http://schemas.openxmlformats.org/officeDocument/2006/relationships/slide" Target="/ppt/slides/slide4.xml" Id="R6263a0fdc91947fd" /><Relationship Type="http://schemas.openxmlformats.org/officeDocument/2006/relationships/slide" Target="/ppt/slides/slide5.xml" Id="Rc4dfc06ac8264939" /><Relationship Type="http://schemas.openxmlformats.org/officeDocument/2006/relationships/slide" Target="/ppt/slides/slide6.xml" Id="R723e0a27de0e44b5" /><Relationship Type="http://schemas.openxmlformats.org/officeDocument/2006/relationships/slide" Target="/ppt/slides/slide7.xml" Id="R4e6283b9ff15469c" /><Relationship Type="http://schemas.openxmlformats.org/officeDocument/2006/relationships/slide" Target="/ppt/slides/slide8.xml" Id="Red46b223b07c47d8" /><Relationship Type="http://schemas.openxmlformats.org/officeDocument/2006/relationships/slide" Target="/ppt/slides/slide9.xml" Id="R442b2a98103b404b" /><Relationship Type="http://schemas.openxmlformats.org/officeDocument/2006/relationships/slide" Target="/ppt/slides/slide10.xml" Id="R9b25e38ffe8542bc" /><Relationship Type="http://schemas.openxmlformats.org/officeDocument/2006/relationships/slide" Target="/ppt/slides/slide11.xml" Id="Rfc8c653ae41d4e13" /><Relationship Type="http://schemas.openxmlformats.org/officeDocument/2006/relationships/slide" Target="/ppt/slides/slide12.xml" Id="R83fb05b3494741bc" /><Relationship Type="http://schemas.openxmlformats.org/officeDocument/2006/relationships/slide" Target="/ppt/slides/slide13.xml" Id="Rfc97701df0cc41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123f11984643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281819063a4853" /><Relationship Type="http://schemas.openxmlformats.org/officeDocument/2006/relationships/notesMaster" Target="/ppt/notesMasters/notesMaster1.xml" Id="R7840614a2bf748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d0740bcaca4855" /><Relationship Type="http://schemas.openxmlformats.org/officeDocument/2006/relationships/notesMaster" Target="/ppt/notesMasters/notesMaster1.xml" Id="R0cd6b461d47245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ac583f332b41c5" /><Relationship Type="http://schemas.openxmlformats.org/officeDocument/2006/relationships/notesMaster" Target="/ppt/notesMasters/notesMaster1.xml" Id="R763a3417790844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c2183f12aa4915" /><Relationship Type="http://schemas.openxmlformats.org/officeDocument/2006/relationships/notesMaster" Target="/ppt/notesMasters/notesMaster1.xml" Id="R41cc8eee785f4d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f57c8e6d8a4038" /><Relationship Type="http://schemas.openxmlformats.org/officeDocument/2006/relationships/notesMaster" Target="/ppt/notesMasters/notesMaster1.xml" Id="R540e489bd7d44d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e75ba44add452e" /><Relationship Type="http://schemas.openxmlformats.org/officeDocument/2006/relationships/notesMaster" Target="/ppt/notesMasters/notesMaster1.xml" Id="R5cbbd218fcb840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77620116514b77" /><Relationship Type="http://schemas.openxmlformats.org/officeDocument/2006/relationships/notesMaster" Target="/ppt/notesMasters/notesMaster1.xml" Id="Re2d83832457945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d3b34e692549dc" /><Relationship Type="http://schemas.openxmlformats.org/officeDocument/2006/relationships/notesMaster" Target="/ppt/notesMasters/notesMaster1.xml" Id="R0155091692ca49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08d31e61a24f74" /><Relationship Type="http://schemas.openxmlformats.org/officeDocument/2006/relationships/notesMaster" Target="/ppt/notesMasters/notesMaster1.xml" Id="R22de48026a5349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4f2e69eae84933" /><Relationship Type="http://schemas.openxmlformats.org/officeDocument/2006/relationships/notesMaster" Target="/ppt/notesMasters/notesMaster1.xml" Id="R1013576e438f4d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ca38f2fc9c4ed7" /><Relationship Type="http://schemas.openxmlformats.org/officeDocument/2006/relationships/notesMaster" Target="/ppt/notesMasters/notesMaster1.xml" Id="R018cc171f9d945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2d0ccd127d4637" /><Relationship Type="http://schemas.openxmlformats.org/officeDocument/2006/relationships/notesMaster" Target="/ppt/notesMasters/notesMaster1.xml" Id="Rb0363237118a45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63f3b4bdd9e448c" /><Relationship Type="http://schemas.openxmlformats.org/officeDocument/2006/relationships/notesMaster" Target="/ppt/notesMasters/notesMaster1.xml" Id="R910a6a10ce654a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ابدأ بأن الموضوع يحتوي قرارين مختلفين: ETL/ELT يحدد أين ومتى تتحول البيانات، بينما normalization/denormalization يحدد شكل تخزينها. سنستخدم مثال متجر إلكتروني لربط الاثنين.</a:t>
            </a:r>
          </a:p>
          <a:p xmlns:a="http://schemas.openxmlformats.org/drawingml/2006/main">
            <a:r>
              <a:t/>
            </a:r>
          </a:p>
          <a:p xmlns:a="http://schemas.openxmlformats.org/drawingml/2006/main">
            <a:r>
              <a:t>[Sources]</a:t>
            </a:r>
          </a:p>
          <a:p xmlns:a="http://schemas.openxmlformats.org/drawingml/2006/main">
            <a:r>
              <a:t>https://docs.cloud.google.com/bigquery/docs/load-transform-export-intro</a:t>
            </a:r>
          </a:p>
          <a:p xmlns:a="http://schemas.openxmlformats.org/drawingml/2006/main">
            <a:r>
              <a:t>https://www.postgresql.org/docs/current/planner-stats.html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وضح من البداية أن المقارنتين ليستا نفس الشيء. يمكن عمل ELT ثم إنتاج جداول normalized أو denormalized حسب الاستخدام. الأولى تخص حركة وتحويل البيانات، والثانية تخص data model.</a:t>
            </a:r>
          </a:p>
          <a:p xmlns:a="http://schemas.openxmlformats.org/drawingml/2006/main">
            <a:r>
              <a:t/>
            </a:r>
          </a:p>
          <a:p xmlns:a="http://schemas.openxmlformats.org/drawingml/2006/main">
            <a:r>
              <a:t>[Sources]</a:t>
            </a:r>
          </a:p>
          <a:p xmlns:a="http://schemas.openxmlformats.org/drawingml/2006/main">
            <a:r>
              <a:t>https://docs.cloud.google.com/bigquery/docs/load-transform-export-intro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امشِ بالحروف بالترتيب. مثال: نستخرج الطلبات، ننظف العملات والتواريخ ونزيل السجلات غير الصالحة في transformation engine، ثم نحمل النسخة النظيفة. ETL مناسب عندما لا نريد raw data داخل الهدف أو عند وجود قواعد جودة وخصوصية قبل التحميل.</a:t>
            </a:r>
          </a:p>
          <a:p xmlns:a="http://schemas.openxmlformats.org/drawingml/2006/main">
            <a:r>
              <a:t/>
            </a:r>
          </a:p>
          <a:p xmlns:a="http://schemas.openxmlformats.org/drawingml/2006/main">
            <a:r>
              <a:t>[Sources]</a:t>
            </a:r>
          </a:p>
          <a:p xmlns:a="http://schemas.openxmlformats.org/drawingml/2006/main">
            <a:r>
              <a:t>https://docs.cloud.google.com/bigquery/docs/load-transform-export-intro</a:t>
            </a:r>
          </a:p>
          <a:p xmlns:a="http://schemas.openxmlformats.org/drawingml/2006/main">
            <a:r>
              <a:t>https://docs.cloud.google.com/bigquery/docs/migration/pipelines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في ELT نحمل البيانات الخام بسرعة ثم نستخدم قوة BigQuery أو Snowflake أو Fabric للتحويل. الميزة أننا نحتفظ بالraw data ويمكن إنشاء أكثر من model. لكن يجب التحكم في الصلاحيات والبيانات الحساسة وتكلفة التحويل داخل الـwarehouse.</a:t>
            </a:r>
          </a:p>
          <a:p xmlns:a="http://schemas.openxmlformats.org/drawingml/2006/main">
            <a:r>
              <a:t/>
            </a:r>
          </a:p>
          <a:p xmlns:a="http://schemas.openxmlformats.org/drawingml/2006/main">
            <a:r>
              <a:t>[Sources]</a:t>
            </a:r>
          </a:p>
          <a:p xmlns:a="http://schemas.openxmlformats.org/drawingml/2006/main">
            <a:r>
              <a:t>https://docs.cloud.google.com/bigquery/docs/load-transform-export-intro</a:t>
            </a:r>
          </a:p>
          <a:p xmlns:a="http://schemas.openxmlformats.org/drawingml/2006/main">
            <a:r>
              <a:t>https://learn.microsoft.com/en-us/fabric/data-factory/data-factory-overview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لا تقل إن ELT دائمًا أفضل. ركز على مكان transformation، قدرة الهدف، governance، وحاجة الفريق للاحتفاظ بالraw data. Google توصي غالبًا بـELT في BigQuery لأنه يستفيد من قدرته الحاسوبية، لكن ETL يظل مفيدًا في حالات محددة.</a:t>
            </a:r>
          </a:p>
          <a:p xmlns:a="http://schemas.openxmlformats.org/drawingml/2006/main">
            <a:r>
              <a:t/>
            </a:r>
          </a:p>
          <a:p xmlns:a="http://schemas.openxmlformats.org/drawingml/2006/main">
            <a:r>
              <a:t>[Sources]</a:t>
            </a:r>
          </a:p>
          <a:p xmlns:a="http://schemas.openxmlformats.org/drawingml/2006/main">
            <a:r>
              <a:t>https://docs.cloud.google.com/bigquery/docs/load-transform-export-intro</a:t>
            </a:r>
          </a:p>
          <a:p xmlns:a="http://schemas.openxmlformats.org/drawingml/2006/main">
            <a:r>
              <a:t>https://docs.cloud.google.com/bigquery/docs/migration/pipelines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أوضح أن المؤسسة قد تستخدم الاثنين معًا. مثلًا بيانات البطاقة تُmask قبل التحميل لأسباب أمنية، بينما events الخاصة بتصفح المنتجات تُحمل raw ثم تتحول داخل warehouse. الاختيار يكون لكل source أو workload.</a:t>
            </a:r>
          </a:p>
          <a:p xmlns:a="http://schemas.openxmlformats.org/drawingml/2006/main">
            <a:r>
              <a:t/>
            </a:r>
          </a:p>
          <a:p xmlns:a="http://schemas.openxmlformats.org/drawingml/2006/main">
            <a:r>
              <a:t>[Sources]</a:t>
            </a:r>
          </a:p>
          <a:p xmlns:a="http://schemas.openxmlformats.org/drawingml/2006/main">
            <a:r>
              <a:t>https://learn.microsoft.com/en-us/fabric/data-factory/data-factory-overview</a:t>
            </a:r>
          </a:p>
          <a:p xmlns:a="http://schemas.openxmlformats.org/drawingml/2006/main">
            <a:r>
              <a:t>https://docs.cloud.google.com/bigquery/docs/load-transform-export-intro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استخدم المثال: بدل تكرار اسم العميل والمنتج في كل order، نخزن IDs ومفاتيح خارجية. لو تغير email العميل نعدله مرة واحدة. الهدف تقليل redundancy ومنع update anomalies.</a:t>
            </a:r>
          </a:p>
          <a:p xmlns:a="http://schemas.openxmlformats.org/drawingml/2006/main">
            <a:r>
              <a:t/>
            </a:r>
          </a:p>
          <a:p xmlns:a="http://schemas.openxmlformats.org/drawingml/2006/main">
            <a:r>
              <a:t>[Sources]</a:t>
            </a:r>
          </a:p>
          <a:p xmlns:a="http://schemas.openxmlformats.org/drawingml/2006/main">
            <a:r>
              <a:t>https://learn.microsoft.com/en-us/office/troubleshoot/access/database-normalization-description</a:t>
            </a:r>
          </a:p>
          <a:p xmlns:a="http://schemas.openxmlformats.org/drawingml/2006/main">
            <a:r>
              <a:t>https://www.postgresql.org/docs/current/planner-stats.html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اشرح الـnormal forms ببساطة بدون الدخول في نظريات كثيرة. 1NF تمنع القوائم داخل خلية، 2NF تزيل الاعتماد على جزء من composite key، و3NF تمنع اعتماد field غير مفتاح على field غير مفتاح. ركز على anomalies أكثر من الحفظ.</a:t>
            </a:r>
          </a:p>
          <a:p xmlns:a="http://schemas.openxmlformats.org/drawingml/2006/main">
            <a:r>
              <a:t/>
            </a:r>
          </a:p>
          <a:p xmlns:a="http://schemas.openxmlformats.org/drawingml/2006/main">
            <a:r>
              <a:t>[Sources]</a:t>
            </a:r>
          </a:p>
          <a:p xmlns:a="http://schemas.openxmlformats.org/drawingml/2006/main">
            <a:r>
              <a:t>https://learn.microsoft.com/en-us/office/troubleshoot/access/database-normalization-description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وضح أن denormalization مقصودة وليست مجرد تصميم سيئ. ننشئ جدولًا عريضًا أو materialized view لتقليل joins في dashboard. المقابل هو duplication؛ إذا تغير اسم المنتج قد توجد نسخ قديمة، لذلك نحتاج refresh أو pipeline يحافظ على الاتساق.</a:t>
            </a:r>
          </a:p>
          <a:p xmlns:a="http://schemas.openxmlformats.org/drawingml/2006/main">
            <a:r>
              <a:t/>
            </a:r>
          </a:p>
          <a:p xmlns:a="http://schemas.openxmlformats.org/drawingml/2006/main">
            <a:r>
              <a:t>[Sources]</a:t>
            </a:r>
          </a:p>
          <a:p xmlns:a="http://schemas.openxmlformats.org/drawingml/2006/main">
            <a:r>
              <a:t>https://www.postgresql.org/docs/current/planner-stats.html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اربطها بـOLTP وOLAP: قاعدة تشغيل الطلبات تحتاج integrity وعمليات كتابة صحيحة، فتبدأ normalized. مستودع التحليلات يكرر نفس joins ملايين المرات، فقد يستخدم star schema أو summary tables. لا يوجد اختيار أفضل مطلقًا.</a:t>
            </a:r>
          </a:p>
          <a:p xmlns:a="http://schemas.openxmlformats.org/drawingml/2006/main">
            <a:r>
              <a:t/>
            </a:r>
          </a:p>
          <a:p xmlns:a="http://schemas.openxmlformats.org/drawingml/2006/main">
            <a:r>
              <a:t>[Sources]</a:t>
            </a:r>
          </a:p>
          <a:p xmlns:a="http://schemas.openxmlformats.org/drawingml/2006/main">
            <a:r>
              <a:t>https://www.postgresql.org/docs/current/planner-stats.html</a:t>
            </a:r>
          </a:p>
          <a:p xmlns:a="http://schemas.openxmlformats.org/drawingml/2006/main">
            <a:r>
              <a:t>https://learn.microsoft.com/en-us/office/troubleshoot/access/database-normalization-description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دي الشريحة التي تربط العرض كله. قاعدة التطبيق normalized. CDC أو ingestion يحمل التغييرات raw. SQL داخل warehouse ينظف ويطبق business rules بأسلوب ELT. وفي النهاية data mart denormalized لتسريع التقارير. الأربعة ليسوا خصومًا؛ هم قرارات في مراحل مختلفة.</a:t>
            </a:r>
          </a:p>
          <a:p xmlns:a="http://schemas.openxmlformats.org/drawingml/2006/main">
            <a:r>
              <a:t/>
            </a:r>
          </a:p>
          <a:p xmlns:a="http://schemas.openxmlformats.org/drawingml/2006/main">
            <a:r>
              <a:t>[Sources]</a:t>
            </a:r>
          </a:p>
          <a:p xmlns:a="http://schemas.openxmlformats.org/drawingml/2006/main">
            <a:r>
              <a:t>https://docs.cloud.google.com/bigquery/docs/migration/pipelines</a:t>
            </a:r>
          </a:p>
          <a:p xmlns:a="http://schemas.openxmlformats.org/drawingml/2006/main">
            <a:r>
              <a:t>https://docs.cloud.google.com/bigquery/docs/load-transform-export-intro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استخدم الأسئلة كطريقة قرار. السؤال السادس مهم: لا نعمل denormalization بسبب توقع فقط؛ نقيس query plan والlatency أولًا. ونوثق كيف ستُحدّث النسخ المكررة.</a:t>
            </a:r>
          </a:p>
          <a:p xmlns:a="http://schemas.openxmlformats.org/drawingml/2006/main">
            <a:r>
              <a:t/>
            </a:r>
          </a:p>
          <a:p xmlns:a="http://schemas.openxmlformats.org/drawingml/2006/main">
            <a:r>
              <a:t>[Sources]</a:t>
            </a:r>
          </a:p>
          <a:p xmlns:a="http://schemas.openxmlformats.org/drawingml/2006/main">
            <a:r>
              <a:t>https://www.postgresql.org/docs/current/planner-stats.html</a:t>
            </a:r>
          </a:p>
          <a:p xmlns:a="http://schemas.openxmlformats.org/drawingml/2006/main">
            <a:r>
              <a:t>https://docs.cloud.google.com/bigquery/docs/load-transform-export-intro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اختم بتعريف كل مصطلح في جملة واحدة، ثم الرسالة النهائية: correctness أولًا، وبعد القياس نقرر أين نحتاج performance optimization. افتح سؤالًا: في مشروعكم الحالي، أين توجد raw data وأين يتم transformation؟</a:t>
            </a:r>
          </a:p>
          <a:p xmlns:a="http://schemas.openxmlformats.org/drawingml/2006/main">
            <a:r>
              <a:t/>
            </a:r>
          </a:p>
          <a:p xmlns:a="http://schemas.openxmlformats.org/drawingml/2006/main">
            <a:r>
              <a:t>[Sources]</a:t>
            </a:r>
          </a:p>
          <a:p xmlns:a="http://schemas.openxmlformats.org/drawingml/2006/main">
            <a:r>
              <a:t>https://docs.cloud.google.com/bigquery/docs/load-transform-export-intro</a:t>
            </a:r>
          </a:p>
          <a:p xmlns:a="http://schemas.openxmlformats.org/drawingml/2006/main">
            <a:r>
              <a:t>https://www.postgresql.org/docs/current/planner-stats.html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b9cfdd3a284c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5d505c4fe2455a" /><Relationship Type="http://schemas.openxmlformats.org/officeDocument/2006/relationships/slideLayout" Target="/ppt/slideLayouts/slideLayout1.xml" Id="Raca3d1ea989a47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a3d1ea989a47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271e5f9242cf49c1" /><Relationship Type="http://schemas.openxmlformats.org/officeDocument/2006/relationships/notesSlide" Target="/ppt/notesSlides/notesSlide1.xml" Id="Rd978fb7d808942ec" /><Relationship Id="rId1" Type="http://schemas.openxmlformats.org/officeDocument/2006/relationships/slide" Target="slide2.xml" /></Relationships>
</file>

<file path=ppt/slides/_rels/slide2.xml.rels><?xml version="1.0" encoding="utf-8"?><Relationships xmlns="http://schemas.openxmlformats.org/package/2006/relationships"><Relationship Type="http://schemas.openxmlformats.org/officeDocument/2006/relationships/slideLayout" Target="/ppt/slideLayouts/slideLayout1.xml" Id="R6bf2e6a2828a40ff" /><Relationship Type="http://schemas.openxmlformats.org/officeDocument/2006/relationships/notesSlide" Target="/ppt/notesSlides/notesSlide2.xml" Id="Rbd07e945abc44b40" /><Relationship Id="rId1" Type="http://schemas.openxmlformats.org/officeDocument/2006/relationships/slide" Target="slide1.xml" /><Relationship Id="rId2" Type="http://schemas.openxmlformats.org/officeDocument/2006/relationships/slide" Target="slide1.xml" /><Relationship Id="rId3" Type="http://schemas.openxmlformats.org/officeDocument/2006/relationships/slide" Target="slide3.xml" /></Relationships>
</file>

<file path=ppt/slides/_rels/slide3.xml.rels><?xml version="1.0" encoding="utf-8"?><Relationships xmlns="http://schemas.openxmlformats.org/package/2006/relationships"><Relationship Type="http://schemas.openxmlformats.org/officeDocument/2006/relationships/slideLayout" Target="/ppt/slideLayouts/slideLayout1.xml" Id="R99aa7fbcd89143df" /><Relationship Type="http://schemas.openxmlformats.org/officeDocument/2006/relationships/notesSlide" Target="/ppt/notesSlides/notesSlide3.xml" Id="R826f1a6307b5455b" /><Relationship Id="rId1" Type="http://schemas.openxmlformats.org/officeDocument/2006/relationships/slide" Target="slide1.xml" /><Relationship Id="rId2" Type="http://schemas.openxmlformats.org/officeDocument/2006/relationships/slide" Target="slide2.xml" /><Relationship Id="rId3" Type="http://schemas.openxmlformats.org/officeDocument/2006/relationships/slide" Target="slide4.xml"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99be5622e1c84fb0" /><Relationship Type="http://schemas.openxmlformats.org/officeDocument/2006/relationships/notesSlide" Target="/ppt/notesSlides/notesSlide4.xml" Id="Rc99b980c070b4c2a" /><Relationship Id="rId1" Type="http://schemas.openxmlformats.org/officeDocument/2006/relationships/slide" Target="slide1.xml" /><Relationship Id="rId2" Type="http://schemas.openxmlformats.org/officeDocument/2006/relationships/slide" Target="slide3.xml" /><Relationship Id="rId3" Type="http://schemas.openxmlformats.org/officeDocument/2006/relationships/slide" Target="slide5.xml"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c171ec2f6f024953" /><Relationship Type="http://schemas.openxmlformats.org/officeDocument/2006/relationships/notesSlide" Target="/ppt/notesSlides/notesSlide5.xml" Id="Rd54b3274551141cd" /><Relationship Id="rId1" Type="http://schemas.openxmlformats.org/officeDocument/2006/relationships/slide" Target="slide1.xml" /><Relationship Id="rId2" Type="http://schemas.openxmlformats.org/officeDocument/2006/relationships/slide" Target="slide4.xml" /><Relationship Id="rId3" Type="http://schemas.openxmlformats.org/officeDocument/2006/relationships/slide" Target="slide6.xml" /></Relationships>
</file>

<file path=ppt/slides/_rels/slide6.xml.rels><?xml version="1.0" encoding="utf-8"?><Relationships xmlns="http://schemas.openxmlformats.org/package/2006/relationships"><Relationship Type="http://schemas.openxmlformats.org/officeDocument/2006/relationships/slideLayout" Target="/ppt/slideLayouts/slideLayout1.xml" Id="R621d0a821af140bf" /><Relationship Type="http://schemas.openxmlformats.org/officeDocument/2006/relationships/notesSlide" Target="/ppt/notesSlides/notesSlide6.xml" Id="R53b4f334738e4ad0" /><Relationship Id="rId1" Type="http://schemas.openxmlformats.org/officeDocument/2006/relationships/slide" Target="slide1.xml" /><Relationship Id="rId2" Type="http://schemas.openxmlformats.org/officeDocument/2006/relationships/slide" Target="slide5.xml" /><Relationship Id="rId3" Type="http://schemas.openxmlformats.org/officeDocument/2006/relationships/slide" Target="slide7.xml" /></Relationships>
</file>

<file path=ppt/slides/_rels/slide7.xml.rels><?xml version="1.0" encoding="utf-8"?><Relationships xmlns="http://schemas.openxmlformats.org/package/2006/relationships"><Relationship Type="http://schemas.openxmlformats.org/officeDocument/2006/relationships/slideLayout" Target="/ppt/slideLayouts/slideLayout1.xml" Id="R0549aef050e845b4" /><Relationship Type="http://schemas.openxmlformats.org/officeDocument/2006/relationships/notesSlide" Target="/ppt/notesSlides/notesSlide7.xml" Id="R6faa8e129630440d" /><Relationship Id="rId1" Type="http://schemas.openxmlformats.org/officeDocument/2006/relationships/slide" Target="slide1.xml" /><Relationship Id="rId2" Type="http://schemas.openxmlformats.org/officeDocument/2006/relationships/slide" Target="slide6.xml" /><Relationship Id="rId3" Type="http://schemas.openxmlformats.org/officeDocument/2006/relationships/slide" Target="slide8.xml" /></Relationships>
</file>

<file path=ppt/slides/_rels/slide8.xml.rels><?xml version="1.0" encoding="utf-8"?><Relationships xmlns="http://schemas.openxmlformats.org/package/2006/relationships"><Relationship Type="http://schemas.openxmlformats.org/officeDocument/2006/relationships/slideLayout" Target="/ppt/slideLayouts/slideLayout1.xml" Id="R0c9e0c46dbe44f74" /><Relationship Type="http://schemas.openxmlformats.org/officeDocument/2006/relationships/notesSlide" Target="/ppt/notesSlides/notesSlide8.xml" Id="Rde473b5b52364c26" /><Relationship Id="rId1" Type="http://schemas.openxmlformats.org/officeDocument/2006/relationships/slide" Target="slide1.xml" /><Relationship Id="rId2" Type="http://schemas.openxmlformats.org/officeDocument/2006/relationships/slide" Target="slide7.xml" /><Relationship Id="rId3" Type="http://schemas.openxmlformats.org/officeDocument/2006/relationships/slide" Target="slide9.xml" /></Relationships>
</file>

<file path=ppt/slides/_rels/slide9.xml.rels><?xml version="1.0" encoding="utf-8"?><Relationships xmlns="http://schemas.openxmlformats.org/package/2006/relationships"><Relationship Type="http://schemas.openxmlformats.org/officeDocument/2006/relationships/slideLayout" Target="/ppt/slideLayouts/slideLayout1.xml" Id="R3da3ddc2293b44c8" /><Relationship Type="http://schemas.openxmlformats.org/officeDocument/2006/relationships/notesSlide" Target="/ppt/notesSlides/notesSlide9.xml" Id="R248480c926984fd2" /><Relationship Id="rId1" Type="http://schemas.openxmlformats.org/officeDocument/2006/relationships/slide" Target="slide1.xml" /><Relationship Id="rId2" Type="http://schemas.openxmlformats.org/officeDocument/2006/relationships/slide" Target="slide8.xml" /><Relationship Id="rId3" Type="http://schemas.openxmlformats.org/officeDocument/2006/relationships/slide" Target="slide10.xml" /></Relationships>
</file>

<file path=ppt/slides/_rels/slide10.xml.rels><?xml version="1.0" encoding="utf-8"?><Relationships xmlns="http://schemas.openxmlformats.org/package/2006/relationships"><Relationship Type="http://schemas.openxmlformats.org/officeDocument/2006/relationships/slideLayout" Target="/ppt/slideLayouts/slideLayout1.xml" Id="R03e54b10f3464957" /><Relationship Type="http://schemas.openxmlformats.org/officeDocument/2006/relationships/notesSlide" Target="/ppt/notesSlides/notesSlide10.xml" Id="Ra477ee4e2c6e46c3" /><Relationship Id="rId1" Type="http://schemas.openxmlformats.org/officeDocument/2006/relationships/slide" Target="slide1.xml" /><Relationship Id="rId2" Type="http://schemas.openxmlformats.org/officeDocument/2006/relationships/slide" Target="slide9.xml" /><Relationship Id="rId3" Type="http://schemas.openxmlformats.org/officeDocument/2006/relationships/slide" Target="slide11.xml" /></Relationships>
</file>

<file path=ppt/slides/_rels/slide11.xml.rels><?xml version="1.0" encoding="utf-8"?><Relationships xmlns="http://schemas.openxmlformats.org/package/2006/relationships"><Relationship Type="http://schemas.openxmlformats.org/officeDocument/2006/relationships/slideLayout" Target="/ppt/slideLayouts/slideLayout1.xml" Id="R99ff9aee60574dbc" /><Relationship Type="http://schemas.openxmlformats.org/officeDocument/2006/relationships/notesSlide" Target="/ppt/notesSlides/notesSlide11.xml" Id="R89aca4e53d4c4b02" /><Relationship Id="rId1" Type="http://schemas.openxmlformats.org/officeDocument/2006/relationships/slide" Target="slide1.xml" /><Relationship Id="rId2" Type="http://schemas.openxmlformats.org/officeDocument/2006/relationships/slide" Target="slide10.xml" /><Relationship Id="rId3" Type="http://schemas.openxmlformats.org/officeDocument/2006/relationships/slide" Target="slide12.xml" /></Relationships>
</file>

<file path=ppt/slides/_rels/slide12.xml.rels><?xml version="1.0" encoding="utf-8"?><Relationships xmlns="http://schemas.openxmlformats.org/package/2006/relationships"><Relationship Type="http://schemas.openxmlformats.org/officeDocument/2006/relationships/slideLayout" Target="/ppt/slideLayouts/slideLayout1.xml" Id="R93ac0afa9daf4274" /><Relationship Type="http://schemas.openxmlformats.org/officeDocument/2006/relationships/notesSlide" Target="/ppt/notesSlides/notesSlide12.xml" Id="R33887c08dba44c0c" /><Relationship Id="rId1" Type="http://schemas.openxmlformats.org/officeDocument/2006/relationships/slide" Target="slide1.xml" /><Relationship Id="rId2" Type="http://schemas.openxmlformats.org/officeDocument/2006/relationships/slide" Target="slide11.xml" /><Relationship Id="rId3" Type="http://schemas.openxmlformats.org/officeDocument/2006/relationships/slide" Target="slide13.xml" /></Relationships>
</file>

<file path=ppt/slides/_rels/slide13.xml.rels><?xml version="1.0" encoding="utf-8"?><Relationships xmlns="http://schemas.openxmlformats.org/package/2006/relationships"><Relationship Type="http://schemas.openxmlformats.org/officeDocument/2006/relationships/slideLayout" Target="/ppt/slideLayouts/slideLayout1.xml" Id="Rdbf60966ee424a11" /><Relationship Type="http://schemas.openxmlformats.org/officeDocument/2006/relationships/notesSlide" Target="/ppt/notesSlides/notesSlide13.xml" Id="R05c653fb742d4af6" /><Relationship Id="rId1" Type="http://schemas.openxmlformats.org/officeDocument/2006/relationships/slide" Target="slide1.xml" /><Relationship Id="rId2" Type="http://schemas.openxmlformats.org/officeDocument/2006/relationships/slide" Target="slide12.xml"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2" name="text">
            <a:extLst xmlns:a="http://schemas.openxmlformats.org/drawingml/2006/main">
              <a:ext uri="{FF2B5EF4-FFF2-40B4-BE49-F238E27FC236}">
                <a16:creationId xmlns:a16="http://schemas.microsoft.com/office/drawing/2014/main" id="{62F0B49A-D7FC-47AB-B8AD-D39E159DDB29}"/>
              </a:ext>
            </a:extLst>
          </p:cNvPr>
          <p:cNvSpPr>
            <a:spLocks xmlns:a="http://schemas.openxmlformats.org/drawingml/2006/main" noGrp="1"/>
          </p:cNvSpPr>
          <p:nvPr/>
        </p:nvSpPr>
        <p:spPr>
          <a:xfrm xmlns:a="http://schemas.openxmlformats.org/drawingml/2006/main">
            <a:off x="666750" y="5905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DCBF4"/>
                </a:solidFill>
              </a:defRPr>
            </a:pPr>
            <a:r>
              <a:rPr sz="1050" b="1">
                <a:solidFill>
                  <a:srgbClr val="6DCBF4"/>
                </a:solidFill>
              </a:rPr>
              <a:t>DATA ENGINEERING</a:t>
            </a:r>
          </a:p>
        </p:txBody>
      </p:sp>
      <p:sp>
        <p:nvSpPr>
          <p:cNvPr id="2" name="text">
            <a:extLst xmlns:a="http://schemas.openxmlformats.org/drawingml/2006/main">
              <a:ext uri="{FF2B5EF4-FFF2-40B4-BE49-F238E27FC236}">
                <a16:creationId xmlns:a16="http://schemas.microsoft.com/office/drawing/2014/main" id="{4EF45C41-E5A4-42CB-9510-6AC9FB686F16}"/>
              </a:ext>
            </a:extLst>
          </p:cNvPr>
          <p:cNvSpPr>
            <a:spLocks xmlns:a="http://schemas.openxmlformats.org/drawingml/2006/main" noGrp="1"/>
          </p:cNvSpPr>
          <p:nvPr/>
        </p:nvSpPr>
        <p:spPr>
          <a:xfrm xmlns:a="http://schemas.openxmlformats.org/drawingml/2006/main">
            <a:off x="666750" y="1571625"/>
            <a:ext cx="6191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FFFFFF"/>
                </a:solidFill>
              </a:defRPr>
            </a:pPr>
            <a:r>
              <a:rPr sz="4350" b="1">
                <a:solidFill>
                  <a:srgbClr val="FFFFFF"/>
                </a:solidFill>
              </a:rPr>
              <a:t>ETL or ELT?</a:t>
            </a:r>
          </a:p>
        </p:txBody>
      </p:sp>
      <p:sp>
        <p:nvSpPr>
          <p:cNvPr id="3" name="text">
            <a:extLst xmlns:a="http://schemas.openxmlformats.org/drawingml/2006/main">
              <a:ext uri="{FF2B5EF4-FFF2-40B4-BE49-F238E27FC236}">
                <a16:creationId xmlns:a16="http://schemas.microsoft.com/office/drawing/2014/main" id="{733190F2-8CC1-439B-A56C-FA7EF942AC22}"/>
              </a:ext>
            </a:extLst>
          </p:cNvPr>
          <p:cNvSpPr>
            <a:spLocks xmlns:a="http://schemas.openxmlformats.org/drawingml/2006/main" noGrp="1"/>
          </p:cNvSpPr>
          <p:nvPr/>
        </p:nvSpPr>
        <p:spPr>
          <a:xfrm xmlns:a="http://schemas.openxmlformats.org/drawingml/2006/main">
            <a:off x="666750" y="2381250"/>
            <a:ext cx="723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0">
                <a:solidFill>
                  <a:srgbClr val="CBD8E5"/>
                </a:solidFill>
              </a:defRPr>
            </a:pPr>
            <a:r>
              <a:rPr sz="2625" b="0">
                <a:solidFill>
                  <a:srgbClr val="CBD8E5"/>
                </a:solidFill>
              </a:rPr>
              <a:t>Normalize or denormalize?</a:t>
            </a:r>
          </a:p>
        </p:txBody>
      </p:sp>
      <p:sp>
        <p:nvSpPr>
          <p:cNvPr id="4" name="text">
            <a:extLst xmlns:a="http://schemas.openxmlformats.org/drawingml/2006/main">
              <a:ext uri="{FF2B5EF4-FFF2-40B4-BE49-F238E27FC236}">
                <a16:creationId xmlns:a16="http://schemas.microsoft.com/office/drawing/2014/main" id="{FA64BEA8-0C5B-4AC1-9A89-DB0CB142F768}"/>
              </a:ext>
            </a:extLst>
          </p:cNvPr>
          <p:cNvSpPr>
            <a:spLocks xmlns:a="http://schemas.openxmlformats.org/drawingml/2006/main" noGrp="1"/>
          </p:cNvSpPr>
          <p:nvPr/>
        </p:nvSpPr>
        <p:spPr>
          <a:xfrm xmlns:a="http://schemas.openxmlformats.org/drawingml/2006/main">
            <a:off x="666750" y="390525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6DCBF4"/>
                </a:solidFill>
              </a:defRPr>
            </a:pPr>
            <a:r>
              <a:rPr sz="1800" b="1">
                <a:solidFill>
                  <a:srgbClr val="6DCBF4"/>
                </a:solidFill>
              </a:rPr>
              <a:t>Two decisions that shape how data moves—and how it is stored.</a:t>
            </a:r>
          </a:p>
        </p:txBody>
      </p:sp>
      <p:sp>
        <p:nvSpPr>
          <p:cNvPr id="5" name="shape">
            <a:extLst xmlns:a="http://schemas.openxmlformats.org/drawingml/2006/main">
              <a:ext uri="{FF2B5EF4-FFF2-40B4-BE49-F238E27FC236}">
                <a16:creationId xmlns:a16="http://schemas.microsoft.com/office/drawing/2014/main" id="{7DBBCE91-24FC-4D42-A5A3-2DF9F154794B}"/>
              </a:ext>
            </a:extLst>
          </p:cNvPr>
          <p:cNvSpPr>
            <a:spLocks xmlns:a="http://schemas.openxmlformats.org/drawingml/2006/main" noGrp="1"/>
          </p:cNvSpPr>
          <p:nvPr/>
        </p:nvSpPr>
        <p:spPr>
          <a:xfrm xmlns:a="http://schemas.openxmlformats.org/drawingml/2006/main">
            <a:off x="8096250" y="1857375"/>
            <a:ext cx="523875" cy="523875"/>
          </a:xfrm>
          <a:prstGeom xmlns:a="http://schemas.openxmlformats.org/drawingml/2006/main" prst="ellipse">
            <a:avLst/>
          </a:prstGeom>
          <a:solidFill xmlns:a="http://schemas.openxmlformats.org/drawingml/2006/main">
            <a:srgbClr val="3D8DFF"/>
          </a:solidFill>
          <a:ln xmlns:a="http://schemas.openxmlformats.org/drawingml/2006/main" w="11430">
            <a:solidFill>
              <a:srgbClr val="3D8DFF"/>
            </a:solidFill>
            <a:prstDash val="solid"/>
          </a:ln>
        </p:spPr>
      </p:sp>
      <p:sp>
        <p:nvSpPr>
          <p:cNvPr id="6" name="">
            <a:extLst xmlns:a="http://schemas.openxmlformats.org/drawingml/2006/main">
              <a:ext uri="{FF2B5EF4-FFF2-40B4-BE49-F238E27FC236}">
                <a16:creationId xmlns:a16="http://schemas.microsoft.com/office/drawing/2014/main" id="{F2917397-1196-4F39-90D8-3B5BEF1A803B}"/>
              </a:ext>
            </a:extLst>
          </p:cNvPr>
          <p:cNvSpPr>
            <a:spLocks xmlns:a="http://schemas.openxmlformats.org/drawingml/2006/main" noGrp="1"/>
          </p:cNvSpPr>
          <p:nvPr/>
        </p:nvSpPr>
        <p:spPr>
          <a:xfrm xmlns:a="http://schemas.openxmlformats.org/drawingml/2006/main">
            <a:off x="8620125" y="2114550"/>
            <a:ext cx="571500" cy="742950"/>
          </a:xfrm>
          <a:prstGeom xmlns:a="http://schemas.openxmlformats.org/drawingml/2006/main" prst="line">
            <a:avLst/>
          </a:prstGeom>
          <a:ln xmlns:a="http://schemas.openxmlformats.org/drawingml/2006/main" w="28575">
            <a:solidFill>
              <a:srgbClr val="FFFFFF"/>
            </a:solidFill>
            <a:prstDash val="solid"/>
          </a:ln>
        </p:spPr>
      </p:sp>
      <p:sp>
        <p:nvSpPr>
          <p:cNvPr id="7" name="shape">
            <a:extLst xmlns:a="http://schemas.openxmlformats.org/drawingml/2006/main">
              <a:ext uri="{FF2B5EF4-FFF2-40B4-BE49-F238E27FC236}">
                <a16:creationId xmlns:a16="http://schemas.microsoft.com/office/drawing/2014/main" id="{40EFC5A1-2DD9-4ABC-83CD-73D82EE5C8F3}"/>
              </a:ext>
            </a:extLst>
          </p:cNvPr>
          <p:cNvSpPr>
            <a:spLocks xmlns:a="http://schemas.openxmlformats.org/drawingml/2006/main" noGrp="1"/>
          </p:cNvSpPr>
          <p:nvPr/>
        </p:nvSpPr>
        <p:spPr>
          <a:xfrm xmlns:a="http://schemas.openxmlformats.org/drawingml/2006/main">
            <a:off x="9191625" y="2857500"/>
            <a:ext cx="523875" cy="523875"/>
          </a:xfrm>
          <a:prstGeom xmlns:a="http://schemas.openxmlformats.org/drawingml/2006/main" prst="ellipse">
            <a:avLst/>
          </a:prstGeom>
          <a:solidFill xmlns:a="http://schemas.openxmlformats.org/drawingml/2006/main">
            <a:srgbClr val="6DCBF4"/>
          </a:solidFill>
          <a:ln xmlns:a="http://schemas.openxmlformats.org/drawingml/2006/main" w="11430">
            <a:solidFill>
              <a:srgbClr val="6DCBF4"/>
            </a:solidFill>
            <a:prstDash val="solid"/>
          </a:ln>
        </p:spPr>
      </p:sp>
      <p:sp>
        <p:nvSpPr>
          <p:cNvPr id="8" name="">
            <a:extLst xmlns:a="http://schemas.openxmlformats.org/drawingml/2006/main">
              <a:ext uri="{FF2B5EF4-FFF2-40B4-BE49-F238E27FC236}">
                <a16:creationId xmlns:a16="http://schemas.microsoft.com/office/drawing/2014/main" id="{C94206A7-C413-4758-AAA5-89A6DD4E7721}"/>
              </a:ext>
            </a:extLst>
          </p:cNvPr>
          <p:cNvSpPr>
            <a:spLocks xmlns:a="http://schemas.openxmlformats.org/drawingml/2006/main" noGrp="1"/>
          </p:cNvSpPr>
          <p:nvPr/>
        </p:nvSpPr>
        <p:spPr>
          <a:xfrm xmlns:a="http://schemas.openxmlformats.org/drawingml/2006/main">
            <a:off x="9715500" y="3114675"/>
            <a:ext cx="571500" cy="742950"/>
          </a:xfrm>
          <a:prstGeom xmlns:a="http://schemas.openxmlformats.org/drawingml/2006/main" prst="line">
            <a:avLst/>
          </a:prstGeom>
          <a:ln xmlns:a="http://schemas.openxmlformats.org/drawingml/2006/main" w="28575">
            <a:solidFill>
              <a:srgbClr val="FFFFFF"/>
            </a:solidFill>
            <a:prstDash val="solid"/>
          </a:ln>
        </p:spPr>
      </p:sp>
      <p:sp>
        <p:nvSpPr>
          <p:cNvPr id="9" name="shape">
            <a:extLst xmlns:a="http://schemas.openxmlformats.org/drawingml/2006/main">
              <a:ext uri="{FF2B5EF4-FFF2-40B4-BE49-F238E27FC236}">
                <a16:creationId xmlns:a16="http://schemas.microsoft.com/office/drawing/2014/main" id="{68950ED9-8D9C-49C8-BB38-8E09A319C86D}"/>
              </a:ext>
            </a:extLst>
          </p:cNvPr>
          <p:cNvSpPr>
            <a:spLocks xmlns:a="http://schemas.openxmlformats.org/drawingml/2006/main" noGrp="1"/>
          </p:cNvSpPr>
          <p:nvPr/>
        </p:nvSpPr>
        <p:spPr>
          <a:xfrm xmlns:a="http://schemas.openxmlformats.org/drawingml/2006/main">
            <a:off x="10287000" y="3857625"/>
            <a:ext cx="523875" cy="523875"/>
          </a:xfrm>
          <a:prstGeom xmlns:a="http://schemas.openxmlformats.org/drawingml/2006/main" prst="ellipse">
            <a:avLst/>
          </a:prstGeom>
          <a:solidFill xmlns:a="http://schemas.openxmlformats.org/drawingml/2006/main">
            <a:srgbClr val="FF6B5F"/>
          </a:solidFill>
          <a:ln xmlns:a="http://schemas.openxmlformats.org/drawingml/2006/main" w="11430">
            <a:solidFill>
              <a:srgbClr val="FF6B5F"/>
            </a:solidFill>
            <a:prstDash val="solid"/>
          </a:ln>
        </p:spPr>
      </p:sp>
      <p:sp>
        <p:nvSpPr>
          <p:cNvPr id="10" name="start">
            <a:extLst xmlns:a="http://schemas.openxmlformats.org/drawingml/2006/main">
              <a:ext uri="{FF2B5EF4-FFF2-40B4-BE49-F238E27FC236}">
                <a16:creationId xmlns:a16="http://schemas.microsoft.com/office/drawing/2014/main" id="{9E46BDE4-FDF5-4587-9012-553E634CD063}"/>
              </a:ext>
            </a:extLst>
            <a:hlinkClick xmlns:p7="http://schemas.openxmlformats.org/officeDocument/2006/relationships" xmlns:a="http://schemas.openxmlformats.org/drawingml/2006/main" p7:id="rId1" action="ppaction://hlinksldjump"/>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11" name="start-label">
            <a:extLst xmlns:a="http://schemas.openxmlformats.org/drawingml/2006/main">
              <a:ext uri="{FF2B5EF4-FFF2-40B4-BE49-F238E27FC236}">
                <a16:creationId xmlns:a16="http://schemas.microsoft.com/office/drawing/2014/main" id="{66F95F50-2B52-4D22-8BC9-A99B3B9F575E}"/>
              </a:ext>
            </a:extLst>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Tree>
    <p:extLst>
      <p:ext uri="{BB962C8B-B14F-4D97-AF65-F5344CB8AC3E}">
        <p14:creationId xmlns:p14="http://schemas.microsoft.com/office/powerpoint/2010/main" val="2182051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
            <a:extLst xmlns:a="http://schemas.openxmlformats.org/drawingml/2006/main">
              <a:ext uri="{FF2B5EF4-FFF2-40B4-BE49-F238E27FC236}">
                <a16:creationId xmlns:a16="http://schemas.microsoft.com/office/drawing/2014/main" id="{185317D9-8327-4826-BACB-97EB9FF5F35F}"/>
              </a:ext>
            </a:extLst>
          </p:cNvPr>
          <p:cNvSpPr>
            <a:spLocks xmlns:a="http://schemas.openxmlformats.org/drawingml/2006/main" noGrp="1"/>
          </p:cNvSpPr>
          <p:nvPr/>
        </p:nvSpPr>
        <p:spPr>
          <a:xfrm xmlns:a="http://schemas.openxmlformats.org/drawingml/2006/main">
            <a:off x="571500" y="266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D8DFF"/>
                </a:solidFill>
              </a:defRPr>
            </a:pPr>
            <a:r>
              <a:rPr sz="900" b="1">
                <a:solidFill>
                  <a:srgbClr val="3D8DFF"/>
                </a:solidFill>
              </a:rPr>
              <a:t>DATA ENGINEERING • RESEARCH TASK</a:t>
            </a:r>
          </a:p>
        </p:txBody>
      </p:sp>
      <p:sp>
        <p:nvSpPr>
          <p:cNvPr id="2" name="text">
            <a:extLst xmlns:a="http://schemas.openxmlformats.org/drawingml/2006/main">
              <a:ext uri="{FF2B5EF4-FFF2-40B4-BE49-F238E27FC236}">
                <a16:creationId xmlns:a16="http://schemas.microsoft.com/office/drawing/2014/main" id="{B0AFD344-695E-4DF9-A379-7E127B1543DB}"/>
              </a:ext>
            </a:extLst>
          </p:cNvPr>
          <p:cNvSpPr>
            <a:spLocks xmlns:a="http://schemas.openxmlformats.org/drawingml/2006/main" noGrp="1"/>
          </p:cNvSpPr>
          <p:nvPr/>
        </p:nvSpPr>
        <p:spPr>
          <a:xfrm xmlns:a="http://schemas.openxmlformats.org/drawingml/2006/main">
            <a:off x="5715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11827"/>
                </a:solidFill>
              </a:defRPr>
            </a:pPr>
            <a:r>
              <a:rPr sz="2625" b="1">
                <a:solidFill>
                  <a:srgbClr val="111827"/>
                </a:solidFill>
              </a:rPr>
              <a:t>One sales dataset creates two separate design decisions</a:t>
            </a:r>
          </a:p>
        </p:txBody>
      </p:sp>
      <p:sp>
        <p:nvSpPr>
          <p:cNvPr id="3" name="">
            <a:extLst xmlns:a="http://schemas.openxmlformats.org/drawingml/2006/main">
              <a:ext uri="{FF2B5EF4-FFF2-40B4-BE49-F238E27FC236}">
                <a16:creationId xmlns:a16="http://schemas.microsoft.com/office/drawing/2014/main" id="{666C7736-A7B2-40C9-986E-697B50517DF0}"/>
              </a:ext>
            </a:extLst>
          </p:cNvPr>
          <p:cNvSpPr>
            <a:spLocks xmlns:a="http://schemas.openxmlformats.org/drawingml/2006/main" noGrp="1"/>
          </p:cNvSpPr>
          <p:nvPr/>
        </p:nvSpPr>
        <p:spPr>
          <a:xfrm xmlns:a="http://schemas.openxmlformats.org/drawingml/2006/main">
            <a:off x="571500" y="1257300"/>
            <a:ext cx="11049000" cy="9525"/>
          </a:xfrm>
          <a:prstGeom xmlns:a="http://schemas.openxmlformats.org/drawingml/2006/main" prst="line">
            <a:avLst/>
          </a:prstGeom>
          <a:ln xmlns:a="http://schemas.openxmlformats.org/drawingml/2006/main" w="9525">
            <a:solidFill>
              <a:srgbClr val="B8BCC4"/>
            </a:solidFill>
            <a:prstDash val="solid"/>
          </a:ln>
        </p:spPr>
      </p:sp>
      <p:sp>
        <p:nvSpPr>
          <p:cNvPr id="4" name="text">
            <a:extLst xmlns:a="http://schemas.openxmlformats.org/drawingml/2006/main">
              <a:ext uri="{FF2B5EF4-FFF2-40B4-BE49-F238E27FC236}">
                <a16:creationId xmlns:a16="http://schemas.microsoft.com/office/drawing/2014/main" id="{732727EF-5618-46A4-9087-AADF5EC2D6DC}"/>
              </a:ext>
            </a:extLst>
          </p:cNvPr>
          <p:cNvSpPr>
            <a:spLocks xmlns:a="http://schemas.openxmlformats.org/drawingml/2006/main" noGrp="1"/>
          </p:cNvSpPr>
          <p:nvPr/>
        </p:nvSpPr>
        <p:spPr>
          <a:xfrm xmlns:a="http://schemas.openxmlformats.org/drawingml/2006/main">
            <a:off x="11096625" y="64293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F6773"/>
                </a:solidFill>
              </a:defRPr>
            </a:pPr>
            <a:r>
              <a:rPr sz="825" b="1">
                <a:solidFill>
                  <a:srgbClr val="5F6773"/>
                </a:solidFill>
              </a:rPr>
              <a:t>02</a:t>
            </a:r>
          </a:p>
        </p:txBody>
      </p:sp>
      <p:sp>
        <p:nvSpPr>
          <p:cNvPr id="5" name="text">
            <a:extLst xmlns:a="http://schemas.openxmlformats.org/drawingml/2006/main">
              <a:ext uri="{FF2B5EF4-FFF2-40B4-BE49-F238E27FC236}">
                <a16:creationId xmlns:a16="http://schemas.microsoft.com/office/drawing/2014/main" id="{534A0450-D15C-49B5-917F-A701B4263ADD}"/>
              </a:ext>
            </a:extLst>
          </p:cNvPr>
          <p:cNvSpPr>
            <a:spLocks xmlns:a="http://schemas.openxmlformats.org/drawingml/2006/main" noGrp="1"/>
          </p:cNvSpPr>
          <p:nvPr/>
        </p:nvSpPr>
        <p:spPr>
          <a:xfrm xmlns:a="http://schemas.openxmlformats.org/drawingml/2006/main">
            <a:off x="666750" y="18097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3D8DFF"/>
                </a:solidFill>
              </a:defRPr>
            </a:pPr>
            <a:r>
              <a:rPr sz="1950" b="1">
                <a:solidFill>
                  <a:srgbClr val="3D8DFF"/>
                </a:solidFill>
              </a:rPr>
              <a:t>Source data</a:t>
            </a:r>
          </a:p>
        </p:txBody>
      </p:sp>
      <p:sp>
        <p:nvSpPr>
          <p:cNvPr id="6" name="text">
            <a:extLst xmlns:a="http://schemas.openxmlformats.org/drawingml/2006/main">
              <a:ext uri="{FF2B5EF4-FFF2-40B4-BE49-F238E27FC236}">
                <a16:creationId xmlns:a16="http://schemas.microsoft.com/office/drawing/2014/main" id="{CB52E4DB-AD17-46FB-9635-4EE61EB466D3}"/>
              </a:ext>
            </a:extLst>
          </p:cNvPr>
          <p:cNvSpPr>
            <a:spLocks xmlns:a="http://schemas.openxmlformats.org/drawingml/2006/main" noGrp="1"/>
          </p:cNvSpPr>
          <p:nvPr/>
        </p:nvSpPr>
        <p:spPr>
          <a:xfrm xmlns:a="http://schemas.openxmlformats.org/drawingml/2006/main">
            <a:off x="4333875" y="1809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FF6B5F"/>
                </a:solidFill>
              </a:defRPr>
            </a:pPr>
            <a:r>
              <a:rPr sz="1950" b="1">
                <a:solidFill>
                  <a:srgbClr val="FF6B5F"/>
                </a:solidFill>
              </a:rPr>
              <a:t>Pipeline decision</a:t>
            </a:r>
          </a:p>
        </p:txBody>
      </p:sp>
      <p:sp>
        <p:nvSpPr>
          <p:cNvPr id="7" name="text">
            <a:extLst xmlns:a="http://schemas.openxmlformats.org/drawingml/2006/main">
              <a:ext uri="{FF2B5EF4-FFF2-40B4-BE49-F238E27FC236}">
                <a16:creationId xmlns:a16="http://schemas.microsoft.com/office/drawing/2014/main" id="{31C4B70B-A58E-41A8-A16F-B9F88469D98B}"/>
              </a:ext>
            </a:extLst>
          </p:cNvPr>
          <p:cNvSpPr>
            <a:spLocks xmlns:a="http://schemas.openxmlformats.org/drawingml/2006/main" noGrp="1"/>
          </p:cNvSpPr>
          <p:nvPr/>
        </p:nvSpPr>
        <p:spPr>
          <a:xfrm xmlns:a="http://schemas.openxmlformats.org/drawingml/2006/main">
            <a:off x="8191500" y="1809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27AE60"/>
                </a:solidFill>
              </a:defRPr>
            </a:pPr>
            <a:r>
              <a:rPr sz="1950" b="1">
                <a:solidFill>
                  <a:srgbClr val="27AE60"/>
                </a:solidFill>
              </a:rPr>
              <a:t>Storage decision</a:t>
            </a:r>
          </a:p>
        </p:txBody>
      </p:sp>
      <p:sp>
        <p:nvSpPr>
          <p:cNvPr id="8" name="shape">
            <a:extLst xmlns:a="http://schemas.openxmlformats.org/drawingml/2006/main">
              <a:ext uri="{FF2B5EF4-FFF2-40B4-BE49-F238E27FC236}">
                <a16:creationId xmlns:a16="http://schemas.microsoft.com/office/drawing/2014/main" id="{8C3595E8-339A-40B9-82F0-4BB1A04E6FEB}"/>
              </a:ext>
            </a:extLst>
          </p:cNvPr>
          <p:cNvSpPr>
            <a:spLocks xmlns:a="http://schemas.openxmlformats.org/drawingml/2006/main" noGrp="1"/>
          </p:cNvSpPr>
          <p:nvPr/>
        </p:nvSpPr>
        <p:spPr>
          <a:xfrm xmlns:a="http://schemas.openxmlformats.org/drawingml/2006/main">
            <a:off x="666750" y="2381250"/>
            <a:ext cx="2857500" cy="1428750"/>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AE9DFC1-B6C2-4FE6-9231-7941F6BBD902}"/>
              </a:ext>
            </a:extLst>
          </p:cNvPr>
          <p:cNvSpPr>
            <a:spLocks xmlns:a="http://schemas.openxmlformats.org/drawingml/2006/main" noGrp="1"/>
          </p:cNvSpPr>
          <p:nvPr/>
        </p:nvSpPr>
        <p:spPr>
          <a:xfrm xmlns:a="http://schemas.openxmlformats.org/drawingml/2006/main">
            <a:off x="666750" y="2381250"/>
            <a:ext cx="66675" cy="142875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10" name="text">
            <a:extLst xmlns:a="http://schemas.openxmlformats.org/drawingml/2006/main">
              <a:ext uri="{FF2B5EF4-FFF2-40B4-BE49-F238E27FC236}">
                <a16:creationId xmlns:a16="http://schemas.microsoft.com/office/drawing/2014/main" id="{8C7A0191-9CC5-4D6B-B8D6-2891C1EDC1F3}"/>
              </a:ext>
            </a:extLst>
          </p:cNvPr>
          <p:cNvSpPr>
            <a:spLocks xmlns:a="http://schemas.openxmlformats.org/drawingml/2006/main" noGrp="1"/>
          </p:cNvSpPr>
          <p:nvPr/>
        </p:nvSpPr>
        <p:spPr>
          <a:xfrm xmlns:a="http://schemas.openxmlformats.org/drawingml/2006/main">
            <a:off x="857250" y="2514600"/>
            <a:ext cx="2495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Orders + customers + products</a:t>
            </a:r>
          </a:p>
        </p:txBody>
      </p:sp>
      <p:sp>
        <p:nvSpPr>
          <p:cNvPr id="11" name="text">
            <a:extLst xmlns:a="http://schemas.openxmlformats.org/drawingml/2006/main">
              <a:ext uri="{FF2B5EF4-FFF2-40B4-BE49-F238E27FC236}">
                <a16:creationId xmlns:a16="http://schemas.microsoft.com/office/drawing/2014/main" id="{D69E9904-B16B-4DAC-BE5E-8F6513C18596}"/>
              </a:ext>
            </a:extLst>
          </p:cNvPr>
          <p:cNvSpPr>
            <a:spLocks xmlns:a="http://schemas.openxmlformats.org/drawingml/2006/main" noGrp="1"/>
          </p:cNvSpPr>
          <p:nvPr/>
        </p:nvSpPr>
        <p:spPr>
          <a:xfrm xmlns:a="http://schemas.openxmlformats.org/drawingml/2006/main">
            <a:off x="857250" y="2905125"/>
            <a:ext cx="2495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Raw files, APIs and transactional tables.</a:t>
            </a:r>
          </a:p>
        </p:txBody>
      </p:sp>
      <p:sp>
        <p:nvSpPr>
          <p:cNvPr id="12" name="shape">
            <a:extLst xmlns:a="http://schemas.openxmlformats.org/drawingml/2006/main">
              <a:ext uri="{FF2B5EF4-FFF2-40B4-BE49-F238E27FC236}">
                <a16:creationId xmlns:a16="http://schemas.microsoft.com/office/drawing/2014/main" id="{84ECC73B-A94A-47D5-AB3A-33C02CB49895}"/>
              </a:ext>
            </a:extLst>
          </p:cNvPr>
          <p:cNvSpPr>
            <a:spLocks xmlns:a="http://schemas.openxmlformats.org/drawingml/2006/main" noGrp="1"/>
          </p:cNvSpPr>
          <p:nvPr/>
        </p:nvSpPr>
        <p:spPr>
          <a:xfrm xmlns:a="http://schemas.openxmlformats.org/drawingml/2006/main">
            <a:off x="4333875" y="2381250"/>
            <a:ext cx="2857500" cy="1428750"/>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715524AA-5281-4ACC-AAC0-61974C136B78}"/>
              </a:ext>
            </a:extLst>
          </p:cNvPr>
          <p:cNvSpPr>
            <a:spLocks xmlns:a="http://schemas.openxmlformats.org/drawingml/2006/main" noGrp="1"/>
          </p:cNvSpPr>
          <p:nvPr/>
        </p:nvSpPr>
        <p:spPr>
          <a:xfrm xmlns:a="http://schemas.openxmlformats.org/drawingml/2006/main">
            <a:off x="4333875" y="2381250"/>
            <a:ext cx="66675" cy="142875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14" name="text">
            <a:extLst xmlns:a="http://schemas.openxmlformats.org/drawingml/2006/main">
              <a:ext uri="{FF2B5EF4-FFF2-40B4-BE49-F238E27FC236}">
                <a16:creationId xmlns:a16="http://schemas.microsoft.com/office/drawing/2014/main" id="{BE4EE7C0-E5F6-4612-84AA-39F90753B3BA}"/>
              </a:ext>
            </a:extLst>
          </p:cNvPr>
          <p:cNvSpPr>
            <a:spLocks xmlns:a="http://schemas.openxmlformats.org/drawingml/2006/main" noGrp="1"/>
          </p:cNvSpPr>
          <p:nvPr/>
        </p:nvSpPr>
        <p:spPr>
          <a:xfrm xmlns:a="http://schemas.openxmlformats.org/drawingml/2006/main">
            <a:off x="4524375" y="2514600"/>
            <a:ext cx="2495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ETL vs ELT</a:t>
            </a:r>
          </a:p>
        </p:txBody>
      </p:sp>
      <p:sp>
        <p:nvSpPr>
          <p:cNvPr id="15" name="text">
            <a:extLst xmlns:a="http://schemas.openxmlformats.org/drawingml/2006/main">
              <a:ext uri="{FF2B5EF4-FFF2-40B4-BE49-F238E27FC236}">
                <a16:creationId xmlns:a16="http://schemas.microsoft.com/office/drawing/2014/main" id="{2C2B68AC-31D6-46F2-9505-6B09DB969CEC}"/>
              </a:ext>
            </a:extLst>
          </p:cNvPr>
          <p:cNvSpPr>
            <a:spLocks xmlns:a="http://schemas.openxmlformats.org/drawingml/2006/main" noGrp="1"/>
          </p:cNvSpPr>
          <p:nvPr/>
        </p:nvSpPr>
        <p:spPr>
          <a:xfrm xmlns:a="http://schemas.openxmlformats.org/drawingml/2006/main">
            <a:off x="4524375" y="2905125"/>
            <a:ext cx="2495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Does transformation happen before or after loading?</a:t>
            </a:r>
          </a:p>
        </p:txBody>
      </p:sp>
      <p:sp>
        <p:nvSpPr>
          <p:cNvPr id="16" name="shape">
            <a:extLst xmlns:a="http://schemas.openxmlformats.org/drawingml/2006/main">
              <a:ext uri="{FF2B5EF4-FFF2-40B4-BE49-F238E27FC236}">
                <a16:creationId xmlns:a16="http://schemas.microsoft.com/office/drawing/2014/main" id="{7A5D7DEC-650F-4586-9F92-616115BABA8F}"/>
              </a:ext>
            </a:extLst>
          </p:cNvPr>
          <p:cNvSpPr>
            <a:spLocks xmlns:a="http://schemas.openxmlformats.org/drawingml/2006/main" noGrp="1"/>
          </p:cNvSpPr>
          <p:nvPr/>
        </p:nvSpPr>
        <p:spPr>
          <a:xfrm xmlns:a="http://schemas.openxmlformats.org/drawingml/2006/main">
            <a:off x="8191500" y="2381250"/>
            <a:ext cx="3143250" cy="1428750"/>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17" name="shape">
            <a:extLst xmlns:a="http://schemas.openxmlformats.org/drawingml/2006/main">
              <a:ext uri="{FF2B5EF4-FFF2-40B4-BE49-F238E27FC236}">
                <a16:creationId xmlns:a16="http://schemas.microsoft.com/office/drawing/2014/main" id="{6D6614BD-317A-4F88-8DFD-6396B3A016AA}"/>
              </a:ext>
            </a:extLst>
          </p:cNvPr>
          <p:cNvSpPr>
            <a:spLocks xmlns:a="http://schemas.openxmlformats.org/drawingml/2006/main" noGrp="1"/>
          </p:cNvSpPr>
          <p:nvPr/>
        </p:nvSpPr>
        <p:spPr>
          <a:xfrm xmlns:a="http://schemas.openxmlformats.org/drawingml/2006/main">
            <a:off x="8191500" y="2381250"/>
            <a:ext cx="66675" cy="1428750"/>
          </a:xfrm>
          <a:prstGeom xmlns:a="http://schemas.openxmlformats.org/drawingml/2006/main" prst="rect">
            <a:avLst/>
          </a:prstGeom>
          <a:solidFill xmlns:a="http://schemas.openxmlformats.org/drawingml/2006/main">
            <a:srgbClr val="27AE60"/>
          </a:solidFill>
          <a:ln xmlns:a="http://schemas.openxmlformats.org/drawingml/2006/main" w="11430">
            <a:solidFill>
              <a:srgbClr val="27AE60"/>
            </a:solidFill>
            <a:prstDash val="solid"/>
          </a:ln>
        </p:spPr>
      </p:sp>
      <p:sp>
        <p:nvSpPr>
          <p:cNvPr id="18" name="text">
            <a:extLst xmlns:a="http://schemas.openxmlformats.org/drawingml/2006/main">
              <a:ext uri="{FF2B5EF4-FFF2-40B4-BE49-F238E27FC236}">
                <a16:creationId xmlns:a16="http://schemas.microsoft.com/office/drawing/2014/main" id="{AFBB8481-8F4F-4153-BF2A-6629CCDCEDD5}"/>
              </a:ext>
            </a:extLst>
          </p:cNvPr>
          <p:cNvSpPr>
            <a:spLocks xmlns:a="http://schemas.openxmlformats.org/drawingml/2006/main" noGrp="1"/>
          </p:cNvSpPr>
          <p:nvPr/>
        </p:nvSpPr>
        <p:spPr>
          <a:xfrm xmlns:a="http://schemas.openxmlformats.org/drawingml/2006/main">
            <a:off x="8382000" y="25146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Normalized vs denormalized</a:t>
            </a:r>
          </a:p>
        </p:txBody>
      </p:sp>
      <p:sp>
        <p:nvSpPr>
          <p:cNvPr id="19" name="text">
            <a:extLst xmlns:a="http://schemas.openxmlformats.org/drawingml/2006/main">
              <a:ext uri="{FF2B5EF4-FFF2-40B4-BE49-F238E27FC236}">
                <a16:creationId xmlns:a16="http://schemas.microsoft.com/office/drawing/2014/main" id="{F9102BA6-F0CC-42A4-920C-236B936D2334}"/>
              </a:ext>
            </a:extLst>
          </p:cNvPr>
          <p:cNvSpPr>
            <a:spLocks xmlns:a="http://schemas.openxmlformats.org/drawingml/2006/main" noGrp="1"/>
          </p:cNvSpPr>
          <p:nvPr/>
        </p:nvSpPr>
        <p:spPr>
          <a:xfrm xmlns:a="http://schemas.openxmlformats.org/drawingml/2006/main">
            <a:off x="8382000" y="2905125"/>
            <a:ext cx="2781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Do we optimize for integrity or reading speed?</a:t>
            </a:r>
          </a:p>
        </p:txBody>
      </p:sp>
      <p:sp>
        <p:nvSpPr>
          <p:cNvPr id="20" name="">
            <a:extLst xmlns:a="http://schemas.openxmlformats.org/drawingml/2006/main">
              <a:ext uri="{FF2B5EF4-FFF2-40B4-BE49-F238E27FC236}">
                <a16:creationId xmlns:a16="http://schemas.microsoft.com/office/drawing/2014/main" id="{2405A8B9-8FBA-44D7-B467-C3DA29EE963F}"/>
              </a:ext>
            </a:extLst>
          </p:cNvPr>
          <p:cNvSpPr>
            <a:spLocks xmlns:a="http://schemas.openxmlformats.org/drawingml/2006/main" noGrp="1"/>
          </p:cNvSpPr>
          <p:nvPr/>
        </p:nvSpPr>
        <p:spPr>
          <a:xfrm xmlns:a="http://schemas.openxmlformats.org/drawingml/2006/main">
            <a:off x="3524250" y="3095625"/>
            <a:ext cx="714375" cy="9525"/>
          </a:xfrm>
          <a:prstGeom xmlns:a="http://schemas.openxmlformats.org/drawingml/2006/main" prst="line">
            <a:avLst/>
          </a:prstGeom>
          <a:ln xmlns:a="http://schemas.openxmlformats.org/drawingml/2006/main" w="28575">
            <a:solidFill>
              <a:srgbClr val="B8BCC4"/>
            </a:solidFill>
            <a:prstDash val="solid"/>
          </a:ln>
        </p:spPr>
      </p:sp>
      <p:sp>
        <p:nvSpPr>
          <p:cNvPr id="21" name="">
            <a:extLst xmlns:a="http://schemas.openxmlformats.org/drawingml/2006/main">
              <a:ext uri="{FF2B5EF4-FFF2-40B4-BE49-F238E27FC236}">
                <a16:creationId xmlns:a16="http://schemas.microsoft.com/office/drawing/2014/main" id="{9DACF1F7-FA06-4402-A582-6B6930BD8D7E}"/>
              </a:ext>
            </a:extLst>
          </p:cNvPr>
          <p:cNvSpPr>
            <a:spLocks xmlns:a="http://schemas.openxmlformats.org/drawingml/2006/main" noGrp="1"/>
          </p:cNvSpPr>
          <p:nvPr/>
        </p:nvSpPr>
        <p:spPr>
          <a:xfrm xmlns:a="http://schemas.openxmlformats.org/drawingml/2006/main">
            <a:off x="7191375" y="3095625"/>
            <a:ext cx="904875" cy="9525"/>
          </a:xfrm>
          <a:prstGeom xmlns:a="http://schemas.openxmlformats.org/drawingml/2006/main" prst="line">
            <a:avLst/>
          </a:prstGeom>
          <a:ln xmlns:a="http://schemas.openxmlformats.org/drawingml/2006/main" w="28575">
            <a:solidFill>
              <a:srgbClr val="B8BCC4"/>
            </a:solidFill>
            <a:prstDash val="solid"/>
          </a:ln>
        </p:spPr>
      </p:sp>
      <p:sp>
        <p:nvSpPr>
          <p:cNvPr id="22" name="text">
            <a:extLst xmlns:a="http://schemas.openxmlformats.org/drawingml/2006/main">
              <a:ext uri="{FF2B5EF4-FFF2-40B4-BE49-F238E27FC236}">
                <a16:creationId xmlns:a16="http://schemas.microsoft.com/office/drawing/2014/main" id="{474B39FC-7D59-496A-82D0-652FF5429800}"/>
              </a:ext>
            </a:extLst>
          </p:cNvPr>
          <p:cNvSpPr>
            <a:spLocks xmlns:a="http://schemas.openxmlformats.org/drawingml/2006/main" noGrp="1"/>
          </p:cNvSpPr>
          <p:nvPr/>
        </p:nvSpPr>
        <p:spPr>
          <a:xfrm xmlns:a="http://schemas.openxmlformats.org/drawingml/2006/main">
            <a:off x="1809750" y="4810125"/>
            <a:ext cx="857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111827"/>
                </a:solidFill>
              </a:defRPr>
            </a:pPr>
            <a:r>
              <a:rPr sz="2250" b="1">
                <a:solidFill>
                  <a:srgbClr val="111827"/>
                </a:solidFill>
              </a:rPr>
              <a:t>The choices are related, but they solve different problems.</a:t>
            </a:r>
          </a:p>
        </p:txBody>
      </p:sp>
      <p:sp>
        <p:nvSpPr>
          <p:cNvPr id="23" name="home">
            <a:extLst xmlns:a="http://schemas.openxmlformats.org/drawingml/2006/main">
              <a:ext uri="{FF2B5EF4-FFF2-40B4-BE49-F238E27FC236}">
                <a16:creationId xmlns:a16="http://schemas.microsoft.com/office/drawing/2014/main" id="{37E26CBD-7BE6-4D64-817E-E5AA455C781A}"/>
              </a:ext>
            </a:extLst>
            <a:hlinkClick xmlns:p7="http://schemas.openxmlformats.org/officeDocument/2006/relationships" xmlns:a="http://schemas.openxmlformats.org/drawingml/2006/main" p7:id="rId1" action="ppaction://hlinksldjump"/>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solidFill xmlns:a="http://schemas.openxmlformats.org/drawingml/2006/main">
            <a:srgbClr val="0B1F33"/>
          </a:solidFill>
          <a:ln xmlns:a="http://schemas.openxmlformats.org/drawingml/2006/main" w="11430">
            <a:solidFill>
              <a:srgbClr val="0B1F33"/>
            </a:solidFill>
            <a:prstDash val="solid"/>
          </a:ln>
        </p:spPr>
      </p:sp>
      <p:sp>
        <p:nvSpPr>
          <p:cNvPr id="24" name="home-label">
            <a:extLst xmlns:a="http://schemas.openxmlformats.org/drawingml/2006/main">
              <a:ext uri="{FF2B5EF4-FFF2-40B4-BE49-F238E27FC236}">
                <a16:creationId xmlns:a16="http://schemas.microsoft.com/office/drawing/2014/main" id="{6BE44C85-F033-487B-BFCF-9FFEEDC7A29C}"/>
              </a:ext>
            </a:extLst>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5" name="back">
            <a:extLst xmlns:a="http://schemas.openxmlformats.org/drawingml/2006/main">
              <a:ext uri="{FF2B5EF4-FFF2-40B4-BE49-F238E27FC236}">
                <a16:creationId xmlns:a16="http://schemas.microsoft.com/office/drawing/2014/main" id="{F7A5577D-B153-4319-98F7-A1E95C1CD988}"/>
              </a:ext>
            </a:extLst>
            <a:hlinkClick xmlns:p7="http://schemas.openxmlformats.org/officeDocument/2006/relationships" xmlns:a="http://schemas.openxmlformats.org/drawingml/2006/main" p7:id="rId2" action="ppaction://hlinksldjump"/>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26" name="back-label">
            <a:extLst xmlns:a="http://schemas.openxmlformats.org/drawingml/2006/main">
              <a:ext uri="{FF2B5EF4-FFF2-40B4-BE49-F238E27FC236}">
                <a16:creationId xmlns:a16="http://schemas.microsoft.com/office/drawing/2014/main" id="{B8D8E4F3-5ACB-49DC-8AC5-A08F34351D54}"/>
              </a:ext>
            </a:extLst>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7" name="next">
            <a:extLst xmlns:a="http://schemas.openxmlformats.org/drawingml/2006/main">
              <a:ext uri="{FF2B5EF4-FFF2-40B4-BE49-F238E27FC236}">
                <a16:creationId xmlns:a16="http://schemas.microsoft.com/office/drawing/2014/main" id="{A23EF123-66CE-409B-A867-C56B1A0B79DA}"/>
              </a:ext>
            </a:extLst>
            <a:hlinkClick xmlns:p7="http://schemas.openxmlformats.org/officeDocument/2006/relationships" xmlns:a="http://schemas.openxmlformats.org/drawingml/2006/main" p7:id="rId3" action="ppaction://hlinksldjump"/>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28" name="next-label">
            <a:extLst xmlns:a="http://schemas.openxmlformats.org/drawingml/2006/main">
              <a:ext uri="{FF2B5EF4-FFF2-40B4-BE49-F238E27FC236}">
                <a16:creationId xmlns:a16="http://schemas.microsoft.com/office/drawing/2014/main" id="{180A8EB2-76CF-46A3-8E2A-96BCEDE7BB30}"/>
              </a:ext>
            </a:extLst>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Tree>
    <p:extLst>
      <p:ext uri="{BB962C8B-B14F-4D97-AF65-F5344CB8AC3E}">
        <p14:creationId xmlns:p14="http://schemas.microsoft.com/office/powerpoint/2010/main" val="3072131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
            <a:extLst xmlns:a="http://schemas.openxmlformats.org/drawingml/2006/main">
              <a:ext uri="{FF2B5EF4-FFF2-40B4-BE49-F238E27FC236}">
                <a16:creationId xmlns:a16="http://schemas.microsoft.com/office/drawing/2014/main" id="{815682F7-D11E-48AE-A45A-DFE95188F390}"/>
              </a:ext>
            </a:extLst>
          </p:cNvPr>
          <p:cNvSpPr>
            <a:spLocks xmlns:a="http://schemas.openxmlformats.org/drawingml/2006/main" noGrp="1"/>
          </p:cNvSpPr>
          <p:nvPr/>
        </p:nvSpPr>
        <p:spPr>
          <a:xfrm xmlns:a="http://schemas.openxmlformats.org/drawingml/2006/main">
            <a:off x="571500" y="266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D8DFF"/>
                </a:solidFill>
              </a:defRPr>
            </a:pPr>
            <a:r>
              <a:rPr sz="900" b="1">
                <a:solidFill>
                  <a:srgbClr val="3D8DFF"/>
                </a:solidFill>
              </a:rPr>
              <a:t>DATA ENGINEERING • RESEARCH TASK</a:t>
            </a:r>
          </a:p>
        </p:txBody>
      </p:sp>
      <p:sp>
        <p:nvSpPr>
          <p:cNvPr id="2" name="text">
            <a:extLst xmlns:a="http://schemas.openxmlformats.org/drawingml/2006/main">
              <a:ext uri="{FF2B5EF4-FFF2-40B4-BE49-F238E27FC236}">
                <a16:creationId xmlns:a16="http://schemas.microsoft.com/office/drawing/2014/main" id="{4EF96DC4-B656-4490-A0C4-AB665BA03670}"/>
              </a:ext>
            </a:extLst>
          </p:cNvPr>
          <p:cNvSpPr>
            <a:spLocks xmlns:a="http://schemas.openxmlformats.org/drawingml/2006/main" noGrp="1"/>
          </p:cNvSpPr>
          <p:nvPr/>
        </p:nvSpPr>
        <p:spPr>
          <a:xfrm xmlns:a="http://schemas.openxmlformats.org/drawingml/2006/main">
            <a:off x="5715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11827"/>
                </a:solidFill>
              </a:defRPr>
            </a:pPr>
            <a:r>
              <a:rPr sz="2625" b="1">
                <a:solidFill>
                  <a:srgbClr val="111827"/>
                </a:solidFill>
              </a:rPr>
              <a:t>ETL transforms data before it enters the target system</a:t>
            </a:r>
          </a:p>
        </p:txBody>
      </p:sp>
      <p:sp>
        <p:nvSpPr>
          <p:cNvPr id="3" name="">
            <a:extLst xmlns:a="http://schemas.openxmlformats.org/drawingml/2006/main">
              <a:ext uri="{FF2B5EF4-FFF2-40B4-BE49-F238E27FC236}">
                <a16:creationId xmlns:a16="http://schemas.microsoft.com/office/drawing/2014/main" id="{F246DD50-0BB9-4CBC-88DD-74D67AE0A047}"/>
              </a:ext>
            </a:extLst>
          </p:cNvPr>
          <p:cNvSpPr>
            <a:spLocks xmlns:a="http://schemas.openxmlformats.org/drawingml/2006/main" noGrp="1"/>
          </p:cNvSpPr>
          <p:nvPr/>
        </p:nvSpPr>
        <p:spPr>
          <a:xfrm xmlns:a="http://schemas.openxmlformats.org/drawingml/2006/main">
            <a:off x="571500" y="1257300"/>
            <a:ext cx="11049000" cy="9525"/>
          </a:xfrm>
          <a:prstGeom xmlns:a="http://schemas.openxmlformats.org/drawingml/2006/main" prst="line">
            <a:avLst/>
          </a:prstGeom>
          <a:ln xmlns:a="http://schemas.openxmlformats.org/drawingml/2006/main" w="9525">
            <a:solidFill>
              <a:srgbClr val="B8BCC4"/>
            </a:solidFill>
            <a:prstDash val="solid"/>
          </a:ln>
        </p:spPr>
      </p:sp>
      <p:sp>
        <p:nvSpPr>
          <p:cNvPr id="4" name="text">
            <a:extLst xmlns:a="http://schemas.openxmlformats.org/drawingml/2006/main">
              <a:ext uri="{FF2B5EF4-FFF2-40B4-BE49-F238E27FC236}">
                <a16:creationId xmlns:a16="http://schemas.microsoft.com/office/drawing/2014/main" id="{AD94D10C-36B1-42D0-AFB1-6B052A9FD728}"/>
              </a:ext>
            </a:extLst>
          </p:cNvPr>
          <p:cNvSpPr>
            <a:spLocks xmlns:a="http://schemas.openxmlformats.org/drawingml/2006/main" noGrp="1"/>
          </p:cNvSpPr>
          <p:nvPr/>
        </p:nvSpPr>
        <p:spPr>
          <a:xfrm xmlns:a="http://schemas.openxmlformats.org/drawingml/2006/main">
            <a:off x="11096625" y="64293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F6773"/>
                </a:solidFill>
              </a:defRPr>
            </a:pPr>
            <a:r>
              <a:rPr sz="825" b="1">
                <a:solidFill>
                  <a:srgbClr val="5F6773"/>
                </a:solidFill>
              </a:rPr>
              <a:t>03</a:t>
            </a:r>
          </a:p>
        </p:txBody>
      </p:sp>
      <p:sp>
        <p:nvSpPr>
          <p:cNvPr id="5" name="">
            <a:extLst xmlns:a="http://schemas.openxmlformats.org/drawingml/2006/main">
              <a:ext uri="{FF2B5EF4-FFF2-40B4-BE49-F238E27FC236}">
                <a16:creationId xmlns:a16="http://schemas.microsoft.com/office/drawing/2014/main" id="{19C9405A-B7EE-4B70-A0B6-8489A3A62D19}"/>
              </a:ext>
            </a:extLst>
          </p:cNvPr>
          <p:cNvSpPr>
            <a:spLocks xmlns:a="http://schemas.openxmlformats.org/drawingml/2006/main" noGrp="1"/>
          </p:cNvSpPr>
          <p:nvPr/>
        </p:nvSpPr>
        <p:spPr>
          <a:xfrm xmlns:a="http://schemas.openxmlformats.org/drawingml/2006/main">
            <a:off x="3619500" y="2952750"/>
            <a:ext cx="809625" cy="9525"/>
          </a:xfrm>
          <a:prstGeom xmlns:a="http://schemas.openxmlformats.org/drawingml/2006/main" prst="line">
            <a:avLst/>
          </a:prstGeom>
          <a:ln xmlns:a="http://schemas.openxmlformats.org/drawingml/2006/main" w="28575">
            <a:solidFill>
              <a:srgbClr val="B8BCC4"/>
            </a:solidFill>
            <a:prstDash val="solid"/>
          </a:ln>
        </p:spPr>
      </p:sp>
      <p:sp>
        <p:nvSpPr>
          <p:cNvPr id="6" name="shape">
            <a:extLst xmlns:a="http://schemas.openxmlformats.org/drawingml/2006/main">
              <a:ext uri="{FF2B5EF4-FFF2-40B4-BE49-F238E27FC236}">
                <a16:creationId xmlns:a16="http://schemas.microsoft.com/office/drawing/2014/main" id="{BFC63939-6F8F-42BE-A6FA-6ED44600AA96}"/>
              </a:ext>
            </a:extLst>
          </p:cNvPr>
          <p:cNvSpPr>
            <a:spLocks xmlns:a="http://schemas.openxmlformats.org/drawingml/2006/main" noGrp="1"/>
          </p:cNvSpPr>
          <p:nvPr/>
        </p:nvSpPr>
        <p:spPr>
          <a:xfrm xmlns:a="http://schemas.openxmlformats.org/drawingml/2006/main">
            <a:off x="857250" y="2095500"/>
            <a:ext cx="666750" cy="666750"/>
          </a:xfrm>
          <a:prstGeom xmlns:a="http://schemas.openxmlformats.org/drawingml/2006/main" prst="ellipse">
            <a:avLst/>
          </a:prstGeom>
          <a:solidFill xmlns:a="http://schemas.openxmlformats.org/drawingml/2006/main">
            <a:srgbClr val="3D8DFF"/>
          </a:solidFill>
          <a:ln xmlns:a="http://schemas.openxmlformats.org/drawingml/2006/main" w="11430">
            <a:solidFill>
              <a:srgbClr val="3D8DFF"/>
            </a:solidFill>
            <a:prstDash val="solid"/>
          </a:ln>
        </p:spPr>
      </p:sp>
      <p:sp>
        <p:nvSpPr>
          <p:cNvPr id="7" name="text">
            <a:extLst xmlns:a="http://schemas.openxmlformats.org/drawingml/2006/main">
              <a:ext uri="{FF2B5EF4-FFF2-40B4-BE49-F238E27FC236}">
                <a16:creationId xmlns:a16="http://schemas.microsoft.com/office/drawing/2014/main" id="{C08E4B8A-6C60-45D7-963A-AFC45EE4CF0A}"/>
              </a:ext>
            </a:extLst>
          </p:cNvPr>
          <p:cNvSpPr>
            <a:spLocks xmlns:a="http://schemas.openxmlformats.org/drawingml/2006/main" noGrp="1"/>
          </p:cNvSpPr>
          <p:nvPr/>
        </p:nvSpPr>
        <p:spPr>
          <a:xfrm xmlns:a="http://schemas.openxmlformats.org/drawingml/2006/main">
            <a:off x="857250" y="209550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FFFFFF"/>
                </a:solidFill>
              </a:defRPr>
            </a:pPr>
            <a:r>
              <a:rPr sz="2175" b="1">
                <a:solidFill>
                  <a:srgbClr val="FFFFFF"/>
                </a:solidFill>
              </a:rPr>
              <a:t>E</a:t>
            </a:r>
          </a:p>
        </p:txBody>
      </p:sp>
      <p:sp>
        <p:nvSpPr>
          <p:cNvPr id="8" name="text">
            <a:extLst xmlns:a="http://schemas.openxmlformats.org/drawingml/2006/main">
              <a:ext uri="{FF2B5EF4-FFF2-40B4-BE49-F238E27FC236}">
                <a16:creationId xmlns:a16="http://schemas.microsoft.com/office/drawing/2014/main" id="{D681FE36-D077-4960-AA63-A0E100724FF6}"/>
              </a:ext>
            </a:extLst>
          </p:cNvPr>
          <p:cNvSpPr>
            <a:spLocks xmlns:a="http://schemas.openxmlformats.org/drawingml/2006/main" noGrp="1"/>
          </p:cNvSpPr>
          <p:nvPr/>
        </p:nvSpPr>
        <p:spPr>
          <a:xfrm xmlns:a="http://schemas.openxmlformats.org/drawingml/2006/main">
            <a:off x="1714500" y="20955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11827"/>
                </a:solidFill>
              </a:defRPr>
            </a:pPr>
            <a:r>
              <a:rPr sz="1950" b="1">
                <a:solidFill>
                  <a:srgbClr val="111827"/>
                </a:solidFill>
              </a:rPr>
              <a:t>Extract</a:t>
            </a:r>
          </a:p>
        </p:txBody>
      </p:sp>
      <p:sp>
        <p:nvSpPr>
          <p:cNvPr id="9" name="text">
            <a:extLst xmlns:a="http://schemas.openxmlformats.org/drawingml/2006/main">
              <a:ext uri="{FF2B5EF4-FFF2-40B4-BE49-F238E27FC236}">
                <a16:creationId xmlns:a16="http://schemas.microsoft.com/office/drawing/2014/main" id="{0C1EA762-B15D-495B-9B30-0F74D4F0E9AD}"/>
              </a:ext>
            </a:extLst>
          </p:cNvPr>
          <p:cNvSpPr>
            <a:spLocks xmlns:a="http://schemas.openxmlformats.org/drawingml/2006/main" noGrp="1"/>
          </p:cNvSpPr>
          <p:nvPr/>
        </p:nvSpPr>
        <p:spPr>
          <a:xfrm xmlns:a="http://schemas.openxmlformats.org/drawingml/2006/main">
            <a:off x="1714500" y="2571750"/>
            <a:ext cx="1905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Read CRM, CSV and API data</a:t>
            </a:r>
          </a:p>
        </p:txBody>
      </p:sp>
      <p:sp>
        <p:nvSpPr>
          <p:cNvPr id="10" name="">
            <a:extLst xmlns:a="http://schemas.openxmlformats.org/drawingml/2006/main">
              <a:ext uri="{FF2B5EF4-FFF2-40B4-BE49-F238E27FC236}">
                <a16:creationId xmlns:a16="http://schemas.microsoft.com/office/drawing/2014/main" id="{D5956DDD-DAD5-4FF7-A29F-5DF69911A3C7}"/>
              </a:ext>
            </a:extLst>
          </p:cNvPr>
          <p:cNvSpPr>
            <a:spLocks xmlns:a="http://schemas.openxmlformats.org/drawingml/2006/main" noGrp="1"/>
          </p:cNvSpPr>
          <p:nvPr/>
        </p:nvSpPr>
        <p:spPr>
          <a:xfrm xmlns:a="http://schemas.openxmlformats.org/drawingml/2006/main">
            <a:off x="7334250" y="2952750"/>
            <a:ext cx="809625" cy="9525"/>
          </a:xfrm>
          <a:prstGeom xmlns:a="http://schemas.openxmlformats.org/drawingml/2006/main" prst="line">
            <a:avLst/>
          </a:prstGeom>
          <a:ln xmlns:a="http://schemas.openxmlformats.org/drawingml/2006/main" w="28575">
            <a:solidFill>
              <a:srgbClr val="B8BCC4"/>
            </a:solidFill>
            <a:prstDash val="solid"/>
          </a:ln>
        </p:spPr>
      </p:sp>
      <p:sp>
        <p:nvSpPr>
          <p:cNvPr id="11" name="shape">
            <a:extLst xmlns:a="http://schemas.openxmlformats.org/drawingml/2006/main">
              <a:ext uri="{FF2B5EF4-FFF2-40B4-BE49-F238E27FC236}">
                <a16:creationId xmlns:a16="http://schemas.microsoft.com/office/drawing/2014/main" id="{CF9C1A40-C30B-4371-A68D-26D7743BBF52}"/>
              </a:ext>
            </a:extLst>
          </p:cNvPr>
          <p:cNvSpPr>
            <a:spLocks xmlns:a="http://schemas.openxmlformats.org/drawingml/2006/main" noGrp="1"/>
          </p:cNvSpPr>
          <p:nvPr/>
        </p:nvSpPr>
        <p:spPr>
          <a:xfrm xmlns:a="http://schemas.openxmlformats.org/drawingml/2006/main">
            <a:off x="4572000" y="2095500"/>
            <a:ext cx="666750" cy="666750"/>
          </a:xfrm>
          <a:prstGeom xmlns:a="http://schemas.openxmlformats.org/drawingml/2006/main" prst="ellipse">
            <a:avLst/>
          </a:prstGeom>
          <a:solidFill xmlns:a="http://schemas.openxmlformats.org/drawingml/2006/main">
            <a:srgbClr val="FF6B5F"/>
          </a:solidFill>
          <a:ln xmlns:a="http://schemas.openxmlformats.org/drawingml/2006/main" w="11430">
            <a:solidFill>
              <a:srgbClr val="FF6B5F"/>
            </a:solidFill>
            <a:prstDash val="solid"/>
          </a:ln>
        </p:spPr>
      </p:sp>
      <p:sp>
        <p:nvSpPr>
          <p:cNvPr id="12" name="text">
            <a:extLst xmlns:a="http://schemas.openxmlformats.org/drawingml/2006/main">
              <a:ext uri="{FF2B5EF4-FFF2-40B4-BE49-F238E27FC236}">
                <a16:creationId xmlns:a16="http://schemas.microsoft.com/office/drawing/2014/main" id="{73169FFA-46D6-4398-888F-8F9BDB575D29}"/>
              </a:ext>
            </a:extLst>
          </p:cNvPr>
          <p:cNvSpPr>
            <a:spLocks xmlns:a="http://schemas.openxmlformats.org/drawingml/2006/main" noGrp="1"/>
          </p:cNvSpPr>
          <p:nvPr/>
        </p:nvSpPr>
        <p:spPr>
          <a:xfrm xmlns:a="http://schemas.openxmlformats.org/drawingml/2006/main">
            <a:off x="4572000" y="209550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FFFFFF"/>
                </a:solidFill>
              </a:defRPr>
            </a:pPr>
            <a:r>
              <a:rPr sz="2175" b="1">
                <a:solidFill>
                  <a:srgbClr val="FFFFFF"/>
                </a:solidFill>
              </a:rPr>
              <a:t>T</a:t>
            </a:r>
          </a:p>
        </p:txBody>
      </p:sp>
      <p:sp>
        <p:nvSpPr>
          <p:cNvPr id="13" name="text">
            <a:extLst xmlns:a="http://schemas.openxmlformats.org/drawingml/2006/main">
              <a:ext uri="{FF2B5EF4-FFF2-40B4-BE49-F238E27FC236}">
                <a16:creationId xmlns:a16="http://schemas.microsoft.com/office/drawing/2014/main" id="{F5D29AB0-D4E6-4E86-85D0-D73E62BB9F62}"/>
              </a:ext>
            </a:extLst>
          </p:cNvPr>
          <p:cNvSpPr>
            <a:spLocks xmlns:a="http://schemas.openxmlformats.org/drawingml/2006/main" noGrp="1"/>
          </p:cNvSpPr>
          <p:nvPr/>
        </p:nvSpPr>
        <p:spPr>
          <a:xfrm xmlns:a="http://schemas.openxmlformats.org/drawingml/2006/main">
            <a:off x="5429250" y="20955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11827"/>
                </a:solidFill>
              </a:defRPr>
            </a:pPr>
            <a:r>
              <a:rPr sz="1950" b="1">
                <a:solidFill>
                  <a:srgbClr val="111827"/>
                </a:solidFill>
              </a:rPr>
              <a:t>Transform</a:t>
            </a:r>
          </a:p>
        </p:txBody>
      </p:sp>
      <p:sp>
        <p:nvSpPr>
          <p:cNvPr id="14" name="text">
            <a:extLst xmlns:a="http://schemas.openxmlformats.org/drawingml/2006/main">
              <a:ext uri="{FF2B5EF4-FFF2-40B4-BE49-F238E27FC236}">
                <a16:creationId xmlns:a16="http://schemas.microsoft.com/office/drawing/2014/main" id="{B14DB273-C449-4494-BDDF-A171F720F6F5}"/>
              </a:ext>
            </a:extLst>
          </p:cNvPr>
          <p:cNvSpPr>
            <a:spLocks xmlns:a="http://schemas.openxmlformats.org/drawingml/2006/main" noGrp="1"/>
          </p:cNvSpPr>
          <p:nvPr/>
        </p:nvSpPr>
        <p:spPr>
          <a:xfrm xmlns:a="http://schemas.openxmlformats.org/drawingml/2006/main">
            <a:off x="5429250" y="2571750"/>
            <a:ext cx="1905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Clean, validate, join and standardize</a:t>
            </a:r>
          </a:p>
        </p:txBody>
      </p:sp>
      <p:sp>
        <p:nvSpPr>
          <p:cNvPr id="15" name="shape">
            <a:extLst xmlns:a="http://schemas.openxmlformats.org/drawingml/2006/main">
              <a:ext uri="{FF2B5EF4-FFF2-40B4-BE49-F238E27FC236}">
                <a16:creationId xmlns:a16="http://schemas.microsoft.com/office/drawing/2014/main" id="{43440356-86CD-4A7F-AEEA-7700F745B25E}"/>
              </a:ext>
            </a:extLst>
          </p:cNvPr>
          <p:cNvSpPr>
            <a:spLocks xmlns:a="http://schemas.openxmlformats.org/drawingml/2006/main" noGrp="1"/>
          </p:cNvSpPr>
          <p:nvPr/>
        </p:nvSpPr>
        <p:spPr>
          <a:xfrm xmlns:a="http://schemas.openxmlformats.org/drawingml/2006/main">
            <a:off x="8286750" y="2095500"/>
            <a:ext cx="666750" cy="666750"/>
          </a:xfrm>
          <a:prstGeom xmlns:a="http://schemas.openxmlformats.org/drawingml/2006/main" prst="ellipse">
            <a:avLst/>
          </a:prstGeom>
          <a:solidFill xmlns:a="http://schemas.openxmlformats.org/drawingml/2006/main">
            <a:srgbClr val="27AE60"/>
          </a:solidFill>
          <a:ln xmlns:a="http://schemas.openxmlformats.org/drawingml/2006/main" w="11430">
            <a:solidFill>
              <a:srgbClr val="27AE60"/>
            </a:solidFill>
            <a:prstDash val="solid"/>
          </a:ln>
        </p:spPr>
      </p:sp>
      <p:sp>
        <p:nvSpPr>
          <p:cNvPr id="16" name="text">
            <a:extLst xmlns:a="http://schemas.openxmlformats.org/drawingml/2006/main">
              <a:ext uri="{FF2B5EF4-FFF2-40B4-BE49-F238E27FC236}">
                <a16:creationId xmlns:a16="http://schemas.microsoft.com/office/drawing/2014/main" id="{23C65B8B-30A1-48A5-8F0E-3EFD3D10BE00}"/>
              </a:ext>
            </a:extLst>
          </p:cNvPr>
          <p:cNvSpPr>
            <a:spLocks xmlns:a="http://schemas.openxmlformats.org/drawingml/2006/main" noGrp="1"/>
          </p:cNvSpPr>
          <p:nvPr/>
        </p:nvSpPr>
        <p:spPr>
          <a:xfrm xmlns:a="http://schemas.openxmlformats.org/drawingml/2006/main">
            <a:off x="8286750" y="209550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FFFFFF"/>
                </a:solidFill>
              </a:defRPr>
            </a:pPr>
            <a:r>
              <a:rPr sz="2175" b="1">
                <a:solidFill>
                  <a:srgbClr val="FFFFFF"/>
                </a:solidFill>
              </a:rPr>
              <a:t>L</a:t>
            </a:r>
          </a:p>
        </p:txBody>
      </p:sp>
      <p:sp>
        <p:nvSpPr>
          <p:cNvPr id="17" name="text">
            <a:extLst xmlns:a="http://schemas.openxmlformats.org/drawingml/2006/main">
              <a:ext uri="{FF2B5EF4-FFF2-40B4-BE49-F238E27FC236}">
                <a16:creationId xmlns:a16="http://schemas.microsoft.com/office/drawing/2014/main" id="{26B89124-B7FD-4DAE-8F52-7830A1C8D79C}"/>
              </a:ext>
            </a:extLst>
          </p:cNvPr>
          <p:cNvSpPr>
            <a:spLocks xmlns:a="http://schemas.openxmlformats.org/drawingml/2006/main" noGrp="1"/>
          </p:cNvSpPr>
          <p:nvPr/>
        </p:nvSpPr>
        <p:spPr>
          <a:xfrm xmlns:a="http://schemas.openxmlformats.org/drawingml/2006/main">
            <a:off x="9144000" y="20955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11827"/>
                </a:solidFill>
              </a:defRPr>
            </a:pPr>
            <a:r>
              <a:rPr sz="1950" b="1">
                <a:solidFill>
                  <a:srgbClr val="111827"/>
                </a:solidFill>
              </a:rPr>
              <a:t>Load</a:t>
            </a:r>
          </a:p>
        </p:txBody>
      </p:sp>
      <p:sp>
        <p:nvSpPr>
          <p:cNvPr id="18" name="text">
            <a:extLst xmlns:a="http://schemas.openxmlformats.org/drawingml/2006/main">
              <a:ext uri="{FF2B5EF4-FFF2-40B4-BE49-F238E27FC236}">
                <a16:creationId xmlns:a16="http://schemas.microsoft.com/office/drawing/2014/main" id="{256B6AC3-1F48-4B07-8C69-103C161ACC53}"/>
              </a:ext>
            </a:extLst>
          </p:cNvPr>
          <p:cNvSpPr>
            <a:spLocks xmlns:a="http://schemas.openxmlformats.org/drawingml/2006/main" noGrp="1"/>
          </p:cNvSpPr>
          <p:nvPr/>
        </p:nvSpPr>
        <p:spPr>
          <a:xfrm xmlns:a="http://schemas.openxmlformats.org/drawingml/2006/main">
            <a:off x="9144000" y="2571750"/>
            <a:ext cx="1905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Write curated data to the warehouse</a:t>
            </a:r>
          </a:p>
        </p:txBody>
      </p:sp>
      <p:sp>
        <p:nvSpPr>
          <p:cNvPr id="19" name="text">
            <a:extLst xmlns:a="http://schemas.openxmlformats.org/drawingml/2006/main">
              <a:ext uri="{FF2B5EF4-FFF2-40B4-BE49-F238E27FC236}">
                <a16:creationId xmlns:a16="http://schemas.microsoft.com/office/drawing/2014/main" id="{44972C95-4832-49AF-9742-4CCC5ED627DE}"/>
              </a:ext>
            </a:extLst>
          </p:cNvPr>
          <p:cNvSpPr>
            <a:spLocks xmlns:a="http://schemas.openxmlformats.org/drawingml/2006/main" noGrp="1"/>
          </p:cNvSpPr>
          <p:nvPr/>
        </p:nvSpPr>
        <p:spPr>
          <a:xfrm xmlns:a="http://schemas.openxmlformats.org/drawingml/2006/main">
            <a:off x="1190625" y="4476750"/>
            <a:ext cx="981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111827"/>
                </a:solidFill>
              </a:defRPr>
            </a:pPr>
            <a:r>
              <a:rPr sz="2100" b="1">
                <a:solidFill>
                  <a:srgbClr val="111827"/>
                </a:solidFill>
              </a:rPr>
              <a:t>Best when the destination must receive validated, controlled, ready-to-use data.</a:t>
            </a:r>
          </a:p>
        </p:txBody>
      </p:sp>
      <p:sp>
        <p:nvSpPr>
          <p:cNvPr id="20" name="text">
            <a:extLst xmlns:a="http://schemas.openxmlformats.org/drawingml/2006/main">
              <a:ext uri="{FF2B5EF4-FFF2-40B4-BE49-F238E27FC236}">
                <a16:creationId xmlns:a16="http://schemas.microsoft.com/office/drawing/2014/main" id="{5DA2168C-BEB6-48AA-A134-76CB48D2E8A5}"/>
              </a:ext>
            </a:extLst>
          </p:cNvPr>
          <p:cNvSpPr>
            <a:spLocks xmlns:a="http://schemas.openxmlformats.org/drawingml/2006/main" noGrp="1"/>
          </p:cNvSpPr>
          <p:nvPr/>
        </p:nvSpPr>
        <p:spPr>
          <a:xfrm xmlns:a="http://schemas.openxmlformats.org/drawingml/2006/main">
            <a:off x="2381250" y="5286375"/>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6B5F"/>
                </a:solidFill>
              </a:defRPr>
            </a:pPr>
            <a:r>
              <a:rPr sz="1500" b="1">
                <a:solidFill>
                  <a:srgbClr val="FF6B5F"/>
                </a:solidFill>
              </a:rPr>
              <a:t>Trade-off: the pipeline needs separate transformation compute and logic.</a:t>
            </a:r>
          </a:p>
        </p:txBody>
      </p:sp>
      <p:sp>
        <p:nvSpPr>
          <p:cNvPr id="21" name="home">
            <a:extLst xmlns:a="http://schemas.openxmlformats.org/drawingml/2006/main">
              <a:ext uri="{FF2B5EF4-FFF2-40B4-BE49-F238E27FC236}">
                <a16:creationId xmlns:a16="http://schemas.microsoft.com/office/drawing/2014/main" id="{852AC83D-C71C-4491-8524-6EFAF7AC4060}"/>
              </a:ext>
            </a:extLst>
            <a:hlinkClick xmlns:p7="http://schemas.openxmlformats.org/officeDocument/2006/relationships" xmlns:a="http://schemas.openxmlformats.org/drawingml/2006/main" p7:id="rId1" action="ppaction://hlinksldjump"/>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solidFill xmlns:a="http://schemas.openxmlformats.org/drawingml/2006/main">
            <a:srgbClr val="0B1F33"/>
          </a:solidFill>
          <a:ln xmlns:a="http://schemas.openxmlformats.org/drawingml/2006/main" w="11430">
            <a:solidFill>
              <a:srgbClr val="0B1F33"/>
            </a:solidFill>
            <a:prstDash val="solid"/>
          </a:ln>
        </p:spPr>
      </p:sp>
      <p:sp>
        <p:nvSpPr>
          <p:cNvPr id="22" name="home-label">
            <a:extLst xmlns:a="http://schemas.openxmlformats.org/drawingml/2006/main">
              <a:ext uri="{FF2B5EF4-FFF2-40B4-BE49-F238E27FC236}">
                <a16:creationId xmlns:a16="http://schemas.microsoft.com/office/drawing/2014/main" id="{079A83BD-875E-401B-B690-EED7D7469299}"/>
              </a:ext>
            </a:extLst>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3" name="back">
            <a:extLst xmlns:a="http://schemas.openxmlformats.org/drawingml/2006/main">
              <a:ext uri="{FF2B5EF4-FFF2-40B4-BE49-F238E27FC236}">
                <a16:creationId xmlns:a16="http://schemas.microsoft.com/office/drawing/2014/main" id="{905F1591-B37D-44C1-AA52-549E6EF8721B}"/>
              </a:ext>
            </a:extLst>
            <a:hlinkClick xmlns:p7="http://schemas.openxmlformats.org/officeDocument/2006/relationships" xmlns:a="http://schemas.openxmlformats.org/drawingml/2006/main" p7:id="rId2" action="ppaction://hlinksldjump"/>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24" name="back-label">
            <a:extLst xmlns:a="http://schemas.openxmlformats.org/drawingml/2006/main">
              <a:ext uri="{FF2B5EF4-FFF2-40B4-BE49-F238E27FC236}">
                <a16:creationId xmlns:a16="http://schemas.microsoft.com/office/drawing/2014/main" id="{DA70FBCF-E658-4747-BFE4-D59301907242}"/>
              </a:ext>
            </a:extLst>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5" name="next">
            <a:extLst xmlns:a="http://schemas.openxmlformats.org/drawingml/2006/main">
              <a:ext uri="{FF2B5EF4-FFF2-40B4-BE49-F238E27FC236}">
                <a16:creationId xmlns:a16="http://schemas.microsoft.com/office/drawing/2014/main" id="{A1D3AD3E-9C39-40B7-920B-6B0F30E12BCA}"/>
              </a:ext>
            </a:extLst>
            <a:hlinkClick xmlns:p7="http://schemas.openxmlformats.org/officeDocument/2006/relationships" xmlns:a="http://schemas.openxmlformats.org/drawingml/2006/main" p7:id="rId3" action="ppaction://hlinksldjump"/>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26" name="next-label">
            <a:extLst xmlns:a="http://schemas.openxmlformats.org/drawingml/2006/main">
              <a:ext uri="{FF2B5EF4-FFF2-40B4-BE49-F238E27FC236}">
                <a16:creationId xmlns:a16="http://schemas.microsoft.com/office/drawing/2014/main" id="{E4FF0C6B-F9B3-48B3-BF90-556F20BE8C10}"/>
              </a:ext>
            </a:extLst>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Tree>
    <p:extLst>
      <p:ext uri="{BB962C8B-B14F-4D97-AF65-F5344CB8AC3E}">
        <p14:creationId xmlns:p14="http://schemas.microsoft.com/office/powerpoint/2010/main" val="1222036142"/>
      </p:ext>
    </p:extLst>
  </p:cSld>
</p:sld>
</file>

<file path=ppt/slides/slide4.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7" name="text">
            <a:extLst xmlns:a="http://schemas.openxmlformats.org/drawingml/2006/main">
              <a:ext uri="{FF2B5EF4-FFF2-40B4-BE49-F238E27FC236}">
                <a16:creationId xmlns:a16="http://schemas.microsoft.com/office/drawing/2014/main" id="{917F1803-C26A-4FEB-A9C3-8B32D18CF8B4}"/>
              </a:ext>
            </a:extLst>
          </p:cNvPr>
          <p:cNvSpPr>
            <a:spLocks xmlns:a="http://schemas.openxmlformats.org/drawingml/2006/main" noGrp="1"/>
          </p:cNvSpPr>
          <p:nvPr/>
        </p:nvSpPr>
        <p:spPr>
          <a:xfrm xmlns:a="http://schemas.openxmlformats.org/drawingml/2006/main">
            <a:off x="571500" y="266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6DCBF4"/>
                </a:solidFill>
              </a:defRPr>
            </a:pPr>
            <a:r>
              <a:rPr sz="900" b="1">
                <a:solidFill>
                  <a:srgbClr val="6DCBF4"/>
                </a:solidFill>
              </a:rPr>
              <a:t>DATA ENGINEERING • RESEARCH TASK</a:t>
            </a:r>
          </a:p>
        </p:txBody>
      </p:sp>
      <p:sp>
        <p:nvSpPr>
          <p:cNvPr id="2" name="text">
            <a:extLst xmlns:a="http://schemas.openxmlformats.org/drawingml/2006/main">
              <a:ext uri="{FF2B5EF4-FFF2-40B4-BE49-F238E27FC236}">
                <a16:creationId xmlns:a16="http://schemas.microsoft.com/office/drawing/2014/main" id="{E4173A62-DEFF-497E-A8D4-E174FCD09DD2}"/>
              </a:ext>
            </a:extLst>
          </p:cNvPr>
          <p:cNvSpPr>
            <a:spLocks xmlns:a="http://schemas.openxmlformats.org/drawingml/2006/main" noGrp="1"/>
          </p:cNvSpPr>
          <p:nvPr/>
        </p:nvSpPr>
        <p:spPr>
          <a:xfrm xmlns:a="http://schemas.openxmlformats.org/drawingml/2006/main">
            <a:off x="5715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FFFFFF"/>
                </a:solidFill>
              </a:defRPr>
            </a:pPr>
            <a:r>
              <a:rPr sz="2625" b="1">
                <a:solidFill>
                  <a:srgbClr val="FFFFFF"/>
                </a:solidFill>
              </a:rPr>
              <a:t>ELT loads raw data first, then uses the warehouse to transform it</a:t>
            </a:r>
          </a:p>
        </p:txBody>
      </p:sp>
      <p:sp>
        <p:nvSpPr>
          <p:cNvPr id="3" name="">
            <a:extLst xmlns:a="http://schemas.openxmlformats.org/drawingml/2006/main">
              <a:ext uri="{FF2B5EF4-FFF2-40B4-BE49-F238E27FC236}">
                <a16:creationId xmlns:a16="http://schemas.microsoft.com/office/drawing/2014/main" id="{B3B4D149-53D2-4134-B5E2-449B3FE7D6D4}"/>
              </a:ext>
            </a:extLst>
          </p:cNvPr>
          <p:cNvSpPr>
            <a:spLocks xmlns:a="http://schemas.openxmlformats.org/drawingml/2006/main" noGrp="1"/>
          </p:cNvSpPr>
          <p:nvPr/>
        </p:nvSpPr>
        <p:spPr>
          <a:xfrm xmlns:a="http://schemas.openxmlformats.org/drawingml/2006/main">
            <a:off x="571500" y="1257300"/>
            <a:ext cx="11049000" cy="9525"/>
          </a:xfrm>
          <a:prstGeom xmlns:a="http://schemas.openxmlformats.org/drawingml/2006/main" prst="line">
            <a:avLst/>
          </a:prstGeom>
          <a:ln xmlns:a="http://schemas.openxmlformats.org/drawingml/2006/main" w="9525">
            <a:solidFill>
              <a:srgbClr val="31506B"/>
            </a:solidFill>
            <a:prstDash val="solid"/>
          </a:ln>
        </p:spPr>
      </p:sp>
      <p:sp>
        <p:nvSpPr>
          <p:cNvPr id="4" name="text">
            <a:extLst xmlns:a="http://schemas.openxmlformats.org/drawingml/2006/main">
              <a:ext uri="{FF2B5EF4-FFF2-40B4-BE49-F238E27FC236}">
                <a16:creationId xmlns:a16="http://schemas.microsoft.com/office/drawing/2014/main" id="{C0E6EE1D-A0A8-4713-A0F5-B8CC51554F8F}"/>
              </a:ext>
            </a:extLst>
          </p:cNvPr>
          <p:cNvSpPr>
            <a:spLocks xmlns:a="http://schemas.openxmlformats.org/drawingml/2006/main" noGrp="1"/>
          </p:cNvSpPr>
          <p:nvPr/>
        </p:nvSpPr>
        <p:spPr>
          <a:xfrm xmlns:a="http://schemas.openxmlformats.org/drawingml/2006/main">
            <a:off x="11096625" y="64293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DCBF4"/>
                </a:solidFill>
              </a:defRPr>
            </a:pPr>
            <a:r>
              <a:rPr sz="825" b="1">
                <a:solidFill>
                  <a:srgbClr val="6DCBF4"/>
                </a:solidFill>
              </a:rPr>
              <a:t>04</a:t>
            </a:r>
          </a:p>
        </p:txBody>
      </p:sp>
      <p:sp>
        <p:nvSpPr>
          <p:cNvPr id="5" name="">
            <a:extLst xmlns:a="http://schemas.openxmlformats.org/drawingml/2006/main">
              <a:ext uri="{FF2B5EF4-FFF2-40B4-BE49-F238E27FC236}">
                <a16:creationId xmlns:a16="http://schemas.microsoft.com/office/drawing/2014/main" id="{5D0C1272-5D4B-4777-8919-BB779AE1A801}"/>
              </a:ext>
            </a:extLst>
          </p:cNvPr>
          <p:cNvSpPr>
            <a:spLocks xmlns:a="http://schemas.openxmlformats.org/drawingml/2006/main" noGrp="1"/>
          </p:cNvSpPr>
          <p:nvPr/>
        </p:nvSpPr>
        <p:spPr>
          <a:xfrm xmlns:a="http://schemas.openxmlformats.org/drawingml/2006/main">
            <a:off x="3619500" y="2952750"/>
            <a:ext cx="809625" cy="9525"/>
          </a:xfrm>
          <a:prstGeom xmlns:a="http://schemas.openxmlformats.org/drawingml/2006/main" prst="line">
            <a:avLst/>
          </a:prstGeom>
          <a:ln xmlns:a="http://schemas.openxmlformats.org/drawingml/2006/main" w="28575">
            <a:solidFill>
              <a:srgbClr val="557089"/>
            </a:solidFill>
            <a:prstDash val="solid"/>
          </a:ln>
        </p:spPr>
      </p:sp>
      <p:sp>
        <p:nvSpPr>
          <p:cNvPr id="6" name="shape">
            <a:extLst xmlns:a="http://schemas.openxmlformats.org/drawingml/2006/main">
              <a:ext uri="{FF2B5EF4-FFF2-40B4-BE49-F238E27FC236}">
                <a16:creationId xmlns:a16="http://schemas.microsoft.com/office/drawing/2014/main" id="{F70508D0-934A-44EB-B811-F963BFBCDB73}"/>
              </a:ext>
            </a:extLst>
          </p:cNvPr>
          <p:cNvSpPr>
            <a:spLocks xmlns:a="http://schemas.openxmlformats.org/drawingml/2006/main" noGrp="1"/>
          </p:cNvSpPr>
          <p:nvPr/>
        </p:nvSpPr>
        <p:spPr>
          <a:xfrm xmlns:a="http://schemas.openxmlformats.org/drawingml/2006/main">
            <a:off x="857250" y="2095500"/>
            <a:ext cx="666750" cy="666750"/>
          </a:xfrm>
          <a:prstGeom xmlns:a="http://schemas.openxmlformats.org/drawingml/2006/main" prst="ellipse">
            <a:avLst/>
          </a:prstGeom>
          <a:solidFill xmlns:a="http://schemas.openxmlformats.org/drawingml/2006/main">
            <a:srgbClr val="3D8DFF"/>
          </a:solidFill>
          <a:ln xmlns:a="http://schemas.openxmlformats.org/drawingml/2006/main" w="11430">
            <a:solidFill>
              <a:srgbClr val="3D8DFF"/>
            </a:solidFill>
            <a:prstDash val="solid"/>
          </a:ln>
        </p:spPr>
      </p:sp>
      <p:sp>
        <p:nvSpPr>
          <p:cNvPr id="7" name="text">
            <a:extLst xmlns:a="http://schemas.openxmlformats.org/drawingml/2006/main">
              <a:ext uri="{FF2B5EF4-FFF2-40B4-BE49-F238E27FC236}">
                <a16:creationId xmlns:a16="http://schemas.microsoft.com/office/drawing/2014/main" id="{7906F33E-D9AA-4C23-BB81-DB4173E92059}"/>
              </a:ext>
            </a:extLst>
          </p:cNvPr>
          <p:cNvSpPr>
            <a:spLocks xmlns:a="http://schemas.openxmlformats.org/drawingml/2006/main" noGrp="1"/>
          </p:cNvSpPr>
          <p:nvPr/>
        </p:nvSpPr>
        <p:spPr>
          <a:xfrm xmlns:a="http://schemas.openxmlformats.org/drawingml/2006/main">
            <a:off x="857250" y="209550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FFFFFF"/>
                </a:solidFill>
              </a:defRPr>
            </a:pPr>
            <a:r>
              <a:rPr sz="2175" b="1">
                <a:solidFill>
                  <a:srgbClr val="FFFFFF"/>
                </a:solidFill>
              </a:rPr>
              <a:t>E</a:t>
            </a:r>
          </a:p>
        </p:txBody>
      </p:sp>
      <p:sp>
        <p:nvSpPr>
          <p:cNvPr id="8" name="text">
            <a:extLst xmlns:a="http://schemas.openxmlformats.org/drawingml/2006/main">
              <a:ext uri="{FF2B5EF4-FFF2-40B4-BE49-F238E27FC236}">
                <a16:creationId xmlns:a16="http://schemas.microsoft.com/office/drawing/2014/main" id="{2A73C742-88B8-41A1-AA6D-5A743D8A209F}"/>
              </a:ext>
            </a:extLst>
          </p:cNvPr>
          <p:cNvSpPr>
            <a:spLocks xmlns:a="http://schemas.openxmlformats.org/drawingml/2006/main" noGrp="1"/>
          </p:cNvSpPr>
          <p:nvPr/>
        </p:nvSpPr>
        <p:spPr>
          <a:xfrm xmlns:a="http://schemas.openxmlformats.org/drawingml/2006/main">
            <a:off x="1714500" y="20955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FFFFFF"/>
                </a:solidFill>
              </a:defRPr>
            </a:pPr>
            <a:r>
              <a:rPr sz="1950" b="1">
                <a:solidFill>
                  <a:srgbClr val="FFFFFF"/>
                </a:solidFill>
              </a:rPr>
              <a:t>Extract</a:t>
            </a:r>
          </a:p>
        </p:txBody>
      </p:sp>
      <p:sp>
        <p:nvSpPr>
          <p:cNvPr id="9" name="text">
            <a:extLst xmlns:a="http://schemas.openxmlformats.org/drawingml/2006/main">
              <a:ext uri="{FF2B5EF4-FFF2-40B4-BE49-F238E27FC236}">
                <a16:creationId xmlns:a16="http://schemas.microsoft.com/office/drawing/2014/main" id="{4D35771F-9593-4EB3-9563-A0A7D04D0DF8}"/>
              </a:ext>
            </a:extLst>
          </p:cNvPr>
          <p:cNvSpPr>
            <a:spLocks xmlns:a="http://schemas.openxmlformats.org/drawingml/2006/main" noGrp="1"/>
          </p:cNvSpPr>
          <p:nvPr/>
        </p:nvSpPr>
        <p:spPr>
          <a:xfrm xmlns:a="http://schemas.openxmlformats.org/drawingml/2006/main">
            <a:off x="1714500" y="2571750"/>
            <a:ext cx="209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CBD8E5"/>
                </a:solidFill>
              </a:defRPr>
            </a:pPr>
            <a:r>
              <a:rPr sz="1275" b="0">
                <a:solidFill>
                  <a:srgbClr val="CBD8E5"/>
                </a:solidFill>
              </a:rPr>
              <a:t>Capture source data</a:t>
            </a:r>
          </a:p>
        </p:txBody>
      </p:sp>
      <p:sp>
        <p:nvSpPr>
          <p:cNvPr id="10" name="">
            <a:extLst xmlns:a="http://schemas.openxmlformats.org/drawingml/2006/main">
              <a:ext uri="{FF2B5EF4-FFF2-40B4-BE49-F238E27FC236}">
                <a16:creationId xmlns:a16="http://schemas.microsoft.com/office/drawing/2014/main" id="{FDB8E2FF-BB1A-471C-A18C-1095842FEEED}"/>
              </a:ext>
            </a:extLst>
          </p:cNvPr>
          <p:cNvSpPr>
            <a:spLocks xmlns:a="http://schemas.openxmlformats.org/drawingml/2006/main" noGrp="1"/>
          </p:cNvSpPr>
          <p:nvPr/>
        </p:nvSpPr>
        <p:spPr>
          <a:xfrm xmlns:a="http://schemas.openxmlformats.org/drawingml/2006/main">
            <a:off x="7334250" y="2952750"/>
            <a:ext cx="809625" cy="9525"/>
          </a:xfrm>
          <a:prstGeom xmlns:a="http://schemas.openxmlformats.org/drawingml/2006/main" prst="line">
            <a:avLst/>
          </a:prstGeom>
          <a:ln xmlns:a="http://schemas.openxmlformats.org/drawingml/2006/main" w="28575">
            <a:solidFill>
              <a:srgbClr val="557089"/>
            </a:solidFill>
            <a:prstDash val="solid"/>
          </a:ln>
        </p:spPr>
      </p:sp>
      <p:sp>
        <p:nvSpPr>
          <p:cNvPr id="11" name="shape">
            <a:extLst xmlns:a="http://schemas.openxmlformats.org/drawingml/2006/main">
              <a:ext uri="{FF2B5EF4-FFF2-40B4-BE49-F238E27FC236}">
                <a16:creationId xmlns:a16="http://schemas.microsoft.com/office/drawing/2014/main" id="{03F23C3E-9C48-44E4-BDDD-BCA6CC6DE38C}"/>
              </a:ext>
            </a:extLst>
          </p:cNvPr>
          <p:cNvSpPr>
            <a:spLocks xmlns:a="http://schemas.openxmlformats.org/drawingml/2006/main" noGrp="1"/>
          </p:cNvSpPr>
          <p:nvPr/>
        </p:nvSpPr>
        <p:spPr>
          <a:xfrm xmlns:a="http://schemas.openxmlformats.org/drawingml/2006/main">
            <a:off x="4572000" y="2095500"/>
            <a:ext cx="666750" cy="666750"/>
          </a:xfrm>
          <a:prstGeom xmlns:a="http://schemas.openxmlformats.org/drawingml/2006/main" prst="ellipse">
            <a:avLst/>
          </a:prstGeom>
          <a:solidFill xmlns:a="http://schemas.openxmlformats.org/drawingml/2006/main">
            <a:srgbClr val="27AE60"/>
          </a:solidFill>
          <a:ln xmlns:a="http://schemas.openxmlformats.org/drawingml/2006/main" w="11430">
            <a:solidFill>
              <a:srgbClr val="27AE60"/>
            </a:solidFill>
            <a:prstDash val="solid"/>
          </a:ln>
        </p:spPr>
      </p:sp>
      <p:sp>
        <p:nvSpPr>
          <p:cNvPr id="12" name="text">
            <a:extLst xmlns:a="http://schemas.openxmlformats.org/drawingml/2006/main">
              <a:ext uri="{FF2B5EF4-FFF2-40B4-BE49-F238E27FC236}">
                <a16:creationId xmlns:a16="http://schemas.microsoft.com/office/drawing/2014/main" id="{65BEB40C-81E8-4B08-AA0B-EC81A7BB6089}"/>
              </a:ext>
            </a:extLst>
          </p:cNvPr>
          <p:cNvSpPr>
            <a:spLocks xmlns:a="http://schemas.openxmlformats.org/drawingml/2006/main" noGrp="1"/>
          </p:cNvSpPr>
          <p:nvPr/>
        </p:nvSpPr>
        <p:spPr>
          <a:xfrm xmlns:a="http://schemas.openxmlformats.org/drawingml/2006/main">
            <a:off x="4572000" y="209550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FFFFFF"/>
                </a:solidFill>
              </a:defRPr>
            </a:pPr>
            <a:r>
              <a:rPr sz="2175" b="1">
                <a:solidFill>
                  <a:srgbClr val="FFFFFF"/>
                </a:solidFill>
              </a:rPr>
              <a:t>L</a:t>
            </a:r>
          </a:p>
        </p:txBody>
      </p:sp>
      <p:sp>
        <p:nvSpPr>
          <p:cNvPr id="13" name="text">
            <a:extLst xmlns:a="http://schemas.openxmlformats.org/drawingml/2006/main">
              <a:ext uri="{FF2B5EF4-FFF2-40B4-BE49-F238E27FC236}">
                <a16:creationId xmlns:a16="http://schemas.microsoft.com/office/drawing/2014/main" id="{187790B7-E9AE-4676-8EDA-ECDD90C9F7F8}"/>
              </a:ext>
            </a:extLst>
          </p:cNvPr>
          <p:cNvSpPr>
            <a:spLocks xmlns:a="http://schemas.openxmlformats.org/drawingml/2006/main" noGrp="1"/>
          </p:cNvSpPr>
          <p:nvPr/>
        </p:nvSpPr>
        <p:spPr>
          <a:xfrm xmlns:a="http://schemas.openxmlformats.org/drawingml/2006/main">
            <a:off x="5429250" y="20955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FFFFFF"/>
                </a:solidFill>
              </a:defRPr>
            </a:pPr>
            <a:r>
              <a:rPr sz="1950" b="1">
                <a:solidFill>
                  <a:srgbClr val="FFFFFF"/>
                </a:solidFill>
              </a:rPr>
              <a:t>Load</a:t>
            </a:r>
          </a:p>
        </p:txBody>
      </p:sp>
      <p:sp>
        <p:nvSpPr>
          <p:cNvPr id="14" name="text">
            <a:extLst xmlns:a="http://schemas.openxmlformats.org/drawingml/2006/main">
              <a:ext uri="{FF2B5EF4-FFF2-40B4-BE49-F238E27FC236}">
                <a16:creationId xmlns:a16="http://schemas.microsoft.com/office/drawing/2014/main" id="{E2EC8139-48D1-4005-AD72-84062215D8F6}"/>
              </a:ext>
            </a:extLst>
          </p:cNvPr>
          <p:cNvSpPr>
            <a:spLocks xmlns:a="http://schemas.openxmlformats.org/drawingml/2006/main" noGrp="1"/>
          </p:cNvSpPr>
          <p:nvPr/>
        </p:nvSpPr>
        <p:spPr>
          <a:xfrm xmlns:a="http://schemas.openxmlformats.org/drawingml/2006/main">
            <a:off x="5429250" y="2571750"/>
            <a:ext cx="209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CBD8E5"/>
                </a:solidFill>
              </a:defRPr>
            </a:pPr>
            <a:r>
              <a:rPr sz="1275" b="0">
                <a:solidFill>
                  <a:srgbClr val="CBD8E5"/>
                </a:solidFill>
              </a:rPr>
              <a:t>Land raw data quickly</a:t>
            </a:r>
          </a:p>
        </p:txBody>
      </p:sp>
      <p:sp>
        <p:nvSpPr>
          <p:cNvPr id="15" name="shape">
            <a:extLst xmlns:a="http://schemas.openxmlformats.org/drawingml/2006/main">
              <a:ext uri="{FF2B5EF4-FFF2-40B4-BE49-F238E27FC236}">
                <a16:creationId xmlns:a16="http://schemas.microsoft.com/office/drawing/2014/main" id="{A084E224-61C0-47C9-BE13-BEE0948BC2FF}"/>
              </a:ext>
            </a:extLst>
          </p:cNvPr>
          <p:cNvSpPr>
            <a:spLocks xmlns:a="http://schemas.openxmlformats.org/drawingml/2006/main" noGrp="1"/>
          </p:cNvSpPr>
          <p:nvPr/>
        </p:nvSpPr>
        <p:spPr>
          <a:xfrm xmlns:a="http://schemas.openxmlformats.org/drawingml/2006/main">
            <a:off x="8286750" y="2095500"/>
            <a:ext cx="666750" cy="666750"/>
          </a:xfrm>
          <a:prstGeom xmlns:a="http://schemas.openxmlformats.org/drawingml/2006/main" prst="ellipse">
            <a:avLst/>
          </a:prstGeom>
          <a:solidFill xmlns:a="http://schemas.openxmlformats.org/drawingml/2006/main">
            <a:srgbClr val="FF6B5F"/>
          </a:solidFill>
          <a:ln xmlns:a="http://schemas.openxmlformats.org/drawingml/2006/main" w="11430">
            <a:solidFill>
              <a:srgbClr val="FF6B5F"/>
            </a:solidFill>
            <a:prstDash val="solid"/>
          </a:ln>
        </p:spPr>
      </p:sp>
      <p:sp>
        <p:nvSpPr>
          <p:cNvPr id="16" name="text">
            <a:extLst xmlns:a="http://schemas.openxmlformats.org/drawingml/2006/main">
              <a:ext uri="{FF2B5EF4-FFF2-40B4-BE49-F238E27FC236}">
                <a16:creationId xmlns:a16="http://schemas.microsoft.com/office/drawing/2014/main" id="{B446932E-D8A3-4432-A323-1CE96B2FDFD9}"/>
              </a:ext>
            </a:extLst>
          </p:cNvPr>
          <p:cNvSpPr>
            <a:spLocks xmlns:a="http://schemas.openxmlformats.org/drawingml/2006/main" noGrp="1"/>
          </p:cNvSpPr>
          <p:nvPr/>
        </p:nvSpPr>
        <p:spPr>
          <a:xfrm xmlns:a="http://schemas.openxmlformats.org/drawingml/2006/main">
            <a:off x="8286750" y="209550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FFFFFF"/>
                </a:solidFill>
              </a:defRPr>
            </a:pPr>
            <a:r>
              <a:rPr sz="2175" b="1">
                <a:solidFill>
                  <a:srgbClr val="FFFFFF"/>
                </a:solidFill>
              </a:rPr>
              <a:t>T</a:t>
            </a:r>
          </a:p>
        </p:txBody>
      </p:sp>
      <p:sp>
        <p:nvSpPr>
          <p:cNvPr id="17" name="text">
            <a:extLst xmlns:a="http://schemas.openxmlformats.org/drawingml/2006/main">
              <a:ext uri="{FF2B5EF4-FFF2-40B4-BE49-F238E27FC236}">
                <a16:creationId xmlns:a16="http://schemas.microsoft.com/office/drawing/2014/main" id="{8EFF5D33-6719-4AC3-81FB-2E57B48FF55A}"/>
              </a:ext>
            </a:extLst>
          </p:cNvPr>
          <p:cNvSpPr>
            <a:spLocks xmlns:a="http://schemas.openxmlformats.org/drawingml/2006/main" noGrp="1"/>
          </p:cNvSpPr>
          <p:nvPr/>
        </p:nvSpPr>
        <p:spPr>
          <a:xfrm xmlns:a="http://schemas.openxmlformats.org/drawingml/2006/main">
            <a:off x="9144000" y="20955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FFFFFF"/>
                </a:solidFill>
              </a:defRPr>
            </a:pPr>
            <a:r>
              <a:rPr sz="1950" b="1">
                <a:solidFill>
                  <a:srgbClr val="FFFFFF"/>
                </a:solidFill>
              </a:rPr>
              <a:t>Transform</a:t>
            </a:r>
          </a:p>
        </p:txBody>
      </p:sp>
      <p:sp>
        <p:nvSpPr>
          <p:cNvPr id="18" name="text">
            <a:extLst xmlns:a="http://schemas.openxmlformats.org/drawingml/2006/main">
              <a:ext uri="{FF2B5EF4-FFF2-40B4-BE49-F238E27FC236}">
                <a16:creationId xmlns:a16="http://schemas.microsoft.com/office/drawing/2014/main" id="{51CD80F7-DED5-4D4D-9CD4-51340FD59292}"/>
              </a:ext>
            </a:extLst>
          </p:cNvPr>
          <p:cNvSpPr>
            <a:spLocks xmlns:a="http://schemas.openxmlformats.org/drawingml/2006/main" noGrp="1"/>
          </p:cNvSpPr>
          <p:nvPr/>
        </p:nvSpPr>
        <p:spPr>
          <a:xfrm xmlns:a="http://schemas.openxmlformats.org/drawingml/2006/main">
            <a:off x="9144000" y="2571750"/>
            <a:ext cx="209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CBD8E5"/>
                </a:solidFill>
              </a:defRPr>
            </a:pPr>
            <a:r>
              <a:rPr sz="1275" b="0">
                <a:solidFill>
                  <a:srgbClr val="CBD8E5"/>
                </a:solidFill>
              </a:rPr>
              <a:t>Use SQL / warehouse compute</a:t>
            </a:r>
          </a:p>
        </p:txBody>
      </p:sp>
      <p:sp>
        <p:nvSpPr>
          <p:cNvPr id="19" name="text">
            <a:extLst xmlns:a="http://schemas.openxmlformats.org/drawingml/2006/main">
              <a:ext uri="{FF2B5EF4-FFF2-40B4-BE49-F238E27FC236}">
                <a16:creationId xmlns:a16="http://schemas.microsoft.com/office/drawing/2014/main" id="{2868AA30-CA85-4E01-BB97-D53F71400130}"/>
              </a:ext>
            </a:extLst>
          </p:cNvPr>
          <p:cNvSpPr>
            <a:spLocks xmlns:a="http://schemas.openxmlformats.org/drawingml/2006/main" noGrp="1"/>
          </p:cNvSpPr>
          <p:nvPr/>
        </p:nvSpPr>
        <p:spPr>
          <a:xfrm xmlns:a="http://schemas.openxmlformats.org/drawingml/2006/main">
            <a:off x="1143000" y="4429125"/>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FFFFF"/>
                </a:solidFill>
              </a:defRPr>
            </a:pPr>
            <a:r>
              <a:rPr sz="2100" b="1">
                <a:solidFill>
                  <a:srgbClr val="FFFFFF"/>
                </a:solidFill>
              </a:rPr>
              <a:t>The raw copy is preserved, so teams can create multiple transformation models later.</a:t>
            </a:r>
          </a:p>
        </p:txBody>
      </p:sp>
      <p:sp>
        <p:nvSpPr>
          <p:cNvPr id="20" name="text">
            <a:extLst xmlns:a="http://schemas.openxmlformats.org/drawingml/2006/main">
              <a:ext uri="{FF2B5EF4-FFF2-40B4-BE49-F238E27FC236}">
                <a16:creationId xmlns:a16="http://schemas.microsoft.com/office/drawing/2014/main" id="{EB1F5897-4BC7-4D9B-A473-30278DE31734}"/>
              </a:ext>
            </a:extLst>
          </p:cNvPr>
          <p:cNvSpPr>
            <a:spLocks xmlns:a="http://schemas.openxmlformats.org/drawingml/2006/main" noGrp="1"/>
          </p:cNvSpPr>
          <p:nvPr/>
        </p:nvSpPr>
        <p:spPr>
          <a:xfrm xmlns:a="http://schemas.openxmlformats.org/drawingml/2006/main">
            <a:off x="1857375" y="5286375"/>
            <a:ext cx="847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6DCBF4"/>
                </a:solidFill>
              </a:defRPr>
            </a:pPr>
            <a:r>
              <a:rPr sz="1500" b="1">
                <a:solidFill>
                  <a:srgbClr val="6DCBF4"/>
                </a:solidFill>
              </a:rPr>
              <a:t>Trade-off: raw data governance and warehouse compute must be managed carefully.</a:t>
            </a:r>
          </a:p>
        </p:txBody>
      </p:sp>
      <p:sp>
        <p:nvSpPr>
          <p:cNvPr id="21" name="home">
            <a:extLst xmlns:a="http://schemas.openxmlformats.org/drawingml/2006/main">
              <a:ext uri="{FF2B5EF4-FFF2-40B4-BE49-F238E27FC236}">
                <a16:creationId xmlns:a16="http://schemas.microsoft.com/office/drawing/2014/main" id="{9DA89A6F-5F32-4B59-8711-F94527ED6C60}"/>
              </a:ext>
            </a:extLst>
            <a:hlinkClick xmlns:p7="http://schemas.openxmlformats.org/officeDocument/2006/relationships" xmlns:a="http://schemas.openxmlformats.org/drawingml/2006/main" p7:id="rId1" action="ppaction://hlinksldjump"/>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solidFill xmlns:a="http://schemas.openxmlformats.org/drawingml/2006/main">
            <a:srgbClr val="0B1F33"/>
          </a:solidFill>
          <a:ln xmlns:a="http://schemas.openxmlformats.org/drawingml/2006/main" w="11430">
            <a:solidFill>
              <a:srgbClr val="0B1F33"/>
            </a:solidFill>
            <a:prstDash val="solid"/>
          </a:ln>
        </p:spPr>
      </p:sp>
      <p:sp>
        <p:nvSpPr>
          <p:cNvPr id="22" name="home-label">
            <a:extLst xmlns:a="http://schemas.openxmlformats.org/drawingml/2006/main">
              <a:ext uri="{FF2B5EF4-FFF2-40B4-BE49-F238E27FC236}">
                <a16:creationId xmlns:a16="http://schemas.microsoft.com/office/drawing/2014/main" id="{A75DAE01-EFDF-459A-A7C4-141C04918981}"/>
              </a:ext>
            </a:extLst>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3" name="back">
            <a:extLst xmlns:a="http://schemas.openxmlformats.org/drawingml/2006/main">
              <a:ext uri="{FF2B5EF4-FFF2-40B4-BE49-F238E27FC236}">
                <a16:creationId xmlns:a16="http://schemas.microsoft.com/office/drawing/2014/main" id="{FB4E836E-FCC0-479B-A15A-12E2D98C0CE4}"/>
              </a:ext>
            </a:extLst>
            <a:hlinkClick xmlns:p7="http://schemas.openxmlformats.org/officeDocument/2006/relationships" xmlns:a="http://schemas.openxmlformats.org/drawingml/2006/main" p7:id="rId2" action="ppaction://hlinksldjump"/>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24" name="back-label">
            <a:extLst xmlns:a="http://schemas.openxmlformats.org/drawingml/2006/main">
              <a:ext uri="{FF2B5EF4-FFF2-40B4-BE49-F238E27FC236}">
                <a16:creationId xmlns:a16="http://schemas.microsoft.com/office/drawing/2014/main" id="{3839204D-4C27-4AB4-825A-A5ADA773AF15}"/>
              </a:ext>
            </a:extLst>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5" name="next">
            <a:extLst xmlns:a="http://schemas.openxmlformats.org/drawingml/2006/main">
              <a:ext uri="{FF2B5EF4-FFF2-40B4-BE49-F238E27FC236}">
                <a16:creationId xmlns:a16="http://schemas.microsoft.com/office/drawing/2014/main" id="{54E20252-9265-4D0E-B425-33F643F29B1B}"/>
              </a:ext>
            </a:extLst>
            <a:hlinkClick xmlns:p7="http://schemas.openxmlformats.org/officeDocument/2006/relationships" xmlns:a="http://schemas.openxmlformats.org/drawingml/2006/main" p7:id="rId3" action="ppaction://hlinksldjump"/>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26" name="next-label">
            <a:extLst xmlns:a="http://schemas.openxmlformats.org/drawingml/2006/main">
              <a:ext uri="{FF2B5EF4-FFF2-40B4-BE49-F238E27FC236}">
                <a16:creationId xmlns:a16="http://schemas.microsoft.com/office/drawing/2014/main" id="{D072869B-16CC-4D32-B582-24D8E58E2AE9}"/>
              </a:ext>
            </a:extLst>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Tree>
    <p:extLst>
      <p:ext uri="{BB962C8B-B14F-4D97-AF65-F5344CB8AC3E}">
        <p14:creationId xmlns:p14="http://schemas.microsoft.com/office/powerpoint/2010/main" val="21190410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text">
            <a:extLst xmlns:a="http://schemas.openxmlformats.org/drawingml/2006/main">
              <a:ext uri="{FF2B5EF4-FFF2-40B4-BE49-F238E27FC236}">
                <a16:creationId xmlns:a16="http://schemas.microsoft.com/office/drawing/2014/main" id="{0C6826CB-D784-4288-911C-ADA1780B4CAC}"/>
              </a:ext>
            </a:extLst>
          </p:cNvPr>
          <p:cNvSpPr>
            <a:spLocks xmlns:a="http://schemas.openxmlformats.org/drawingml/2006/main" noGrp="1"/>
          </p:cNvSpPr>
          <p:nvPr/>
        </p:nvSpPr>
        <p:spPr>
          <a:xfrm xmlns:a="http://schemas.openxmlformats.org/drawingml/2006/main">
            <a:off x="571500" y="266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D8DFF"/>
                </a:solidFill>
              </a:defRPr>
            </a:pPr>
            <a:r>
              <a:rPr sz="900" b="1">
                <a:solidFill>
                  <a:srgbClr val="3D8DFF"/>
                </a:solidFill>
              </a:rPr>
              <a:t>DATA ENGINEERING • RESEARCH TASK</a:t>
            </a:r>
          </a:p>
        </p:txBody>
      </p:sp>
      <p:sp>
        <p:nvSpPr>
          <p:cNvPr id="2" name="text">
            <a:extLst xmlns:a="http://schemas.openxmlformats.org/drawingml/2006/main">
              <a:ext uri="{FF2B5EF4-FFF2-40B4-BE49-F238E27FC236}">
                <a16:creationId xmlns:a16="http://schemas.microsoft.com/office/drawing/2014/main" id="{263C8411-FEC2-40AE-80EA-A7002460335F}"/>
              </a:ext>
            </a:extLst>
          </p:cNvPr>
          <p:cNvSpPr>
            <a:spLocks xmlns:a="http://schemas.openxmlformats.org/drawingml/2006/main" noGrp="1"/>
          </p:cNvSpPr>
          <p:nvPr/>
        </p:nvSpPr>
        <p:spPr>
          <a:xfrm xmlns:a="http://schemas.openxmlformats.org/drawingml/2006/main">
            <a:off x="5715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11827"/>
                </a:solidFill>
              </a:defRPr>
            </a:pPr>
            <a:r>
              <a:rPr sz="2625" b="1">
                <a:solidFill>
                  <a:srgbClr val="111827"/>
                </a:solidFill>
              </a:rPr>
              <a:t>ETL and ELT differ mainly in transformation location</a:t>
            </a:r>
          </a:p>
        </p:txBody>
      </p:sp>
      <p:sp>
        <p:nvSpPr>
          <p:cNvPr id="3" name="">
            <a:extLst xmlns:a="http://schemas.openxmlformats.org/drawingml/2006/main">
              <a:ext uri="{FF2B5EF4-FFF2-40B4-BE49-F238E27FC236}">
                <a16:creationId xmlns:a16="http://schemas.microsoft.com/office/drawing/2014/main" id="{15075D04-9E73-4555-9D57-DD9A59EFB40F}"/>
              </a:ext>
            </a:extLst>
          </p:cNvPr>
          <p:cNvSpPr>
            <a:spLocks xmlns:a="http://schemas.openxmlformats.org/drawingml/2006/main" noGrp="1"/>
          </p:cNvSpPr>
          <p:nvPr/>
        </p:nvSpPr>
        <p:spPr>
          <a:xfrm xmlns:a="http://schemas.openxmlformats.org/drawingml/2006/main">
            <a:off x="571500" y="1257300"/>
            <a:ext cx="11049000" cy="9525"/>
          </a:xfrm>
          <a:prstGeom xmlns:a="http://schemas.openxmlformats.org/drawingml/2006/main" prst="line">
            <a:avLst/>
          </a:prstGeom>
          <a:ln xmlns:a="http://schemas.openxmlformats.org/drawingml/2006/main" w="9525">
            <a:solidFill>
              <a:srgbClr val="B8BCC4"/>
            </a:solidFill>
            <a:prstDash val="solid"/>
          </a:ln>
        </p:spPr>
      </p:sp>
      <p:sp>
        <p:nvSpPr>
          <p:cNvPr id="4" name="text">
            <a:extLst xmlns:a="http://schemas.openxmlformats.org/drawingml/2006/main">
              <a:ext uri="{FF2B5EF4-FFF2-40B4-BE49-F238E27FC236}">
                <a16:creationId xmlns:a16="http://schemas.microsoft.com/office/drawing/2014/main" id="{17C0D145-2BDC-46D6-B9EE-8908219DE884}"/>
              </a:ext>
            </a:extLst>
          </p:cNvPr>
          <p:cNvSpPr>
            <a:spLocks xmlns:a="http://schemas.openxmlformats.org/drawingml/2006/main" noGrp="1"/>
          </p:cNvSpPr>
          <p:nvPr/>
        </p:nvSpPr>
        <p:spPr>
          <a:xfrm xmlns:a="http://schemas.openxmlformats.org/drawingml/2006/main">
            <a:off x="11096625" y="64293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F6773"/>
                </a:solidFill>
              </a:defRPr>
            </a:pPr>
            <a:r>
              <a:rPr sz="825" b="1">
                <a:solidFill>
                  <a:srgbClr val="5F6773"/>
                </a:solidFill>
              </a:rPr>
              <a:t>05</a:t>
            </a:r>
          </a:p>
        </p:txBody>
      </p:sp>
      <p:sp>
        <p:nvSpPr>
          <p:cNvPr id="5" name="text">
            <a:extLst xmlns:a="http://schemas.openxmlformats.org/drawingml/2006/main">
              <a:ext uri="{FF2B5EF4-FFF2-40B4-BE49-F238E27FC236}">
                <a16:creationId xmlns:a16="http://schemas.microsoft.com/office/drawing/2014/main" id="{4CA68CCC-0C5B-45B5-844F-96C2B3B44E60}"/>
              </a:ext>
            </a:extLst>
          </p:cNvPr>
          <p:cNvSpPr>
            <a:spLocks xmlns:a="http://schemas.openxmlformats.org/drawingml/2006/main" noGrp="1"/>
          </p:cNvSpPr>
          <p:nvPr/>
        </p:nvSpPr>
        <p:spPr>
          <a:xfrm xmlns:a="http://schemas.openxmlformats.org/drawingml/2006/main">
            <a:off x="666750" y="16668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5F6773"/>
                </a:solidFill>
              </a:defRPr>
            </a:pPr>
            <a:r>
              <a:rPr sz="1500" b="1">
                <a:solidFill>
                  <a:srgbClr val="5F6773"/>
                </a:solidFill>
              </a:rPr>
              <a:t>Decision factor</a:t>
            </a:r>
          </a:p>
        </p:txBody>
      </p:sp>
      <p:sp>
        <p:nvSpPr>
          <p:cNvPr id="6" name="text">
            <a:extLst xmlns:a="http://schemas.openxmlformats.org/drawingml/2006/main">
              <a:ext uri="{FF2B5EF4-FFF2-40B4-BE49-F238E27FC236}">
                <a16:creationId xmlns:a16="http://schemas.microsoft.com/office/drawing/2014/main" id="{97817D07-9E88-462D-99BD-F428F417CDAB}"/>
              </a:ext>
            </a:extLst>
          </p:cNvPr>
          <p:cNvSpPr>
            <a:spLocks xmlns:a="http://schemas.openxmlformats.org/drawingml/2006/main" noGrp="1"/>
          </p:cNvSpPr>
          <p:nvPr/>
        </p:nvSpPr>
        <p:spPr>
          <a:xfrm xmlns:a="http://schemas.openxmlformats.org/drawingml/2006/main">
            <a:off x="4000500" y="166687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3D8DFF"/>
                </a:solidFill>
              </a:defRPr>
            </a:pPr>
            <a:r>
              <a:rPr sz="1875" b="1">
                <a:solidFill>
                  <a:srgbClr val="3D8DFF"/>
                </a:solidFill>
              </a:rPr>
              <a:t>ETL</a:t>
            </a:r>
          </a:p>
        </p:txBody>
      </p:sp>
      <p:sp>
        <p:nvSpPr>
          <p:cNvPr id="7" name="text">
            <a:extLst xmlns:a="http://schemas.openxmlformats.org/drawingml/2006/main">
              <a:ext uri="{FF2B5EF4-FFF2-40B4-BE49-F238E27FC236}">
                <a16:creationId xmlns:a16="http://schemas.microsoft.com/office/drawing/2014/main" id="{461BFD7F-3DA8-4A01-9741-874522F53973}"/>
              </a:ext>
            </a:extLst>
          </p:cNvPr>
          <p:cNvSpPr>
            <a:spLocks xmlns:a="http://schemas.openxmlformats.org/drawingml/2006/main" noGrp="1"/>
          </p:cNvSpPr>
          <p:nvPr/>
        </p:nvSpPr>
        <p:spPr>
          <a:xfrm xmlns:a="http://schemas.openxmlformats.org/drawingml/2006/main">
            <a:off x="7810500" y="166687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6B5F"/>
                </a:solidFill>
              </a:defRPr>
            </a:pPr>
            <a:r>
              <a:rPr sz="1875" b="1">
                <a:solidFill>
                  <a:srgbClr val="FF6B5F"/>
                </a:solidFill>
              </a:rPr>
              <a:t>ELT</a:t>
            </a:r>
          </a:p>
        </p:txBody>
      </p:sp>
      <p:sp>
        <p:nvSpPr>
          <p:cNvPr id="8" name="shape">
            <a:extLst xmlns:a="http://schemas.openxmlformats.org/drawingml/2006/main">
              <a:ext uri="{FF2B5EF4-FFF2-40B4-BE49-F238E27FC236}">
                <a16:creationId xmlns:a16="http://schemas.microsoft.com/office/drawing/2014/main" id="{96F4C2BA-B3B0-4847-8D51-C7FDBF8CE2FA}"/>
              </a:ext>
            </a:extLst>
          </p:cNvPr>
          <p:cNvSpPr>
            <a:spLocks xmlns:a="http://schemas.openxmlformats.org/drawingml/2006/main" noGrp="1"/>
          </p:cNvSpPr>
          <p:nvPr/>
        </p:nvSpPr>
        <p:spPr>
          <a:xfrm xmlns:a="http://schemas.openxmlformats.org/drawingml/2006/main">
            <a:off x="571500" y="2143125"/>
            <a:ext cx="11049000" cy="5905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7D0FC778-6FE6-47F6-90A2-EBE2ED49ACBB}"/>
              </a:ext>
            </a:extLst>
          </p:cNvPr>
          <p:cNvSpPr>
            <a:spLocks xmlns:a="http://schemas.openxmlformats.org/drawingml/2006/main" noGrp="1"/>
          </p:cNvSpPr>
          <p:nvPr/>
        </p:nvSpPr>
        <p:spPr>
          <a:xfrm xmlns:a="http://schemas.openxmlformats.org/drawingml/2006/main">
            <a:off x="714375" y="2143125"/>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Order</a:t>
            </a:r>
          </a:p>
        </p:txBody>
      </p:sp>
      <p:sp>
        <p:nvSpPr>
          <p:cNvPr id="10" name="text">
            <a:extLst xmlns:a="http://schemas.openxmlformats.org/drawingml/2006/main">
              <a:ext uri="{FF2B5EF4-FFF2-40B4-BE49-F238E27FC236}">
                <a16:creationId xmlns:a16="http://schemas.microsoft.com/office/drawing/2014/main" id="{DDE802E0-A4A6-458B-9AA7-D276CE409E7B}"/>
              </a:ext>
            </a:extLst>
          </p:cNvPr>
          <p:cNvSpPr>
            <a:spLocks xmlns:a="http://schemas.openxmlformats.org/drawingml/2006/main" noGrp="1"/>
          </p:cNvSpPr>
          <p:nvPr/>
        </p:nvSpPr>
        <p:spPr>
          <a:xfrm xmlns:a="http://schemas.openxmlformats.org/drawingml/2006/main">
            <a:off x="3333750" y="2143125"/>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Extract → Transform → Load</a:t>
            </a:r>
          </a:p>
        </p:txBody>
      </p:sp>
      <p:sp>
        <p:nvSpPr>
          <p:cNvPr id="11" name="text">
            <a:extLst xmlns:a="http://schemas.openxmlformats.org/drawingml/2006/main">
              <a:ext uri="{FF2B5EF4-FFF2-40B4-BE49-F238E27FC236}">
                <a16:creationId xmlns:a16="http://schemas.microsoft.com/office/drawing/2014/main" id="{5397AA45-B80C-4343-9A18-BAA79EA6F591}"/>
              </a:ext>
            </a:extLst>
          </p:cNvPr>
          <p:cNvSpPr>
            <a:spLocks xmlns:a="http://schemas.openxmlformats.org/drawingml/2006/main" noGrp="1"/>
          </p:cNvSpPr>
          <p:nvPr/>
        </p:nvSpPr>
        <p:spPr>
          <a:xfrm xmlns:a="http://schemas.openxmlformats.org/drawingml/2006/main">
            <a:off x="7429500" y="2143125"/>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Extract → Load → Transform</a:t>
            </a:r>
          </a:p>
        </p:txBody>
      </p:sp>
      <p:sp>
        <p:nvSpPr>
          <p:cNvPr id="12" name="text">
            <a:extLst xmlns:a="http://schemas.openxmlformats.org/drawingml/2006/main">
              <a:ext uri="{FF2B5EF4-FFF2-40B4-BE49-F238E27FC236}">
                <a16:creationId xmlns:a16="http://schemas.microsoft.com/office/drawing/2014/main" id="{ADE8FFEB-7278-42DA-8FCA-32DE2DFB139B}"/>
              </a:ext>
            </a:extLst>
          </p:cNvPr>
          <p:cNvSpPr>
            <a:spLocks xmlns:a="http://schemas.openxmlformats.org/drawingml/2006/main" noGrp="1"/>
          </p:cNvSpPr>
          <p:nvPr/>
        </p:nvSpPr>
        <p:spPr>
          <a:xfrm xmlns:a="http://schemas.openxmlformats.org/drawingml/2006/main">
            <a:off x="714375" y="285750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Raw data in target</a:t>
            </a:r>
          </a:p>
        </p:txBody>
      </p:sp>
      <p:sp>
        <p:nvSpPr>
          <p:cNvPr id="13" name="text">
            <a:extLst xmlns:a="http://schemas.openxmlformats.org/drawingml/2006/main">
              <a:ext uri="{FF2B5EF4-FFF2-40B4-BE49-F238E27FC236}">
                <a16:creationId xmlns:a16="http://schemas.microsoft.com/office/drawing/2014/main" id="{04931BBD-1606-477F-97B5-3E7DD5F099E9}"/>
              </a:ext>
            </a:extLst>
          </p:cNvPr>
          <p:cNvSpPr>
            <a:spLocks xmlns:a="http://schemas.openxmlformats.org/drawingml/2006/main" noGrp="1"/>
          </p:cNvSpPr>
          <p:nvPr/>
        </p:nvSpPr>
        <p:spPr>
          <a:xfrm xmlns:a="http://schemas.openxmlformats.org/drawingml/2006/main">
            <a:off x="3333750" y="2857500"/>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Usually no</a:t>
            </a:r>
          </a:p>
        </p:txBody>
      </p:sp>
      <p:sp>
        <p:nvSpPr>
          <p:cNvPr id="14" name="text">
            <a:extLst xmlns:a="http://schemas.openxmlformats.org/drawingml/2006/main">
              <a:ext uri="{FF2B5EF4-FFF2-40B4-BE49-F238E27FC236}">
                <a16:creationId xmlns:a16="http://schemas.microsoft.com/office/drawing/2014/main" id="{93C814D5-E7DA-4D88-A1C7-568AC6649B6D}"/>
              </a:ext>
            </a:extLst>
          </p:cNvPr>
          <p:cNvSpPr>
            <a:spLocks xmlns:a="http://schemas.openxmlformats.org/drawingml/2006/main" noGrp="1"/>
          </p:cNvSpPr>
          <p:nvPr/>
        </p:nvSpPr>
        <p:spPr>
          <a:xfrm xmlns:a="http://schemas.openxmlformats.org/drawingml/2006/main">
            <a:off x="7429500" y="2857500"/>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Yes—typically in a raw layer</a:t>
            </a:r>
          </a:p>
        </p:txBody>
      </p:sp>
      <p:sp>
        <p:nvSpPr>
          <p:cNvPr id="15" name="shape">
            <a:extLst xmlns:a="http://schemas.openxmlformats.org/drawingml/2006/main">
              <a:ext uri="{FF2B5EF4-FFF2-40B4-BE49-F238E27FC236}">
                <a16:creationId xmlns:a16="http://schemas.microsoft.com/office/drawing/2014/main" id="{99B1C1E9-F325-4A1C-8956-EF01F6DCED36}"/>
              </a:ext>
            </a:extLst>
          </p:cNvPr>
          <p:cNvSpPr>
            <a:spLocks xmlns:a="http://schemas.openxmlformats.org/drawingml/2006/main" noGrp="1"/>
          </p:cNvSpPr>
          <p:nvPr/>
        </p:nvSpPr>
        <p:spPr>
          <a:xfrm xmlns:a="http://schemas.openxmlformats.org/drawingml/2006/main">
            <a:off x="571500" y="3571875"/>
            <a:ext cx="11049000" cy="5905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AA110AEF-456C-4B20-9BB8-5AF570B36256}"/>
              </a:ext>
            </a:extLst>
          </p:cNvPr>
          <p:cNvSpPr>
            <a:spLocks xmlns:a="http://schemas.openxmlformats.org/drawingml/2006/main" noGrp="1"/>
          </p:cNvSpPr>
          <p:nvPr/>
        </p:nvSpPr>
        <p:spPr>
          <a:xfrm xmlns:a="http://schemas.openxmlformats.org/drawingml/2006/main">
            <a:off x="714375" y="3571875"/>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Transformation compute</a:t>
            </a:r>
          </a:p>
        </p:txBody>
      </p:sp>
      <p:sp>
        <p:nvSpPr>
          <p:cNvPr id="17" name="text">
            <a:extLst xmlns:a="http://schemas.openxmlformats.org/drawingml/2006/main">
              <a:ext uri="{FF2B5EF4-FFF2-40B4-BE49-F238E27FC236}">
                <a16:creationId xmlns:a16="http://schemas.microsoft.com/office/drawing/2014/main" id="{717B444D-F258-4FEA-8541-C84C96D52B50}"/>
              </a:ext>
            </a:extLst>
          </p:cNvPr>
          <p:cNvSpPr>
            <a:spLocks xmlns:a="http://schemas.openxmlformats.org/drawingml/2006/main" noGrp="1"/>
          </p:cNvSpPr>
          <p:nvPr/>
        </p:nvSpPr>
        <p:spPr>
          <a:xfrm xmlns:a="http://schemas.openxmlformats.org/drawingml/2006/main">
            <a:off x="3333750" y="3571875"/>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External engine</a:t>
            </a:r>
          </a:p>
        </p:txBody>
      </p:sp>
      <p:sp>
        <p:nvSpPr>
          <p:cNvPr id="18" name="text">
            <a:extLst xmlns:a="http://schemas.openxmlformats.org/drawingml/2006/main">
              <a:ext uri="{FF2B5EF4-FFF2-40B4-BE49-F238E27FC236}">
                <a16:creationId xmlns:a16="http://schemas.microsoft.com/office/drawing/2014/main" id="{04C0173A-7FA0-4432-BF02-0F147D5F94BA}"/>
              </a:ext>
            </a:extLst>
          </p:cNvPr>
          <p:cNvSpPr>
            <a:spLocks xmlns:a="http://schemas.openxmlformats.org/drawingml/2006/main" noGrp="1"/>
          </p:cNvSpPr>
          <p:nvPr/>
        </p:nvSpPr>
        <p:spPr>
          <a:xfrm xmlns:a="http://schemas.openxmlformats.org/drawingml/2006/main">
            <a:off x="7429500" y="3571875"/>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Warehouse / lakehouse engine</a:t>
            </a:r>
          </a:p>
        </p:txBody>
      </p:sp>
      <p:sp>
        <p:nvSpPr>
          <p:cNvPr id="19" name="text">
            <a:extLst xmlns:a="http://schemas.openxmlformats.org/drawingml/2006/main">
              <a:ext uri="{FF2B5EF4-FFF2-40B4-BE49-F238E27FC236}">
                <a16:creationId xmlns:a16="http://schemas.microsoft.com/office/drawing/2014/main" id="{7A2C2B96-110F-43EF-8A79-99D7CB1E305A}"/>
              </a:ext>
            </a:extLst>
          </p:cNvPr>
          <p:cNvSpPr>
            <a:spLocks xmlns:a="http://schemas.openxmlformats.org/drawingml/2006/main" noGrp="1"/>
          </p:cNvSpPr>
          <p:nvPr/>
        </p:nvSpPr>
        <p:spPr>
          <a:xfrm xmlns:a="http://schemas.openxmlformats.org/drawingml/2006/main">
            <a:off x="714375" y="42862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Flexibility</a:t>
            </a:r>
          </a:p>
        </p:txBody>
      </p:sp>
      <p:sp>
        <p:nvSpPr>
          <p:cNvPr id="20" name="text">
            <a:extLst xmlns:a="http://schemas.openxmlformats.org/drawingml/2006/main">
              <a:ext uri="{FF2B5EF4-FFF2-40B4-BE49-F238E27FC236}">
                <a16:creationId xmlns:a16="http://schemas.microsoft.com/office/drawing/2014/main" id="{EE054F39-F358-47E7-B2EB-61842A151DB7}"/>
              </a:ext>
            </a:extLst>
          </p:cNvPr>
          <p:cNvSpPr>
            <a:spLocks xmlns:a="http://schemas.openxmlformats.org/drawingml/2006/main" noGrp="1"/>
          </p:cNvSpPr>
          <p:nvPr/>
        </p:nvSpPr>
        <p:spPr>
          <a:xfrm xmlns:a="http://schemas.openxmlformats.org/drawingml/2006/main">
            <a:off x="3333750" y="4286250"/>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Model decided earlier</a:t>
            </a:r>
          </a:p>
        </p:txBody>
      </p:sp>
      <p:sp>
        <p:nvSpPr>
          <p:cNvPr id="21" name="text">
            <a:extLst xmlns:a="http://schemas.openxmlformats.org/drawingml/2006/main">
              <a:ext uri="{FF2B5EF4-FFF2-40B4-BE49-F238E27FC236}">
                <a16:creationId xmlns:a16="http://schemas.microsoft.com/office/drawing/2014/main" id="{66D26BF8-366B-48AF-B9A0-D78B55543B56}"/>
              </a:ext>
            </a:extLst>
          </p:cNvPr>
          <p:cNvSpPr>
            <a:spLocks xmlns:a="http://schemas.openxmlformats.org/drawingml/2006/main" noGrp="1"/>
          </p:cNvSpPr>
          <p:nvPr/>
        </p:nvSpPr>
        <p:spPr>
          <a:xfrm xmlns:a="http://schemas.openxmlformats.org/drawingml/2006/main">
            <a:off x="7429500" y="4286250"/>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Multiple models can be built later</a:t>
            </a:r>
          </a:p>
        </p:txBody>
      </p:sp>
      <p:sp>
        <p:nvSpPr>
          <p:cNvPr id="22" name="shape">
            <a:extLst xmlns:a="http://schemas.openxmlformats.org/drawingml/2006/main">
              <a:ext uri="{FF2B5EF4-FFF2-40B4-BE49-F238E27FC236}">
                <a16:creationId xmlns:a16="http://schemas.microsoft.com/office/drawing/2014/main" id="{E2B1C7DD-BFAD-4AA5-A636-FEA6038299EE}"/>
              </a:ext>
            </a:extLst>
          </p:cNvPr>
          <p:cNvSpPr>
            <a:spLocks xmlns:a="http://schemas.openxmlformats.org/drawingml/2006/main" noGrp="1"/>
          </p:cNvSpPr>
          <p:nvPr/>
        </p:nvSpPr>
        <p:spPr>
          <a:xfrm xmlns:a="http://schemas.openxmlformats.org/drawingml/2006/main">
            <a:off x="571500" y="5000625"/>
            <a:ext cx="11049000" cy="5905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B2DCD2D0-7B12-4A22-9AB2-BF1756B5FAD4}"/>
              </a:ext>
            </a:extLst>
          </p:cNvPr>
          <p:cNvSpPr>
            <a:spLocks xmlns:a="http://schemas.openxmlformats.org/drawingml/2006/main" noGrp="1"/>
          </p:cNvSpPr>
          <p:nvPr/>
        </p:nvSpPr>
        <p:spPr>
          <a:xfrm xmlns:a="http://schemas.openxmlformats.org/drawingml/2006/main">
            <a:off x="714375" y="5000625"/>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Common fit</a:t>
            </a:r>
          </a:p>
        </p:txBody>
      </p:sp>
      <p:sp>
        <p:nvSpPr>
          <p:cNvPr id="24" name="text">
            <a:extLst xmlns:a="http://schemas.openxmlformats.org/drawingml/2006/main">
              <a:ext uri="{FF2B5EF4-FFF2-40B4-BE49-F238E27FC236}">
                <a16:creationId xmlns:a16="http://schemas.microsoft.com/office/drawing/2014/main" id="{87CAFE24-9CE1-46F4-8429-73A43EB4202A}"/>
              </a:ext>
            </a:extLst>
          </p:cNvPr>
          <p:cNvSpPr>
            <a:spLocks xmlns:a="http://schemas.openxmlformats.org/drawingml/2006/main" noGrp="1"/>
          </p:cNvSpPr>
          <p:nvPr/>
        </p:nvSpPr>
        <p:spPr>
          <a:xfrm xmlns:a="http://schemas.openxmlformats.org/drawingml/2006/main">
            <a:off x="3333750" y="5000625"/>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Strict pre-load controls, legacy targets</a:t>
            </a:r>
          </a:p>
        </p:txBody>
      </p:sp>
      <p:sp>
        <p:nvSpPr>
          <p:cNvPr id="25" name="text">
            <a:extLst xmlns:a="http://schemas.openxmlformats.org/drawingml/2006/main">
              <a:ext uri="{FF2B5EF4-FFF2-40B4-BE49-F238E27FC236}">
                <a16:creationId xmlns:a16="http://schemas.microsoft.com/office/drawing/2014/main" id="{F0467DFD-A81F-4906-8AB5-087AB7B41B2F}"/>
              </a:ext>
            </a:extLst>
          </p:cNvPr>
          <p:cNvSpPr>
            <a:spLocks xmlns:a="http://schemas.openxmlformats.org/drawingml/2006/main" noGrp="1"/>
          </p:cNvSpPr>
          <p:nvPr/>
        </p:nvSpPr>
        <p:spPr>
          <a:xfrm xmlns:a="http://schemas.openxmlformats.org/drawingml/2006/main">
            <a:off x="7429500" y="5000625"/>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Cloud warehouses, large or evolving analytics</a:t>
            </a:r>
          </a:p>
        </p:txBody>
      </p:sp>
      <p:sp>
        <p:nvSpPr>
          <p:cNvPr id="26" name="home">
            <a:extLst xmlns:a="http://schemas.openxmlformats.org/drawingml/2006/main">
              <a:ext uri="{FF2B5EF4-FFF2-40B4-BE49-F238E27FC236}">
                <a16:creationId xmlns:a16="http://schemas.microsoft.com/office/drawing/2014/main" id="{E9CBD74D-3545-4108-B1F1-D633EE952501}"/>
              </a:ext>
            </a:extLst>
            <a:hlinkClick xmlns:p7="http://schemas.openxmlformats.org/officeDocument/2006/relationships" xmlns:a="http://schemas.openxmlformats.org/drawingml/2006/main" p7:id="rId1" action="ppaction://hlinksldjump"/>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solidFill xmlns:a="http://schemas.openxmlformats.org/drawingml/2006/main">
            <a:srgbClr val="0B1F33"/>
          </a:solidFill>
          <a:ln xmlns:a="http://schemas.openxmlformats.org/drawingml/2006/main" w="11430">
            <a:solidFill>
              <a:srgbClr val="0B1F33"/>
            </a:solidFill>
            <a:prstDash val="solid"/>
          </a:ln>
        </p:spPr>
      </p:sp>
      <p:sp>
        <p:nvSpPr>
          <p:cNvPr id="27" name="home-label">
            <a:extLst xmlns:a="http://schemas.openxmlformats.org/drawingml/2006/main">
              <a:ext uri="{FF2B5EF4-FFF2-40B4-BE49-F238E27FC236}">
                <a16:creationId xmlns:a16="http://schemas.microsoft.com/office/drawing/2014/main" id="{D035A6D7-5658-4E19-A9D4-66B9B72F3E63}"/>
              </a:ext>
            </a:extLst>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8" name="back">
            <a:extLst xmlns:a="http://schemas.openxmlformats.org/drawingml/2006/main">
              <a:ext uri="{FF2B5EF4-FFF2-40B4-BE49-F238E27FC236}">
                <a16:creationId xmlns:a16="http://schemas.microsoft.com/office/drawing/2014/main" id="{295390DB-4C6D-41FA-91EE-191536C109C8}"/>
              </a:ext>
            </a:extLst>
            <a:hlinkClick xmlns:p7="http://schemas.openxmlformats.org/officeDocument/2006/relationships" xmlns:a="http://schemas.openxmlformats.org/drawingml/2006/main" p7:id="rId2" action="ppaction://hlinksldjump"/>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29" name="back-label">
            <a:extLst xmlns:a="http://schemas.openxmlformats.org/drawingml/2006/main">
              <a:ext uri="{FF2B5EF4-FFF2-40B4-BE49-F238E27FC236}">
                <a16:creationId xmlns:a16="http://schemas.microsoft.com/office/drawing/2014/main" id="{644861E0-239B-4D6D-9237-8D2D4656F23B}"/>
              </a:ext>
            </a:extLst>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30" name="next">
            <a:extLst xmlns:a="http://schemas.openxmlformats.org/drawingml/2006/main">
              <a:ext uri="{FF2B5EF4-FFF2-40B4-BE49-F238E27FC236}">
                <a16:creationId xmlns:a16="http://schemas.microsoft.com/office/drawing/2014/main" id="{499521E0-1DF7-40B3-80F1-B8E0A2087B18}"/>
              </a:ext>
            </a:extLst>
            <a:hlinkClick xmlns:p7="http://schemas.openxmlformats.org/officeDocument/2006/relationships" xmlns:a="http://schemas.openxmlformats.org/drawingml/2006/main" p7:id="rId3" action="ppaction://hlinksldjump"/>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31" name="next-label">
            <a:extLst xmlns:a="http://schemas.openxmlformats.org/drawingml/2006/main">
              <a:ext uri="{FF2B5EF4-FFF2-40B4-BE49-F238E27FC236}">
                <a16:creationId xmlns:a16="http://schemas.microsoft.com/office/drawing/2014/main" id="{B44AE249-8D9D-44AC-BD8A-70B41F213FA9}"/>
              </a:ext>
            </a:extLst>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Tree>
    <p:extLst>
      <p:ext uri="{BB962C8B-B14F-4D97-AF65-F5344CB8AC3E}">
        <p14:creationId xmlns:p14="http://schemas.microsoft.com/office/powerpoint/2010/main" val="11739192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
            <a:extLst xmlns:a="http://schemas.openxmlformats.org/drawingml/2006/main">
              <a:ext uri="{FF2B5EF4-FFF2-40B4-BE49-F238E27FC236}">
                <a16:creationId xmlns:a16="http://schemas.microsoft.com/office/drawing/2014/main" id="{26F97C45-FF8C-4AAC-AB44-66A76B29FECE}"/>
              </a:ext>
            </a:extLst>
          </p:cNvPr>
          <p:cNvSpPr>
            <a:spLocks xmlns:a="http://schemas.openxmlformats.org/drawingml/2006/main" noGrp="1"/>
          </p:cNvSpPr>
          <p:nvPr/>
        </p:nvSpPr>
        <p:spPr>
          <a:xfrm xmlns:a="http://schemas.openxmlformats.org/drawingml/2006/main">
            <a:off x="571500" y="266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D8DFF"/>
                </a:solidFill>
              </a:defRPr>
            </a:pPr>
            <a:r>
              <a:rPr sz="900" b="1">
                <a:solidFill>
                  <a:srgbClr val="3D8DFF"/>
                </a:solidFill>
              </a:rPr>
              <a:t>DATA ENGINEERING • RESEARCH TASK</a:t>
            </a:r>
          </a:p>
        </p:txBody>
      </p:sp>
      <p:sp>
        <p:nvSpPr>
          <p:cNvPr id="2" name="text">
            <a:extLst xmlns:a="http://schemas.openxmlformats.org/drawingml/2006/main">
              <a:ext uri="{FF2B5EF4-FFF2-40B4-BE49-F238E27FC236}">
                <a16:creationId xmlns:a16="http://schemas.microsoft.com/office/drawing/2014/main" id="{B1F77DDA-6FBD-46E1-8A39-8BEA7F3F410A}"/>
              </a:ext>
            </a:extLst>
          </p:cNvPr>
          <p:cNvSpPr>
            <a:spLocks xmlns:a="http://schemas.openxmlformats.org/drawingml/2006/main" noGrp="1"/>
          </p:cNvSpPr>
          <p:nvPr/>
        </p:nvSpPr>
        <p:spPr>
          <a:xfrm xmlns:a="http://schemas.openxmlformats.org/drawingml/2006/main">
            <a:off x="5715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11827"/>
                </a:solidFill>
              </a:defRPr>
            </a:pPr>
            <a:r>
              <a:rPr sz="2625" b="1">
                <a:solidFill>
                  <a:srgbClr val="111827"/>
                </a:solidFill>
              </a:rPr>
              <a:t>A practical choice starts with constraints, not acronyms</a:t>
            </a:r>
          </a:p>
        </p:txBody>
      </p:sp>
      <p:sp>
        <p:nvSpPr>
          <p:cNvPr id="3" name="">
            <a:extLst xmlns:a="http://schemas.openxmlformats.org/drawingml/2006/main">
              <a:ext uri="{FF2B5EF4-FFF2-40B4-BE49-F238E27FC236}">
                <a16:creationId xmlns:a16="http://schemas.microsoft.com/office/drawing/2014/main" id="{D81810E5-0280-4F7C-9D84-4B7C903C2E9A}"/>
              </a:ext>
            </a:extLst>
          </p:cNvPr>
          <p:cNvSpPr>
            <a:spLocks xmlns:a="http://schemas.openxmlformats.org/drawingml/2006/main" noGrp="1"/>
          </p:cNvSpPr>
          <p:nvPr/>
        </p:nvSpPr>
        <p:spPr>
          <a:xfrm xmlns:a="http://schemas.openxmlformats.org/drawingml/2006/main">
            <a:off x="571500" y="1257300"/>
            <a:ext cx="11049000" cy="9525"/>
          </a:xfrm>
          <a:prstGeom xmlns:a="http://schemas.openxmlformats.org/drawingml/2006/main" prst="line">
            <a:avLst/>
          </a:prstGeom>
          <a:ln xmlns:a="http://schemas.openxmlformats.org/drawingml/2006/main" w="9525">
            <a:solidFill>
              <a:srgbClr val="B8BCC4"/>
            </a:solidFill>
            <a:prstDash val="solid"/>
          </a:ln>
        </p:spPr>
      </p:sp>
      <p:sp>
        <p:nvSpPr>
          <p:cNvPr id="4" name="text">
            <a:extLst xmlns:a="http://schemas.openxmlformats.org/drawingml/2006/main">
              <a:ext uri="{FF2B5EF4-FFF2-40B4-BE49-F238E27FC236}">
                <a16:creationId xmlns:a16="http://schemas.microsoft.com/office/drawing/2014/main" id="{0D23A090-DD2E-40E2-8549-F8F5650DA5B2}"/>
              </a:ext>
            </a:extLst>
          </p:cNvPr>
          <p:cNvSpPr>
            <a:spLocks xmlns:a="http://schemas.openxmlformats.org/drawingml/2006/main" noGrp="1"/>
          </p:cNvSpPr>
          <p:nvPr/>
        </p:nvSpPr>
        <p:spPr>
          <a:xfrm xmlns:a="http://schemas.openxmlformats.org/drawingml/2006/main">
            <a:off x="11096625" y="64293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F6773"/>
                </a:solidFill>
              </a:defRPr>
            </a:pPr>
            <a:r>
              <a:rPr sz="825" b="1">
                <a:solidFill>
                  <a:srgbClr val="5F6773"/>
                </a:solidFill>
              </a:rPr>
              <a:t>06</a:t>
            </a:r>
          </a:p>
        </p:txBody>
      </p:sp>
      <p:sp>
        <p:nvSpPr>
          <p:cNvPr id="5" name="shape">
            <a:extLst xmlns:a="http://schemas.openxmlformats.org/drawingml/2006/main">
              <a:ext uri="{FF2B5EF4-FFF2-40B4-BE49-F238E27FC236}">
                <a16:creationId xmlns:a16="http://schemas.microsoft.com/office/drawing/2014/main" id="{6D761975-4023-48F5-A171-2461AB47677A}"/>
              </a:ext>
            </a:extLst>
          </p:cNvPr>
          <p:cNvSpPr>
            <a:spLocks xmlns:a="http://schemas.openxmlformats.org/drawingml/2006/main" noGrp="1"/>
          </p:cNvSpPr>
          <p:nvPr/>
        </p:nvSpPr>
        <p:spPr>
          <a:xfrm xmlns:a="http://schemas.openxmlformats.org/drawingml/2006/main">
            <a:off x="619125" y="1809750"/>
            <a:ext cx="3524250" cy="3000375"/>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0F54D8C-E28E-4191-AB90-88E16D17FDB0}"/>
              </a:ext>
            </a:extLst>
          </p:cNvPr>
          <p:cNvSpPr>
            <a:spLocks xmlns:a="http://schemas.openxmlformats.org/drawingml/2006/main" noGrp="1"/>
          </p:cNvSpPr>
          <p:nvPr/>
        </p:nvSpPr>
        <p:spPr>
          <a:xfrm xmlns:a="http://schemas.openxmlformats.org/drawingml/2006/main">
            <a:off x="619125" y="1809750"/>
            <a:ext cx="66675" cy="3000375"/>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7" name="text">
            <a:extLst xmlns:a="http://schemas.openxmlformats.org/drawingml/2006/main">
              <a:ext uri="{FF2B5EF4-FFF2-40B4-BE49-F238E27FC236}">
                <a16:creationId xmlns:a16="http://schemas.microsoft.com/office/drawing/2014/main" id="{62C5A4C0-C00D-459A-A63E-5E90CB69BFA2}"/>
              </a:ext>
            </a:extLst>
          </p:cNvPr>
          <p:cNvSpPr>
            <a:spLocks xmlns:a="http://schemas.openxmlformats.org/drawingml/2006/main" noGrp="1"/>
          </p:cNvSpPr>
          <p:nvPr/>
        </p:nvSpPr>
        <p:spPr>
          <a:xfrm xmlns:a="http://schemas.openxmlformats.org/drawingml/2006/main">
            <a:off x="809625" y="1943100"/>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Use ETL when…</a:t>
            </a:r>
          </a:p>
        </p:txBody>
      </p:sp>
      <p:sp>
        <p:nvSpPr>
          <p:cNvPr id="8" name="text">
            <a:extLst xmlns:a="http://schemas.openxmlformats.org/drawingml/2006/main">
              <a:ext uri="{FF2B5EF4-FFF2-40B4-BE49-F238E27FC236}">
                <a16:creationId xmlns:a16="http://schemas.microsoft.com/office/drawing/2014/main" id="{C57C573E-EF23-4F70-983D-5A3D7C627B41}"/>
              </a:ext>
            </a:extLst>
          </p:cNvPr>
          <p:cNvSpPr>
            <a:spLocks xmlns:a="http://schemas.openxmlformats.org/drawingml/2006/main" noGrp="1"/>
          </p:cNvSpPr>
          <p:nvPr/>
        </p:nvSpPr>
        <p:spPr>
          <a:xfrm xmlns:a="http://schemas.openxmlformats.org/drawingml/2006/main">
            <a:off x="809625" y="2333625"/>
            <a:ext cx="3162300" cy="2352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Sensitive fields must be removed before loading.</a:t>
            </a:r>
          </a:p>
          <a:p xmlns:a="http://schemas.openxmlformats.org/drawingml/2006/main">
            <a:pPr algn="l">
              <a:defRPr sz="1275" b="0">
                <a:solidFill>
                  <a:srgbClr val="5F6773"/>
                </a:solidFill>
              </a:defRPr>
            </a:pPr>
            <a:r>
              <a:rPr sz="1275" b="0">
                <a:solidFill>
                  <a:srgbClr val="5F6773"/>
                </a:solidFill>
              </a:rPr>
              <a:t>The target cannot transform efficiently.</a:t>
            </a:r>
          </a:p>
          <a:p xmlns:a="http://schemas.openxmlformats.org/drawingml/2006/main">
            <a:pPr algn="l">
              <a:defRPr sz="1275" b="0">
                <a:solidFill>
                  <a:srgbClr val="5F6773"/>
                </a:solidFill>
              </a:defRPr>
            </a:pPr>
            <a:r>
              <a:rPr sz="1275" b="0">
                <a:solidFill>
                  <a:srgbClr val="5F6773"/>
                </a:solidFill>
              </a:rPr>
              <a:t>Only curated data should enter the destination.</a:t>
            </a:r>
          </a:p>
        </p:txBody>
      </p:sp>
      <p:sp>
        <p:nvSpPr>
          <p:cNvPr id="9" name="shape">
            <a:extLst xmlns:a="http://schemas.openxmlformats.org/drawingml/2006/main">
              <a:ext uri="{FF2B5EF4-FFF2-40B4-BE49-F238E27FC236}">
                <a16:creationId xmlns:a16="http://schemas.microsoft.com/office/drawing/2014/main" id="{E32A2DFE-FCAC-447D-A712-D77FB46F9AA1}"/>
              </a:ext>
            </a:extLst>
          </p:cNvPr>
          <p:cNvSpPr>
            <a:spLocks xmlns:a="http://schemas.openxmlformats.org/drawingml/2006/main" noGrp="1"/>
          </p:cNvSpPr>
          <p:nvPr/>
        </p:nvSpPr>
        <p:spPr>
          <a:xfrm xmlns:a="http://schemas.openxmlformats.org/drawingml/2006/main">
            <a:off x="4476750" y="1809750"/>
            <a:ext cx="3524250" cy="3000375"/>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A69F9A58-6E20-4F1F-9EEA-13916E17C014}"/>
              </a:ext>
            </a:extLst>
          </p:cNvPr>
          <p:cNvSpPr>
            <a:spLocks xmlns:a="http://schemas.openxmlformats.org/drawingml/2006/main" noGrp="1"/>
          </p:cNvSpPr>
          <p:nvPr/>
        </p:nvSpPr>
        <p:spPr>
          <a:xfrm xmlns:a="http://schemas.openxmlformats.org/drawingml/2006/main">
            <a:off x="4476750" y="1809750"/>
            <a:ext cx="66675" cy="3000375"/>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11" name="text">
            <a:extLst xmlns:a="http://schemas.openxmlformats.org/drawingml/2006/main">
              <a:ext uri="{FF2B5EF4-FFF2-40B4-BE49-F238E27FC236}">
                <a16:creationId xmlns:a16="http://schemas.microsoft.com/office/drawing/2014/main" id="{15B2F1ED-F373-4E28-B83D-9C68134E56EA}"/>
              </a:ext>
            </a:extLst>
          </p:cNvPr>
          <p:cNvSpPr>
            <a:spLocks xmlns:a="http://schemas.openxmlformats.org/drawingml/2006/main" noGrp="1"/>
          </p:cNvSpPr>
          <p:nvPr/>
        </p:nvSpPr>
        <p:spPr>
          <a:xfrm xmlns:a="http://schemas.openxmlformats.org/drawingml/2006/main">
            <a:off x="4667250" y="1943100"/>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Use ELT when…</a:t>
            </a:r>
          </a:p>
        </p:txBody>
      </p:sp>
      <p:sp>
        <p:nvSpPr>
          <p:cNvPr id="12" name="text">
            <a:extLst xmlns:a="http://schemas.openxmlformats.org/drawingml/2006/main">
              <a:ext uri="{FF2B5EF4-FFF2-40B4-BE49-F238E27FC236}">
                <a16:creationId xmlns:a16="http://schemas.microsoft.com/office/drawing/2014/main" id="{35197EED-F737-49DA-8CE5-E42DC846F3F1}"/>
              </a:ext>
            </a:extLst>
          </p:cNvPr>
          <p:cNvSpPr>
            <a:spLocks xmlns:a="http://schemas.openxmlformats.org/drawingml/2006/main" noGrp="1"/>
          </p:cNvSpPr>
          <p:nvPr/>
        </p:nvSpPr>
        <p:spPr>
          <a:xfrm xmlns:a="http://schemas.openxmlformats.org/drawingml/2006/main">
            <a:off x="4667250" y="2333625"/>
            <a:ext cx="3162300" cy="2352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The warehouse has scalable compute.</a:t>
            </a:r>
          </a:p>
          <a:p xmlns:a="http://schemas.openxmlformats.org/drawingml/2006/main">
            <a:pPr algn="l">
              <a:defRPr sz="1275" b="0">
                <a:solidFill>
                  <a:srgbClr val="5F6773"/>
                </a:solidFill>
              </a:defRPr>
            </a:pPr>
            <a:r>
              <a:rPr sz="1275" b="0">
                <a:solidFill>
                  <a:srgbClr val="5F6773"/>
                </a:solidFill>
              </a:rPr>
              <a:t>Raw history must be preserved.</a:t>
            </a:r>
          </a:p>
          <a:p xmlns:a="http://schemas.openxmlformats.org/drawingml/2006/main">
            <a:pPr algn="l">
              <a:defRPr sz="1275" b="0">
                <a:solidFill>
                  <a:srgbClr val="5F6773"/>
                </a:solidFill>
              </a:defRPr>
            </a:pPr>
            <a:r>
              <a:rPr sz="1275" b="0">
                <a:solidFill>
                  <a:srgbClr val="5F6773"/>
                </a:solidFill>
              </a:rPr>
              <a:t>Models change frequently and SQL teams iterate fast.</a:t>
            </a:r>
          </a:p>
        </p:txBody>
      </p:sp>
      <p:sp>
        <p:nvSpPr>
          <p:cNvPr id="13" name="shape">
            <a:extLst xmlns:a="http://schemas.openxmlformats.org/drawingml/2006/main">
              <a:ext uri="{FF2B5EF4-FFF2-40B4-BE49-F238E27FC236}">
                <a16:creationId xmlns:a16="http://schemas.microsoft.com/office/drawing/2014/main" id="{38397912-CD65-455A-A454-F02C1B43452E}"/>
              </a:ext>
            </a:extLst>
          </p:cNvPr>
          <p:cNvSpPr>
            <a:spLocks xmlns:a="http://schemas.openxmlformats.org/drawingml/2006/main" noGrp="1"/>
          </p:cNvSpPr>
          <p:nvPr/>
        </p:nvSpPr>
        <p:spPr>
          <a:xfrm xmlns:a="http://schemas.openxmlformats.org/drawingml/2006/main">
            <a:off x="8334375" y="1809750"/>
            <a:ext cx="3524250" cy="3000375"/>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64D3EE07-D74B-4EEF-B651-22CF2B6EC7D7}"/>
              </a:ext>
            </a:extLst>
          </p:cNvPr>
          <p:cNvSpPr>
            <a:spLocks xmlns:a="http://schemas.openxmlformats.org/drawingml/2006/main" noGrp="1"/>
          </p:cNvSpPr>
          <p:nvPr/>
        </p:nvSpPr>
        <p:spPr>
          <a:xfrm xmlns:a="http://schemas.openxmlformats.org/drawingml/2006/main">
            <a:off x="8334375" y="1809750"/>
            <a:ext cx="66675" cy="3000375"/>
          </a:xfrm>
          <a:prstGeom xmlns:a="http://schemas.openxmlformats.org/drawingml/2006/main" prst="rect">
            <a:avLst/>
          </a:prstGeom>
          <a:solidFill xmlns:a="http://schemas.openxmlformats.org/drawingml/2006/main">
            <a:srgbClr val="27AE60"/>
          </a:solidFill>
          <a:ln xmlns:a="http://schemas.openxmlformats.org/drawingml/2006/main" w="11430">
            <a:solidFill>
              <a:srgbClr val="27AE60"/>
            </a:solidFill>
            <a:prstDash val="solid"/>
          </a:ln>
        </p:spPr>
      </p:sp>
      <p:sp>
        <p:nvSpPr>
          <p:cNvPr id="15" name="text">
            <a:extLst xmlns:a="http://schemas.openxmlformats.org/drawingml/2006/main">
              <a:ext uri="{FF2B5EF4-FFF2-40B4-BE49-F238E27FC236}">
                <a16:creationId xmlns:a16="http://schemas.microsoft.com/office/drawing/2014/main" id="{D6B729C5-A25F-4630-BE6E-E657114B60E3}"/>
              </a:ext>
            </a:extLst>
          </p:cNvPr>
          <p:cNvSpPr>
            <a:spLocks xmlns:a="http://schemas.openxmlformats.org/drawingml/2006/main" noGrp="1"/>
          </p:cNvSpPr>
          <p:nvPr/>
        </p:nvSpPr>
        <p:spPr>
          <a:xfrm xmlns:a="http://schemas.openxmlformats.org/drawingml/2006/main">
            <a:off x="8524875" y="1943100"/>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Use both when…</a:t>
            </a:r>
          </a:p>
        </p:txBody>
      </p:sp>
      <p:sp>
        <p:nvSpPr>
          <p:cNvPr id="16" name="text">
            <a:extLst xmlns:a="http://schemas.openxmlformats.org/drawingml/2006/main">
              <a:ext uri="{FF2B5EF4-FFF2-40B4-BE49-F238E27FC236}">
                <a16:creationId xmlns:a16="http://schemas.microsoft.com/office/drawing/2014/main" id="{907C2A9A-AB18-4B3E-A3AE-86799E4566D0}"/>
              </a:ext>
            </a:extLst>
          </p:cNvPr>
          <p:cNvSpPr>
            <a:spLocks xmlns:a="http://schemas.openxmlformats.org/drawingml/2006/main" noGrp="1"/>
          </p:cNvSpPr>
          <p:nvPr/>
        </p:nvSpPr>
        <p:spPr>
          <a:xfrm xmlns:a="http://schemas.openxmlformats.org/drawingml/2006/main">
            <a:off x="8524875" y="2333625"/>
            <a:ext cx="3162300" cy="2352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Streaming or ingestion lands data first, while selected sources are cleaned before entry. Hybrid pipelines are normal.</a:t>
            </a:r>
          </a:p>
        </p:txBody>
      </p:sp>
      <p:sp>
        <p:nvSpPr>
          <p:cNvPr id="17" name="text">
            <a:extLst xmlns:a="http://schemas.openxmlformats.org/drawingml/2006/main">
              <a:ext uri="{FF2B5EF4-FFF2-40B4-BE49-F238E27FC236}">
                <a16:creationId xmlns:a16="http://schemas.microsoft.com/office/drawing/2014/main" id="{1705099D-45C4-4753-A67A-C3E4D94C6304}"/>
              </a:ext>
            </a:extLst>
          </p:cNvPr>
          <p:cNvSpPr>
            <a:spLocks xmlns:a="http://schemas.openxmlformats.org/drawingml/2006/main" noGrp="1"/>
          </p:cNvSpPr>
          <p:nvPr/>
        </p:nvSpPr>
        <p:spPr>
          <a:xfrm xmlns:a="http://schemas.openxmlformats.org/drawingml/2006/main">
            <a:off x="1333500" y="5286375"/>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11827"/>
                </a:solidFill>
              </a:defRPr>
            </a:pPr>
            <a:r>
              <a:rPr sz="1725" b="1">
                <a:solidFill>
                  <a:srgbClr val="111827"/>
                </a:solidFill>
              </a:rPr>
              <a:t>Example decision: mask card numbers before load, but transform product analytics after load.</a:t>
            </a:r>
          </a:p>
        </p:txBody>
      </p:sp>
      <p:sp>
        <p:nvSpPr>
          <p:cNvPr id="18" name="home">
            <a:extLst xmlns:a="http://schemas.openxmlformats.org/drawingml/2006/main">
              <a:ext uri="{FF2B5EF4-FFF2-40B4-BE49-F238E27FC236}">
                <a16:creationId xmlns:a16="http://schemas.microsoft.com/office/drawing/2014/main" id="{E81E2DBE-D9ED-4AD4-92D1-9F9EBFBE96F8}"/>
              </a:ext>
            </a:extLst>
            <a:hlinkClick xmlns:p7="http://schemas.openxmlformats.org/officeDocument/2006/relationships" xmlns:a="http://schemas.openxmlformats.org/drawingml/2006/main" p7:id="rId1" action="ppaction://hlinksldjump"/>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solidFill xmlns:a="http://schemas.openxmlformats.org/drawingml/2006/main">
            <a:srgbClr val="0B1F33"/>
          </a:solidFill>
          <a:ln xmlns:a="http://schemas.openxmlformats.org/drawingml/2006/main" w="11430">
            <a:solidFill>
              <a:srgbClr val="0B1F33"/>
            </a:solidFill>
            <a:prstDash val="solid"/>
          </a:ln>
        </p:spPr>
      </p:sp>
      <p:sp>
        <p:nvSpPr>
          <p:cNvPr id="19" name="home-label">
            <a:extLst xmlns:a="http://schemas.openxmlformats.org/drawingml/2006/main">
              <a:ext uri="{FF2B5EF4-FFF2-40B4-BE49-F238E27FC236}">
                <a16:creationId xmlns:a16="http://schemas.microsoft.com/office/drawing/2014/main" id="{07F63769-8B19-4F6C-8922-8A7E1197F9A4}"/>
              </a:ext>
            </a:extLst>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0" name="back">
            <a:extLst xmlns:a="http://schemas.openxmlformats.org/drawingml/2006/main">
              <a:ext uri="{FF2B5EF4-FFF2-40B4-BE49-F238E27FC236}">
                <a16:creationId xmlns:a16="http://schemas.microsoft.com/office/drawing/2014/main" id="{2B3FD1AB-70EB-4C75-A0E9-CF2A416EA03B}"/>
              </a:ext>
            </a:extLst>
            <a:hlinkClick xmlns:p7="http://schemas.openxmlformats.org/officeDocument/2006/relationships" xmlns:a="http://schemas.openxmlformats.org/drawingml/2006/main" p7:id="rId2" action="ppaction://hlinksldjump"/>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21" name="back-label">
            <a:extLst xmlns:a="http://schemas.openxmlformats.org/drawingml/2006/main">
              <a:ext uri="{FF2B5EF4-FFF2-40B4-BE49-F238E27FC236}">
                <a16:creationId xmlns:a16="http://schemas.microsoft.com/office/drawing/2014/main" id="{4E260BBF-FDA7-4BD1-953D-952572C7C662}"/>
              </a:ext>
            </a:extLst>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2" name="next">
            <a:extLst xmlns:a="http://schemas.openxmlformats.org/drawingml/2006/main">
              <a:ext uri="{FF2B5EF4-FFF2-40B4-BE49-F238E27FC236}">
                <a16:creationId xmlns:a16="http://schemas.microsoft.com/office/drawing/2014/main" id="{AC525113-D0CF-4317-B1DB-4BFF22776B03}"/>
              </a:ext>
            </a:extLst>
            <a:hlinkClick xmlns:p7="http://schemas.openxmlformats.org/officeDocument/2006/relationships" xmlns:a="http://schemas.openxmlformats.org/drawingml/2006/main" p7:id="rId3" action="ppaction://hlinksldjump"/>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23" name="next-label">
            <a:extLst xmlns:a="http://schemas.openxmlformats.org/drawingml/2006/main">
              <a:ext uri="{FF2B5EF4-FFF2-40B4-BE49-F238E27FC236}">
                <a16:creationId xmlns:a16="http://schemas.microsoft.com/office/drawing/2014/main" id="{92B80E4B-21B9-4242-B106-F9E3DB516E0F}"/>
              </a:ext>
            </a:extLst>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Tree>
    <p:extLst>
      <p:ext uri="{BB962C8B-B14F-4D97-AF65-F5344CB8AC3E}">
        <p14:creationId xmlns:p14="http://schemas.microsoft.com/office/powerpoint/2010/main" val="10145840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
            <a:extLst xmlns:a="http://schemas.openxmlformats.org/drawingml/2006/main">
              <a:ext uri="{FF2B5EF4-FFF2-40B4-BE49-F238E27FC236}">
                <a16:creationId xmlns:a16="http://schemas.microsoft.com/office/drawing/2014/main" id="{10AE40EC-C388-434B-AA55-C5F24C0A470D}"/>
              </a:ext>
            </a:extLst>
          </p:cNvPr>
          <p:cNvSpPr>
            <a:spLocks xmlns:a="http://schemas.openxmlformats.org/drawingml/2006/main" noGrp="1"/>
          </p:cNvSpPr>
          <p:nvPr/>
        </p:nvSpPr>
        <p:spPr>
          <a:xfrm xmlns:a="http://schemas.openxmlformats.org/drawingml/2006/main">
            <a:off x="571500" y="266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D8DFF"/>
                </a:solidFill>
              </a:defRPr>
            </a:pPr>
            <a:r>
              <a:rPr sz="900" b="1">
                <a:solidFill>
                  <a:srgbClr val="3D8DFF"/>
                </a:solidFill>
              </a:rPr>
              <a:t>DATA ENGINEERING • RESEARCH TASK</a:t>
            </a:r>
          </a:p>
        </p:txBody>
      </p:sp>
      <p:sp>
        <p:nvSpPr>
          <p:cNvPr id="2" name="text">
            <a:extLst xmlns:a="http://schemas.openxmlformats.org/drawingml/2006/main">
              <a:ext uri="{FF2B5EF4-FFF2-40B4-BE49-F238E27FC236}">
                <a16:creationId xmlns:a16="http://schemas.microsoft.com/office/drawing/2014/main" id="{B67FEA85-BA71-44DB-8453-DF258BE05816}"/>
              </a:ext>
            </a:extLst>
          </p:cNvPr>
          <p:cNvSpPr>
            <a:spLocks xmlns:a="http://schemas.openxmlformats.org/drawingml/2006/main" noGrp="1"/>
          </p:cNvSpPr>
          <p:nvPr/>
        </p:nvSpPr>
        <p:spPr>
          <a:xfrm xmlns:a="http://schemas.openxmlformats.org/drawingml/2006/main">
            <a:off x="5715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11827"/>
                </a:solidFill>
              </a:defRPr>
            </a:pPr>
            <a:r>
              <a:rPr sz="2625" b="1">
                <a:solidFill>
                  <a:srgbClr val="111827"/>
                </a:solidFill>
              </a:rPr>
              <a:t>Normalization stores each fact once to protect consistency</a:t>
            </a:r>
          </a:p>
        </p:txBody>
      </p:sp>
      <p:sp>
        <p:nvSpPr>
          <p:cNvPr id="3" name="">
            <a:extLst xmlns:a="http://schemas.openxmlformats.org/drawingml/2006/main">
              <a:ext uri="{FF2B5EF4-FFF2-40B4-BE49-F238E27FC236}">
                <a16:creationId xmlns:a16="http://schemas.microsoft.com/office/drawing/2014/main" id="{28917E10-CAD5-498A-8207-8387571067E5}"/>
              </a:ext>
            </a:extLst>
          </p:cNvPr>
          <p:cNvSpPr>
            <a:spLocks xmlns:a="http://schemas.openxmlformats.org/drawingml/2006/main" noGrp="1"/>
          </p:cNvSpPr>
          <p:nvPr/>
        </p:nvSpPr>
        <p:spPr>
          <a:xfrm xmlns:a="http://schemas.openxmlformats.org/drawingml/2006/main">
            <a:off x="571500" y="1257300"/>
            <a:ext cx="11049000" cy="9525"/>
          </a:xfrm>
          <a:prstGeom xmlns:a="http://schemas.openxmlformats.org/drawingml/2006/main" prst="line">
            <a:avLst/>
          </a:prstGeom>
          <a:ln xmlns:a="http://schemas.openxmlformats.org/drawingml/2006/main" w="9525">
            <a:solidFill>
              <a:srgbClr val="B8BCC4"/>
            </a:solidFill>
            <a:prstDash val="solid"/>
          </a:ln>
        </p:spPr>
      </p:sp>
      <p:sp>
        <p:nvSpPr>
          <p:cNvPr id="4" name="text">
            <a:extLst xmlns:a="http://schemas.openxmlformats.org/drawingml/2006/main">
              <a:ext uri="{FF2B5EF4-FFF2-40B4-BE49-F238E27FC236}">
                <a16:creationId xmlns:a16="http://schemas.microsoft.com/office/drawing/2014/main" id="{6EBEA18C-70D0-43CB-8253-5B5520D0407D}"/>
              </a:ext>
            </a:extLst>
          </p:cNvPr>
          <p:cNvSpPr>
            <a:spLocks xmlns:a="http://schemas.openxmlformats.org/drawingml/2006/main" noGrp="1"/>
          </p:cNvSpPr>
          <p:nvPr/>
        </p:nvSpPr>
        <p:spPr>
          <a:xfrm xmlns:a="http://schemas.openxmlformats.org/drawingml/2006/main">
            <a:off x="11096625" y="64293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F6773"/>
                </a:solidFill>
              </a:defRPr>
            </a:pPr>
            <a:r>
              <a:rPr sz="825" b="1">
                <a:solidFill>
                  <a:srgbClr val="5F6773"/>
                </a:solidFill>
              </a:rPr>
              <a:t>07</a:t>
            </a:r>
          </a:p>
        </p:txBody>
      </p:sp>
      <p:sp>
        <p:nvSpPr>
          <p:cNvPr id="5" name="text">
            <a:extLst xmlns:a="http://schemas.openxmlformats.org/drawingml/2006/main">
              <a:ext uri="{FF2B5EF4-FFF2-40B4-BE49-F238E27FC236}">
                <a16:creationId xmlns:a16="http://schemas.microsoft.com/office/drawing/2014/main" id="{E652A170-86C7-4960-8225-86AAC9FADD93}"/>
              </a:ext>
            </a:extLst>
          </p:cNvPr>
          <p:cNvSpPr>
            <a:spLocks xmlns:a="http://schemas.openxmlformats.org/drawingml/2006/main" noGrp="1"/>
          </p:cNvSpPr>
          <p:nvPr/>
        </p:nvSpPr>
        <p:spPr>
          <a:xfrm xmlns:a="http://schemas.openxmlformats.org/drawingml/2006/main">
            <a:off x="714375" y="171450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3D8DFF"/>
                </a:solidFill>
              </a:defRPr>
            </a:pPr>
            <a:r>
              <a:rPr sz="1950" b="1">
                <a:solidFill>
                  <a:srgbClr val="3D8DFF"/>
                </a:solidFill>
              </a:rPr>
              <a:t>Orders</a:t>
            </a:r>
          </a:p>
        </p:txBody>
      </p:sp>
      <p:sp>
        <p:nvSpPr>
          <p:cNvPr id="6" name="text">
            <a:extLst xmlns:a="http://schemas.openxmlformats.org/drawingml/2006/main">
              <a:ext uri="{FF2B5EF4-FFF2-40B4-BE49-F238E27FC236}">
                <a16:creationId xmlns:a16="http://schemas.microsoft.com/office/drawing/2014/main" id="{E3707B25-8587-494A-9964-89896CE71FAB}"/>
              </a:ext>
            </a:extLst>
          </p:cNvPr>
          <p:cNvSpPr>
            <a:spLocks xmlns:a="http://schemas.openxmlformats.org/drawingml/2006/main" noGrp="1"/>
          </p:cNvSpPr>
          <p:nvPr/>
        </p:nvSpPr>
        <p:spPr>
          <a:xfrm xmlns:a="http://schemas.openxmlformats.org/drawingml/2006/main">
            <a:off x="4953000" y="171450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27AE60"/>
                </a:solidFill>
              </a:defRPr>
            </a:pPr>
            <a:r>
              <a:rPr sz="1950" b="1">
                <a:solidFill>
                  <a:srgbClr val="27AE60"/>
                </a:solidFill>
              </a:rPr>
              <a:t>Customers</a:t>
            </a:r>
          </a:p>
        </p:txBody>
      </p:sp>
      <p:sp>
        <p:nvSpPr>
          <p:cNvPr id="7" name="text">
            <a:extLst xmlns:a="http://schemas.openxmlformats.org/drawingml/2006/main">
              <a:ext uri="{FF2B5EF4-FFF2-40B4-BE49-F238E27FC236}">
                <a16:creationId xmlns:a16="http://schemas.microsoft.com/office/drawing/2014/main" id="{436C791D-A5C6-40A5-8792-47FDBA087B29}"/>
              </a:ext>
            </a:extLst>
          </p:cNvPr>
          <p:cNvSpPr>
            <a:spLocks xmlns:a="http://schemas.openxmlformats.org/drawingml/2006/main" noGrp="1"/>
          </p:cNvSpPr>
          <p:nvPr/>
        </p:nvSpPr>
        <p:spPr>
          <a:xfrm xmlns:a="http://schemas.openxmlformats.org/drawingml/2006/main">
            <a:off x="9048750" y="171450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FF6B5F"/>
                </a:solidFill>
              </a:defRPr>
            </a:pPr>
            <a:r>
              <a:rPr sz="1950" b="1">
                <a:solidFill>
                  <a:srgbClr val="FF6B5F"/>
                </a:solidFill>
              </a:rPr>
              <a:t>Products</a:t>
            </a:r>
          </a:p>
        </p:txBody>
      </p:sp>
      <p:sp>
        <p:nvSpPr>
          <p:cNvPr id="8" name="shape">
            <a:extLst xmlns:a="http://schemas.openxmlformats.org/drawingml/2006/main">
              <a:ext uri="{FF2B5EF4-FFF2-40B4-BE49-F238E27FC236}">
                <a16:creationId xmlns:a16="http://schemas.microsoft.com/office/drawing/2014/main" id="{28780E52-D6D3-45BE-880E-285D749F4675}"/>
              </a:ext>
            </a:extLst>
          </p:cNvPr>
          <p:cNvSpPr>
            <a:spLocks xmlns:a="http://schemas.openxmlformats.org/drawingml/2006/main" noGrp="1"/>
          </p:cNvSpPr>
          <p:nvPr/>
        </p:nvSpPr>
        <p:spPr>
          <a:xfrm xmlns:a="http://schemas.openxmlformats.org/drawingml/2006/main">
            <a:off x="666750" y="2238375"/>
            <a:ext cx="2762250" cy="2381250"/>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3E40547-6788-423B-8542-548D7F446B9D}"/>
              </a:ext>
            </a:extLst>
          </p:cNvPr>
          <p:cNvSpPr>
            <a:spLocks xmlns:a="http://schemas.openxmlformats.org/drawingml/2006/main" noGrp="1"/>
          </p:cNvSpPr>
          <p:nvPr/>
        </p:nvSpPr>
        <p:spPr>
          <a:xfrm xmlns:a="http://schemas.openxmlformats.org/drawingml/2006/main">
            <a:off x="666750" y="2238375"/>
            <a:ext cx="66675" cy="238125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10" name="text">
            <a:extLst xmlns:a="http://schemas.openxmlformats.org/drawingml/2006/main">
              <a:ext uri="{FF2B5EF4-FFF2-40B4-BE49-F238E27FC236}">
                <a16:creationId xmlns:a16="http://schemas.microsoft.com/office/drawing/2014/main" id="{9FFD8910-CBDE-46BE-9581-167625FB24EE}"/>
              </a:ext>
            </a:extLst>
          </p:cNvPr>
          <p:cNvSpPr>
            <a:spLocks xmlns:a="http://schemas.openxmlformats.org/drawingml/2006/main" noGrp="1"/>
          </p:cNvSpPr>
          <p:nvPr/>
        </p:nvSpPr>
        <p:spPr>
          <a:xfrm xmlns:a="http://schemas.openxmlformats.org/drawingml/2006/main">
            <a:off x="857250" y="2371725"/>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Order</a:t>
            </a:r>
          </a:p>
        </p:txBody>
      </p:sp>
      <p:sp>
        <p:nvSpPr>
          <p:cNvPr id="11" name="text">
            <a:extLst xmlns:a="http://schemas.openxmlformats.org/drawingml/2006/main">
              <a:ext uri="{FF2B5EF4-FFF2-40B4-BE49-F238E27FC236}">
                <a16:creationId xmlns:a16="http://schemas.microsoft.com/office/drawing/2014/main" id="{14BFA528-684A-4BF1-A17E-F629E877F0C9}"/>
              </a:ext>
            </a:extLst>
          </p:cNvPr>
          <p:cNvSpPr>
            <a:spLocks xmlns:a="http://schemas.openxmlformats.org/drawingml/2006/main" noGrp="1"/>
          </p:cNvSpPr>
          <p:nvPr/>
        </p:nvSpPr>
        <p:spPr>
          <a:xfrm xmlns:a="http://schemas.openxmlformats.org/drawingml/2006/main">
            <a:off x="857250" y="2762250"/>
            <a:ext cx="24003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order_id</a:t>
            </a:r>
          </a:p>
          <a:p xmlns:a="http://schemas.openxmlformats.org/drawingml/2006/main">
            <a:pPr algn="l">
              <a:defRPr sz="1275" b="0">
                <a:solidFill>
                  <a:srgbClr val="5F6773"/>
                </a:solidFill>
              </a:defRPr>
            </a:pPr>
            <a:r>
              <a:rPr sz="1275" b="0">
                <a:solidFill>
                  <a:srgbClr val="5F6773"/>
                </a:solidFill>
              </a:rPr>
              <a:t>customer_id → FK</a:t>
            </a:r>
          </a:p>
          <a:p xmlns:a="http://schemas.openxmlformats.org/drawingml/2006/main">
            <a:pPr algn="l">
              <a:defRPr sz="1275" b="0">
                <a:solidFill>
                  <a:srgbClr val="5F6773"/>
                </a:solidFill>
              </a:defRPr>
            </a:pPr>
            <a:r>
              <a:rPr sz="1275" b="0">
                <a:solidFill>
                  <a:srgbClr val="5F6773"/>
                </a:solidFill>
              </a:rPr>
              <a:t>product_id → FK</a:t>
            </a:r>
          </a:p>
          <a:p xmlns:a="http://schemas.openxmlformats.org/drawingml/2006/main">
            <a:pPr algn="l">
              <a:defRPr sz="1275" b="0">
                <a:solidFill>
                  <a:srgbClr val="5F6773"/>
                </a:solidFill>
              </a:defRPr>
            </a:pPr>
            <a:r>
              <a:rPr sz="1275" b="0">
                <a:solidFill>
                  <a:srgbClr val="5F6773"/>
                </a:solidFill>
              </a:rPr>
              <a:t>quantity</a:t>
            </a:r>
          </a:p>
        </p:txBody>
      </p:sp>
      <p:sp>
        <p:nvSpPr>
          <p:cNvPr id="12" name="shape">
            <a:extLst xmlns:a="http://schemas.openxmlformats.org/drawingml/2006/main">
              <a:ext uri="{FF2B5EF4-FFF2-40B4-BE49-F238E27FC236}">
                <a16:creationId xmlns:a16="http://schemas.microsoft.com/office/drawing/2014/main" id="{12197C29-E4AE-4A22-A7BF-44A4F08803A7}"/>
              </a:ext>
            </a:extLst>
          </p:cNvPr>
          <p:cNvSpPr>
            <a:spLocks xmlns:a="http://schemas.openxmlformats.org/drawingml/2006/main" noGrp="1"/>
          </p:cNvSpPr>
          <p:nvPr/>
        </p:nvSpPr>
        <p:spPr>
          <a:xfrm xmlns:a="http://schemas.openxmlformats.org/drawingml/2006/main">
            <a:off x="4714875" y="2238375"/>
            <a:ext cx="2762250" cy="2381250"/>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559B60C5-8DE9-4FE8-8E2F-D09BA0D5097D}"/>
              </a:ext>
            </a:extLst>
          </p:cNvPr>
          <p:cNvSpPr>
            <a:spLocks xmlns:a="http://schemas.openxmlformats.org/drawingml/2006/main" noGrp="1"/>
          </p:cNvSpPr>
          <p:nvPr/>
        </p:nvSpPr>
        <p:spPr>
          <a:xfrm xmlns:a="http://schemas.openxmlformats.org/drawingml/2006/main">
            <a:off x="4714875" y="2238375"/>
            <a:ext cx="66675" cy="2381250"/>
          </a:xfrm>
          <a:prstGeom xmlns:a="http://schemas.openxmlformats.org/drawingml/2006/main" prst="rect">
            <a:avLst/>
          </a:prstGeom>
          <a:solidFill xmlns:a="http://schemas.openxmlformats.org/drawingml/2006/main">
            <a:srgbClr val="27AE60"/>
          </a:solidFill>
          <a:ln xmlns:a="http://schemas.openxmlformats.org/drawingml/2006/main" w="11430">
            <a:solidFill>
              <a:srgbClr val="27AE60"/>
            </a:solidFill>
            <a:prstDash val="solid"/>
          </a:ln>
        </p:spPr>
      </p:sp>
      <p:sp>
        <p:nvSpPr>
          <p:cNvPr id="14" name="text">
            <a:extLst xmlns:a="http://schemas.openxmlformats.org/drawingml/2006/main">
              <a:ext uri="{FF2B5EF4-FFF2-40B4-BE49-F238E27FC236}">
                <a16:creationId xmlns:a16="http://schemas.microsoft.com/office/drawing/2014/main" id="{D00EC30C-D533-47A4-A932-A98E64468716}"/>
              </a:ext>
            </a:extLst>
          </p:cNvPr>
          <p:cNvSpPr>
            <a:spLocks xmlns:a="http://schemas.openxmlformats.org/drawingml/2006/main" noGrp="1"/>
          </p:cNvSpPr>
          <p:nvPr/>
        </p:nvSpPr>
        <p:spPr>
          <a:xfrm xmlns:a="http://schemas.openxmlformats.org/drawingml/2006/main">
            <a:off x="4905375" y="2371725"/>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Customer</a:t>
            </a:r>
          </a:p>
        </p:txBody>
      </p:sp>
      <p:sp>
        <p:nvSpPr>
          <p:cNvPr id="15" name="text">
            <a:extLst xmlns:a="http://schemas.openxmlformats.org/drawingml/2006/main">
              <a:ext uri="{FF2B5EF4-FFF2-40B4-BE49-F238E27FC236}">
                <a16:creationId xmlns:a16="http://schemas.microsoft.com/office/drawing/2014/main" id="{31CD4556-993F-48F7-B8D5-06B71AF23481}"/>
              </a:ext>
            </a:extLst>
          </p:cNvPr>
          <p:cNvSpPr>
            <a:spLocks xmlns:a="http://schemas.openxmlformats.org/drawingml/2006/main" noGrp="1"/>
          </p:cNvSpPr>
          <p:nvPr/>
        </p:nvSpPr>
        <p:spPr>
          <a:xfrm xmlns:a="http://schemas.openxmlformats.org/drawingml/2006/main">
            <a:off x="4905375" y="2762250"/>
            <a:ext cx="24003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customer_id</a:t>
            </a:r>
          </a:p>
          <a:p xmlns:a="http://schemas.openxmlformats.org/drawingml/2006/main">
            <a:pPr algn="l">
              <a:defRPr sz="1275" b="0">
                <a:solidFill>
                  <a:srgbClr val="5F6773"/>
                </a:solidFill>
              </a:defRPr>
            </a:pPr>
            <a:r>
              <a:rPr sz="1275" b="0">
                <a:solidFill>
                  <a:srgbClr val="5F6773"/>
                </a:solidFill>
              </a:rPr>
              <a:t>customer_name</a:t>
            </a:r>
          </a:p>
          <a:p xmlns:a="http://schemas.openxmlformats.org/drawingml/2006/main">
            <a:pPr algn="l">
              <a:defRPr sz="1275" b="0">
                <a:solidFill>
                  <a:srgbClr val="5F6773"/>
                </a:solidFill>
              </a:defRPr>
            </a:pPr>
            <a:r>
              <a:rPr sz="1275" b="0">
                <a:solidFill>
                  <a:srgbClr val="5F6773"/>
                </a:solidFill>
              </a:rPr>
              <a:t>email</a:t>
            </a:r>
          </a:p>
        </p:txBody>
      </p:sp>
      <p:sp>
        <p:nvSpPr>
          <p:cNvPr id="16" name="shape">
            <a:extLst xmlns:a="http://schemas.openxmlformats.org/drawingml/2006/main">
              <a:ext uri="{FF2B5EF4-FFF2-40B4-BE49-F238E27FC236}">
                <a16:creationId xmlns:a16="http://schemas.microsoft.com/office/drawing/2014/main" id="{F4BB7874-0DB1-43BC-AC1A-DC3E96701CF7}"/>
              </a:ext>
            </a:extLst>
          </p:cNvPr>
          <p:cNvSpPr>
            <a:spLocks xmlns:a="http://schemas.openxmlformats.org/drawingml/2006/main" noGrp="1"/>
          </p:cNvSpPr>
          <p:nvPr/>
        </p:nvSpPr>
        <p:spPr>
          <a:xfrm xmlns:a="http://schemas.openxmlformats.org/drawingml/2006/main">
            <a:off x="8763000" y="2238375"/>
            <a:ext cx="2762250" cy="2381250"/>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17" name="shape">
            <a:extLst xmlns:a="http://schemas.openxmlformats.org/drawingml/2006/main">
              <a:ext uri="{FF2B5EF4-FFF2-40B4-BE49-F238E27FC236}">
                <a16:creationId xmlns:a16="http://schemas.microsoft.com/office/drawing/2014/main" id="{C15AAF76-1544-4A40-B789-8931BD2BD9A6}"/>
              </a:ext>
            </a:extLst>
          </p:cNvPr>
          <p:cNvSpPr>
            <a:spLocks xmlns:a="http://schemas.openxmlformats.org/drawingml/2006/main" noGrp="1"/>
          </p:cNvSpPr>
          <p:nvPr/>
        </p:nvSpPr>
        <p:spPr>
          <a:xfrm xmlns:a="http://schemas.openxmlformats.org/drawingml/2006/main">
            <a:off x="8763000" y="2238375"/>
            <a:ext cx="66675" cy="238125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18" name="text">
            <a:extLst xmlns:a="http://schemas.openxmlformats.org/drawingml/2006/main">
              <a:ext uri="{FF2B5EF4-FFF2-40B4-BE49-F238E27FC236}">
                <a16:creationId xmlns:a16="http://schemas.microsoft.com/office/drawing/2014/main" id="{99D9F457-D9AF-4799-9D30-8E2C1DE7CD7B}"/>
              </a:ext>
            </a:extLst>
          </p:cNvPr>
          <p:cNvSpPr>
            <a:spLocks xmlns:a="http://schemas.openxmlformats.org/drawingml/2006/main" noGrp="1"/>
          </p:cNvSpPr>
          <p:nvPr/>
        </p:nvSpPr>
        <p:spPr>
          <a:xfrm xmlns:a="http://schemas.openxmlformats.org/drawingml/2006/main">
            <a:off x="8953500" y="2371725"/>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Product</a:t>
            </a:r>
          </a:p>
        </p:txBody>
      </p:sp>
      <p:sp>
        <p:nvSpPr>
          <p:cNvPr id="19" name="text">
            <a:extLst xmlns:a="http://schemas.openxmlformats.org/drawingml/2006/main">
              <a:ext uri="{FF2B5EF4-FFF2-40B4-BE49-F238E27FC236}">
                <a16:creationId xmlns:a16="http://schemas.microsoft.com/office/drawing/2014/main" id="{202A2C63-6550-4139-835F-F36AF628439A}"/>
              </a:ext>
            </a:extLst>
          </p:cNvPr>
          <p:cNvSpPr>
            <a:spLocks xmlns:a="http://schemas.openxmlformats.org/drawingml/2006/main" noGrp="1"/>
          </p:cNvSpPr>
          <p:nvPr/>
        </p:nvSpPr>
        <p:spPr>
          <a:xfrm xmlns:a="http://schemas.openxmlformats.org/drawingml/2006/main">
            <a:off x="8953500" y="2762250"/>
            <a:ext cx="24003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product_id</a:t>
            </a:r>
          </a:p>
          <a:p xmlns:a="http://schemas.openxmlformats.org/drawingml/2006/main">
            <a:pPr algn="l">
              <a:defRPr sz="1275" b="0">
                <a:solidFill>
                  <a:srgbClr val="5F6773"/>
                </a:solidFill>
              </a:defRPr>
            </a:pPr>
            <a:r>
              <a:rPr sz="1275" b="0">
                <a:solidFill>
                  <a:srgbClr val="5F6773"/>
                </a:solidFill>
              </a:rPr>
              <a:t>product_name</a:t>
            </a:r>
          </a:p>
          <a:p xmlns:a="http://schemas.openxmlformats.org/drawingml/2006/main">
            <a:pPr algn="l">
              <a:defRPr sz="1275" b="0">
                <a:solidFill>
                  <a:srgbClr val="5F6773"/>
                </a:solidFill>
              </a:defRPr>
            </a:pPr>
            <a:r>
              <a:rPr sz="1275" b="0">
                <a:solidFill>
                  <a:srgbClr val="5F6773"/>
                </a:solidFill>
              </a:rPr>
              <a:t>current_price</a:t>
            </a:r>
          </a:p>
        </p:txBody>
      </p:sp>
      <p:sp>
        <p:nvSpPr>
          <p:cNvPr id="20" name="">
            <a:extLst xmlns:a="http://schemas.openxmlformats.org/drawingml/2006/main">
              <a:ext uri="{FF2B5EF4-FFF2-40B4-BE49-F238E27FC236}">
                <a16:creationId xmlns:a16="http://schemas.microsoft.com/office/drawing/2014/main" id="{09E15DD0-9673-48AC-8FBA-EAA44EC486F4}"/>
              </a:ext>
            </a:extLst>
          </p:cNvPr>
          <p:cNvSpPr>
            <a:spLocks xmlns:a="http://schemas.openxmlformats.org/drawingml/2006/main" noGrp="1"/>
          </p:cNvSpPr>
          <p:nvPr/>
        </p:nvSpPr>
        <p:spPr>
          <a:xfrm xmlns:a="http://schemas.openxmlformats.org/drawingml/2006/main">
            <a:off x="3429000" y="3333750"/>
            <a:ext cx="1190625" cy="9525"/>
          </a:xfrm>
          <a:prstGeom xmlns:a="http://schemas.openxmlformats.org/drawingml/2006/main" prst="line">
            <a:avLst/>
          </a:prstGeom>
          <a:ln xmlns:a="http://schemas.openxmlformats.org/drawingml/2006/main" w="28575">
            <a:solidFill>
              <a:srgbClr val="B8BCC4"/>
            </a:solidFill>
            <a:prstDash val="solid"/>
          </a:ln>
        </p:spPr>
      </p:sp>
      <p:sp>
        <p:nvSpPr>
          <p:cNvPr id="21" name="">
            <a:extLst xmlns:a="http://schemas.openxmlformats.org/drawingml/2006/main">
              <a:ext uri="{FF2B5EF4-FFF2-40B4-BE49-F238E27FC236}">
                <a16:creationId xmlns:a16="http://schemas.microsoft.com/office/drawing/2014/main" id="{DFB98B02-E8D8-4F97-BCB0-0227D7F61596}"/>
              </a:ext>
            </a:extLst>
          </p:cNvPr>
          <p:cNvSpPr>
            <a:spLocks xmlns:a="http://schemas.openxmlformats.org/drawingml/2006/main" noGrp="1"/>
          </p:cNvSpPr>
          <p:nvPr/>
        </p:nvSpPr>
        <p:spPr>
          <a:xfrm xmlns:a="http://schemas.openxmlformats.org/drawingml/2006/main">
            <a:off x="7477125" y="3333750"/>
            <a:ext cx="1190625" cy="9525"/>
          </a:xfrm>
          <a:prstGeom xmlns:a="http://schemas.openxmlformats.org/drawingml/2006/main" prst="line">
            <a:avLst/>
          </a:prstGeom>
          <a:ln xmlns:a="http://schemas.openxmlformats.org/drawingml/2006/main" w="28575">
            <a:solidFill>
              <a:srgbClr val="B8BCC4"/>
            </a:solidFill>
            <a:prstDash val="solid"/>
          </a:ln>
        </p:spPr>
      </p:sp>
      <p:sp>
        <p:nvSpPr>
          <p:cNvPr id="22" name="text">
            <a:extLst xmlns:a="http://schemas.openxmlformats.org/drawingml/2006/main">
              <a:ext uri="{FF2B5EF4-FFF2-40B4-BE49-F238E27FC236}">
                <a16:creationId xmlns:a16="http://schemas.microsoft.com/office/drawing/2014/main" id="{04196297-819E-4B31-9C78-063B3D0BA4B5}"/>
              </a:ext>
            </a:extLst>
          </p:cNvPr>
          <p:cNvSpPr>
            <a:spLocks xmlns:a="http://schemas.openxmlformats.org/drawingml/2006/main" noGrp="1"/>
          </p:cNvSpPr>
          <p:nvPr/>
        </p:nvSpPr>
        <p:spPr>
          <a:xfrm xmlns:a="http://schemas.openxmlformats.org/drawingml/2006/main">
            <a:off x="2476500" y="5191125"/>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11827"/>
                </a:solidFill>
              </a:defRPr>
            </a:pPr>
            <a:r>
              <a:rPr sz="1875" b="1">
                <a:solidFill>
                  <a:srgbClr val="111827"/>
                </a:solidFill>
              </a:rPr>
              <a:t>Customer and product details are updated in one place.</a:t>
            </a:r>
          </a:p>
        </p:txBody>
      </p:sp>
      <p:sp>
        <p:nvSpPr>
          <p:cNvPr id="23" name="home">
            <a:extLst xmlns:a="http://schemas.openxmlformats.org/drawingml/2006/main">
              <a:ext uri="{FF2B5EF4-FFF2-40B4-BE49-F238E27FC236}">
                <a16:creationId xmlns:a16="http://schemas.microsoft.com/office/drawing/2014/main" id="{2D43C0B8-6849-4C1B-A8CC-8CB342C388D0}"/>
              </a:ext>
            </a:extLst>
            <a:hlinkClick xmlns:p7="http://schemas.openxmlformats.org/officeDocument/2006/relationships" xmlns:a="http://schemas.openxmlformats.org/drawingml/2006/main" p7:id="rId1" action="ppaction://hlinksldjump"/>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solidFill xmlns:a="http://schemas.openxmlformats.org/drawingml/2006/main">
            <a:srgbClr val="0B1F33"/>
          </a:solidFill>
          <a:ln xmlns:a="http://schemas.openxmlformats.org/drawingml/2006/main" w="11430">
            <a:solidFill>
              <a:srgbClr val="0B1F33"/>
            </a:solidFill>
            <a:prstDash val="solid"/>
          </a:ln>
        </p:spPr>
      </p:sp>
      <p:sp>
        <p:nvSpPr>
          <p:cNvPr id="24" name="home-label">
            <a:extLst xmlns:a="http://schemas.openxmlformats.org/drawingml/2006/main">
              <a:ext uri="{FF2B5EF4-FFF2-40B4-BE49-F238E27FC236}">
                <a16:creationId xmlns:a16="http://schemas.microsoft.com/office/drawing/2014/main" id="{A5352869-6B6E-423F-8AA6-7A781382F074}"/>
              </a:ext>
            </a:extLst>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5" name="back">
            <a:extLst xmlns:a="http://schemas.openxmlformats.org/drawingml/2006/main">
              <a:ext uri="{FF2B5EF4-FFF2-40B4-BE49-F238E27FC236}">
                <a16:creationId xmlns:a16="http://schemas.microsoft.com/office/drawing/2014/main" id="{B8D123C6-A10D-4FD2-8E7B-BD935F0B467C}"/>
              </a:ext>
            </a:extLst>
            <a:hlinkClick xmlns:p7="http://schemas.openxmlformats.org/officeDocument/2006/relationships" xmlns:a="http://schemas.openxmlformats.org/drawingml/2006/main" p7:id="rId2" action="ppaction://hlinksldjump"/>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26" name="back-label">
            <a:extLst xmlns:a="http://schemas.openxmlformats.org/drawingml/2006/main">
              <a:ext uri="{FF2B5EF4-FFF2-40B4-BE49-F238E27FC236}">
                <a16:creationId xmlns:a16="http://schemas.microsoft.com/office/drawing/2014/main" id="{DE15DA8A-F0FB-4072-987D-28727BF60623}"/>
              </a:ext>
            </a:extLst>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7" name="next">
            <a:extLst xmlns:a="http://schemas.openxmlformats.org/drawingml/2006/main">
              <a:ext uri="{FF2B5EF4-FFF2-40B4-BE49-F238E27FC236}">
                <a16:creationId xmlns:a16="http://schemas.microsoft.com/office/drawing/2014/main" id="{E897AB95-CE66-4A17-9D6F-E7D0B01FE3A6}"/>
              </a:ext>
            </a:extLst>
            <a:hlinkClick xmlns:p7="http://schemas.openxmlformats.org/officeDocument/2006/relationships" xmlns:a="http://schemas.openxmlformats.org/drawingml/2006/main" p7:id="rId3" action="ppaction://hlinksldjump"/>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28" name="next-label">
            <a:extLst xmlns:a="http://schemas.openxmlformats.org/drawingml/2006/main">
              <a:ext uri="{FF2B5EF4-FFF2-40B4-BE49-F238E27FC236}">
                <a16:creationId xmlns:a16="http://schemas.microsoft.com/office/drawing/2014/main" id="{D7A2F6BB-F134-4286-BDE3-4D3626265289}"/>
              </a:ext>
            </a:extLst>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Tree>
    <p:extLst>
      <p:ext uri="{BB962C8B-B14F-4D97-AF65-F5344CB8AC3E}">
        <p14:creationId xmlns:p14="http://schemas.microsoft.com/office/powerpoint/2010/main" val="2872132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CC7854B9-F3AB-4C0F-A7B4-68AE46177BC3}"/>
              </a:ext>
            </a:extLst>
          </p:cNvPr>
          <p:cNvSpPr>
            <a:spLocks xmlns:a="http://schemas.openxmlformats.org/drawingml/2006/main" noGrp="1"/>
          </p:cNvSpPr>
          <p:nvPr/>
        </p:nvSpPr>
        <p:spPr>
          <a:xfrm xmlns:a="http://schemas.openxmlformats.org/drawingml/2006/main">
            <a:off x="571500" y="266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D8DFF"/>
                </a:solidFill>
              </a:defRPr>
            </a:pPr>
            <a:r>
              <a:rPr sz="900" b="1">
                <a:solidFill>
                  <a:srgbClr val="3D8DFF"/>
                </a:solidFill>
              </a:rPr>
              <a:t>DATA ENGINEERING • RESEARCH TASK</a:t>
            </a:r>
          </a:p>
        </p:txBody>
      </p:sp>
      <p:sp>
        <p:nvSpPr>
          <p:cNvPr id="2" name="text">
            <a:extLst xmlns:a="http://schemas.openxmlformats.org/drawingml/2006/main">
              <a:ext uri="{FF2B5EF4-FFF2-40B4-BE49-F238E27FC236}">
                <a16:creationId xmlns:a16="http://schemas.microsoft.com/office/drawing/2014/main" id="{24D9C9DC-A677-4D85-9376-33C445FE24D8}"/>
              </a:ext>
            </a:extLst>
          </p:cNvPr>
          <p:cNvSpPr>
            <a:spLocks xmlns:a="http://schemas.openxmlformats.org/drawingml/2006/main" noGrp="1"/>
          </p:cNvSpPr>
          <p:nvPr/>
        </p:nvSpPr>
        <p:spPr>
          <a:xfrm xmlns:a="http://schemas.openxmlformats.org/drawingml/2006/main">
            <a:off x="5715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11827"/>
                </a:solidFill>
              </a:defRPr>
            </a:pPr>
            <a:r>
              <a:rPr sz="2625" b="1">
                <a:solidFill>
                  <a:srgbClr val="111827"/>
                </a:solidFill>
              </a:rPr>
              <a:t>Normal forms remove different kinds of dependency</a:t>
            </a:r>
          </a:p>
        </p:txBody>
      </p:sp>
      <p:sp>
        <p:nvSpPr>
          <p:cNvPr id="3" name="">
            <a:extLst xmlns:a="http://schemas.openxmlformats.org/drawingml/2006/main">
              <a:ext uri="{FF2B5EF4-FFF2-40B4-BE49-F238E27FC236}">
                <a16:creationId xmlns:a16="http://schemas.microsoft.com/office/drawing/2014/main" id="{D032F889-A451-4EF1-8CBA-F065DB9BE8A4}"/>
              </a:ext>
            </a:extLst>
          </p:cNvPr>
          <p:cNvSpPr>
            <a:spLocks xmlns:a="http://schemas.openxmlformats.org/drawingml/2006/main" noGrp="1"/>
          </p:cNvSpPr>
          <p:nvPr/>
        </p:nvSpPr>
        <p:spPr>
          <a:xfrm xmlns:a="http://schemas.openxmlformats.org/drawingml/2006/main">
            <a:off x="571500" y="1257300"/>
            <a:ext cx="11049000" cy="9525"/>
          </a:xfrm>
          <a:prstGeom xmlns:a="http://schemas.openxmlformats.org/drawingml/2006/main" prst="line">
            <a:avLst/>
          </a:prstGeom>
          <a:ln xmlns:a="http://schemas.openxmlformats.org/drawingml/2006/main" w="9525">
            <a:solidFill>
              <a:srgbClr val="B8BCC4"/>
            </a:solidFill>
            <a:prstDash val="solid"/>
          </a:ln>
        </p:spPr>
      </p:sp>
      <p:sp>
        <p:nvSpPr>
          <p:cNvPr id="4" name="text">
            <a:extLst xmlns:a="http://schemas.openxmlformats.org/drawingml/2006/main">
              <a:ext uri="{FF2B5EF4-FFF2-40B4-BE49-F238E27FC236}">
                <a16:creationId xmlns:a16="http://schemas.microsoft.com/office/drawing/2014/main" id="{D429EC6B-3B15-4D91-87D2-F5F725FAD758}"/>
              </a:ext>
            </a:extLst>
          </p:cNvPr>
          <p:cNvSpPr>
            <a:spLocks xmlns:a="http://schemas.openxmlformats.org/drawingml/2006/main" noGrp="1"/>
          </p:cNvSpPr>
          <p:nvPr/>
        </p:nvSpPr>
        <p:spPr>
          <a:xfrm xmlns:a="http://schemas.openxmlformats.org/drawingml/2006/main">
            <a:off x="11096625" y="64293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F6773"/>
                </a:solidFill>
              </a:defRPr>
            </a:pPr>
            <a:r>
              <a:rPr sz="825" b="1">
                <a:solidFill>
                  <a:srgbClr val="5F6773"/>
                </a:solidFill>
              </a:rPr>
              <a:t>08</a:t>
            </a:r>
          </a:p>
        </p:txBody>
      </p:sp>
      <p:sp>
        <p:nvSpPr>
          <p:cNvPr id="5" name="text">
            <a:extLst xmlns:a="http://schemas.openxmlformats.org/drawingml/2006/main">
              <a:ext uri="{FF2B5EF4-FFF2-40B4-BE49-F238E27FC236}">
                <a16:creationId xmlns:a16="http://schemas.microsoft.com/office/drawing/2014/main" id="{A015666C-351E-490D-82B3-E02855A9C2D8}"/>
              </a:ext>
            </a:extLst>
          </p:cNvPr>
          <p:cNvSpPr>
            <a:spLocks xmlns:a="http://schemas.openxmlformats.org/drawingml/2006/main" noGrp="1"/>
          </p:cNvSpPr>
          <p:nvPr/>
        </p:nvSpPr>
        <p:spPr>
          <a:xfrm xmlns:a="http://schemas.openxmlformats.org/drawingml/2006/main">
            <a:off x="762000" y="1762125"/>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3D8DFF"/>
                </a:solidFill>
              </a:defRPr>
            </a:pPr>
            <a:r>
              <a:rPr sz="3150" b="1">
                <a:solidFill>
                  <a:srgbClr val="3D8DFF"/>
                </a:solidFill>
              </a:rPr>
              <a:t>1NF</a:t>
            </a:r>
          </a:p>
        </p:txBody>
      </p:sp>
      <p:sp>
        <p:nvSpPr>
          <p:cNvPr id="6" name="text">
            <a:extLst xmlns:a="http://schemas.openxmlformats.org/drawingml/2006/main">
              <a:ext uri="{FF2B5EF4-FFF2-40B4-BE49-F238E27FC236}">
                <a16:creationId xmlns:a16="http://schemas.microsoft.com/office/drawing/2014/main" id="{A76B9372-40ED-4CFE-A946-6C0BBEFF960E}"/>
              </a:ext>
            </a:extLst>
          </p:cNvPr>
          <p:cNvSpPr>
            <a:spLocks xmlns:a="http://schemas.openxmlformats.org/drawingml/2006/main" noGrp="1"/>
          </p:cNvSpPr>
          <p:nvPr/>
        </p:nvSpPr>
        <p:spPr>
          <a:xfrm xmlns:a="http://schemas.openxmlformats.org/drawingml/2006/main">
            <a:off x="762000" y="2476500"/>
            <a:ext cx="3238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Atomic values; no repeating groups.</a:t>
            </a:r>
          </a:p>
        </p:txBody>
      </p:sp>
      <p:sp>
        <p:nvSpPr>
          <p:cNvPr id="7" name="text">
            <a:extLst xmlns:a="http://schemas.openxmlformats.org/drawingml/2006/main">
              <a:ext uri="{FF2B5EF4-FFF2-40B4-BE49-F238E27FC236}">
                <a16:creationId xmlns:a16="http://schemas.microsoft.com/office/drawing/2014/main" id="{C78D0617-3C86-46E4-BF70-E0FD8615548E}"/>
              </a:ext>
            </a:extLst>
          </p:cNvPr>
          <p:cNvSpPr>
            <a:spLocks xmlns:a="http://schemas.openxmlformats.org/drawingml/2006/main" noGrp="1"/>
          </p:cNvSpPr>
          <p:nvPr/>
        </p:nvSpPr>
        <p:spPr>
          <a:xfrm xmlns:a="http://schemas.openxmlformats.org/drawingml/2006/main">
            <a:off x="762000" y="3476625"/>
            <a:ext cx="323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773"/>
                </a:solidFill>
              </a:defRPr>
            </a:pPr>
            <a:r>
              <a:rPr sz="1350" b="0">
                <a:solidFill>
                  <a:srgbClr val="5F6773"/>
                </a:solidFill>
              </a:rPr>
              <a:t>One product per order line</a:t>
            </a:r>
          </a:p>
        </p:txBody>
      </p:sp>
      <p:sp>
        <p:nvSpPr>
          <p:cNvPr id="8" name="text">
            <a:extLst xmlns:a="http://schemas.openxmlformats.org/drawingml/2006/main">
              <a:ext uri="{FF2B5EF4-FFF2-40B4-BE49-F238E27FC236}">
                <a16:creationId xmlns:a16="http://schemas.microsoft.com/office/drawing/2014/main" id="{38B9A6EE-C41A-408D-8E88-D99840BA6596}"/>
              </a:ext>
            </a:extLst>
          </p:cNvPr>
          <p:cNvSpPr>
            <a:spLocks xmlns:a="http://schemas.openxmlformats.org/drawingml/2006/main" noGrp="1"/>
          </p:cNvSpPr>
          <p:nvPr/>
        </p:nvSpPr>
        <p:spPr>
          <a:xfrm xmlns:a="http://schemas.openxmlformats.org/drawingml/2006/main">
            <a:off x="4572000" y="1762125"/>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27AE60"/>
                </a:solidFill>
              </a:defRPr>
            </a:pPr>
            <a:r>
              <a:rPr sz="3150" b="1">
                <a:solidFill>
                  <a:srgbClr val="27AE60"/>
                </a:solidFill>
              </a:rPr>
              <a:t>2NF</a:t>
            </a:r>
          </a:p>
        </p:txBody>
      </p:sp>
      <p:sp>
        <p:nvSpPr>
          <p:cNvPr id="9" name="text">
            <a:extLst xmlns:a="http://schemas.openxmlformats.org/drawingml/2006/main">
              <a:ext uri="{FF2B5EF4-FFF2-40B4-BE49-F238E27FC236}">
                <a16:creationId xmlns:a16="http://schemas.microsoft.com/office/drawing/2014/main" id="{809F1049-39AA-4F35-AABD-B08833E71832}"/>
              </a:ext>
            </a:extLst>
          </p:cNvPr>
          <p:cNvSpPr>
            <a:spLocks xmlns:a="http://schemas.openxmlformats.org/drawingml/2006/main" noGrp="1"/>
          </p:cNvSpPr>
          <p:nvPr/>
        </p:nvSpPr>
        <p:spPr>
          <a:xfrm xmlns:a="http://schemas.openxmlformats.org/drawingml/2006/main">
            <a:off x="4572000" y="2476500"/>
            <a:ext cx="3238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No partial dependency on part of a composite key.</a:t>
            </a:r>
          </a:p>
        </p:txBody>
      </p:sp>
      <p:sp>
        <p:nvSpPr>
          <p:cNvPr id="10" name="text">
            <a:extLst xmlns:a="http://schemas.openxmlformats.org/drawingml/2006/main">
              <a:ext uri="{FF2B5EF4-FFF2-40B4-BE49-F238E27FC236}">
                <a16:creationId xmlns:a16="http://schemas.microsoft.com/office/drawing/2014/main" id="{D6A0E19D-02F7-4700-B0CC-A5CC42A0BA06}"/>
              </a:ext>
            </a:extLst>
          </p:cNvPr>
          <p:cNvSpPr>
            <a:spLocks xmlns:a="http://schemas.openxmlformats.org/drawingml/2006/main" noGrp="1"/>
          </p:cNvSpPr>
          <p:nvPr/>
        </p:nvSpPr>
        <p:spPr>
          <a:xfrm xmlns:a="http://schemas.openxmlformats.org/drawingml/2006/main">
            <a:off x="4572000" y="3476625"/>
            <a:ext cx="323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773"/>
                </a:solidFill>
              </a:defRPr>
            </a:pPr>
            <a:r>
              <a:rPr sz="1350" b="0">
                <a:solidFill>
                  <a:srgbClr val="5F6773"/>
                </a:solidFill>
              </a:rPr>
              <a:t>Product name depends on product_id</a:t>
            </a:r>
          </a:p>
        </p:txBody>
      </p:sp>
      <p:sp>
        <p:nvSpPr>
          <p:cNvPr id="11" name="text">
            <a:extLst xmlns:a="http://schemas.openxmlformats.org/drawingml/2006/main">
              <a:ext uri="{FF2B5EF4-FFF2-40B4-BE49-F238E27FC236}">
                <a16:creationId xmlns:a16="http://schemas.microsoft.com/office/drawing/2014/main" id="{DC9BE7E4-FF93-4798-AE47-6A7A845E8698}"/>
              </a:ext>
            </a:extLst>
          </p:cNvPr>
          <p:cNvSpPr>
            <a:spLocks xmlns:a="http://schemas.openxmlformats.org/drawingml/2006/main" noGrp="1"/>
          </p:cNvSpPr>
          <p:nvPr/>
        </p:nvSpPr>
        <p:spPr>
          <a:xfrm xmlns:a="http://schemas.openxmlformats.org/drawingml/2006/main">
            <a:off x="8382000" y="1762125"/>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FF6B5F"/>
                </a:solidFill>
              </a:defRPr>
            </a:pPr>
            <a:r>
              <a:rPr sz="3150" b="1">
                <a:solidFill>
                  <a:srgbClr val="FF6B5F"/>
                </a:solidFill>
              </a:rPr>
              <a:t>3NF</a:t>
            </a:r>
          </a:p>
        </p:txBody>
      </p:sp>
      <p:sp>
        <p:nvSpPr>
          <p:cNvPr id="12" name="text">
            <a:extLst xmlns:a="http://schemas.openxmlformats.org/drawingml/2006/main">
              <a:ext uri="{FF2B5EF4-FFF2-40B4-BE49-F238E27FC236}">
                <a16:creationId xmlns:a16="http://schemas.microsoft.com/office/drawing/2014/main" id="{038E4F03-761F-4830-AEF0-D4DE29459AED}"/>
              </a:ext>
            </a:extLst>
          </p:cNvPr>
          <p:cNvSpPr>
            <a:spLocks xmlns:a="http://schemas.openxmlformats.org/drawingml/2006/main" noGrp="1"/>
          </p:cNvSpPr>
          <p:nvPr/>
        </p:nvSpPr>
        <p:spPr>
          <a:xfrm xmlns:a="http://schemas.openxmlformats.org/drawingml/2006/main">
            <a:off x="8382000" y="2476500"/>
            <a:ext cx="3238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Non-key fields depend on the key—not on other non-key fields.</a:t>
            </a:r>
          </a:p>
        </p:txBody>
      </p:sp>
      <p:sp>
        <p:nvSpPr>
          <p:cNvPr id="13" name="text">
            <a:extLst xmlns:a="http://schemas.openxmlformats.org/drawingml/2006/main">
              <a:ext uri="{FF2B5EF4-FFF2-40B4-BE49-F238E27FC236}">
                <a16:creationId xmlns:a16="http://schemas.microsoft.com/office/drawing/2014/main" id="{59603DDD-D78B-45FB-8A9F-B49F1B3FBDF8}"/>
              </a:ext>
            </a:extLst>
          </p:cNvPr>
          <p:cNvSpPr>
            <a:spLocks xmlns:a="http://schemas.openxmlformats.org/drawingml/2006/main" noGrp="1"/>
          </p:cNvSpPr>
          <p:nvPr/>
        </p:nvSpPr>
        <p:spPr>
          <a:xfrm xmlns:a="http://schemas.openxmlformats.org/drawingml/2006/main">
            <a:off x="8382000" y="3476625"/>
            <a:ext cx="323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773"/>
                </a:solidFill>
              </a:defRPr>
            </a:pPr>
            <a:r>
              <a:rPr sz="1350" b="0">
                <a:solidFill>
                  <a:srgbClr val="5F6773"/>
                </a:solidFill>
              </a:rPr>
              <a:t>City details move out of Customer</a:t>
            </a:r>
          </a:p>
        </p:txBody>
      </p:sp>
      <p:sp>
        <p:nvSpPr>
          <p:cNvPr id="14" name="text">
            <a:extLst xmlns:a="http://schemas.openxmlformats.org/drawingml/2006/main">
              <a:ext uri="{FF2B5EF4-FFF2-40B4-BE49-F238E27FC236}">
                <a16:creationId xmlns:a16="http://schemas.microsoft.com/office/drawing/2014/main" id="{D1F7CF1D-C8CA-48E3-AD47-B6976E88F8E9}"/>
              </a:ext>
            </a:extLst>
          </p:cNvPr>
          <p:cNvSpPr>
            <a:spLocks xmlns:a="http://schemas.openxmlformats.org/drawingml/2006/main" noGrp="1"/>
          </p:cNvSpPr>
          <p:nvPr/>
        </p:nvSpPr>
        <p:spPr>
          <a:xfrm xmlns:a="http://schemas.openxmlformats.org/drawingml/2006/main">
            <a:off x="1476375" y="5143500"/>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111827"/>
                </a:solidFill>
              </a:defRPr>
            </a:pPr>
            <a:r>
              <a:rPr sz="2025" b="1">
                <a:solidFill>
                  <a:srgbClr val="111827"/>
                </a:solidFill>
              </a:rPr>
              <a:t>Normalization is a logical design tool—not a target number of tables.</a:t>
            </a:r>
          </a:p>
        </p:txBody>
      </p:sp>
      <p:sp>
        <p:nvSpPr>
          <p:cNvPr id="15" name="home">
            <a:extLst xmlns:a="http://schemas.openxmlformats.org/drawingml/2006/main">
              <a:ext uri="{FF2B5EF4-FFF2-40B4-BE49-F238E27FC236}">
                <a16:creationId xmlns:a16="http://schemas.microsoft.com/office/drawing/2014/main" id="{8EA9082E-CC41-46DE-BBA7-B08DDCC09018}"/>
              </a:ext>
            </a:extLst>
            <a:hlinkClick xmlns:p7="http://schemas.openxmlformats.org/officeDocument/2006/relationships" xmlns:a="http://schemas.openxmlformats.org/drawingml/2006/main" p7:id="rId1" action="ppaction://hlinksldjump"/>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solidFill xmlns:a="http://schemas.openxmlformats.org/drawingml/2006/main">
            <a:srgbClr val="0B1F33"/>
          </a:solidFill>
          <a:ln xmlns:a="http://schemas.openxmlformats.org/drawingml/2006/main" w="11430">
            <a:solidFill>
              <a:srgbClr val="0B1F33"/>
            </a:solidFill>
            <a:prstDash val="solid"/>
          </a:ln>
        </p:spPr>
      </p:sp>
      <p:sp>
        <p:nvSpPr>
          <p:cNvPr id="16" name="home-label">
            <a:extLst xmlns:a="http://schemas.openxmlformats.org/drawingml/2006/main">
              <a:ext uri="{FF2B5EF4-FFF2-40B4-BE49-F238E27FC236}">
                <a16:creationId xmlns:a16="http://schemas.microsoft.com/office/drawing/2014/main" id="{73452DED-CEF6-4D77-BE58-8FA67E9E9BDB}"/>
              </a:ext>
            </a:extLst>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17" name="back">
            <a:extLst xmlns:a="http://schemas.openxmlformats.org/drawingml/2006/main">
              <a:ext uri="{FF2B5EF4-FFF2-40B4-BE49-F238E27FC236}">
                <a16:creationId xmlns:a16="http://schemas.microsoft.com/office/drawing/2014/main" id="{6B92BDA2-63AA-4BA8-8D31-A4B1308DB634}"/>
              </a:ext>
            </a:extLst>
            <a:hlinkClick xmlns:p7="http://schemas.openxmlformats.org/officeDocument/2006/relationships" xmlns:a="http://schemas.openxmlformats.org/drawingml/2006/main" p7:id="rId2" action="ppaction://hlinksldjump"/>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18" name="back-label">
            <a:extLst xmlns:a="http://schemas.openxmlformats.org/drawingml/2006/main">
              <a:ext uri="{FF2B5EF4-FFF2-40B4-BE49-F238E27FC236}">
                <a16:creationId xmlns:a16="http://schemas.microsoft.com/office/drawing/2014/main" id="{8B3DA918-94EA-4BFF-8490-F07520D5FDA2}"/>
              </a:ext>
            </a:extLst>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19" name="next">
            <a:extLst xmlns:a="http://schemas.openxmlformats.org/drawingml/2006/main">
              <a:ext uri="{FF2B5EF4-FFF2-40B4-BE49-F238E27FC236}">
                <a16:creationId xmlns:a16="http://schemas.microsoft.com/office/drawing/2014/main" id="{33846CD5-4488-4C21-80ED-ADF2C66B0547}"/>
              </a:ext>
            </a:extLst>
            <a:hlinkClick xmlns:p7="http://schemas.openxmlformats.org/officeDocument/2006/relationships" xmlns:a="http://schemas.openxmlformats.org/drawingml/2006/main" p7:id="rId3" action="ppaction://hlinksldjump"/>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20" name="next-label">
            <a:extLst xmlns:a="http://schemas.openxmlformats.org/drawingml/2006/main">
              <a:ext uri="{FF2B5EF4-FFF2-40B4-BE49-F238E27FC236}">
                <a16:creationId xmlns:a16="http://schemas.microsoft.com/office/drawing/2014/main" id="{0D459F45-2B47-41AF-9621-9FCFC264199C}"/>
              </a:ext>
            </a:extLst>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Tree>
    <p:extLst>
      <p:ext uri="{BB962C8B-B14F-4D97-AF65-F5344CB8AC3E}">
        <p14:creationId xmlns:p14="http://schemas.microsoft.com/office/powerpoint/2010/main" val="448286319"/>
      </p:ext>
    </p:extLst>
  </p:cSld>
</p:sld>
</file>

<file path=ppt/slides/slide9.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0" name="text">
            <a:extLst xmlns:a="http://schemas.openxmlformats.org/drawingml/2006/main">
              <a:ext uri="{FF2B5EF4-FFF2-40B4-BE49-F238E27FC236}">
                <a16:creationId xmlns:a16="http://schemas.microsoft.com/office/drawing/2014/main" id="{72498F16-B263-4774-B67F-FF4A69219B87}"/>
              </a:ext>
            </a:extLst>
          </p:cNvPr>
          <p:cNvSpPr>
            <a:spLocks xmlns:a="http://schemas.openxmlformats.org/drawingml/2006/main" noGrp="1"/>
          </p:cNvSpPr>
          <p:nvPr/>
        </p:nvSpPr>
        <p:spPr>
          <a:xfrm xmlns:a="http://schemas.openxmlformats.org/drawingml/2006/main">
            <a:off x="571500" y="266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6DCBF4"/>
                </a:solidFill>
              </a:defRPr>
            </a:pPr>
            <a:r>
              <a:rPr sz="900" b="1">
                <a:solidFill>
                  <a:srgbClr val="6DCBF4"/>
                </a:solidFill>
              </a:rPr>
              <a:t>DATA ENGINEERING • RESEARCH TASK</a:t>
            </a:r>
          </a:p>
        </p:txBody>
      </p:sp>
      <p:sp>
        <p:nvSpPr>
          <p:cNvPr id="2" name="text">
            <a:extLst xmlns:a="http://schemas.openxmlformats.org/drawingml/2006/main">
              <a:ext uri="{FF2B5EF4-FFF2-40B4-BE49-F238E27FC236}">
                <a16:creationId xmlns:a16="http://schemas.microsoft.com/office/drawing/2014/main" id="{0FAF656A-F41B-4792-A344-2CEDCD28D7FD}"/>
              </a:ext>
            </a:extLst>
          </p:cNvPr>
          <p:cNvSpPr>
            <a:spLocks xmlns:a="http://schemas.openxmlformats.org/drawingml/2006/main" noGrp="1"/>
          </p:cNvSpPr>
          <p:nvPr/>
        </p:nvSpPr>
        <p:spPr>
          <a:xfrm xmlns:a="http://schemas.openxmlformats.org/drawingml/2006/main">
            <a:off x="5715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FFFFFF"/>
                </a:solidFill>
              </a:defRPr>
            </a:pPr>
            <a:r>
              <a:rPr sz="2625" b="1">
                <a:solidFill>
                  <a:srgbClr val="FFFFFF"/>
                </a:solidFill>
              </a:rPr>
              <a:t>Denormalization duplicates or precomputes data to speed reads</a:t>
            </a:r>
          </a:p>
        </p:txBody>
      </p:sp>
      <p:sp>
        <p:nvSpPr>
          <p:cNvPr id="3" name="">
            <a:extLst xmlns:a="http://schemas.openxmlformats.org/drawingml/2006/main">
              <a:ext uri="{FF2B5EF4-FFF2-40B4-BE49-F238E27FC236}">
                <a16:creationId xmlns:a16="http://schemas.microsoft.com/office/drawing/2014/main" id="{D37B7F0D-E9F3-4BA5-93DD-E511E985DF6F}"/>
              </a:ext>
            </a:extLst>
          </p:cNvPr>
          <p:cNvSpPr>
            <a:spLocks xmlns:a="http://schemas.openxmlformats.org/drawingml/2006/main" noGrp="1"/>
          </p:cNvSpPr>
          <p:nvPr/>
        </p:nvSpPr>
        <p:spPr>
          <a:xfrm xmlns:a="http://schemas.openxmlformats.org/drawingml/2006/main">
            <a:off x="571500" y="1257300"/>
            <a:ext cx="11049000" cy="9525"/>
          </a:xfrm>
          <a:prstGeom xmlns:a="http://schemas.openxmlformats.org/drawingml/2006/main" prst="line">
            <a:avLst/>
          </a:prstGeom>
          <a:ln xmlns:a="http://schemas.openxmlformats.org/drawingml/2006/main" w="9525">
            <a:solidFill>
              <a:srgbClr val="31506B"/>
            </a:solidFill>
            <a:prstDash val="solid"/>
          </a:ln>
        </p:spPr>
      </p:sp>
      <p:sp>
        <p:nvSpPr>
          <p:cNvPr id="4" name="text">
            <a:extLst xmlns:a="http://schemas.openxmlformats.org/drawingml/2006/main">
              <a:ext uri="{FF2B5EF4-FFF2-40B4-BE49-F238E27FC236}">
                <a16:creationId xmlns:a16="http://schemas.microsoft.com/office/drawing/2014/main" id="{9976FF77-871D-459E-B657-C35579F1F8BC}"/>
              </a:ext>
            </a:extLst>
          </p:cNvPr>
          <p:cNvSpPr>
            <a:spLocks xmlns:a="http://schemas.openxmlformats.org/drawingml/2006/main" noGrp="1"/>
          </p:cNvSpPr>
          <p:nvPr/>
        </p:nvSpPr>
        <p:spPr>
          <a:xfrm xmlns:a="http://schemas.openxmlformats.org/drawingml/2006/main">
            <a:off x="11096625" y="64293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DCBF4"/>
                </a:solidFill>
              </a:defRPr>
            </a:pPr>
            <a:r>
              <a:rPr sz="825" b="1">
                <a:solidFill>
                  <a:srgbClr val="6DCBF4"/>
                </a:solidFill>
              </a:rPr>
              <a:t>09</a:t>
            </a:r>
          </a:p>
        </p:txBody>
      </p:sp>
      <p:sp>
        <p:nvSpPr>
          <p:cNvPr id="5" name="text">
            <a:extLst xmlns:a="http://schemas.openxmlformats.org/drawingml/2006/main">
              <a:ext uri="{FF2B5EF4-FFF2-40B4-BE49-F238E27FC236}">
                <a16:creationId xmlns:a16="http://schemas.microsoft.com/office/drawing/2014/main" id="{AAA28069-B4BE-4C3B-AC93-7B593CD98CF3}"/>
              </a:ext>
            </a:extLst>
          </p:cNvPr>
          <p:cNvSpPr>
            <a:spLocks xmlns:a="http://schemas.openxmlformats.org/drawingml/2006/main" noGrp="1"/>
          </p:cNvSpPr>
          <p:nvPr/>
        </p:nvSpPr>
        <p:spPr>
          <a:xfrm xmlns:a="http://schemas.openxmlformats.org/drawingml/2006/main">
            <a:off x="714375" y="17145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6DCBF4"/>
                </a:solidFill>
              </a:defRPr>
            </a:pPr>
            <a:r>
              <a:rPr sz="2100" b="1">
                <a:solidFill>
                  <a:srgbClr val="6DCBF4"/>
                </a:solidFill>
              </a:rPr>
              <a:t>Analytics_Order_Summary</a:t>
            </a:r>
          </a:p>
        </p:txBody>
      </p:sp>
      <p:sp>
        <p:nvSpPr>
          <p:cNvPr id="6" name="shape">
            <a:extLst xmlns:a="http://schemas.openxmlformats.org/drawingml/2006/main">
              <a:ext uri="{FF2B5EF4-FFF2-40B4-BE49-F238E27FC236}">
                <a16:creationId xmlns:a16="http://schemas.microsoft.com/office/drawing/2014/main" id="{EA11855F-D1ED-4E7F-B571-DC83AEF977AC}"/>
              </a:ext>
            </a:extLst>
          </p:cNvPr>
          <p:cNvSpPr>
            <a:spLocks xmlns:a="http://schemas.openxmlformats.org/drawingml/2006/main" noGrp="1"/>
          </p:cNvSpPr>
          <p:nvPr/>
        </p:nvSpPr>
        <p:spPr>
          <a:xfrm xmlns:a="http://schemas.openxmlformats.org/drawingml/2006/main">
            <a:off x="714375" y="2333625"/>
            <a:ext cx="4476750" cy="2857500"/>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7C9381A-F3D3-438B-B5BC-3458B9BC34BC}"/>
              </a:ext>
            </a:extLst>
          </p:cNvPr>
          <p:cNvSpPr>
            <a:spLocks xmlns:a="http://schemas.openxmlformats.org/drawingml/2006/main" noGrp="1"/>
          </p:cNvSpPr>
          <p:nvPr/>
        </p:nvSpPr>
        <p:spPr>
          <a:xfrm xmlns:a="http://schemas.openxmlformats.org/drawingml/2006/main">
            <a:off x="714375" y="2333625"/>
            <a:ext cx="66675" cy="285750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8" name="text">
            <a:extLst xmlns:a="http://schemas.openxmlformats.org/drawingml/2006/main">
              <a:ext uri="{FF2B5EF4-FFF2-40B4-BE49-F238E27FC236}">
                <a16:creationId xmlns:a16="http://schemas.microsoft.com/office/drawing/2014/main" id="{C5C89443-EA40-4634-BA69-3E207287F2E9}"/>
              </a:ext>
            </a:extLst>
          </p:cNvPr>
          <p:cNvSpPr>
            <a:spLocks xmlns:a="http://schemas.openxmlformats.org/drawingml/2006/main" noGrp="1"/>
          </p:cNvSpPr>
          <p:nvPr/>
        </p:nvSpPr>
        <p:spPr>
          <a:xfrm xmlns:a="http://schemas.openxmlformats.org/drawingml/2006/main">
            <a:off x="904875" y="2466975"/>
            <a:ext cx="411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One wide read-optimized table</a:t>
            </a:r>
          </a:p>
        </p:txBody>
      </p:sp>
      <p:sp>
        <p:nvSpPr>
          <p:cNvPr id="9" name="text">
            <a:extLst xmlns:a="http://schemas.openxmlformats.org/drawingml/2006/main">
              <a:ext uri="{FF2B5EF4-FFF2-40B4-BE49-F238E27FC236}">
                <a16:creationId xmlns:a16="http://schemas.microsoft.com/office/drawing/2014/main" id="{1C2B9020-872D-4A92-9202-944B1B213E5F}"/>
              </a:ext>
            </a:extLst>
          </p:cNvPr>
          <p:cNvSpPr>
            <a:spLocks xmlns:a="http://schemas.openxmlformats.org/drawingml/2006/main" noGrp="1"/>
          </p:cNvSpPr>
          <p:nvPr/>
        </p:nvSpPr>
        <p:spPr>
          <a:xfrm xmlns:a="http://schemas.openxmlformats.org/drawingml/2006/main">
            <a:off x="904875" y="2857500"/>
            <a:ext cx="41148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order_id</a:t>
            </a:r>
          </a:p>
          <a:p xmlns:a="http://schemas.openxmlformats.org/drawingml/2006/main">
            <a:pPr algn="l">
              <a:defRPr sz="1275" b="0">
                <a:solidFill>
                  <a:srgbClr val="5F6773"/>
                </a:solidFill>
              </a:defRPr>
            </a:pPr>
            <a:r>
              <a:rPr sz="1275" b="0">
                <a:solidFill>
                  <a:srgbClr val="5F6773"/>
                </a:solidFill>
              </a:rPr>
              <a:t>order_date</a:t>
            </a:r>
          </a:p>
          <a:p xmlns:a="http://schemas.openxmlformats.org/drawingml/2006/main">
            <a:pPr algn="l">
              <a:defRPr sz="1275" b="0">
                <a:solidFill>
                  <a:srgbClr val="5F6773"/>
                </a:solidFill>
              </a:defRPr>
            </a:pPr>
            <a:r>
              <a:rPr sz="1275" b="0">
                <a:solidFill>
                  <a:srgbClr val="5F6773"/>
                </a:solidFill>
              </a:rPr>
              <a:t>customer_name</a:t>
            </a:r>
          </a:p>
          <a:p xmlns:a="http://schemas.openxmlformats.org/drawingml/2006/main">
            <a:pPr algn="l">
              <a:defRPr sz="1275" b="0">
                <a:solidFill>
                  <a:srgbClr val="5F6773"/>
                </a:solidFill>
              </a:defRPr>
            </a:pPr>
            <a:r>
              <a:rPr sz="1275" b="0">
                <a:solidFill>
                  <a:srgbClr val="5F6773"/>
                </a:solidFill>
              </a:rPr>
              <a:t>product_name</a:t>
            </a:r>
          </a:p>
          <a:p xmlns:a="http://schemas.openxmlformats.org/drawingml/2006/main">
            <a:pPr algn="l">
              <a:defRPr sz="1275" b="0">
                <a:solidFill>
                  <a:srgbClr val="5F6773"/>
                </a:solidFill>
              </a:defRPr>
            </a:pPr>
            <a:r>
              <a:rPr sz="1275" b="0">
                <a:solidFill>
                  <a:srgbClr val="5F6773"/>
                </a:solidFill>
              </a:rPr>
              <a:t>unit_price</a:t>
            </a:r>
          </a:p>
          <a:p xmlns:a="http://schemas.openxmlformats.org/drawingml/2006/main">
            <a:pPr algn="l">
              <a:defRPr sz="1275" b="0">
                <a:solidFill>
                  <a:srgbClr val="5F6773"/>
                </a:solidFill>
              </a:defRPr>
            </a:pPr>
            <a:r>
              <a:rPr sz="1275" b="0">
                <a:solidFill>
                  <a:srgbClr val="5F6773"/>
                </a:solidFill>
              </a:rPr>
              <a:t>quantity</a:t>
            </a:r>
          </a:p>
          <a:p xmlns:a="http://schemas.openxmlformats.org/drawingml/2006/main">
            <a:pPr algn="l">
              <a:defRPr sz="1275" b="0">
                <a:solidFill>
                  <a:srgbClr val="5F6773"/>
                </a:solidFill>
              </a:defRPr>
            </a:pPr>
            <a:r>
              <a:rPr sz="1275" b="0">
                <a:solidFill>
                  <a:srgbClr val="5F6773"/>
                </a:solidFill>
              </a:rPr>
              <a:t>total_amount</a:t>
            </a:r>
          </a:p>
        </p:txBody>
      </p:sp>
      <p:sp>
        <p:nvSpPr>
          <p:cNvPr id="10" name="text">
            <a:extLst xmlns:a="http://schemas.openxmlformats.org/drawingml/2006/main">
              <a:ext uri="{FF2B5EF4-FFF2-40B4-BE49-F238E27FC236}">
                <a16:creationId xmlns:a16="http://schemas.microsoft.com/office/drawing/2014/main" id="{7B54D6A1-7836-4F61-B921-2A2387A2144F}"/>
              </a:ext>
            </a:extLst>
          </p:cNvPr>
          <p:cNvSpPr>
            <a:spLocks xmlns:a="http://schemas.openxmlformats.org/drawingml/2006/main" noGrp="1"/>
          </p:cNvSpPr>
          <p:nvPr/>
        </p:nvSpPr>
        <p:spPr>
          <a:xfrm xmlns:a="http://schemas.openxmlformats.org/drawingml/2006/main">
            <a:off x="6762750" y="2143125"/>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FFFFFF"/>
                </a:solidFill>
              </a:defRPr>
            </a:pPr>
            <a:r>
              <a:rPr sz="2400" b="1">
                <a:solidFill>
                  <a:srgbClr val="FFFFFF"/>
                </a:solidFill>
              </a:rPr>
              <a:t>Fewer joins</a:t>
            </a:r>
          </a:p>
        </p:txBody>
      </p:sp>
      <p:sp>
        <p:nvSpPr>
          <p:cNvPr id="11" name="text">
            <a:extLst xmlns:a="http://schemas.openxmlformats.org/drawingml/2006/main">
              <a:ext uri="{FF2B5EF4-FFF2-40B4-BE49-F238E27FC236}">
                <a16:creationId xmlns:a16="http://schemas.microsoft.com/office/drawing/2014/main" id="{469E864F-3AFF-49D0-86FE-F9EA4BE50B85}"/>
              </a:ext>
            </a:extLst>
          </p:cNvPr>
          <p:cNvSpPr>
            <a:spLocks xmlns:a="http://schemas.openxmlformats.org/drawingml/2006/main" noGrp="1"/>
          </p:cNvSpPr>
          <p:nvPr/>
        </p:nvSpPr>
        <p:spPr>
          <a:xfrm xmlns:a="http://schemas.openxmlformats.org/drawingml/2006/main">
            <a:off x="6762750" y="2762250"/>
            <a:ext cx="4000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CBD8E5"/>
                </a:solidFill>
              </a:defRPr>
            </a:pPr>
            <a:r>
              <a:rPr sz="1650" b="0">
                <a:solidFill>
                  <a:srgbClr val="CBD8E5"/>
                </a:solidFill>
              </a:rPr>
              <a:t>Faster dashboards and repeated queries</a:t>
            </a:r>
          </a:p>
        </p:txBody>
      </p:sp>
      <p:sp>
        <p:nvSpPr>
          <p:cNvPr id="12" name="text">
            <a:extLst xmlns:a="http://schemas.openxmlformats.org/drawingml/2006/main">
              <a:ext uri="{FF2B5EF4-FFF2-40B4-BE49-F238E27FC236}">
                <a16:creationId xmlns:a16="http://schemas.microsoft.com/office/drawing/2014/main" id="{EA29DF5D-957C-4898-A237-523EA784D237}"/>
              </a:ext>
            </a:extLst>
          </p:cNvPr>
          <p:cNvSpPr>
            <a:spLocks xmlns:a="http://schemas.openxmlformats.org/drawingml/2006/main" noGrp="1"/>
          </p:cNvSpPr>
          <p:nvPr/>
        </p:nvSpPr>
        <p:spPr>
          <a:xfrm xmlns:a="http://schemas.openxmlformats.org/drawingml/2006/main">
            <a:off x="6762750" y="3905250"/>
            <a:ext cx="419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6B5F"/>
                </a:solidFill>
              </a:defRPr>
            </a:pPr>
            <a:r>
              <a:rPr sz="1875" b="1">
                <a:solidFill>
                  <a:srgbClr val="FF6B5F"/>
                </a:solidFill>
              </a:rPr>
              <a:t>But duplicated values must stay synchronized</a:t>
            </a:r>
          </a:p>
        </p:txBody>
      </p:sp>
      <p:sp>
        <p:nvSpPr>
          <p:cNvPr id="13" name="text">
            <a:extLst xmlns:a="http://schemas.openxmlformats.org/drawingml/2006/main">
              <a:ext uri="{FF2B5EF4-FFF2-40B4-BE49-F238E27FC236}">
                <a16:creationId xmlns:a16="http://schemas.microsoft.com/office/drawing/2014/main" id="{1C7E6850-F1BB-4D9F-BA6A-13ED6A61059D}"/>
              </a:ext>
            </a:extLst>
          </p:cNvPr>
          <p:cNvSpPr>
            <a:spLocks xmlns:a="http://schemas.openxmlformats.org/drawingml/2006/main" noGrp="1"/>
          </p:cNvSpPr>
          <p:nvPr/>
        </p:nvSpPr>
        <p:spPr>
          <a:xfrm xmlns:a="http://schemas.openxmlformats.org/drawingml/2006/main">
            <a:off x="6096000" y="5000625"/>
            <a:ext cx="514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6DCBF4"/>
                </a:solidFill>
              </a:defRPr>
            </a:pPr>
            <a:r>
              <a:rPr sz="1500" b="1">
                <a:solidFill>
                  <a:srgbClr val="6DCBF4"/>
                </a:solidFill>
              </a:rPr>
              <a:t>Typical techniques: summary tables • materialized views • cached aggregates</a:t>
            </a:r>
          </a:p>
        </p:txBody>
      </p:sp>
      <p:sp>
        <p:nvSpPr>
          <p:cNvPr id="14" name="home">
            <a:extLst xmlns:a="http://schemas.openxmlformats.org/drawingml/2006/main">
              <a:ext uri="{FF2B5EF4-FFF2-40B4-BE49-F238E27FC236}">
                <a16:creationId xmlns:a16="http://schemas.microsoft.com/office/drawing/2014/main" id="{1624693A-F943-4DE1-B2AE-8B97FD0D1AAF}"/>
              </a:ext>
            </a:extLst>
            <a:hlinkClick xmlns:p7="http://schemas.openxmlformats.org/officeDocument/2006/relationships" xmlns:a="http://schemas.openxmlformats.org/drawingml/2006/main" p7:id="rId1" action="ppaction://hlinksldjump"/>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solidFill xmlns:a="http://schemas.openxmlformats.org/drawingml/2006/main">
            <a:srgbClr val="0B1F33"/>
          </a:solidFill>
          <a:ln xmlns:a="http://schemas.openxmlformats.org/drawingml/2006/main" w="11430">
            <a:solidFill>
              <a:srgbClr val="0B1F33"/>
            </a:solidFill>
            <a:prstDash val="solid"/>
          </a:ln>
        </p:spPr>
      </p:sp>
      <p:sp>
        <p:nvSpPr>
          <p:cNvPr id="15" name="home-label">
            <a:extLst xmlns:a="http://schemas.openxmlformats.org/drawingml/2006/main">
              <a:ext uri="{FF2B5EF4-FFF2-40B4-BE49-F238E27FC236}">
                <a16:creationId xmlns:a16="http://schemas.microsoft.com/office/drawing/2014/main" id="{6FF7E2AB-E653-45DB-BF9A-9E5E3AFD5C10}"/>
              </a:ext>
            </a:extLst>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16" name="back">
            <a:extLst xmlns:a="http://schemas.openxmlformats.org/drawingml/2006/main">
              <a:ext uri="{FF2B5EF4-FFF2-40B4-BE49-F238E27FC236}">
                <a16:creationId xmlns:a16="http://schemas.microsoft.com/office/drawing/2014/main" id="{73427EFF-DA82-4E63-A1C0-AB6A12687EBE}"/>
              </a:ext>
            </a:extLst>
            <a:hlinkClick xmlns:p7="http://schemas.openxmlformats.org/officeDocument/2006/relationships" xmlns:a="http://schemas.openxmlformats.org/drawingml/2006/main" p7:id="rId2" action="ppaction://hlinksldjump"/>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17" name="back-label">
            <a:extLst xmlns:a="http://schemas.openxmlformats.org/drawingml/2006/main">
              <a:ext uri="{FF2B5EF4-FFF2-40B4-BE49-F238E27FC236}">
                <a16:creationId xmlns:a16="http://schemas.microsoft.com/office/drawing/2014/main" id="{8170E364-3F77-4A09-81FE-6AAD8E903094}"/>
              </a:ext>
            </a:extLst>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18" name="next">
            <a:extLst xmlns:a="http://schemas.openxmlformats.org/drawingml/2006/main">
              <a:ext uri="{FF2B5EF4-FFF2-40B4-BE49-F238E27FC236}">
                <a16:creationId xmlns:a16="http://schemas.microsoft.com/office/drawing/2014/main" id="{40AB9A41-FF66-472F-9D38-B26F16650330}"/>
              </a:ext>
            </a:extLst>
            <a:hlinkClick xmlns:p7="http://schemas.openxmlformats.org/officeDocument/2006/relationships" xmlns:a="http://schemas.openxmlformats.org/drawingml/2006/main" p7:id="rId3" action="ppaction://hlinksldjump"/>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19" name="next-label">
            <a:extLst xmlns:a="http://schemas.openxmlformats.org/drawingml/2006/main">
              <a:ext uri="{FF2B5EF4-FFF2-40B4-BE49-F238E27FC236}">
                <a16:creationId xmlns:a16="http://schemas.microsoft.com/office/drawing/2014/main" id="{D7E24C4F-6D4A-4D4A-A1B2-5A1B14BCE6A3}"/>
              </a:ext>
            </a:extLst>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Tree>
    <p:extLst>
      <p:ext uri="{BB962C8B-B14F-4D97-AF65-F5344CB8AC3E}">
        <p14:creationId xmlns:p14="http://schemas.microsoft.com/office/powerpoint/2010/main" val="12297378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text">
            <a:extLst xmlns:a="http://schemas.openxmlformats.org/drawingml/2006/main">
              <a:ext uri="{FF2B5EF4-FFF2-40B4-BE49-F238E27FC236}">
                <a16:creationId xmlns:a16="http://schemas.microsoft.com/office/drawing/2014/main" id="{1C993A0D-4A89-4473-9CED-5DB727ACB6D2}"/>
              </a:ext>
            </a:extLst>
          </p:cNvPr>
          <p:cNvSpPr>
            <a:spLocks xmlns:a="http://schemas.openxmlformats.org/drawingml/2006/main" noGrp="1"/>
          </p:cNvSpPr>
          <p:nvPr/>
        </p:nvSpPr>
        <p:spPr>
          <a:xfrm xmlns:a="http://schemas.openxmlformats.org/drawingml/2006/main">
            <a:off x="571500" y="266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D8DFF"/>
                </a:solidFill>
              </a:defRPr>
            </a:pPr>
            <a:r>
              <a:rPr sz="900" b="1">
                <a:solidFill>
                  <a:srgbClr val="3D8DFF"/>
                </a:solidFill>
              </a:rPr>
              <a:t>DATA ENGINEERING • RESEARCH TASK</a:t>
            </a:r>
          </a:p>
        </p:txBody>
      </p:sp>
      <p:sp>
        <p:nvSpPr>
          <p:cNvPr id="2" name="text">
            <a:extLst xmlns:a="http://schemas.openxmlformats.org/drawingml/2006/main">
              <a:ext uri="{FF2B5EF4-FFF2-40B4-BE49-F238E27FC236}">
                <a16:creationId xmlns:a16="http://schemas.microsoft.com/office/drawing/2014/main" id="{E17A985C-A4E6-4EDE-9DD7-7DD39D41835A}"/>
              </a:ext>
            </a:extLst>
          </p:cNvPr>
          <p:cNvSpPr>
            <a:spLocks xmlns:a="http://schemas.openxmlformats.org/drawingml/2006/main" noGrp="1"/>
          </p:cNvSpPr>
          <p:nvPr/>
        </p:nvSpPr>
        <p:spPr>
          <a:xfrm xmlns:a="http://schemas.openxmlformats.org/drawingml/2006/main">
            <a:off x="5715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11827"/>
                </a:solidFill>
              </a:defRPr>
            </a:pPr>
            <a:r>
              <a:rPr sz="2625" b="1">
                <a:solidFill>
                  <a:srgbClr val="111827"/>
                </a:solidFill>
              </a:rPr>
              <a:t>Normalization favors integrity; denormalization favors read performance</a:t>
            </a:r>
          </a:p>
        </p:txBody>
      </p:sp>
      <p:sp>
        <p:nvSpPr>
          <p:cNvPr id="3" name="">
            <a:extLst xmlns:a="http://schemas.openxmlformats.org/drawingml/2006/main">
              <a:ext uri="{FF2B5EF4-FFF2-40B4-BE49-F238E27FC236}">
                <a16:creationId xmlns:a16="http://schemas.microsoft.com/office/drawing/2014/main" id="{7A609E63-75C4-4513-B3A3-39613412F66D}"/>
              </a:ext>
            </a:extLst>
          </p:cNvPr>
          <p:cNvSpPr>
            <a:spLocks xmlns:a="http://schemas.openxmlformats.org/drawingml/2006/main" noGrp="1"/>
          </p:cNvSpPr>
          <p:nvPr/>
        </p:nvSpPr>
        <p:spPr>
          <a:xfrm xmlns:a="http://schemas.openxmlformats.org/drawingml/2006/main">
            <a:off x="571500" y="1257300"/>
            <a:ext cx="11049000" cy="9525"/>
          </a:xfrm>
          <a:prstGeom xmlns:a="http://schemas.openxmlformats.org/drawingml/2006/main" prst="line">
            <a:avLst/>
          </a:prstGeom>
          <a:ln xmlns:a="http://schemas.openxmlformats.org/drawingml/2006/main" w="9525">
            <a:solidFill>
              <a:srgbClr val="B8BCC4"/>
            </a:solidFill>
            <a:prstDash val="solid"/>
          </a:ln>
        </p:spPr>
      </p:sp>
      <p:sp>
        <p:nvSpPr>
          <p:cNvPr id="4" name="text">
            <a:extLst xmlns:a="http://schemas.openxmlformats.org/drawingml/2006/main">
              <a:ext uri="{FF2B5EF4-FFF2-40B4-BE49-F238E27FC236}">
                <a16:creationId xmlns:a16="http://schemas.microsoft.com/office/drawing/2014/main" id="{022B65BA-FDD3-4906-A542-EC3B33926BBC}"/>
              </a:ext>
            </a:extLst>
          </p:cNvPr>
          <p:cNvSpPr>
            <a:spLocks xmlns:a="http://schemas.openxmlformats.org/drawingml/2006/main" noGrp="1"/>
          </p:cNvSpPr>
          <p:nvPr/>
        </p:nvSpPr>
        <p:spPr>
          <a:xfrm xmlns:a="http://schemas.openxmlformats.org/drawingml/2006/main">
            <a:off x="11096625" y="64293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F6773"/>
                </a:solidFill>
              </a:defRPr>
            </a:pPr>
            <a:r>
              <a:rPr sz="825" b="1">
                <a:solidFill>
                  <a:srgbClr val="5F6773"/>
                </a:solidFill>
              </a:rPr>
              <a:t>10</a:t>
            </a:r>
          </a:p>
        </p:txBody>
      </p:sp>
      <p:sp>
        <p:nvSpPr>
          <p:cNvPr id="5" name="text">
            <a:extLst xmlns:a="http://schemas.openxmlformats.org/drawingml/2006/main">
              <a:ext uri="{FF2B5EF4-FFF2-40B4-BE49-F238E27FC236}">
                <a16:creationId xmlns:a16="http://schemas.microsoft.com/office/drawing/2014/main" id="{D970B623-E490-4FF2-9371-8BDCD9970F19}"/>
              </a:ext>
            </a:extLst>
          </p:cNvPr>
          <p:cNvSpPr>
            <a:spLocks xmlns:a="http://schemas.openxmlformats.org/drawingml/2006/main" noGrp="1"/>
          </p:cNvSpPr>
          <p:nvPr/>
        </p:nvSpPr>
        <p:spPr>
          <a:xfrm xmlns:a="http://schemas.openxmlformats.org/drawingml/2006/main">
            <a:off x="619125" y="16668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5F6773"/>
                </a:solidFill>
              </a:defRPr>
            </a:pPr>
            <a:r>
              <a:rPr sz="1500" b="1">
                <a:solidFill>
                  <a:srgbClr val="5F6773"/>
                </a:solidFill>
              </a:rPr>
              <a:t>Decision factor</a:t>
            </a:r>
          </a:p>
        </p:txBody>
      </p:sp>
      <p:sp>
        <p:nvSpPr>
          <p:cNvPr id="6" name="text">
            <a:extLst xmlns:a="http://schemas.openxmlformats.org/drawingml/2006/main">
              <a:ext uri="{FF2B5EF4-FFF2-40B4-BE49-F238E27FC236}">
                <a16:creationId xmlns:a16="http://schemas.microsoft.com/office/drawing/2014/main" id="{5B433DFF-355F-4758-ACA0-D6C98220E9AD}"/>
              </a:ext>
            </a:extLst>
          </p:cNvPr>
          <p:cNvSpPr>
            <a:spLocks xmlns:a="http://schemas.openxmlformats.org/drawingml/2006/main" noGrp="1"/>
          </p:cNvSpPr>
          <p:nvPr/>
        </p:nvSpPr>
        <p:spPr>
          <a:xfrm xmlns:a="http://schemas.openxmlformats.org/drawingml/2006/main">
            <a:off x="4000500" y="166687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7AE60"/>
                </a:solidFill>
              </a:defRPr>
            </a:pPr>
            <a:r>
              <a:rPr sz="1875" b="1">
                <a:solidFill>
                  <a:srgbClr val="27AE60"/>
                </a:solidFill>
              </a:rPr>
              <a:t>Normalized</a:t>
            </a:r>
          </a:p>
        </p:txBody>
      </p:sp>
      <p:sp>
        <p:nvSpPr>
          <p:cNvPr id="7" name="text">
            <a:extLst xmlns:a="http://schemas.openxmlformats.org/drawingml/2006/main">
              <a:ext uri="{FF2B5EF4-FFF2-40B4-BE49-F238E27FC236}">
                <a16:creationId xmlns:a16="http://schemas.microsoft.com/office/drawing/2014/main" id="{6377B467-9631-4220-B11D-3067EDE83D7A}"/>
              </a:ext>
            </a:extLst>
          </p:cNvPr>
          <p:cNvSpPr>
            <a:spLocks xmlns:a="http://schemas.openxmlformats.org/drawingml/2006/main" noGrp="1"/>
          </p:cNvSpPr>
          <p:nvPr/>
        </p:nvSpPr>
        <p:spPr>
          <a:xfrm xmlns:a="http://schemas.openxmlformats.org/drawingml/2006/main">
            <a:off x="7810500" y="166687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6B5F"/>
                </a:solidFill>
              </a:defRPr>
            </a:pPr>
            <a:r>
              <a:rPr sz="1875" b="1">
                <a:solidFill>
                  <a:srgbClr val="FF6B5F"/>
                </a:solidFill>
              </a:rPr>
              <a:t>Denormalized</a:t>
            </a:r>
          </a:p>
        </p:txBody>
      </p:sp>
      <p:sp>
        <p:nvSpPr>
          <p:cNvPr id="8" name="shape">
            <a:extLst xmlns:a="http://schemas.openxmlformats.org/drawingml/2006/main">
              <a:ext uri="{FF2B5EF4-FFF2-40B4-BE49-F238E27FC236}">
                <a16:creationId xmlns:a16="http://schemas.microsoft.com/office/drawing/2014/main" id="{C8A1A2B5-6868-4F52-B283-159AF74F2D8F}"/>
              </a:ext>
            </a:extLst>
          </p:cNvPr>
          <p:cNvSpPr>
            <a:spLocks xmlns:a="http://schemas.openxmlformats.org/drawingml/2006/main" noGrp="1"/>
          </p:cNvSpPr>
          <p:nvPr/>
        </p:nvSpPr>
        <p:spPr>
          <a:xfrm xmlns:a="http://schemas.openxmlformats.org/drawingml/2006/main">
            <a:off x="571500" y="2143125"/>
            <a:ext cx="11049000" cy="5905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145CE121-0973-41F3-B125-77CC7A233587}"/>
              </a:ext>
            </a:extLst>
          </p:cNvPr>
          <p:cNvSpPr>
            <a:spLocks xmlns:a="http://schemas.openxmlformats.org/drawingml/2006/main" noGrp="1"/>
          </p:cNvSpPr>
          <p:nvPr/>
        </p:nvSpPr>
        <p:spPr>
          <a:xfrm xmlns:a="http://schemas.openxmlformats.org/drawingml/2006/main">
            <a:off x="714375" y="2143125"/>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Primary goal</a:t>
            </a:r>
          </a:p>
        </p:txBody>
      </p:sp>
      <p:sp>
        <p:nvSpPr>
          <p:cNvPr id="10" name="text">
            <a:extLst xmlns:a="http://schemas.openxmlformats.org/drawingml/2006/main">
              <a:ext uri="{FF2B5EF4-FFF2-40B4-BE49-F238E27FC236}">
                <a16:creationId xmlns:a16="http://schemas.microsoft.com/office/drawing/2014/main" id="{F748296E-0EBB-4923-A553-4F762C882263}"/>
              </a:ext>
            </a:extLst>
          </p:cNvPr>
          <p:cNvSpPr>
            <a:spLocks xmlns:a="http://schemas.openxmlformats.org/drawingml/2006/main" noGrp="1"/>
          </p:cNvSpPr>
          <p:nvPr/>
        </p:nvSpPr>
        <p:spPr>
          <a:xfrm xmlns:a="http://schemas.openxmlformats.org/drawingml/2006/main">
            <a:off x="3333750" y="2143125"/>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Reduce redundancy and anomalies</a:t>
            </a:r>
          </a:p>
        </p:txBody>
      </p:sp>
      <p:sp>
        <p:nvSpPr>
          <p:cNvPr id="11" name="text">
            <a:extLst xmlns:a="http://schemas.openxmlformats.org/drawingml/2006/main">
              <a:ext uri="{FF2B5EF4-FFF2-40B4-BE49-F238E27FC236}">
                <a16:creationId xmlns:a16="http://schemas.microsoft.com/office/drawing/2014/main" id="{A445693E-ACE4-46EE-9D5A-EA060DBAD4FF}"/>
              </a:ext>
            </a:extLst>
          </p:cNvPr>
          <p:cNvSpPr>
            <a:spLocks xmlns:a="http://schemas.openxmlformats.org/drawingml/2006/main" noGrp="1"/>
          </p:cNvSpPr>
          <p:nvPr/>
        </p:nvSpPr>
        <p:spPr>
          <a:xfrm xmlns:a="http://schemas.openxmlformats.org/drawingml/2006/main">
            <a:off x="7429500" y="2143125"/>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Reduce joins and query work</a:t>
            </a:r>
          </a:p>
        </p:txBody>
      </p:sp>
      <p:sp>
        <p:nvSpPr>
          <p:cNvPr id="12" name="text">
            <a:extLst xmlns:a="http://schemas.openxmlformats.org/drawingml/2006/main">
              <a:ext uri="{FF2B5EF4-FFF2-40B4-BE49-F238E27FC236}">
                <a16:creationId xmlns:a16="http://schemas.microsoft.com/office/drawing/2014/main" id="{6F42C38F-46A3-48D4-979D-E393999C5EEC}"/>
              </a:ext>
            </a:extLst>
          </p:cNvPr>
          <p:cNvSpPr>
            <a:spLocks xmlns:a="http://schemas.openxmlformats.org/drawingml/2006/main" noGrp="1"/>
          </p:cNvSpPr>
          <p:nvPr/>
        </p:nvSpPr>
        <p:spPr>
          <a:xfrm xmlns:a="http://schemas.openxmlformats.org/drawingml/2006/main">
            <a:off x="714375" y="285750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Writes</a:t>
            </a:r>
          </a:p>
        </p:txBody>
      </p:sp>
      <p:sp>
        <p:nvSpPr>
          <p:cNvPr id="13" name="text">
            <a:extLst xmlns:a="http://schemas.openxmlformats.org/drawingml/2006/main">
              <a:ext uri="{FF2B5EF4-FFF2-40B4-BE49-F238E27FC236}">
                <a16:creationId xmlns:a16="http://schemas.microsoft.com/office/drawing/2014/main" id="{B32F6A9B-7002-44EB-9D7C-F8E1E2BEC390}"/>
              </a:ext>
            </a:extLst>
          </p:cNvPr>
          <p:cNvSpPr>
            <a:spLocks xmlns:a="http://schemas.openxmlformats.org/drawingml/2006/main" noGrp="1"/>
          </p:cNvSpPr>
          <p:nvPr/>
        </p:nvSpPr>
        <p:spPr>
          <a:xfrm xmlns:a="http://schemas.openxmlformats.org/drawingml/2006/main">
            <a:off x="3333750" y="2857500"/>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Simpler consistency, more related tables</a:t>
            </a:r>
          </a:p>
        </p:txBody>
      </p:sp>
      <p:sp>
        <p:nvSpPr>
          <p:cNvPr id="14" name="text">
            <a:extLst xmlns:a="http://schemas.openxmlformats.org/drawingml/2006/main">
              <a:ext uri="{FF2B5EF4-FFF2-40B4-BE49-F238E27FC236}">
                <a16:creationId xmlns:a16="http://schemas.microsoft.com/office/drawing/2014/main" id="{23075369-50FB-4CE9-9331-F673B19F9ABB}"/>
              </a:ext>
            </a:extLst>
          </p:cNvPr>
          <p:cNvSpPr>
            <a:spLocks xmlns:a="http://schemas.openxmlformats.org/drawingml/2006/main" noGrp="1"/>
          </p:cNvSpPr>
          <p:nvPr/>
        </p:nvSpPr>
        <p:spPr>
          <a:xfrm xmlns:a="http://schemas.openxmlformats.org/drawingml/2006/main">
            <a:off x="7429500" y="2857500"/>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More copies to update or refresh</a:t>
            </a:r>
          </a:p>
        </p:txBody>
      </p:sp>
      <p:sp>
        <p:nvSpPr>
          <p:cNvPr id="15" name="shape">
            <a:extLst xmlns:a="http://schemas.openxmlformats.org/drawingml/2006/main">
              <a:ext uri="{FF2B5EF4-FFF2-40B4-BE49-F238E27FC236}">
                <a16:creationId xmlns:a16="http://schemas.microsoft.com/office/drawing/2014/main" id="{75DC136D-B0A2-4C45-B3D0-6D8506F98445}"/>
              </a:ext>
            </a:extLst>
          </p:cNvPr>
          <p:cNvSpPr>
            <a:spLocks xmlns:a="http://schemas.openxmlformats.org/drawingml/2006/main" noGrp="1"/>
          </p:cNvSpPr>
          <p:nvPr/>
        </p:nvSpPr>
        <p:spPr>
          <a:xfrm xmlns:a="http://schemas.openxmlformats.org/drawingml/2006/main">
            <a:off x="571500" y="3571875"/>
            <a:ext cx="11049000" cy="5905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07554608-701A-4793-9045-82F4D8BA9573}"/>
              </a:ext>
            </a:extLst>
          </p:cNvPr>
          <p:cNvSpPr>
            <a:spLocks xmlns:a="http://schemas.openxmlformats.org/drawingml/2006/main" noGrp="1"/>
          </p:cNvSpPr>
          <p:nvPr/>
        </p:nvSpPr>
        <p:spPr>
          <a:xfrm xmlns:a="http://schemas.openxmlformats.org/drawingml/2006/main">
            <a:off x="714375" y="3571875"/>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Reads</a:t>
            </a:r>
          </a:p>
        </p:txBody>
      </p:sp>
      <p:sp>
        <p:nvSpPr>
          <p:cNvPr id="17" name="text">
            <a:extLst xmlns:a="http://schemas.openxmlformats.org/drawingml/2006/main">
              <a:ext uri="{FF2B5EF4-FFF2-40B4-BE49-F238E27FC236}">
                <a16:creationId xmlns:a16="http://schemas.microsoft.com/office/drawing/2014/main" id="{F1D66041-AD25-4DBD-B835-6F85CE7CDBF9}"/>
              </a:ext>
            </a:extLst>
          </p:cNvPr>
          <p:cNvSpPr>
            <a:spLocks xmlns:a="http://schemas.openxmlformats.org/drawingml/2006/main" noGrp="1"/>
          </p:cNvSpPr>
          <p:nvPr/>
        </p:nvSpPr>
        <p:spPr>
          <a:xfrm xmlns:a="http://schemas.openxmlformats.org/drawingml/2006/main">
            <a:off x="3333750" y="3571875"/>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May require joins</a:t>
            </a:r>
          </a:p>
        </p:txBody>
      </p:sp>
      <p:sp>
        <p:nvSpPr>
          <p:cNvPr id="18" name="text">
            <a:extLst xmlns:a="http://schemas.openxmlformats.org/drawingml/2006/main">
              <a:ext uri="{FF2B5EF4-FFF2-40B4-BE49-F238E27FC236}">
                <a16:creationId xmlns:a16="http://schemas.microsoft.com/office/drawing/2014/main" id="{9B246865-213A-44BB-B60E-F301B96D47F2}"/>
              </a:ext>
            </a:extLst>
          </p:cNvPr>
          <p:cNvSpPr>
            <a:spLocks xmlns:a="http://schemas.openxmlformats.org/drawingml/2006/main" noGrp="1"/>
          </p:cNvSpPr>
          <p:nvPr/>
        </p:nvSpPr>
        <p:spPr>
          <a:xfrm xmlns:a="http://schemas.openxmlformats.org/drawingml/2006/main">
            <a:off x="7429500" y="3571875"/>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Often simpler and faster</a:t>
            </a:r>
          </a:p>
        </p:txBody>
      </p:sp>
      <p:sp>
        <p:nvSpPr>
          <p:cNvPr id="19" name="text">
            <a:extLst xmlns:a="http://schemas.openxmlformats.org/drawingml/2006/main">
              <a:ext uri="{FF2B5EF4-FFF2-40B4-BE49-F238E27FC236}">
                <a16:creationId xmlns:a16="http://schemas.microsoft.com/office/drawing/2014/main" id="{CA1E0FAA-24B6-4D59-919B-61F29F56679F}"/>
              </a:ext>
            </a:extLst>
          </p:cNvPr>
          <p:cNvSpPr>
            <a:spLocks xmlns:a="http://schemas.openxmlformats.org/drawingml/2006/main" noGrp="1"/>
          </p:cNvSpPr>
          <p:nvPr/>
        </p:nvSpPr>
        <p:spPr>
          <a:xfrm xmlns:a="http://schemas.openxmlformats.org/drawingml/2006/main">
            <a:off x="714375" y="42862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Best fit</a:t>
            </a:r>
          </a:p>
        </p:txBody>
      </p:sp>
      <p:sp>
        <p:nvSpPr>
          <p:cNvPr id="20" name="text">
            <a:extLst xmlns:a="http://schemas.openxmlformats.org/drawingml/2006/main">
              <a:ext uri="{FF2B5EF4-FFF2-40B4-BE49-F238E27FC236}">
                <a16:creationId xmlns:a16="http://schemas.microsoft.com/office/drawing/2014/main" id="{690DEE9E-A315-4129-A106-EEC948040474}"/>
              </a:ext>
            </a:extLst>
          </p:cNvPr>
          <p:cNvSpPr>
            <a:spLocks xmlns:a="http://schemas.openxmlformats.org/drawingml/2006/main" noGrp="1"/>
          </p:cNvSpPr>
          <p:nvPr/>
        </p:nvSpPr>
        <p:spPr>
          <a:xfrm xmlns:a="http://schemas.openxmlformats.org/drawingml/2006/main">
            <a:off x="3333750" y="4286250"/>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OLTP and systems of record</a:t>
            </a:r>
          </a:p>
        </p:txBody>
      </p:sp>
      <p:sp>
        <p:nvSpPr>
          <p:cNvPr id="21" name="text">
            <a:extLst xmlns:a="http://schemas.openxmlformats.org/drawingml/2006/main">
              <a:ext uri="{FF2B5EF4-FFF2-40B4-BE49-F238E27FC236}">
                <a16:creationId xmlns:a16="http://schemas.microsoft.com/office/drawing/2014/main" id="{5D422C74-0496-4818-8F14-292D39A02C9E}"/>
              </a:ext>
            </a:extLst>
          </p:cNvPr>
          <p:cNvSpPr>
            <a:spLocks xmlns:a="http://schemas.openxmlformats.org/drawingml/2006/main" noGrp="1"/>
          </p:cNvSpPr>
          <p:nvPr/>
        </p:nvSpPr>
        <p:spPr>
          <a:xfrm xmlns:a="http://schemas.openxmlformats.org/drawingml/2006/main">
            <a:off x="7429500" y="4286250"/>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Analytics, reporting, high-read workloads</a:t>
            </a:r>
          </a:p>
        </p:txBody>
      </p:sp>
      <p:sp>
        <p:nvSpPr>
          <p:cNvPr id="22" name="shape">
            <a:extLst xmlns:a="http://schemas.openxmlformats.org/drawingml/2006/main">
              <a:ext uri="{FF2B5EF4-FFF2-40B4-BE49-F238E27FC236}">
                <a16:creationId xmlns:a16="http://schemas.microsoft.com/office/drawing/2014/main" id="{B9757E94-A0C3-479F-ADF7-45D204DA6E48}"/>
              </a:ext>
            </a:extLst>
          </p:cNvPr>
          <p:cNvSpPr>
            <a:spLocks xmlns:a="http://schemas.openxmlformats.org/drawingml/2006/main" noGrp="1"/>
          </p:cNvSpPr>
          <p:nvPr/>
        </p:nvSpPr>
        <p:spPr>
          <a:xfrm xmlns:a="http://schemas.openxmlformats.org/drawingml/2006/main">
            <a:off x="571500" y="5000625"/>
            <a:ext cx="11049000" cy="5905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FF0D6711-156D-48AF-B835-935BE52C19FF}"/>
              </a:ext>
            </a:extLst>
          </p:cNvPr>
          <p:cNvSpPr>
            <a:spLocks xmlns:a="http://schemas.openxmlformats.org/drawingml/2006/main" noGrp="1"/>
          </p:cNvSpPr>
          <p:nvPr/>
        </p:nvSpPr>
        <p:spPr>
          <a:xfrm xmlns:a="http://schemas.openxmlformats.org/drawingml/2006/main">
            <a:off x="714375" y="5000625"/>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Main risk</a:t>
            </a:r>
          </a:p>
        </p:txBody>
      </p:sp>
      <p:sp>
        <p:nvSpPr>
          <p:cNvPr id="24" name="text">
            <a:extLst xmlns:a="http://schemas.openxmlformats.org/drawingml/2006/main">
              <a:ext uri="{FF2B5EF4-FFF2-40B4-BE49-F238E27FC236}">
                <a16:creationId xmlns:a16="http://schemas.microsoft.com/office/drawing/2014/main" id="{2B66517E-EEBE-43F9-9E93-3D1EB5BF7EE5}"/>
              </a:ext>
            </a:extLst>
          </p:cNvPr>
          <p:cNvSpPr>
            <a:spLocks xmlns:a="http://schemas.openxmlformats.org/drawingml/2006/main" noGrp="1"/>
          </p:cNvSpPr>
          <p:nvPr/>
        </p:nvSpPr>
        <p:spPr>
          <a:xfrm xmlns:a="http://schemas.openxmlformats.org/drawingml/2006/main">
            <a:off x="3333750" y="5000625"/>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Over-normalizing hot read paths</a:t>
            </a:r>
          </a:p>
        </p:txBody>
      </p:sp>
      <p:sp>
        <p:nvSpPr>
          <p:cNvPr id="25" name="text">
            <a:extLst xmlns:a="http://schemas.openxmlformats.org/drawingml/2006/main">
              <a:ext uri="{FF2B5EF4-FFF2-40B4-BE49-F238E27FC236}">
                <a16:creationId xmlns:a16="http://schemas.microsoft.com/office/drawing/2014/main" id="{50C68864-149B-4231-97F4-F2256B7CB8E6}"/>
              </a:ext>
            </a:extLst>
          </p:cNvPr>
          <p:cNvSpPr>
            <a:spLocks xmlns:a="http://schemas.openxmlformats.org/drawingml/2006/main" noGrp="1"/>
          </p:cNvSpPr>
          <p:nvPr/>
        </p:nvSpPr>
        <p:spPr>
          <a:xfrm xmlns:a="http://schemas.openxmlformats.org/drawingml/2006/main">
            <a:off x="7429500" y="5000625"/>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Stale or conflicting copies</a:t>
            </a:r>
          </a:p>
        </p:txBody>
      </p:sp>
      <p:sp>
        <p:nvSpPr>
          <p:cNvPr id="26" name="home">
            <a:extLst xmlns:a="http://schemas.openxmlformats.org/drawingml/2006/main">
              <a:ext uri="{FF2B5EF4-FFF2-40B4-BE49-F238E27FC236}">
                <a16:creationId xmlns:a16="http://schemas.microsoft.com/office/drawing/2014/main" id="{F4CD9F5B-53B0-4D43-8200-5376885A36F4}"/>
              </a:ext>
            </a:extLst>
            <a:hlinkClick xmlns:p7="http://schemas.openxmlformats.org/officeDocument/2006/relationships" xmlns:a="http://schemas.openxmlformats.org/drawingml/2006/main" p7:id="rId1" action="ppaction://hlinksldjump"/>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solidFill xmlns:a="http://schemas.openxmlformats.org/drawingml/2006/main">
            <a:srgbClr val="0B1F33"/>
          </a:solidFill>
          <a:ln xmlns:a="http://schemas.openxmlformats.org/drawingml/2006/main" w="11430">
            <a:solidFill>
              <a:srgbClr val="0B1F33"/>
            </a:solidFill>
            <a:prstDash val="solid"/>
          </a:ln>
        </p:spPr>
      </p:sp>
      <p:sp>
        <p:nvSpPr>
          <p:cNvPr id="27" name="home-label">
            <a:extLst xmlns:a="http://schemas.openxmlformats.org/drawingml/2006/main">
              <a:ext uri="{FF2B5EF4-FFF2-40B4-BE49-F238E27FC236}">
                <a16:creationId xmlns:a16="http://schemas.microsoft.com/office/drawing/2014/main" id="{ECBA41BE-84C3-41B8-A2E5-A6BC2B327172}"/>
              </a:ext>
            </a:extLst>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8" name="back">
            <a:extLst xmlns:a="http://schemas.openxmlformats.org/drawingml/2006/main">
              <a:ext uri="{FF2B5EF4-FFF2-40B4-BE49-F238E27FC236}">
                <a16:creationId xmlns:a16="http://schemas.microsoft.com/office/drawing/2014/main" id="{C0F74F99-DEF0-4FB9-AF38-3771E6DD5B7E}"/>
              </a:ext>
            </a:extLst>
            <a:hlinkClick xmlns:p7="http://schemas.openxmlformats.org/officeDocument/2006/relationships" xmlns:a="http://schemas.openxmlformats.org/drawingml/2006/main" p7:id="rId2" action="ppaction://hlinksldjump"/>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29" name="back-label">
            <a:extLst xmlns:a="http://schemas.openxmlformats.org/drawingml/2006/main">
              <a:ext uri="{FF2B5EF4-FFF2-40B4-BE49-F238E27FC236}">
                <a16:creationId xmlns:a16="http://schemas.microsoft.com/office/drawing/2014/main" id="{6B053568-7EAC-404B-868D-FA8CD7D0F2EB}"/>
              </a:ext>
            </a:extLst>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30" name="next">
            <a:extLst xmlns:a="http://schemas.openxmlformats.org/drawingml/2006/main">
              <a:ext uri="{FF2B5EF4-FFF2-40B4-BE49-F238E27FC236}">
                <a16:creationId xmlns:a16="http://schemas.microsoft.com/office/drawing/2014/main" id="{1B1A661D-6507-47F7-BE77-76D420FDA3AB}"/>
              </a:ext>
            </a:extLst>
            <a:hlinkClick xmlns:p7="http://schemas.openxmlformats.org/officeDocument/2006/relationships" xmlns:a="http://schemas.openxmlformats.org/drawingml/2006/main" p7:id="rId3" action="ppaction://hlinksldjump"/>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31" name="next-label">
            <a:extLst xmlns:a="http://schemas.openxmlformats.org/drawingml/2006/main">
              <a:ext uri="{FF2B5EF4-FFF2-40B4-BE49-F238E27FC236}">
                <a16:creationId xmlns:a16="http://schemas.microsoft.com/office/drawing/2014/main" id="{58BD2690-503D-4537-9A4D-0ED96B5540D2}"/>
              </a:ext>
            </a:extLst>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Tree>
    <p:extLst>
      <p:ext uri="{BB962C8B-B14F-4D97-AF65-F5344CB8AC3E}">
        <p14:creationId xmlns:p14="http://schemas.microsoft.com/office/powerpoint/2010/main" val="4537913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text">
            <a:extLst xmlns:a="http://schemas.openxmlformats.org/drawingml/2006/main">
              <a:ext uri="{FF2B5EF4-FFF2-40B4-BE49-F238E27FC236}">
                <a16:creationId xmlns:a16="http://schemas.microsoft.com/office/drawing/2014/main" id="{8BD23B0D-7DDB-4EFE-9FDE-1D817E7901F0}"/>
              </a:ext>
            </a:extLst>
          </p:cNvPr>
          <p:cNvSpPr>
            <a:spLocks xmlns:a="http://schemas.openxmlformats.org/drawingml/2006/main" noGrp="1"/>
          </p:cNvSpPr>
          <p:nvPr/>
        </p:nvSpPr>
        <p:spPr>
          <a:xfrm xmlns:a="http://schemas.openxmlformats.org/drawingml/2006/main">
            <a:off x="571500" y="266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D8DFF"/>
                </a:solidFill>
              </a:defRPr>
            </a:pPr>
            <a:r>
              <a:rPr sz="900" b="1">
                <a:solidFill>
                  <a:srgbClr val="3D8DFF"/>
                </a:solidFill>
              </a:rPr>
              <a:t>DATA ENGINEERING • RESEARCH TASK</a:t>
            </a:r>
          </a:p>
        </p:txBody>
      </p:sp>
      <p:sp>
        <p:nvSpPr>
          <p:cNvPr id="2" name="text">
            <a:extLst xmlns:a="http://schemas.openxmlformats.org/drawingml/2006/main">
              <a:ext uri="{FF2B5EF4-FFF2-40B4-BE49-F238E27FC236}">
                <a16:creationId xmlns:a16="http://schemas.microsoft.com/office/drawing/2014/main" id="{86DEDD34-9BED-46D8-A8CF-6EE910A34DF2}"/>
              </a:ext>
            </a:extLst>
          </p:cNvPr>
          <p:cNvSpPr>
            <a:spLocks xmlns:a="http://schemas.openxmlformats.org/drawingml/2006/main" noGrp="1"/>
          </p:cNvSpPr>
          <p:nvPr/>
        </p:nvSpPr>
        <p:spPr>
          <a:xfrm xmlns:a="http://schemas.openxmlformats.org/drawingml/2006/main">
            <a:off x="5715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11827"/>
                </a:solidFill>
              </a:defRPr>
            </a:pPr>
            <a:r>
              <a:rPr sz="2625" b="1">
                <a:solidFill>
                  <a:srgbClr val="111827"/>
                </a:solidFill>
              </a:rPr>
              <a:t>One modern pipeline can use all four ideas together</a:t>
            </a:r>
          </a:p>
        </p:txBody>
      </p:sp>
      <p:sp>
        <p:nvSpPr>
          <p:cNvPr id="3" name="">
            <a:extLst xmlns:a="http://schemas.openxmlformats.org/drawingml/2006/main">
              <a:ext uri="{FF2B5EF4-FFF2-40B4-BE49-F238E27FC236}">
                <a16:creationId xmlns:a16="http://schemas.microsoft.com/office/drawing/2014/main" id="{07AFAEA8-12B3-4429-9F0F-534D3BB0074D}"/>
              </a:ext>
            </a:extLst>
          </p:cNvPr>
          <p:cNvSpPr>
            <a:spLocks xmlns:a="http://schemas.openxmlformats.org/drawingml/2006/main" noGrp="1"/>
          </p:cNvSpPr>
          <p:nvPr/>
        </p:nvSpPr>
        <p:spPr>
          <a:xfrm xmlns:a="http://schemas.openxmlformats.org/drawingml/2006/main">
            <a:off x="571500" y="1257300"/>
            <a:ext cx="11049000" cy="9525"/>
          </a:xfrm>
          <a:prstGeom xmlns:a="http://schemas.openxmlformats.org/drawingml/2006/main" prst="line">
            <a:avLst/>
          </a:prstGeom>
          <a:ln xmlns:a="http://schemas.openxmlformats.org/drawingml/2006/main" w="9525">
            <a:solidFill>
              <a:srgbClr val="B8BCC4"/>
            </a:solidFill>
            <a:prstDash val="solid"/>
          </a:ln>
        </p:spPr>
      </p:sp>
      <p:sp>
        <p:nvSpPr>
          <p:cNvPr id="4" name="text">
            <a:extLst xmlns:a="http://schemas.openxmlformats.org/drawingml/2006/main">
              <a:ext uri="{FF2B5EF4-FFF2-40B4-BE49-F238E27FC236}">
                <a16:creationId xmlns:a16="http://schemas.microsoft.com/office/drawing/2014/main" id="{39EFC25D-DD0A-4A41-A712-8BF770FF1189}"/>
              </a:ext>
            </a:extLst>
          </p:cNvPr>
          <p:cNvSpPr>
            <a:spLocks xmlns:a="http://schemas.openxmlformats.org/drawingml/2006/main" noGrp="1"/>
          </p:cNvSpPr>
          <p:nvPr/>
        </p:nvSpPr>
        <p:spPr>
          <a:xfrm xmlns:a="http://schemas.openxmlformats.org/drawingml/2006/main">
            <a:off x="11096625" y="64293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F6773"/>
                </a:solidFill>
              </a:defRPr>
            </a:pPr>
            <a:r>
              <a:rPr sz="825" b="1">
                <a:solidFill>
                  <a:srgbClr val="5F6773"/>
                </a:solidFill>
              </a:rPr>
              <a:t>11</a:t>
            </a:r>
          </a:p>
        </p:txBody>
      </p:sp>
      <p:sp>
        <p:nvSpPr>
          <p:cNvPr id="5" name="text">
            <a:extLst xmlns:a="http://schemas.openxmlformats.org/drawingml/2006/main">
              <a:ext uri="{FF2B5EF4-FFF2-40B4-BE49-F238E27FC236}">
                <a16:creationId xmlns:a16="http://schemas.microsoft.com/office/drawing/2014/main" id="{60CAD4A6-E2E5-418C-8C6D-70218DE891F9}"/>
              </a:ext>
            </a:extLst>
          </p:cNvPr>
          <p:cNvSpPr>
            <a:spLocks xmlns:a="http://schemas.openxmlformats.org/drawingml/2006/main" noGrp="1"/>
          </p:cNvSpPr>
          <p:nvPr/>
        </p:nvSpPr>
        <p:spPr>
          <a:xfrm xmlns:a="http://schemas.openxmlformats.org/drawingml/2006/main">
            <a:off x="571500" y="171450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7AE60"/>
                </a:solidFill>
              </a:defRPr>
            </a:pPr>
            <a:r>
              <a:rPr sz="1800" b="1">
                <a:solidFill>
                  <a:srgbClr val="27AE60"/>
                </a:solidFill>
              </a:rPr>
              <a:t>Operational DB</a:t>
            </a:r>
          </a:p>
        </p:txBody>
      </p:sp>
      <p:sp>
        <p:nvSpPr>
          <p:cNvPr id="6" name="text">
            <a:extLst xmlns:a="http://schemas.openxmlformats.org/drawingml/2006/main">
              <a:ext uri="{FF2B5EF4-FFF2-40B4-BE49-F238E27FC236}">
                <a16:creationId xmlns:a16="http://schemas.microsoft.com/office/drawing/2014/main" id="{6CA8D937-4059-4C6C-8595-81CA6E5A3D18}"/>
              </a:ext>
            </a:extLst>
          </p:cNvPr>
          <p:cNvSpPr>
            <a:spLocks xmlns:a="http://schemas.openxmlformats.org/drawingml/2006/main" noGrp="1"/>
          </p:cNvSpPr>
          <p:nvPr/>
        </p:nvSpPr>
        <p:spPr>
          <a:xfrm xmlns:a="http://schemas.openxmlformats.org/drawingml/2006/main">
            <a:off x="3476625" y="171450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3D8DFF"/>
                </a:solidFill>
              </a:defRPr>
            </a:pPr>
            <a:r>
              <a:rPr sz="1800" b="1">
                <a:solidFill>
                  <a:srgbClr val="3D8DFF"/>
                </a:solidFill>
              </a:rPr>
              <a:t>Ingestion</a:t>
            </a:r>
          </a:p>
        </p:txBody>
      </p:sp>
      <p:sp>
        <p:nvSpPr>
          <p:cNvPr id="7" name="text">
            <a:extLst xmlns:a="http://schemas.openxmlformats.org/drawingml/2006/main">
              <a:ext uri="{FF2B5EF4-FFF2-40B4-BE49-F238E27FC236}">
                <a16:creationId xmlns:a16="http://schemas.microsoft.com/office/drawing/2014/main" id="{AB9CA962-4EAA-4366-B031-E5453060029C}"/>
              </a:ext>
            </a:extLst>
          </p:cNvPr>
          <p:cNvSpPr>
            <a:spLocks xmlns:a="http://schemas.openxmlformats.org/drawingml/2006/main" noGrp="1"/>
          </p:cNvSpPr>
          <p:nvPr/>
        </p:nvSpPr>
        <p:spPr>
          <a:xfrm xmlns:a="http://schemas.openxmlformats.org/drawingml/2006/main">
            <a:off x="6477000" y="171450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6B5F"/>
                </a:solidFill>
              </a:defRPr>
            </a:pPr>
            <a:r>
              <a:rPr sz="1800" b="1">
                <a:solidFill>
                  <a:srgbClr val="FF6B5F"/>
                </a:solidFill>
              </a:rPr>
              <a:t>Warehouse</a:t>
            </a:r>
          </a:p>
        </p:txBody>
      </p:sp>
      <p:sp>
        <p:nvSpPr>
          <p:cNvPr id="8" name="text">
            <a:extLst xmlns:a="http://schemas.openxmlformats.org/drawingml/2006/main">
              <a:ext uri="{FF2B5EF4-FFF2-40B4-BE49-F238E27FC236}">
                <a16:creationId xmlns:a16="http://schemas.microsoft.com/office/drawing/2014/main" id="{DDEB1C49-674F-4336-8AC9-863C3FCD2E30}"/>
              </a:ext>
            </a:extLst>
          </p:cNvPr>
          <p:cNvSpPr>
            <a:spLocks xmlns:a="http://schemas.openxmlformats.org/drawingml/2006/main" noGrp="1"/>
          </p:cNvSpPr>
          <p:nvPr/>
        </p:nvSpPr>
        <p:spPr>
          <a:xfrm xmlns:a="http://schemas.openxmlformats.org/drawingml/2006/main">
            <a:off x="9525000" y="171450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5A623"/>
                </a:solidFill>
              </a:defRPr>
            </a:pPr>
            <a:r>
              <a:rPr sz="1800" b="1">
                <a:solidFill>
                  <a:srgbClr val="F5A623"/>
                </a:solidFill>
              </a:rPr>
              <a:t>Dashboard</a:t>
            </a:r>
          </a:p>
        </p:txBody>
      </p:sp>
      <p:sp>
        <p:nvSpPr>
          <p:cNvPr id="9" name="shape">
            <a:extLst xmlns:a="http://schemas.openxmlformats.org/drawingml/2006/main">
              <a:ext uri="{FF2B5EF4-FFF2-40B4-BE49-F238E27FC236}">
                <a16:creationId xmlns:a16="http://schemas.microsoft.com/office/drawing/2014/main" id="{3BC80B47-46EF-4A7B-9997-81D6E694FCCB}"/>
              </a:ext>
            </a:extLst>
          </p:cNvPr>
          <p:cNvSpPr>
            <a:spLocks xmlns:a="http://schemas.openxmlformats.org/drawingml/2006/main" noGrp="1"/>
          </p:cNvSpPr>
          <p:nvPr/>
        </p:nvSpPr>
        <p:spPr>
          <a:xfrm xmlns:a="http://schemas.openxmlformats.org/drawingml/2006/main">
            <a:off x="571500" y="2333625"/>
            <a:ext cx="2286000" cy="1428750"/>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ADD253D1-2F8A-47B8-BD86-8C05A3831EC6}"/>
              </a:ext>
            </a:extLst>
          </p:cNvPr>
          <p:cNvSpPr>
            <a:spLocks xmlns:a="http://schemas.openxmlformats.org/drawingml/2006/main" noGrp="1"/>
          </p:cNvSpPr>
          <p:nvPr/>
        </p:nvSpPr>
        <p:spPr>
          <a:xfrm xmlns:a="http://schemas.openxmlformats.org/drawingml/2006/main">
            <a:off x="571500" y="2333625"/>
            <a:ext cx="66675" cy="1428750"/>
          </a:xfrm>
          <a:prstGeom xmlns:a="http://schemas.openxmlformats.org/drawingml/2006/main" prst="rect">
            <a:avLst/>
          </a:prstGeom>
          <a:solidFill xmlns:a="http://schemas.openxmlformats.org/drawingml/2006/main">
            <a:srgbClr val="27AE60"/>
          </a:solidFill>
          <a:ln xmlns:a="http://schemas.openxmlformats.org/drawingml/2006/main" w="11430">
            <a:solidFill>
              <a:srgbClr val="27AE60"/>
            </a:solidFill>
            <a:prstDash val="solid"/>
          </a:ln>
        </p:spPr>
      </p:sp>
      <p:sp>
        <p:nvSpPr>
          <p:cNvPr id="11" name="text">
            <a:extLst xmlns:a="http://schemas.openxmlformats.org/drawingml/2006/main">
              <a:ext uri="{FF2B5EF4-FFF2-40B4-BE49-F238E27FC236}">
                <a16:creationId xmlns:a16="http://schemas.microsoft.com/office/drawing/2014/main" id="{7152FF64-E1AB-44C6-924C-5BABD27BD092}"/>
              </a:ext>
            </a:extLst>
          </p:cNvPr>
          <p:cNvSpPr>
            <a:spLocks xmlns:a="http://schemas.openxmlformats.org/drawingml/2006/main" noGrp="1"/>
          </p:cNvSpPr>
          <p:nvPr/>
        </p:nvSpPr>
        <p:spPr>
          <a:xfrm xmlns:a="http://schemas.openxmlformats.org/drawingml/2006/main">
            <a:off x="762000" y="2466975"/>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Normalized OLTP</a:t>
            </a:r>
          </a:p>
        </p:txBody>
      </p:sp>
      <p:sp>
        <p:nvSpPr>
          <p:cNvPr id="12" name="text">
            <a:extLst xmlns:a="http://schemas.openxmlformats.org/drawingml/2006/main">
              <a:ext uri="{FF2B5EF4-FFF2-40B4-BE49-F238E27FC236}">
                <a16:creationId xmlns:a16="http://schemas.microsoft.com/office/drawing/2014/main" id="{97857070-0C20-4F1F-8969-701ACEB4A3F2}"/>
              </a:ext>
            </a:extLst>
          </p:cNvPr>
          <p:cNvSpPr>
            <a:spLocks xmlns:a="http://schemas.openxmlformats.org/drawingml/2006/main" noGrp="1"/>
          </p:cNvSpPr>
          <p:nvPr/>
        </p:nvSpPr>
        <p:spPr>
          <a:xfrm xmlns:a="http://schemas.openxmlformats.org/drawingml/2006/main">
            <a:off x="762000" y="2857500"/>
            <a:ext cx="1924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Customers, Orders, Products</a:t>
            </a:r>
          </a:p>
        </p:txBody>
      </p:sp>
      <p:sp>
        <p:nvSpPr>
          <p:cNvPr id="13" name="shape">
            <a:extLst xmlns:a="http://schemas.openxmlformats.org/drawingml/2006/main">
              <a:ext uri="{FF2B5EF4-FFF2-40B4-BE49-F238E27FC236}">
                <a16:creationId xmlns:a16="http://schemas.microsoft.com/office/drawing/2014/main" id="{75E31ECB-2244-4FAD-B648-FEDCF8213BEB}"/>
              </a:ext>
            </a:extLst>
          </p:cNvPr>
          <p:cNvSpPr>
            <a:spLocks xmlns:a="http://schemas.openxmlformats.org/drawingml/2006/main" noGrp="1"/>
          </p:cNvSpPr>
          <p:nvPr/>
        </p:nvSpPr>
        <p:spPr>
          <a:xfrm xmlns:a="http://schemas.openxmlformats.org/drawingml/2006/main">
            <a:off x="3476625" y="2333625"/>
            <a:ext cx="2286000" cy="1428750"/>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9A07DED5-5260-4576-8A42-39044D76E08B}"/>
              </a:ext>
            </a:extLst>
          </p:cNvPr>
          <p:cNvSpPr>
            <a:spLocks xmlns:a="http://schemas.openxmlformats.org/drawingml/2006/main" noGrp="1"/>
          </p:cNvSpPr>
          <p:nvPr/>
        </p:nvSpPr>
        <p:spPr>
          <a:xfrm xmlns:a="http://schemas.openxmlformats.org/drawingml/2006/main">
            <a:off x="3476625" y="2333625"/>
            <a:ext cx="66675" cy="142875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15" name="text">
            <a:extLst xmlns:a="http://schemas.openxmlformats.org/drawingml/2006/main">
              <a:ext uri="{FF2B5EF4-FFF2-40B4-BE49-F238E27FC236}">
                <a16:creationId xmlns:a16="http://schemas.microsoft.com/office/drawing/2014/main" id="{3ECAFF98-418E-4A6F-95BE-03B7F212A831}"/>
              </a:ext>
            </a:extLst>
          </p:cNvPr>
          <p:cNvSpPr>
            <a:spLocks xmlns:a="http://schemas.openxmlformats.org/drawingml/2006/main" noGrp="1"/>
          </p:cNvSpPr>
          <p:nvPr/>
        </p:nvSpPr>
        <p:spPr>
          <a:xfrm xmlns:a="http://schemas.openxmlformats.org/drawingml/2006/main">
            <a:off x="3667125" y="2466975"/>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EL / ELT</a:t>
            </a:r>
          </a:p>
        </p:txBody>
      </p:sp>
      <p:sp>
        <p:nvSpPr>
          <p:cNvPr id="16" name="text">
            <a:extLst xmlns:a="http://schemas.openxmlformats.org/drawingml/2006/main">
              <a:ext uri="{FF2B5EF4-FFF2-40B4-BE49-F238E27FC236}">
                <a16:creationId xmlns:a16="http://schemas.microsoft.com/office/drawing/2014/main" id="{9382AAF4-BAAE-4646-973A-BBAD2D3961AB}"/>
              </a:ext>
            </a:extLst>
          </p:cNvPr>
          <p:cNvSpPr>
            <a:spLocks xmlns:a="http://schemas.openxmlformats.org/drawingml/2006/main" noGrp="1"/>
          </p:cNvSpPr>
          <p:nvPr/>
        </p:nvSpPr>
        <p:spPr>
          <a:xfrm xmlns:a="http://schemas.openxmlformats.org/drawingml/2006/main">
            <a:off x="3667125" y="2857500"/>
            <a:ext cx="1924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Load raw changes quickly</a:t>
            </a:r>
          </a:p>
        </p:txBody>
      </p:sp>
      <p:sp>
        <p:nvSpPr>
          <p:cNvPr id="17" name="shape">
            <a:extLst xmlns:a="http://schemas.openxmlformats.org/drawingml/2006/main">
              <a:ext uri="{FF2B5EF4-FFF2-40B4-BE49-F238E27FC236}">
                <a16:creationId xmlns:a16="http://schemas.microsoft.com/office/drawing/2014/main" id="{EA698368-2F9E-4705-B741-4B5F024BCC62}"/>
              </a:ext>
            </a:extLst>
          </p:cNvPr>
          <p:cNvSpPr>
            <a:spLocks xmlns:a="http://schemas.openxmlformats.org/drawingml/2006/main" noGrp="1"/>
          </p:cNvSpPr>
          <p:nvPr/>
        </p:nvSpPr>
        <p:spPr>
          <a:xfrm xmlns:a="http://schemas.openxmlformats.org/drawingml/2006/main">
            <a:off x="6477000" y="2333625"/>
            <a:ext cx="2286000" cy="1428750"/>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18" name="shape">
            <a:extLst xmlns:a="http://schemas.openxmlformats.org/drawingml/2006/main">
              <a:ext uri="{FF2B5EF4-FFF2-40B4-BE49-F238E27FC236}">
                <a16:creationId xmlns:a16="http://schemas.microsoft.com/office/drawing/2014/main" id="{C8DB0BF4-F320-4235-AA4A-554EF0EA4EC3}"/>
              </a:ext>
            </a:extLst>
          </p:cNvPr>
          <p:cNvSpPr>
            <a:spLocks xmlns:a="http://schemas.openxmlformats.org/drawingml/2006/main" noGrp="1"/>
          </p:cNvSpPr>
          <p:nvPr/>
        </p:nvSpPr>
        <p:spPr>
          <a:xfrm xmlns:a="http://schemas.openxmlformats.org/drawingml/2006/main">
            <a:off x="6477000" y="2333625"/>
            <a:ext cx="66675" cy="142875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19" name="text">
            <a:extLst xmlns:a="http://schemas.openxmlformats.org/drawingml/2006/main">
              <a:ext uri="{FF2B5EF4-FFF2-40B4-BE49-F238E27FC236}">
                <a16:creationId xmlns:a16="http://schemas.microsoft.com/office/drawing/2014/main" id="{ECA5ADA4-03B7-4421-B0C5-9A878F9B665C}"/>
              </a:ext>
            </a:extLst>
          </p:cNvPr>
          <p:cNvSpPr>
            <a:spLocks xmlns:a="http://schemas.openxmlformats.org/drawingml/2006/main" noGrp="1"/>
          </p:cNvSpPr>
          <p:nvPr/>
        </p:nvSpPr>
        <p:spPr>
          <a:xfrm xmlns:a="http://schemas.openxmlformats.org/drawingml/2006/main">
            <a:off x="6667500" y="2466975"/>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Transform models</a:t>
            </a:r>
          </a:p>
        </p:txBody>
      </p:sp>
      <p:sp>
        <p:nvSpPr>
          <p:cNvPr id="20" name="text">
            <a:extLst xmlns:a="http://schemas.openxmlformats.org/drawingml/2006/main">
              <a:ext uri="{FF2B5EF4-FFF2-40B4-BE49-F238E27FC236}">
                <a16:creationId xmlns:a16="http://schemas.microsoft.com/office/drawing/2014/main" id="{D09E7400-E4DE-4D70-BBD5-81234924FCA7}"/>
              </a:ext>
            </a:extLst>
          </p:cNvPr>
          <p:cNvSpPr>
            <a:spLocks xmlns:a="http://schemas.openxmlformats.org/drawingml/2006/main" noGrp="1"/>
          </p:cNvSpPr>
          <p:nvPr/>
        </p:nvSpPr>
        <p:spPr>
          <a:xfrm xmlns:a="http://schemas.openxmlformats.org/drawingml/2006/main">
            <a:off x="6667500" y="2857500"/>
            <a:ext cx="1924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Clean + business logic in SQL</a:t>
            </a:r>
          </a:p>
        </p:txBody>
      </p:sp>
      <p:sp>
        <p:nvSpPr>
          <p:cNvPr id="21" name="shape">
            <a:extLst xmlns:a="http://schemas.openxmlformats.org/drawingml/2006/main">
              <a:ext uri="{FF2B5EF4-FFF2-40B4-BE49-F238E27FC236}">
                <a16:creationId xmlns:a16="http://schemas.microsoft.com/office/drawing/2014/main" id="{E1124F5A-D296-420B-A066-A4920C9F879F}"/>
              </a:ext>
            </a:extLst>
          </p:cNvPr>
          <p:cNvSpPr>
            <a:spLocks xmlns:a="http://schemas.openxmlformats.org/drawingml/2006/main" noGrp="1"/>
          </p:cNvSpPr>
          <p:nvPr/>
        </p:nvSpPr>
        <p:spPr>
          <a:xfrm xmlns:a="http://schemas.openxmlformats.org/drawingml/2006/main">
            <a:off x="9477375" y="2333625"/>
            <a:ext cx="2286000" cy="1428750"/>
          </a:xfrm>
          <a:prstGeom xmlns:a="http://schemas.openxmlformats.org/drawingml/2006/main" prst="rect">
            <a:avLst/>
          </a:prstGeom>
          <a:solidFill xmlns:a="http://schemas.openxmlformats.org/drawingml/2006/main">
            <a:srgbClr val="ECEFF2"/>
          </a:solidFill>
          <a:ln xmlns:a="http://schemas.openxmlformats.org/drawingml/2006/main" w="0">
            <a:noFill/>
            <a:prstDash val="solid"/>
          </a:ln>
        </p:spPr>
      </p:sp>
      <p:sp>
        <p:nvSpPr>
          <p:cNvPr id="22" name="shape">
            <a:extLst xmlns:a="http://schemas.openxmlformats.org/drawingml/2006/main">
              <a:ext uri="{FF2B5EF4-FFF2-40B4-BE49-F238E27FC236}">
                <a16:creationId xmlns:a16="http://schemas.microsoft.com/office/drawing/2014/main" id="{124C971F-9655-4D00-84A1-9C8A9998DF84}"/>
              </a:ext>
            </a:extLst>
          </p:cNvPr>
          <p:cNvSpPr>
            <a:spLocks xmlns:a="http://schemas.openxmlformats.org/drawingml/2006/main" noGrp="1"/>
          </p:cNvSpPr>
          <p:nvPr/>
        </p:nvSpPr>
        <p:spPr>
          <a:xfrm xmlns:a="http://schemas.openxmlformats.org/drawingml/2006/main">
            <a:off x="9477375" y="2333625"/>
            <a:ext cx="66675" cy="1428750"/>
          </a:xfrm>
          <a:prstGeom xmlns:a="http://schemas.openxmlformats.org/drawingml/2006/main" prst="rect">
            <a:avLst/>
          </a:prstGeom>
          <a:solidFill xmlns:a="http://schemas.openxmlformats.org/drawingml/2006/main">
            <a:srgbClr val="F5A623"/>
          </a:solidFill>
          <a:ln xmlns:a="http://schemas.openxmlformats.org/drawingml/2006/main" w="11430">
            <a:solidFill>
              <a:srgbClr val="F5A623"/>
            </a:solidFill>
            <a:prstDash val="solid"/>
          </a:ln>
        </p:spPr>
      </p:sp>
      <p:sp>
        <p:nvSpPr>
          <p:cNvPr id="23" name="text">
            <a:extLst xmlns:a="http://schemas.openxmlformats.org/drawingml/2006/main">
              <a:ext uri="{FF2B5EF4-FFF2-40B4-BE49-F238E27FC236}">
                <a16:creationId xmlns:a16="http://schemas.microsoft.com/office/drawing/2014/main" id="{D032E13A-40B2-4473-B879-C62457A75A48}"/>
              </a:ext>
            </a:extLst>
          </p:cNvPr>
          <p:cNvSpPr>
            <a:spLocks xmlns:a="http://schemas.openxmlformats.org/drawingml/2006/main" noGrp="1"/>
          </p:cNvSpPr>
          <p:nvPr/>
        </p:nvSpPr>
        <p:spPr>
          <a:xfrm xmlns:a="http://schemas.openxmlformats.org/drawingml/2006/main">
            <a:off x="9667875" y="2466975"/>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Denormalized mart</a:t>
            </a:r>
          </a:p>
        </p:txBody>
      </p:sp>
      <p:sp>
        <p:nvSpPr>
          <p:cNvPr id="24" name="text">
            <a:extLst xmlns:a="http://schemas.openxmlformats.org/drawingml/2006/main">
              <a:ext uri="{FF2B5EF4-FFF2-40B4-BE49-F238E27FC236}">
                <a16:creationId xmlns:a16="http://schemas.microsoft.com/office/drawing/2014/main" id="{E0615340-3B41-4540-8021-C358D81B6106}"/>
              </a:ext>
            </a:extLst>
          </p:cNvPr>
          <p:cNvSpPr>
            <a:spLocks xmlns:a="http://schemas.openxmlformats.org/drawingml/2006/main" noGrp="1"/>
          </p:cNvSpPr>
          <p:nvPr/>
        </p:nvSpPr>
        <p:spPr>
          <a:xfrm xmlns:a="http://schemas.openxmlformats.org/drawingml/2006/main">
            <a:off x="9667875" y="2857500"/>
            <a:ext cx="1924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F6773"/>
                </a:solidFill>
              </a:defRPr>
            </a:pPr>
            <a:r>
              <a:rPr sz="1275" b="0">
                <a:solidFill>
                  <a:srgbClr val="5F6773"/>
                </a:solidFill>
              </a:rPr>
              <a:t>Fast sales reporting</a:t>
            </a:r>
          </a:p>
        </p:txBody>
      </p:sp>
      <p:sp>
        <p:nvSpPr>
          <p:cNvPr id="25" name="">
            <a:extLst xmlns:a="http://schemas.openxmlformats.org/drawingml/2006/main">
              <a:ext uri="{FF2B5EF4-FFF2-40B4-BE49-F238E27FC236}">
                <a16:creationId xmlns:a16="http://schemas.microsoft.com/office/drawing/2014/main" id="{69C274BE-660C-4502-9589-50FE86C3E223}"/>
              </a:ext>
            </a:extLst>
          </p:cNvPr>
          <p:cNvSpPr>
            <a:spLocks xmlns:a="http://schemas.openxmlformats.org/drawingml/2006/main" noGrp="1"/>
          </p:cNvSpPr>
          <p:nvPr/>
        </p:nvSpPr>
        <p:spPr>
          <a:xfrm xmlns:a="http://schemas.openxmlformats.org/drawingml/2006/main">
            <a:off x="2857500" y="3048000"/>
            <a:ext cx="523875" cy="9525"/>
          </a:xfrm>
          <a:prstGeom xmlns:a="http://schemas.openxmlformats.org/drawingml/2006/main" prst="line">
            <a:avLst/>
          </a:prstGeom>
          <a:ln xmlns:a="http://schemas.openxmlformats.org/drawingml/2006/main" w="28575">
            <a:solidFill>
              <a:srgbClr val="B8BCC4"/>
            </a:solidFill>
            <a:prstDash val="solid"/>
          </a:ln>
        </p:spPr>
      </p:sp>
      <p:sp>
        <p:nvSpPr>
          <p:cNvPr id="26" name="">
            <a:extLst xmlns:a="http://schemas.openxmlformats.org/drawingml/2006/main">
              <a:ext uri="{FF2B5EF4-FFF2-40B4-BE49-F238E27FC236}">
                <a16:creationId xmlns:a16="http://schemas.microsoft.com/office/drawing/2014/main" id="{A44ABCF7-6D6B-4C6B-970F-1CBA655CE275}"/>
              </a:ext>
            </a:extLst>
          </p:cNvPr>
          <p:cNvSpPr>
            <a:spLocks xmlns:a="http://schemas.openxmlformats.org/drawingml/2006/main" noGrp="1"/>
          </p:cNvSpPr>
          <p:nvPr/>
        </p:nvSpPr>
        <p:spPr>
          <a:xfrm xmlns:a="http://schemas.openxmlformats.org/drawingml/2006/main">
            <a:off x="5762625" y="3048000"/>
            <a:ext cx="619125" cy="9525"/>
          </a:xfrm>
          <a:prstGeom xmlns:a="http://schemas.openxmlformats.org/drawingml/2006/main" prst="line">
            <a:avLst/>
          </a:prstGeom>
          <a:ln xmlns:a="http://schemas.openxmlformats.org/drawingml/2006/main" w="28575">
            <a:solidFill>
              <a:srgbClr val="B8BCC4"/>
            </a:solidFill>
            <a:prstDash val="solid"/>
          </a:ln>
        </p:spPr>
      </p:sp>
      <p:sp>
        <p:nvSpPr>
          <p:cNvPr id="27" name="">
            <a:extLst xmlns:a="http://schemas.openxmlformats.org/drawingml/2006/main">
              <a:ext uri="{FF2B5EF4-FFF2-40B4-BE49-F238E27FC236}">
                <a16:creationId xmlns:a16="http://schemas.microsoft.com/office/drawing/2014/main" id="{85D3238D-A701-4AA5-A08A-B5DB193D703D}"/>
              </a:ext>
            </a:extLst>
          </p:cNvPr>
          <p:cNvSpPr>
            <a:spLocks xmlns:a="http://schemas.openxmlformats.org/drawingml/2006/main" noGrp="1"/>
          </p:cNvSpPr>
          <p:nvPr/>
        </p:nvSpPr>
        <p:spPr>
          <a:xfrm xmlns:a="http://schemas.openxmlformats.org/drawingml/2006/main">
            <a:off x="8763000" y="3048000"/>
            <a:ext cx="619125" cy="9525"/>
          </a:xfrm>
          <a:prstGeom xmlns:a="http://schemas.openxmlformats.org/drawingml/2006/main" prst="line">
            <a:avLst/>
          </a:prstGeom>
          <a:ln xmlns:a="http://schemas.openxmlformats.org/drawingml/2006/main" w="28575">
            <a:solidFill>
              <a:srgbClr val="B8BCC4"/>
            </a:solidFill>
            <a:prstDash val="solid"/>
          </a:ln>
        </p:spPr>
      </p:sp>
      <p:sp>
        <p:nvSpPr>
          <p:cNvPr id="28" name="text">
            <a:extLst xmlns:a="http://schemas.openxmlformats.org/drawingml/2006/main">
              <a:ext uri="{FF2B5EF4-FFF2-40B4-BE49-F238E27FC236}">
                <a16:creationId xmlns:a16="http://schemas.microsoft.com/office/drawing/2014/main" id="{F8E5FCBF-F65C-4230-95ED-F7369C36DD2B}"/>
              </a:ext>
            </a:extLst>
          </p:cNvPr>
          <p:cNvSpPr>
            <a:spLocks xmlns:a="http://schemas.openxmlformats.org/drawingml/2006/main" noGrp="1"/>
          </p:cNvSpPr>
          <p:nvPr/>
        </p:nvSpPr>
        <p:spPr>
          <a:xfrm xmlns:a="http://schemas.openxmlformats.org/drawingml/2006/main">
            <a:off x="1381125" y="4762500"/>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111827"/>
                </a:solidFill>
              </a:defRPr>
            </a:pPr>
            <a:r>
              <a:rPr sz="2175" b="1">
                <a:solidFill>
                  <a:srgbClr val="111827"/>
                </a:solidFill>
              </a:rPr>
              <a:t>Normalized at the source. ELT through the warehouse. Denormalized for consumption.</a:t>
            </a:r>
          </a:p>
        </p:txBody>
      </p:sp>
      <p:sp>
        <p:nvSpPr>
          <p:cNvPr id="29" name="home">
            <a:extLst xmlns:a="http://schemas.openxmlformats.org/drawingml/2006/main">
              <a:ext uri="{FF2B5EF4-FFF2-40B4-BE49-F238E27FC236}">
                <a16:creationId xmlns:a16="http://schemas.microsoft.com/office/drawing/2014/main" id="{CAB8A120-EA7D-426C-9BAC-AC1121D1939F}"/>
              </a:ext>
            </a:extLst>
            <a:hlinkClick xmlns:p7="http://schemas.openxmlformats.org/officeDocument/2006/relationships" xmlns:a="http://schemas.openxmlformats.org/drawingml/2006/main" p7:id="rId1" action="ppaction://hlinksldjump"/>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solidFill xmlns:a="http://schemas.openxmlformats.org/drawingml/2006/main">
            <a:srgbClr val="0B1F33"/>
          </a:solidFill>
          <a:ln xmlns:a="http://schemas.openxmlformats.org/drawingml/2006/main" w="11430">
            <a:solidFill>
              <a:srgbClr val="0B1F33"/>
            </a:solidFill>
            <a:prstDash val="solid"/>
          </a:ln>
        </p:spPr>
      </p:sp>
      <p:sp>
        <p:nvSpPr>
          <p:cNvPr id="30" name="home-label">
            <a:extLst xmlns:a="http://schemas.openxmlformats.org/drawingml/2006/main">
              <a:ext uri="{FF2B5EF4-FFF2-40B4-BE49-F238E27FC236}">
                <a16:creationId xmlns:a16="http://schemas.microsoft.com/office/drawing/2014/main" id="{AB238F0B-4652-4F8C-90A3-EFCCDAF9117D}"/>
              </a:ext>
            </a:extLst>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31" name="back">
            <a:extLst xmlns:a="http://schemas.openxmlformats.org/drawingml/2006/main">
              <a:ext uri="{FF2B5EF4-FFF2-40B4-BE49-F238E27FC236}">
                <a16:creationId xmlns:a16="http://schemas.microsoft.com/office/drawing/2014/main" id="{DC65B8CE-12F6-4781-9E9A-0141D8C698A3}"/>
              </a:ext>
            </a:extLst>
            <a:hlinkClick xmlns:p7="http://schemas.openxmlformats.org/officeDocument/2006/relationships" xmlns:a="http://schemas.openxmlformats.org/drawingml/2006/main" p7:id="rId2" action="ppaction://hlinksldjump"/>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32" name="back-label">
            <a:extLst xmlns:a="http://schemas.openxmlformats.org/drawingml/2006/main">
              <a:ext uri="{FF2B5EF4-FFF2-40B4-BE49-F238E27FC236}">
                <a16:creationId xmlns:a16="http://schemas.microsoft.com/office/drawing/2014/main" id="{3AE5E081-C908-4024-B321-C180681E7986}"/>
              </a:ext>
            </a:extLst>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33" name="next">
            <a:extLst xmlns:a="http://schemas.openxmlformats.org/drawingml/2006/main">
              <a:ext uri="{FF2B5EF4-FFF2-40B4-BE49-F238E27FC236}">
                <a16:creationId xmlns:a16="http://schemas.microsoft.com/office/drawing/2014/main" id="{43523662-FE64-491A-9D9B-C7E6F39142B2}"/>
              </a:ext>
            </a:extLst>
            <a:hlinkClick xmlns:p7="http://schemas.openxmlformats.org/officeDocument/2006/relationships" xmlns:a="http://schemas.openxmlformats.org/drawingml/2006/main" p7:id="rId3" action="ppaction://hlinksldjump"/>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34" name="next-label">
            <a:extLst xmlns:a="http://schemas.openxmlformats.org/drawingml/2006/main">
              <a:ext uri="{FF2B5EF4-FFF2-40B4-BE49-F238E27FC236}">
                <a16:creationId xmlns:a16="http://schemas.microsoft.com/office/drawing/2014/main" id="{B7478E21-C4B3-445E-B97C-1F8B07E5B7F0}"/>
              </a:ext>
            </a:extLst>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Tree>
    <p:extLst>
      <p:ext uri="{BB962C8B-B14F-4D97-AF65-F5344CB8AC3E}">
        <p14:creationId xmlns:p14="http://schemas.microsoft.com/office/powerpoint/2010/main" val="11218967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
            <a:extLst xmlns:a="http://schemas.openxmlformats.org/drawingml/2006/main">
              <a:ext uri="{FF2B5EF4-FFF2-40B4-BE49-F238E27FC236}">
                <a16:creationId xmlns:a16="http://schemas.microsoft.com/office/drawing/2014/main" id="{0DF8D628-78C3-45F2-AF2B-2F40B9E557F3}"/>
              </a:ext>
            </a:extLst>
          </p:cNvPr>
          <p:cNvSpPr>
            <a:spLocks xmlns:a="http://schemas.openxmlformats.org/drawingml/2006/main" noGrp="1"/>
          </p:cNvSpPr>
          <p:nvPr/>
        </p:nvSpPr>
        <p:spPr>
          <a:xfrm xmlns:a="http://schemas.openxmlformats.org/drawingml/2006/main">
            <a:off x="571500" y="266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D8DFF"/>
                </a:solidFill>
              </a:defRPr>
            </a:pPr>
            <a:r>
              <a:rPr sz="900" b="1">
                <a:solidFill>
                  <a:srgbClr val="3D8DFF"/>
                </a:solidFill>
              </a:rPr>
              <a:t>DATA ENGINEERING • RESEARCH TASK</a:t>
            </a:r>
          </a:p>
        </p:txBody>
      </p:sp>
      <p:sp>
        <p:nvSpPr>
          <p:cNvPr id="2" name="text">
            <a:extLst xmlns:a="http://schemas.openxmlformats.org/drawingml/2006/main">
              <a:ext uri="{FF2B5EF4-FFF2-40B4-BE49-F238E27FC236}">
                <a16:creationId xmlns:a16="http://schemas.microsoft.com/office/drawing/2014/main" id="{4D289F3B-5A6A-4BB8-B4D3-E8A72FF3464C}"/>
              </a:ext>
            </a:extLst>
          </p:cNvPr>
          <p:cNvSpPr>
            <a:spLocks xmlns:a="http://schemas.openxmlformats.org/drawingml/2006/main" noGrp="1"/>
          </p:cNvSpPr>
          <p:nvPr/>
        </p:nvSpPr>
        <p:spPr>
          <a:xfrm xmlns:a="http://schemas.openxmlformats.org/drawingml/2006/main">
            <a:off x="5715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11827"/>
                </a:solidFill>
              </a:defRPr>
            </a:pPr>
            <a:r>
              <a:rPr sz="2625" b="1">
                <a:solidFill>
                  <a:srgbClr val="111827"/>
                </a:solidFill>
              </a:rPr>
              <a:t>Choose the design by answering six questions</a:t>
            </a:r>
          </a:p>
        </p:txBody>
      </p:sp>
      <p:sp>
        <p:nvSpPr>
          <p:cNvPr id="3" name="">
            <a:extLst xmlns:a="http://schemas.openxmlformats.org/drawingml/2006/main">
              <a:ext uri="{FF2B5EF4-FFF2-40B4-BE49-F238E27FC236}">
                <a16:creationId xmlns:a16="http://schemas.microsoft.com/office/drawing/2014/main" id="{1FD821D8-E743-43EC-8BCD-499AD678FD8D}"/>
              </a:ext>
            </a:extLst>
          </p:cNvPr>
          <p:cNvSpPr>
            <a:spLocks xmlns:a="http://schemas.openxmlformats.org/drawingml/2006/main" noGrp="1"/>
          </p:cNvSpPr>
          <p:nvPr/>
        </p:nvSpPr>
        <p:spPr>
          <a:xfrm xmlns:a="http://schemas.openxmlformats.org/drawingml/2006/main">
            <a:off x="571500" y="1257300"/>
            <a:ext cx="11049000" cy="9525"/>
          </a:xfrm>
          <a:prstGeom xmlns:a="http://schemas.openxmlformats.org/drawingml/2006/main" prst="line">
            <a:avLst/>
          </a:prstGeom>
          <a:ln xmlns:a="http://schemas.openxmlformats.org/drawingml/2006/main" w="9525">
            <a:solidFill>
              <a:srgbClr val="B8BCC4"/>
            </a:solidFill>
            <a:prstDash val="solid"/>
          </a:ln>
        </p:spPr>
      </p:sp>
      <p:sp>
        <p:nvSpPr>
          <p:cNvPr id="4" name="text">
            <a:extLst xmlns:a="http://schemas.openxmlformats.org/drawingml/2006/main">
              <a:ext uri="{FF2B5EF4-FFF2-40B4-BE49-F238E27FC236}">
                <a16:creationId xmlns:a16="http://schemas.microsoft.com/office/drawing/2014/main" id="{3D97B236-BF55-4EF4-9550-60BE0F18A421}"/>
              </a:ext>
            </a:extLst>
          </p:cNvPr>
          <p:cNvSpPr>
            <a:spLocks xmlns:a="http://schemas.openxmlformats.org/drawingml/2006/main" noGrp="1"/>
          </p:cNvSpPr>
          <p:nvPr/>
        </p:nvSpPr>
        <p:spPr>
          <a:xfrm xmlns:a="http://schemas.openxmlformats.org/drawingml/2006/main">
            <a:off x="11096625" y="64293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F6773"/>
                </a:solidFill>
              </a:defRPr>
            </a:pPr>
            <a:r>
              <a:rPr sz="825" b="1">
                <a:solidFill>
                  <a:srgbClr val="5F6773"/>
                </a:solidFill>
              </a:rPr>
              <a:t>12</a:t>
            </a:r>
          </a:p>
        </p:txBody>
      </p:sp>
      <p:sp>
        <p:nvSpPr>
          <p:cNvPr id="5" name="text">
            <a:extLst xmlns:a="http://schemas.openxmlformats.org/drawingml/2006/main">
              <a:ext uri="{FF2B5EF4-FFF2-40B4-BE49-F238E27FC236}">
                <a16:creationId xmlns:a16="http://schemas.microsoft.com/office/drawing/2014/main" id="{90AA6EC6-DB32-4682-862A-EED74B534FE3}"/>
              </a:ext>
            </a:extLst>
          </p:cNvPr>
          <p:cNvSpPr>
            <a:spLocks xmlns:a="http://schemas.openxmlformats.org/drawingml/2006/main" noGrp="1"/>
          </p:cNvSpPr>
          <p:nvPr/>
        </p:nvSpPr>
        <p:spPr>
          <a:xfrm xmlns:a="http://schemas.openxmlformats.org/drawingml/2006/main">
            <a:off x="666750" y="16192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3D8DFF"/>
                </a:solidFill>
              </a:defRPr>
            </a:pPr>
            <a:r>
              <a:rPr sz="2250" b="1">
                <a:solidFill>
                  <a:srgbClr val="3D8DFF"/>
                </a:solidFill>
              </a:rPr>
              <a:t>01</a:t>
            </a:r>
          </a:p>
        </p:txBody>
      </p:sp>
      <p:sp>
        <p:nvSpPr>
          <p:cNvPr id="6" name="text">
            <a:extLst xmlns:a="http://schemas.openxmlformats.org/drawingml/2006/main">
              <a:ext uri="{FF2B5EF4-FFF2-40B4-BE49-F238E27FC236}">
                <a16:creationId xmlns:a16="http://schemas.microsoft.com/office/drawing/2014/main" id="{37572299-2B9D-4EF3-8D6A-4274905E3453}"/>
              </a:ext>
            </a:extLst>
          </p:cNvPr>
          <p:cNvSpPr>
            <a:spLocks xmlns:a="http://schemas.openxmlformats.org/drawingml/2006/main" noGrp="1"/>
          </p:cNvSpPr>
          <p:nvPr/>
        </p:nvSpPr>
        <p:spPr>
          <a:xfrm xmlns:a="http://schemas.openxmlformats.org/drawingml/2006/main">
            <a:off x="1476375" y="161925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Must sensitive data be transformed before storage?</a:t>
            </a:r>
          </a:p>
        </p:txBody>
      </p:sp>
      <p:sp>
        <p:nvSpPr>
          <p:cNvPr id="7" name="">
            <a:extLst xmlns:a="http://schemas.openxmlformats.org/drawingml/2006/main">
              <a:ext uri="{FF2B5EF4-FFF2-40B4-BE49-F238E27FC236}">
                <a16:creationId xmlns:a16="http://schemas.microsoft.com/office/drawing/2014/main" id="{F72564CD-328C-4F91-9918-EA31C218CBB6}"/>
              </a:ext>
            </a:extLst>
          </p:cNvPr>
          <p:cNvSpPr>
            <a:spLocks xmlns:a="http://schemas.openxmlformats.org/drawingml/2006/main" noGrp="1"/>
          </p:cNvSpPr>
          <p:nvPr/>
        </p:nvSpPr>
        <p:spPr>
          <a:xfrm xmlns:a="http://schemas.openxmlformats.org/drawingml/2006/main">
            <a:off x="1476375" y="2362200"/>
            <a:ext cx="4286250" cy="9525"/>
          </a:xfrm>
          <a:prstGeom xmlns:a="http://schemas.openxmlformats.org/drawingml/2006/main" prst="line">
            <a:avLst/>
          </a:prstGeom>
          <a:ln xmlns:a="http://schemas.openxmlformats.org/drawingml/2006/main" w="9525">
            <a:solidFill>
              <a:srgbClr val="B8BCC4"/>
            </a:solidFill>
            <a:prstDash val="solid"/>
          </a:ln>
        </p:spPr>
      </p:sp>
      <p:sp>
        <p:nvSpPr>
          <p:cNvPr id="8" name="text">
            <a:extLst xmlns:a="http://schemas.openxmlformats.org/drawingml/2006/main">
              <a:ext uri="{FF2B5EF4-FFF2-40B4-BE49-F238E27FC236}">
                <a16:creationId xmlns:a16="http://schemas.microsoft.com/office/drawing/2014/main" id="{0D981F76-2555-4833-99F9-7E0117AD24FA}"/>
              </a:ext>
            </a:extLst>
          </p:cNvPr>
          <p:cNvSpPr>
            <a:spLocks xmlns:a="http://schemas.openxmlformats.org/drawingml/2006/main" noGrp="1"/>
          </p:cNvSpPr>
          <p:nvPr/>
        </p:nvSpPr>
        <p:spPr>
          <a:xfrm xmlns:a="http://schemas.openxmlformats.org/drawingml/2006/main">
            <a:off x="6286500" y="16192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3D8DFF"/>
                </a:solidFill>
              </a:defRPr>
            </a:pPr>
            <a:r>
              <a:rPr sz="2250" b="1">
                <a:solidFill>
                  <a:srgbClr val="3D8DFF"/>
                </a:solidFill>
              </a:rPr>
              <a:t>02</a:t>
            </a:r>
          </a:p>
        </p:txBody>
      </p:sp>
      <p:sp>
        <p:nvSpPr>
          <p:cNvPr id="9" name="text">
            <a:extLst xmlns:a="http://schemas.openxmlformats.org/drawingml/2006/main">
              <a:ext uri="{FF2B5EF4-FFF2-40B4-BE49-F238E27FC236}">
                <a16:creationId xmlns:a16="http://schemas.microsoft.com/office/drawing/2014/main" id="{DDC8DD7F-9769-4F14-AA4B-9706F40AA67C}"/>
              </a:ext>
            </a:extLst>
          </p:cNvPr>
          <p:cNvSpPr>
            <a:spLocks xmlns:a="http://schemas.openxmlformats.org/drawingml/2006/main" noGrp="1"/>
          </p:cNvSpPr>
          <p:nvPr/>
        </p:nvSpPr>
        <p:spPr>
          <a:xfrm xmlns:a="http://schemas.openxmlformats.org/drawingml/2006/main">
            <a:off x="7096125" y="161925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Can the target transform large datasets efficiently?</a:t>
            </a:r>
          </a:p>
        </p:txBody>
      </p:sp>
      <p:sp>
        <p:nvSpPr>
          <p:cNvPr id="10" name="">
            <a:extLst xmlns:a="http://schemas.openxmlformats.org/drawingml/2006/main">
              <a:ext uri="{FF2B5EF4-FFF2-40B4-BE49-F238E27FC236}">
                <a16:creationId xmlns:a16="http://schemas.microsoft.com/office/drawing/2014/main" id="{1BF1B238-73B1-4E4C-8BBA-7B63DEDC9143}"/>
              </a:ext>
            </a:extLst>
          </p:cNvPr>
          <p:cNvSpPr>
            <a:spLocks xmlns:a="http://schemas.openxmlformats.org/drawingml/2006/main" noGrp="1"/>
          </p:cNvSpPr>
          <p:nvPr/>
        </p:nvSpPr>
        <p:spPr>
          <a:xfrm xmlns:a="http://schemas.openxmlformats.org/drawingml/2006/main">
            <a:off x="7096125" y="2362200"/>
            <a:ext cx="4286250" cy="9525"/>
          </a:xfrm>
          <a:prstGeom xmlns:a="http://schemas.openxmlformats.org/drawingml/2006/main" prst="line">
            <a:avLst/>
          </a:prstGeom>
          <a:ln xmlns:a="http://schemas.openxmlformats.org/drawingml/2006/main" w="9525">
            <a:solidFill>
              <a:srgbClr val="B8BCC4"/>
            </a:solidFill>
            <a:prstDash val="solid"/>
          </a:ln>
        </p:spPr>
      </p:sp>
      <p:sp>
        <p:nvSpPr>
          <p:cNvPr id="11" name="text">
            <a:extLst xmlns:a="http://schemas.openxmlformats.org/drawingml/2006/main">
              <a:ext uri="{FF2B5EF4-FFF2-40B4-BE49-F238E27FC236}">
                <a16:creationId xmlns:a16="http://schemas.microsoft.com/office/drawing/2014/main" id="{0F9E1CB5-5127-474E-93CA-3A52A3F5556F}"/>
              </a:ext>
            </a:extLst>
          </p:cNvPr>
          <p:cNvSpPr>
            <a:spLocks xmlns:a="http://schemas.openxmlformats.org/drawingml/2006/main" noGrp="1"/>
          </p:cNvSpPr>
          <p:nvPr/>
        </p:nvSpPr>
        <p:spPr>
          <a:xfrm xmlns:a="http://schemas.openxmlformats.org/drawingml/2006/main">
            <a:off x="666750" y="29527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FF6B5F"/>
                </a:solidFill>
              </a:defRPr>
            </a:pPr>
            <a:r>
              <a:rPr sz="2250" b="1">
                <a:solidFill>
                  <a:srgbClr val="FF6B5F"/>
                </a:solidFill>
              </a:rPr>
              <a:t>03</a:t>
            </a:r>
          </a:p>
        </p:txBody>
      </p:sp>
      <p:sp>
        <p:nvSpPr>
          <p:cNvPr id="12" name="text">
            <a:extLst xmlns:a="http://schemas.openxmlformats.org/drawingml/2006/main">
              <a:ext uri="{FF2B5EF4-FFF2-40B4-BE49-F238E27FC236}">
                <a16:creationId xmlns:a16="http://schemas.microsoft.com/office/drawing/2014/main" id="{358666F4-5B15-4FCB-9A5C-7B5E096FD30F}"/>
              </a:ext>
            </a:extLst>
          </p:cNvPr>
          <p:cNvSpPr>
            <a:spLocks xmlns:a="http://schemas.openxmlformats.org/drawingml/2006/main" noGrp="1"/>
          </p:cNvSpPr>
          <p:nvPr/>
        </p:nvSpPr>
        <p:spPr>
          <a:xfrm xmlns:a="http://schemas.openxmlformats.org/drawingml/2006/main">
            <a:off x="1476375" y="295275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Do we need the original raw history?</a:t>
            </a:r>
          </a:p>
        </p:txBody>
      </p:sp>
      <p:sp>
        <p:nvSpPr>
          <p:cNvPr id="13" name="">
            <a:extLst xmlns:a="http://schemas.openxmlformats.org/drawingml/2006/main">
              <a:ext uri="{FF2B5EF4-FFF2-40B4-BE49-F238E27FC236}">
                <a16:creationId xmlns:a16="http://schemas.microsoft.com/office/drawing/2014/main" id="{DB7D5374-FA6F-46E1-9209-0C693FB1BD14}"/>
              </a:ext>
            </a:extLst>
          </p:cNvPr>
          <p:cNvSpPr>
            <a:spLocks xmlns:a="http://schemas.openxmlformats.org/drawingml/2006/main" noGrp="1"/>
          </p:cNvSpPr>
          <p:nvPr/>
        </p:nvSpPr>
        <p:spPr>
          <a:xfrm xmlns:a="http://schemas.openxmlformats.org/drawingml/2006/main">
            <a:off x="1476375" y="3695700"/>
            <a:ext cx="4286250" cy="9525"/>
          </a:xfrm>
          <a:prstGeom xmlns:a="http://schemas.openxmlformats.org/drawingml/2006/main" prst="line">
            <a:avLst/>
          </a:prstGeom>
          <a:ln xmlns:a="http://schemas.openxmlformats.org/drawingml/2006/main" w="9525">
            <a:solidFill>
              <a:srgbClr val="B8BCC4"/>
            </a:solidFill>
            <a:prstDash val="solid"/>
          </a:ln>
        </p:spPr>
      </p:sp>
      <p:sp>
        <p:nvSpPr>
          <p:cNvPr id="14" name="text">
            <a:extLst xmlns:a="http://schemas.openxmlformats.org/drawingml/2006/main">
              <a:ext uri="{FF2B5EF4-FFF2-40B4-BE49-F238E27FC236}">
                <a16:creationId xmlns:a16="http://schemas.microsoft.com/office/drawing/2014/main" id="{4518E2BE-B841-47FE-AD07-83C3261F53F3}"/>
              </a:ext>
            </a:extLst>
          </p:cNvPr>
          <p:cNvSpPr>
            <a:spLocks xmlns:a="http://schemas.openxmlformats.org/drawingml/2006/main" noGrp="1"/>
          </p:cNvSpPr>
          <p:nvPr/>
        </p:nvSpPr>
        <p:spPr>
          <a:xfrm xmlns:a="http://schemas.openxmlformats.org/drawingml/2006/main">
            <a:off x="6286500" y="29527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FF6B5F"/>
                </a:solidFill>
              </a:defRPr>
            </a:pPr>
            <a:r>
              <a:rPr sz="2250" b="1">
                <a:solidFill>
                  <a:srgbClr val="FF6B5F"/>
                </a:solidFill>
              </a:rPr>
              <a:t>04</a:t>
            </a:r>
          </a:p>
        </p:txBody>
      </p:sp>
      <p:sp>
        <p:nvSpPr>
          <p:cNvPr id="15" name="text">
            <a:extLst xmlns:a="http://schemas.openxmlformats.org/drawingml/2006/main">
              <a:ext uri="{FF2B5EF4-FFF2-40B4-BE49-F238E27FC236}">
                <a16:creationId xmlns:a16="http://schemas.microsoft.com/office/drawing/2014/main" id="{B4252225-CC66-4B9D-A2AA-CC32399293C8}"/>
              </a:ext>
            </a:extLst>
          </p:cNvPr>
          <p:cNvSpPr>
            <a:spLocks xmlns:a="http://schemas.openxmlformats.org/drawingml/2006/main" noGrp="1"/>
          </p:cNvSpPr>
          <p:nvPr/>
        </p:nvSpPr>
        <p:spPr>
          <a:xfrm xmlns:a="http://schemas.openxmlformats.org/drawingml/2006/main">
            <a:off x="7096125" y="295275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Is the workload write-heavy or read-heavy?</a:t>
            </a:r>
          </a:p>
        </p:txBody>
      </p:sp>
      <p:sp>
        <p:nvSpPr>
          <p:cNvPr id="16" name="">
            <a:extLst xmlns:a="http://schemas.openxmlformats.org/drawingml/2006/main">
              <a:ext uri="{FF2B5EF4-FFF2-40B4-BE49-F238E27FC236}">
                <a16:creationId xmlns:a16="http://schemas.microsoft.com/office/drawing/2014/main" id="{6E437C2D-F718-4081-8573-A2E1694E8157}"/>
              </a:ext>
            </a:extLst>
          </p:cNvPr>
          <p:cNvSpPr>
            <a:spLocks xmlns:a="http://schemas.openxmlformats.org/drawingml/2006/main" noGrp="1"/>
          </p:cNvSpPr>
          <p:nvPr/>
        </p:nvSpPr>
        <p:spPr>
          <a:xfrm xmlns:a="http://schemas.openxmlformats.org/drawingml/2006/main">
            <a:off x="7096125" y="3695700"/>
            <a:ext cx="4286250" cy="9525"/>
          </a:xfrm>
          <a:prstGeom xmlns:a="http://schemas.openxmlformats.org/drawingml/2006/main" prst="line">
            <a:avLst/>
          </a:prstGeom>
          <a:ln xmlns:a="http://schemas.openxmlformats.org/drawingml/2006/main" w="9525">
            <a:solidFill>
              <a:srgbClr val="B8BCC4"/>
            </a:solidFill>
            <a:prstDash val="solid"/>
          </a:ln>
        </p:spPr>
      </p:sp>
      <p:sp>
        <p:nvSpPr>
          <p:cNvPr id="17" name="text">
            <a:extLst xmlns:a="http://schemas.openxmlformats.org/drawingml/2006/main">
              <a:ext uri="{FF2B5EF4-FFF2-40B4-BE49-F238E27FC236}">
                <a16:creationId xmlns:a16="http://schemas.microsoft.com/office/drawing/2014/main" id="{C9CB7CA3-D9AA-4225-9EE6-1059AF12DEC3}"/>
              </a:ext>
            </a:extLst>
          </p:cNvPr>
          <p:cNvSpPr>
            <a:spLocks xmlns:a="http://schemas.openxmlformats.org/drawingml/2006/main" noGrp="1"/>
          </p:cNvSpPr>
          <p:nvPr/>
        </p:nvSpPr>
        <p:spPr>
          <a:xfrm xmlns:a="http://schemas.openxmlformats.org/drawingml/2006/main">
            <a:off x="666750" y="42862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27AE60"/>
                </a:solidFill>
              </a:defRPr>
            </a:pPr>
            <a:r>
              <a:rPr sz="2250" b="1">
                <a:solidFill>
                  <a:srgbClr val="27AE60"/>
                </a:solidFill>
              </a:rPr>
              <a:t>05</a:t>
            </a:r>
          </a:p>
        </p:txBody>
      </p:sp>
      <p:sp>
        <p:nvSpPr>
          <p:cNvPr id="18" name="text">
            <a:extLst xmlns:a="http://schemas.openxmlformats.org/drawingml/2006/main">
              <a:ext uri="{FF2B5EF4-FFF2-40B4-BE49-F238E27FC236}">
                <a16:creationId xmlns:a16="http://schemas.microsoft.com/office/drawing/2014/main" id="{1AD95E0C-85F1-427A-9317-99D08895274C}"/>
              </a:ext>
            </a:extLst>
          </p:cNvPr>
          <p:cNvSpPr>
            <a:spLocks xmlns:a="http://schemas.openxmlformats.org/drawingml/2006/main" noGrp="1"/>
          </p:cNvSpPr>
          <p:nvPr/>
        </p:nvSpPr>
        <p:spPr>
          <a:xfrm xmlns:a="http://schemas.openxmlformats.org/drawingml/2006/main">
            <a:off x="1476375" y="428625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What inconsistency can the business tolerate?</a:t>
            </a:r>
          </a:p>
        </p:txBody>
      </p:sp>
      <p:sp>
        <p:nvSpPr>
          <p:cNvPr id="19" name="">
            <a:extLst xmlns:a="http://schemas.openxmlformats.org/drawingml/2006/main">
              <a:ext uri="{FF2B5EF4-FFF2-40B4-BE49-F238E27FC236}">
                <a16:creationId xmlns:a16="http://schemas.microsoft.com/office/drawing/2014/main" id="{F4B43FF8-7277-4C6B-A845-117A99B34385}"/>
              </a:ext>
            </a:extLst>
          </p:cNvPr>
          <p:cNvSpPr>
            <a:spLocks xmlns:a="http://schemas.openxmlformats.org/drawingml/2006/main" noGrp="1"/>
          </p:cNvSpPr>
          <p:nvPr/>
        </p:nvSpPr>
        <p:spPr>
          <a:xfrm xmlns:a="http://schemas.openxmlformats.org/drawingml/2006/main">
            <a:off x="1476375" y="5029200"/>
            <a:ext cx="4286250" cy="9525"/>
          </a:xfrm>
          <a:prstGeom xmlns:a="http://schemas.openxmlformats.org/drawingml/2006/main" prst="line">
            <a:avLst/>
          </a:prstGeom>
          <a:ln xmlns:a="http://schemas.openxmlformats.org/drawingml/2006/main" w="9525">
            <a:solidFill>
              <a:srgbClr val="B8BCC4"/>
            </a:solidFill>
            <a:prstDash val="solid"/>
          </a:ln>
        </p:spPr>
      </p:sp>
      <p:sp>
        <p:nvSpPr>
          <p:cNvPr id="20" name="text">
            <a:extLst xmlns:a="http://schemas.openxmlformats.org/drawingml/2006/main">
              <a:ext uri="{FF2B5EF4-FFF2-40B4-BE49-F238E27FC236}">
                <a16:creationId xmlns:a16="http://schemas.microsoft.com/office/drawing/2014/main" id="{51C6E528-BA82-47F1-95A8-18F0B8881D23}"/>
              </a:ext>
            </a:extLst>
          </p:cNvPr>
          <p:cNvSpPr>
            <a:spLocks xmlns:a="http://schemas.openxmlformats.org/drawingml/2006/main" noGrp="1"/>
          </p:cNvSpPr>
          <p:nvPr/>
        </p:nvSpPr>
        <p:spPr>
          <a:xfrm xmlns:a="http://schemas.openxmlformats.org/drawingml/2006/main">
            <a:off x="6286500" y="42862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27AE60"/>
                </a:solidFill>
              </a:defRPr>
            </a:pPr>
            <a:r>
              <a:rPr sz="2250" b="1">
                <a:solidFill>
                  <a:srgbClr val="27AE60"/>
                </a:solidFill>
              </a:rPr>
              <a:t>06</a:t>
            </a:r>
          </a:p>
        </p:txBody>
      </p:sp>
      <p:sp>
        <p:nvSpPr>
          <p:cNvPr id="21" name="text">
            <a:extLst xmlns:a="http://schemas.openxmlformats.org/drawingml/2006/main">
              <a:ext uri="{FF2B5EF4-FFF2-40B4-BE49-F238E27FC236}">
                <a16:creationId xmlns:a16="http://schemas.microsoft.com/office/drawing/2014/main" id="{B28FE1B8-B885-4015-B243-B068EEA2F0F6}"/>
              </a:ext>
            </a:extLst>
          </p:cNvPr>
          <p:cNvSpPr>
            <a:spLocks xmlns:a="http://schemas.openxmlformats.org/drawingml/2006/main" noGrp="1"/>
          </p:cNvSpPr>
          <p:nvPr/>
        </p:nvSpPr>
        <p:spPr>
          <a:xfrm xmlns:a="http://schemas.openxmlformats.org/drawingml/2006/main">
            <a:off x="7096125" y="428625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Can we measure the performance problem before denormalizing?</a:t>
            </a:r>
          </a:p>
        </p:txBody>
      </p:sp>
      <p:sp>
        <p:nvSpPr>
          <p:cNvPr id="22" name="">
            <a:extLst xmlns:a="http://schemas.openxmlformats.org/drawingml/2006/main">
              <a:ext uri="{FF2B5EF4-FFF2-40B4-BE49-F238E27FC236}">
                <a16:creationId xmlns:a16="http://schemas.microsoft.com/office/drawing/2014/main" id="{39FE4342-96C9-408B-886D-E1A77691CFD7}"/>
              </a:ext>
            </a:extLst>
          </p:cNvPr>
          <p:cNvSpPr>
            <a:spLocks xmlns:a="http://schemas.openxmlformats.org/drawingml/2006/main" noGrp="1"/>
          </p:cNvSpPr>
          <p:nvPr/>
        </p:nvSpPr>
        <p:spPr>
          <a:xfrm xmlns:a="http://schemas.openxmlformats.org/drawingml/2006/main">
            <a:off x="7096125" y="5029200"/>
            <a:ext cx="4286250" cy="9525"/>
          </a:xfrm>
          <a:prstGeom xmlns:a="http://schemas.openxmlformats.org/drawingml/2006/main" prst="line">
            <a:avLst/>
          </a:prstGeom>
          <a:ln xmlns:a="http://schemas.openxmlformats.org/drawingml/2006/main" w="9525">
            <a:solidFill>
              <a:srgbClr val="B8BCC4"/>
            </a:solidFill>
            <a:prstDash val="solid"/>
          </a:ln>
        </p:spPr>
      </p:sp>
      <p:sp>
        <p:nvSpPr>
          <p:cNvPr id="23" name="home">
            <a:extLst xmlns:a="http://schemas.openxmlformats.org/drawingml/2006/main">
              <a:ext uri="{FF2B5EF4-FFF2-40B4-BE49-F238E27FC236}">
                <a16:creationId xmlns:a16="http://schemas.microsoft.com/office/drawing/2014/main" id="{5A88BFD4-F18A-49A6-ACCA-75A72B9CBB62}"/>
              </a:ext>
            </a:extLst>
            <a:hlinkClick xmlns:p7="http://schemas.openxmlformats.org/officeDocument/2006/relationships" xmlns:a="http://schemas.openxmlformats.org/drawingml/2006/main" p7:id="rId1" action="ppaction://hlinksldjump"/>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solidFill xmlns:a="http://schemas.openxmlformats.org/drawingml/2006/main">
            <a:srgbClr val="0B1F33"/>
          </a:solidFill>
          <a:ln xmlns:a="http://schemas.openxmlformats.org/drawingml/2006/main" w="11430">
            <a:solidFill>
              <a:srgbClr val="0B1F33"/>
            </a:solidFill>
            <a:prstDash val="solid"/>
          </a:ln>
        </p:spPr>
      </p:sp>
      <p:sp>
        <p:nvSpPr>
          <p:cNvPr id="24" name="home-label">
            <a:extLst xmlns:a="http://schemas.openxmlformats.org/drawingml/2006/main">
              <a:ext uri="{FF2B5EF4-FFF2-40B4-BE49-F238E27FC236}">
                <a16:creationId xmlns:a16="http://schemas.microsoft.com/office/drawing/2014/main" id="{33056D74-BA8D-475E-82C0-4AAD19F54CDC}"/>
              </a:ext>
            </a:extLst>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5" name="back">
            <a:extLst xmlns:a="http://schemas.openxmlformats.org/drawingml/2006/main">
              <a:ext uri="{FF2B5EF4-FFF2-40B4-BE49-F238E27FC236}">
                <a16:creationId xmlns:a16="http://schemas.microsoft.com/office/drawing/2014/main" id="{07F07294-2BA4-4F71-86B2-26BDF48120FB}"/>
              </a:ext>
            </a:extLst>
            <a:hlinkClick xmlns:p7="http://schemas.openxmlformats.org/officeDocument/2006/relationships" xmlns:a="http://schemas.openxmlformats.org/drawingml/2006/main" p7:id="rId2" action="ppaction://hlinksldjump"/>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26" name="back-label">
            <a:extLst xmlns:a="http://schemas.openxmlformats.org/drawingml/2006/main">
              <a:ext uri="{FF2B5EF4-FFF2-40B4-BE49-F238E27FC236}">
                <a16:creationId xmlns:a16="http://schemas.microsoft.com/office/drawing/2014/main" id="{BEE10503-1E9E-456E-8B2D-9669AB8B27D7}"/>
              </a:ext>
            </a:extLst>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7" name="next">
            <a:extLst xmlns:a="http://schemas.openxmlformats.org/drawingml/2006/main">
              <a:ext uri="{FF2B5EF4-FFF2-40B4-BE49-F238E27FC236}">
                <a16:creationId xmlns:a16="http://schemas.microsoft.com/office/drawing/2014/main" id="{1AD332A6-92A2-4F37-B5A9-20772197841F}"/>
              </a:ext>
            </a:extLst>
            <a:hlinkClick xmlns:p7="http://schemas.openxmlformats.org/officeDocument/2006/relationships" xmlns:a="http://schemas.openxmlformats.org/drawingml/2006/main" p7:id="rId3" action="ppaction://hlinksldjump"/>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solidFill xmlns:a="http://schemas.openxmlformats.org/drawingml/2006/main">
            <a:srgbClr val="FF6B5F"/>
          </a:solidFill>
          <a:ln xmlns:a="http://schemas.openxmlformats.org/drawingml/2006/main" w="11430">
            <a:solidFill>
              <a:srgbClr val="FF6B5F"/>
            </a:solidFill>
            <a:prstDash val="solid"/>
          </a:ln>
        </p:spPr>
      </p:sp>
      <p:sp>
        <p:nvSpPr>
          <p:cNvPr id="28" name="next-label">
            <a:extLst xmlns:a="http://schemas.openxmlformats.org/drawingml/2006/main">
              <a:ext uri="{FF2B5EF4-FFF2-40B4-BE49-F238E27FC236}">
                <a16:creationId xmlns:a16="http://schemas.microsoft.com/office/drawing/2014/main" id="{4F3875E1-56FD-45B8-AEBE-40717E80765F}"/>
              </a:ext>
            </a:extLst>
          </p:cNvPr>
          <p:cNvSpPr>
            <a:spLocks xmlns:a="http://schemas.openxmlformats.org/drawingml/2006/main" noGrp="1"/>
          </p:cNvSpPr>
          <p:nvPr/>
        </p:nvSpPr>
        <p:spPr>
          <a:xfrm xmlns:a="http://schemas.openxmlformats.org/drawingml/2006/main">
            <a:off x="110490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Tree>
    <p:extLst>
      <p:ext uri="{BB962C8B-B14F-4D97-AF65-F5344CB8AC3E}">
        <p14:creationId xmlns:p14="http://schemas.microsoft.com/office/powerpoint/2010/main" val="180135846"/>
      </p:ext>
    </p:extLst>
  </p:cSld>
</p:sld>
</file>

<file path=ppt/slides/slide13.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EA2ECB03-555F-4E16-BA43-073C54A74F99}"/>
              </a:ext>
            </a:extLst>
          </p:cNvPr>
          <p:cNvSpPr>
            <a:spLocks xmlns:a="http://schemas.openxmlformats.org/drawingml/2006/main" noGrp="1"/>
          </p:cNvSpPr>
          <p:nvPr/>
        </p:nvSpPr>
        <p:spPr>
          <a:xfrm xmlns:a="http://schemas.openxmlformats.org/drawingml/2006/main">
            <a:off x="571500" y="266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6DCBF4"/>
                </a:solidFill>
              </a:defRPr>
            </a:pPr>
            <a:r>
              <a:rPr sz="900" b="1">
                <a:solidFill>
                  <a:srgbClr val="6DCBF4"/>
                </a:solidFill>
              </a:rPr>
              <a:t>DATA ENGINEERING • RESEARCH TASK</a:t>
            </a:r>
          </a:p>
        </p:txBody>
      </p:sp>
      <p:sp>
        <p:nvSpPr>
          <p:cNvPr id="2" name="text">
            <a:extLst xmlns:a="http://schemas.openxmlformats.org/drawingml/2006/main">
              <a:ext uri="{FF2B5EF4-FFF2-40B4-BE49-F238E27FC236}">
                <a16:creationId xmlns:a16="http://schemas.microsoft.com/office/drawing/2014/main" id="{5A62AE0A-7515-4888-A743-C3FAA36C8D7E}"/>
              </a:ext>
            </a:extLst>
          </p:cNvPr>
          <p:cNvSpPr>
            <a:spLocks xmlns:a="http://schemas.openxmlformats.org/drawingml/2006/main" noGrp="1"/>
          </p:cNvSpPr>
          <p:nvPr/>
        </p:nvSpPr>
        <p:spPr>
          <a:xfrm xmlns:a="http://schemas.openxmlformats.org/drawingml/2006/main">
            <a:off x="5715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FFFFFF"/>
                </a:solidFill>
              </a:defRPr>
            </a:pPr>
            <a:r>
              <a:rPr sz="2625" b="1">
                <a:solidFill>
                  <a:srgbClr val="FFFFFF"/>
                </a:solidFill>
              </a:rPr>
              <a:t>The best architecture places each transformation and copy deliberately</a:t>
            </a:r>
          </a:p>
        </p:txBody>
      </p:sp>
      <p:sp>
        <p:nvSpPr>
          <p:cNvPr id="3" name="">
            <a:extLst xmlns:a="http://schemas.openxmlformats.org/drawingml/2006/main">
              <a:ext uri="{FF2B5EF4-FFF2-40B4-BE49-F238E27FC236}">
                <a16:creationId xmlns:a16="http://schemas.microsoft.com/office/drawing/2014/main" id="{EC6B93EE-79AF-446F-A5FA-C5DD68F737D5}"/>
              </a:ext>
            </a:extLst>
          </p:cNvPr>
          <p:cNvSpPr>
            <a:spLocks xmlns:a="http://schemas.openxmlformats.org/drawingml/2006/main" noGrp="1"/>
          </p:cNvSpPr>
          <p:nvPr/>
        </p:nvSpPr>
        <p:spPr>
          <a:xfrm xmlns:a="http://schemas.openxmlformats.org/drawingml/2006/main">
            <a:off x="571500" y="1257300"/>
            <a:ext cx="11049000" cy="9525"/>
          </a:xfrm>
          <a:prstGeom xmlns:a="http://schemas.openxmlformats.org/drawingml/2006/main" prst="line">
            <a:avLst/>
          </a:prstGeom>
          <a:ln xmlns:a="http://schemas.openxmlformats.org/drawingml/2006/main" w="9525">
            <a:solidFill>
              <a:srgbClr val="31506B"/>
            </a:solidFill>
            <a:prstDash val="solid"/>
          </a:ln>
        </p:spPr>
      </p:sp>
      <p:sp>
        <p:nvSpPr>
          <p:cNvPr id="4" name="text">
            <a:extLst xmlns:a="http://schemas.openxmlformats.org/drawingml/2006/main">
              <a:ext uri="{FF2B5EF4-FFF2-40B4-BE49-F238E27FC236}">
                <a16:creationId xmlns:a16="http://schemas.microsoft.com/office/drawing/2014/main" id="{B8838F7A-01BA-4939-A824-AA954F3D09F1}"/>
              </a:ext>
            </a:extLst>
          </p:cNvPr>
          <p:cNvSpPr>
            <a:spLocks xmlns:a="http://schemas.openxmlformats.org/drawingml/2006/main" noGrp="1"/>
          </p:cNvSpPr>
          <p:nvPr/>
        </p:nvSpPr>
        <p:spPr>
          <a:xfrm xmlns:a="http://schemas.openxmlformats.org/drawingml/2006/main">
            <a:off x="11096625" y="64293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DCBF4"/>
                </a:solidFill>
              </a:defRPr>
            </a:pPr>
            <a:r>
              <a:rPr sz="825" b="1">
                <a:solidFill>
                  <a:srgbClr val="6DCBF4"/>
                </a:solidFill>
              </a:rPr>
              <a:t>13</a:t>
            </a:r>
          </a:p>
        </p:txBody>
      </p:sp>
      <p:sp>
        <p:nvSpPr>
          <p:cNvPr id="5" name="text">
            <a:extLst xmlns:a="http://schemas.openxmlformats.org/drawingml/2006/main">
              <a:ext uri="{FF2B5EF4-FFF2-40B4-BE49-F238E27FC236}">
                <a16:creationId xmlns:a16="http://schemas.microsoft.com/office/drawing/2014/main" id="{5CBD51F4-4314-4852-8A31-53396AFE296C}"/>
              </a:ext>
            </a:extLst>
          </p:cNvPr>
          <p:cNvSpPr>
            <a:spLocks xmlns:a="http://schemas.openxmlformats.org/drawingml/2006/main" noGrp="1"/>
          </p:cNvSpPr>
          <p:nvPr/>
        </p:nvSpPr>
        <p:spPr>
          <a:xfrm xmlns:a="http://schemas.openxmlformats.org/drawingml/2006/main">
            <a:off x="809625" y="1666875"/>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3D8DFF"/>
                </a:solidFill>
              </a:defRPr>
            </a:pPr>
            <a:r>
              <a:rPr sz="2325" b="1">
                <a:solidFill>
                  <a:srgbClr val="3D8DFF"/>
                </a:solidFill>
              </a:rPr>
              <a:t>1</a:t>
            </a:r>
          </a:p>
        </p:txBody>
      </p:sp>
      <p:sp>
        <p:nvSpPr>
          <p:cNvPr id="6" name="text">
            <a:extLst xmlns:a="http://schemas.openxmlformats.org/drawingml/2006/main">
              <a:ext uri="{FF2B5EF4-FFF2-40B4-BE49-F238E27FC236}">
                <a16:creationId xmlns:a16="http://schemas.microsoft.com/office/drawing/2014/main" id="{508FF2DE-9BCE-42E1-B612-F51A2481E66F}"/>
              </a:ext>
            </a:extLst>
          </p:cNvPr>
          <p:cNvSpPr>
            <a:spLocks xmlns:a="http://schemas.openxmlformats.org/drawingml/2006/main" noGrp="1"/>
          </p:cNvSpPr>
          <p:nvPr/>
        </p:nvSpPr>
        <p:spPr>
          <a:xfrm xmlns:a="http://schemas.openxmlformats.org/drawingml/2006/main">
            <a:off x="1666875" y="16668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ETL</a:t>
            </a:r>
          </a:p>
        </p:txBody>
      </p:sp>
      <p:sp>
        <p:nvSpPr>
          <p:cNvPr id="7" name="text">
            <a:extLst xmlns:a="http://schemas.openxmlformats.org/drawingml/2006/main">
              <a:ext uri="{FF2B5EF4-FFF2-40B4-BE49-F238E27FC236}">
                <a16:creationId xmlns:a16="http://schemas.microsoft.com/office/drawing/2014/main" id="{D832291F-5E26-46C8-BF44-A8E236C7AE35}"/>
              </a:ext>
            </a:extLst>
          </p:cNvPr>
          <p:cNvSpPr>
            <a:spLocks xmlns:a="http://schemas.openxmlformats.org/drawingml/2006/main" noGrp="1"/>
          </p:cNvSpPr>
          <p:nvPr/>
        </p:nvSpPr>
        <p:spPr>
          <a:xfrm xmlns:a="http://schemas.openxmlformats.org/drawingml/2006/main">
            <a:off x="4572000" y="1666875"/>
            <a:ext cx="542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CBD8E5"/>
                </a:solidFill>
              </a:defRPr>
            </a:pPr>
            <a:r>
              <a:rPr sz="1500" b="0">
                <a:solidFill>
                  <a:srgbClr val="CBD8E5"/>
                </a:solidFill>
              </a:rPr>
              <a:t>Transform before load</a:t>
            </a:r>
          </a:p>
        </p:txBody>
      </p:sp>
      <p:sp>
        <p:nvSpPr>
          <p:cNvPr id="8" name="text">
            <a:extLst xmlns:a="http://schemas.openxmlformats.org/drawingml/2006/main">
              <a:ext uri="{FF2B5EF4-FFF2-40B4-BE49-F238E27FC236}">
                <a16:creationId xmlns:a16="http://schemas.microsoft.com/office/drawing/2014/main" id="{6ADE895F-42BE-4A34-80B5-0EC1C75871A9}"/>
              </a:ext>
            </a:extLst>
          </p:cNvPr>
          <p:cNvSpPr>
            <a:spLocks xmlns:a="http://schemas.openxmlformats.org/drawingml/2006/main" noGrp="1"/>
          </p:cNvSpPr>
          <p:nvPr/>
        </p:nvSpPr>
        <p:spPr>
          <a:xfrm xmlns:a="http://schemas.openxmlformats.org/drawingml/2006/main">
            <a:off x="809625" y="2619375"/>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FF6B5F"/>
                </a:solidFill>
              </a:defRPr>
            </a:pPr>
            <a:r>
              <a:rPr sz="2325" b="1">
                <a:solidFill>
                  <a:srgbClr val="FF6B5F"/>
                </a:solidFill>
              </a:rPr>
              <a:t>2</a:t>
            </a:r>
          </a:p>
        </p:txBody>
      </p:sp>
      <p:sp>
        <p:nvSpPr>
          <p:cNvPr id="9" name="text">
            <a:extLst xmlns:a="http://schemas.openxmlformats.org/drawingml/2006/main">
              <a:ext uri="{FF2B5EF4-FFF2-40B4-BE49-F238E27FC236}">
                <a16:creationId xmlns:a16="http://schemas.microsoft.com/office/drawing/2014/main" id="{9953723B-2B84-4FEE-B9F4-64D6094AB9B3}"/>
              </a:ext>
            </a:extLst>
          </p:cNvPr>
          <p:cNvSpPr>
            <a:spLocks xmlns:a="http://schemas.openxmlformats.org/drawingml/2006/main" noGrp="1"/>
          </p:cNvSpPr>
          <p:nvPr/>
        </p:nvSpPr>
        <p:spPr>
          <a:xfrm xmlns:a="http://schemas.openxmlformats.org/drawingml/2006/main">
            <a:off x="1666875" y="26193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ELT</a:t>
            </a:r>
          </a:p>
        </p:txBody>
      </p:sp>
      <p:sp>
        <p:nvSpPr>
          <p:cNvPr id="10" name="text">
            <a:extLst xmlns:a="http://schemas.openxmlformats.org/drawingml/2006/main">
              <a:ext uri="{FF2B5EF4-FFF2-40B4-BE49-F238E27FC236}">
                <a16:creationId xmlns:a16="http://schemas.microsoft.com/office/drawing/2014/main" id="{FA67C4E3-49E2-4051-B433-3253B06DA766}"/>
              </a:ext>
            </a:extLst>
          </p:cNvPr>
          <p:cNvSpPr>
            <a:spLocks xmlns:a="http://schemas.openxmlformats.org/drawingml/2006/main" noGrp="1"/>
          </p:cNvSpPr>
          <p:nvPr/>
        </p:nvSpPr>
        <p:spPr>
          <a:xfrm xmlns:a="http://schemas.openxmlformats.org/drawingml/2006/main">
            <a:off x="4572000" y="2619375"/>
            <a:ext cx="542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CBD8E5"/>
                </a:solidFill>
              </a:defRPr>
            </a:pPr>
            <a:r>
              <a:rPr sz="1500" b="0">
                <a:solidFill>
                  <a:srgbClr val="CBD8E5"/>
                </a:solidFill>
              </a:rPr>
              <a:t>Transform after load</a:t>
            </a:r>
          </a:p>
        </p:txBody>
      </p:sp>
      <p:sp>
        <p:nvSpPr>
          <p:cNvPr id="11" name="text">
            <a:extLst xmlns:a="http://schemas.openxmlformats.org/drawingml/2006/main">
              <a:ext uri="{FF2B5EF4-FFF2-40B4-BE49-F238E27FC236}">
                <a16:creationId xmlns:a16="http://schemas.microsoft.com/office/drawing/2014/main" id="{3A33E1E4-372F-4404-92FD-D4E5A456E513}"/>
              </a:ext>
            </a:extLst>
          </p:cNvPr>
          <p:cNvSpPr>
            <a:spLocks xmlns:a="http://schemas.openxmlformats.org/drawingml/2006/main" noGrp="1"/>
          </p:cNvSpPr>
          <p:nvPr/>
        </p:nvSpPr>
        <p:spPr>
          <a:xfrm xmlns:a="http://schemas.openxmlformats.org/drawingml/2006/main">
            <a:off x="809625" y="3571875"/>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27AE60"/>
                </a:solidFill>
              </a:defRPr>
            </a:pPr>
            <a:r>
              <a:rPr sz="2325" b="1">
                <a:solidFill>
                  <a:srgbClr val="27AE60"/>
                </a:solidFill>
              </a:rPr>
              <a:t>3</a:t>
            </a:r>
          </a:p>
        </p:txBody>
      </p:sp>
      <p:sp>
        <p:nvSpPr>
          <p:cNvPr id="12" name="text">
            <a:extLst xmlns:a="http://schemas.openxmlformats.org/drawingml/2006/main">
              <a:ext uri="{FF2B5EF4-FFF2-40B4-BE49-F238E27FC236}">
                <a16:creationId xmlns:a16="http://schemas.microsoft.com/office/drawing/2014/main" id="{A2C6BD64-2EB0-43F0-BE55-C247FC41096B}"/>
              </a:ext>
            </a:extLst>
          </p:cNvPr>
          <p:cNvSpPr>
            <a:spLocks xmlns:a="http://schemas.openxmlformats.org/drawingml/2006/main" noGrp="1"/>
          </p:cNvSpPr>
          <p:nvPr/>
        </p:nvSpPr>
        <p:spPr>
          <a:xfrm xmlns:a="http://schemas.openxmlformats.org/drawingml/2006/main">
            <a:off x="1666875" y="35718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Normalization</a:t>
            </a:r>
          </a:p>
        </p:txBody>
      </p:sp>
      <p:sp>
        <p:nvSpPr>
          <p:cNvPr id="13" name="text">
            <a:extLst xmlns:a="http://schemas.openxmlformats.org/drawingml/2006/main">
              <a:ext uri="{FF2B5EF4-FFF2-40B4-BE49-F238E27FC236}">
                <a16:creationId xmlns:a16="http://schemas.microsoft.com/office/drawing/2014/main" id="{E91A098B-53F4-40DA-A106-54854FCF694F}"/>
              </a:ext>
            </a:extLst>
          </p:cNvPr>
          <p:cNvSpPr>
            <a:spLocks xmlns:a="http://schemas.openxmlformats.org/drawingml/2006/main" noGrp="1"/>
          </p:cNvSpPr>
          <p:nvPr/>
        </p:nvSpPr>
        <p:spPr>
          <a:xfrm xmlns:a="http://schemas.openxmlformats.org/drawingml/2006/main">
            <a:off x="4572000" y="3571875"/>
            <a:ext cx="542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CBD8E5"/>
                </a:solidFill>
              </a:defRPr>
            </a:pPr>
            <a:r>
              <a:rPr sz="1500" b="0">
                <a:solidFill>
                  <a:srgbClr val="CBD8E5"/>
                </a:solidFill>
              </a:rPr>
              <a:t>Store each fact once</a:t>
            </a:r>
          </a:p>
        </p:txBody>
      </p:sp>
      <p:sp>
        <p:nvSpPr>
          <p:cNvPr id="14" name="text">
            <a:extLst xmlns:a="http://schemas.openxmlformats.org/drawingml/2006/main">
              <a:ext uri="{FF2B5EF4-FFF2-40B4-BE49-F238E27FC236}">
                <a16:creationId xmlns:a16="http://schemas.microsoft.com/office/drawing/2014/main" id="{39F16A08-9516-4F69-91F6-84FA8DC774D4}"/>
              </a:ext>
            </a:extLst>
          </p:cNvPr>
          <p:cNvSpPr>
            <a:spLocks xmlns:a="http://schemas.openxmlformats.org/drawingml/2006/main" noGrp="1"/>
          </p:cNvSpPr>
          <p:nvPr/>
        </p:nvSpPr>
        <p:spPr>
          <a:xfrm xmlns:a="http://schemas.openxmlformats.org/drawingml/2006/main">
            <a:off x="809625" y="4524375"/>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F5A623"/>
                </a:solidFill>
              </a:defRPr>
            </a:pPr>
            <a:r>
              <a:rPr sz="2325" b="1">
                <a:solidFill>
                  <a:srgbClr val="F5A623"/>
                </a:solidFill>
              </a:rPr>
              <a:t>4</a:t>
            </a:r>
          </a:p>
        </p:txBody>
      </p:sp>
      <p:sp>
        <p:nvSpPr>
          <p:cNvPr id="15" name="text">
            <a:extLst xmlns:a="http://schemas.openxmlformats.org/drawingml/2006/main">
              <a:ext uri="{FF2B5EF4-FFF2-40B4-BE49-F238E27FC236}">
                <a16:creationId xmlns:a16="http://schemas.microsoft.com/office/drawing/2014/main" id="{54DC64CE-AFA2-4F18-B6EC-7C12440BE555}"/>
              </a:ext>
            </a:extLst>
          </p:cNvPr>
          <p:cNvSpPr>
            <a:spLocks xmlns:a="http://schemas.openxmlformats.org/drawingml/2006/main" noGrp="1"/>
          </p:cNvSpPr>
          <p:nvPr/>
        </p:nvSpPr>
        <p:spPr>
          <a:xfrm xmlns:a="http://schemas.openxmlformats.org/drawingml/2006/main">
            <a:off x="1666875" y="45243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Denormalization</a:t>
            </a:r>
          </a:p>
        </p:txBody>
      </p:sp>
      <p:sp>
        <p:nvSpPr>
          <p:cNvPr id="16" name="text">
            <a:extLst xmlns:a="http://schemas.openxmlformats.org/drawingml/2006/main">
              <a:ext uri="{FF2B5EF4-FFF2-40B4-BE49-F238E27FC236}">
                <a16:creationId xmlns:a16="http://schemas.microsoft.com/office/drawing/2014/main" id="{840335A8-3013-4F95-B74F-DEB77AF70C7F}"/>
              </a:ext>
            </a:extLst>
          </p:cNvPr>
          <p:cNvSpPr>
            <a:spLocks xmlns:a="http://schemas.openxmlformats.org/drawingml/2006/main" noGrp="1"/>
          </p:cNvSpPr>
          <p:nvPr/>
        </p:nvSpPr>
        <p:spPr>
          <a:xfrm xmlns:a="http://schemas.openxmlformats.org/drawingml/2006/main">
            <a:off x="4572000" y="4524375"/>
            <a:ext cx="542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CBD8E5"/>
                </a:solidFill>
              </a:defRPr>
            </a:pPr>
            <a:r>
              <a:rPr sz="1500" b="0">
                <a:solidFill>
                  <a:srgbClr val="CBD8E5"/>
                </a:solidFill>
              </a:rPr>
              <a:t>Copy facts for faster reads</a:t>
            </a:r>
          </a:p>
        </p:txBody>
      </p:sp>
      <p:sp>
        <p:nvSpPr>
          <p:cNvPr id="17" name="text">
            <a:extLst xmlns:a="http://schemas.openxmlformats.org/drawingml/2006/main">
              <a:ext uri="{FF2B5EF4-FFF2-40B4-BE49-F238E27FC236}">
                <a16:creationId xmlns:a16="http://schemas.microsoft.com/office/drawing/2014/main" id="{353F4DEB-B3A8-4BDD-9A36-92C84F7B9412}"/>
              </a:ext>
            </a:extLst>
          </p:cNvPr>
          <p:cNvSpPr>
            <a:spLocks xmlns:a="http://schemas.openxmlformats.org/drawingml/2006/main" noGrp="1"/>
          </p:cNvSpPr>
          <p:nvPr/>
        </p:nvSpPr>
        <p:spPr>
          <a:xfrm xmlns:a="http://schemas.openxmlformats.org/drawingml/2006/main">
            <a:off x="1190625" y="5619750"/>
            <a:ext cx="9810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6DCBF4"/>
                </a:solidFill>
              </a:defRPr>
            </a:pPr>
            <a:r>
              <a:rPr sz="1875" b="1">
                <a:solidFill>
                  <a:srgbClr val="6DCBF4"/>
                </a:solidFill>
              </a:rPr>
              <a:t>Final takeaway: optimize for correctness first—then use evidence to optimize performance.</a:t>
            </a:r>
          </a:p>
        </p:txBody>
      </p:sp>
      <p:sp>
        <p:nvSpPr>
          <p:cNvPr id="18" name="home">
            <a:extLst xmlns:a="http://schemas.openxmlformats.org/drawingml/2006/main">
              <a:ext uri="{FF2B5EF4-FFF2-40B4-BE49-F238E27FC236}">
                <a16:creationId xmlns:a16="http://schemas.microsoft.com/office/drawing/2014/main" id="{76D955E8-40BB-4817-B9CE-0847B36BE5D6}"/>
              </a:ext>
            </a:extLst>
            <a:hlinkClick xmlns:p7="http://schemas.openxmlformats.org/officeDocument/2006/relationships" xmlns:a="http://schemas.openxmlformats.org/drawingml/2006/main" p7:id="rId1" action="ppaction://hlinksldjump"/>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solidFill xmlns:a="http://schemas.openxmlformats.org/drawingml/2006/main">
            <a:srgbClr val="0B1F33"/>
          </a:solidFill>
          <a:ln xmlns:a="http://schemas.openxmlformats.org/drawingml/2006/main" w="11430">
            <a:solidFill>
              <a:srgbClr val="0B1F33"/>
            </a:solidFill>
            <a:prstDash val="solid"/>
          </a:ln>
        </p:spPr>
      </p:sp>
      <p:sp>
        <p:nvSpPr>
          <p:cNvPr id="19" name="home-label">
            <a:extLst xmlns:a="http://schemas.openxmlformats.org/drawingml/2006/main">
              <a:ext uri="{FF2B5EF4-FFF2-40B4-BE49-F238E27FC236}">
                <a16:creationId xmlns:a16="http://schemas.microsoft.com/office/drawing/2014/main" id="{EFE6B9EF-6C72-445A-BEEA-14579C0F5A25}"/>
              </a:ext>
            </a:extLst>
          </p:cNvPr>
          <p:cNvSpPr>
            <a:spLocks xmlns:a="http://schemas.openxmlformats.org/drawingml/2006/main" noGrp="1"/>
          </p:cNvSpPr>
          <p:nvPr/>
        </p:nvSpPr>
        <p:spPr>
          <a:xfrm xmlns:a="http://schemas.openxmlformats.org/drawingml/2006/main">
            <a:off x="1009650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
        <p:nvSpPr>
          <p:cNvPr id="20" name="back">
            <a:extLst xmlns:a="http://schemas.openxmlformats.org/drawingml/2006/main">
              <a:ext uri="{FF2B5EF4-FFF2-40B4-BE49-F238E27FC236}">
                <a16:creationId xmlns:a16="http://schemas.microsoft.com/office/drawing/2014/main" id="{1032F911-E560-452D-B109-66D3F3CFE26F}"/>
              </a:ext>
            </a:extLst>
            <a:hlinkClick xmlns:p7="http://schemas.openxmlformats.org/officeDocument/2006/relationships" xmlns:a="http://schemas.openxmlformats.org/drawingml/2006/main" p7:id="rId2" action="ppaction://hlinksldjump"/>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solidFill xmlns:a="http://schemas.openxmlformats.org/drawingml/2006/main">
            <a:srgbClr val="3D8DFF"/>
          </a:solidFill>
          <a:ln xmlns:a="http://schemas.openxmlformats.org/drawingml/2006/main" w="11430">
            <a:solidFill>
              <a:srgbClr val="3D8DFF"/>
            </a:solidFill>
            <a:prstDash val="solid"/>
          </a:ln>
        </p:spPr>
      </p:sp>
      <p:sp>
        <p:nvSpPr>
          <p:cNvPr id="21" name="back-label">
            <a:extLst xmlns:a="http://schemas.openxmlformats.org/drawingml/2006/main">
              <a:ext uri="{FF2B5EF4-FFF2-40B4-BE49-F238E27FC236}">
                <a16:creationId xmlns:a16="http://schemas.microsoft.com/office/drawing/2014/main" id="{DBAB1C69-E23B-4A8F-A412-385B791B56C7}"/>
              </a:ext>
            </a:extLst>
          </p:cNvPr>
          <p:cNvSpPr>
            <a:spLocks xmlns:a="http://schemas.openxmlformats.org/drawingml/2006/main" noGrp="1"/>
          </p:cNvSpPr>
          <p:nvPr/>
        </p:nvSpPr>
        <p:spPr>
          <a:xfrm xmlns:a="http://schemas.openxmlformats.org/drawingml/2006/main">
            <a:off x="10572750" y="6191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
            </a:r>
          </a:p>
        </p:txBody>
      </p:sp>
    </p:spTree>
    <p:extLst>
      <p:ext uri="{BB962C8B-B14F-4D97-AF65-F5344CB8AC3E}">
        <p14:creationId xmlns:p14="http://schemas.microsoft.com/office/powerpoint/2010/main" val="458317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2026-09-03T16:32:26.5270000Z</dcterms:created>
  <dcterms:modified xsi:type="dcterms:W3CDTF">2026-09-03T16:32:26.5280000Z</dcterms:modified>
</coreProperties>
</file>