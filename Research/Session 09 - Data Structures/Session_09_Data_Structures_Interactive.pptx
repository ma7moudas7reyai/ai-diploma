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3a1749aed48bf" /><Relationship Type="http://schemas.openxmlformats.org/officeDocument/2006/relationships/extended-properties" Target="/docProps/app.xml" Id="Rec946e6ee7cd49e5" /><Relationship Type="http://schemas.openxmlformats.org/officeDocument/2006/relationships/officeDocument" Target="/ppt/presentation.xml" Id="R4f5029dc48a249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c3f9bafeed471b"/>
  </p:sldMasterIdLst>
  <p:notesMasterIdLst>
    <p:notesMasterId xmlns:r="http://schemas.openxmlformats.org/officeDocument/2006/relationships" r:id="R6747ffbd920a47c4"/>
  </p:notesMasterIdLst>
  <p:sldIdLst>
    <p:sldId xmlns:r="http://schemas.openxmlformats.org/officeDocument/2006/relationships" id="256" r:id="R608062d781434b23"/>
    <p:sldId xmlns:r="http://schemas.openxmlformats.org/officeDocument/2006/relationships" id="257" r:id="R71537fe56b9b4e85"/>
    <p:sldId xmlns:r="http://schemas.openxmlformats.org/officeDocument/2006/relationships" id="258" r:id="Rf757396e61b247d3"/>
    <p:sldId xmlns:r="http://schemas.openxmlformats.org/officeDocument/2006/relationships" id="259" r:id="R8f505f0065274426"/>
    <p:sldId xmlns:r="http://schemas.openxmlformats.org/officeDocument/2006/relationships" id="260" r:id="Rfdeee5383b484871"/>
    <p:sldId xmlns:r="http://schemas.openxmlformats.org/officeDocument/2006/relationships" id="261" r:id="R55cda4bf357e4eb3"/>
    <p:sldId xmlns:r="http://schemas.openxmlformats.org/officeDocument/2006/relationships" id="262" r:id="Rb9e3d4a3d0af4085"/>
    <p:sldId xmlns:r="http://schemas.openxmlformats.org/officeDocument/2006/relationships" id="263" r:id="R4462a9faf7fd4098"/>
    <p:sldId xmlns:r="http://schemas.openxmlformats.org/officeDocument/2006/relationships" id="264" r:id="R28adf34f65624179"/>
    <p:sldId xmlns:r="http://schemas.openxmlformats.org/officeDocument/2006/relationships" id="265" r:id="Rce05973fef3b44ea"/>
    <p:sldId xmlns:r="http://schemas.openxmlformats.org/officeDocument/2006/relationships" id="266" r:id="R69cb134601b14f45"/>
    <p:sldId xmlns:r="http://schemas.openxmlformats.org/officeDocument/2006/relationships" id="267" r:id="R1e0bc9239a69428d"/>
    <p:sldId xmlns:r="http://schemas.openxmlformats.org/officeDocument/2006/relationships" id="268" r:id="Rf4bff631e5394f99"/>
    <p:sldId xmlns:r="http://schemas.openxmlformats.org/officeDocument/2006/relationships" id="269" r:id="Rc0db8f52503c4249"/>
    <p:sldId xmlns:r="http://schemas.openxmlformats.org/officeDocument/2006/relationships" id="270" r:id="Rec2c97284f9f4b17"/>
    <p:sldId xmlns:r="http://schemas.openxmlformats.org/officeDocument/2006/relationships" id="271" r:id="Re52d2dce607d4a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09bbc9372043dd" /><Relationship Type="http://schemas.openxmlformats.org/officeDocument/2006/relationships/slideMaster" Target="/ppt/slideMasters/slideMaster1.xml" Id="R58c3f9bafeed471b" /><Relationship Type="http://schemas.openxmlformats.org/officeDocument/2006/relationships/notesMaster" Target="/ppt/notesMasters/notesMaster1.xml" Id="R6747ffbd920a47c4" /><Relationship Type="http://schemas.openxmlformats.org/officeDocument/2006/relationships/presProps" Target="/ppt/presProps.xml" Id="Re2ebab66bee54a0d" /><Relationship Type="http://schemas.openxmlformats.org/officeDocument/2006/relationships/tableStyles" Target="/ppt/tableStyles.xml" Id="R2e2bfcfb57b14400" /><Relationship Type="http://schemas.openxmlformats.org/officeDocument/2006/relationships/slide" Target="/ppt/slides/slide1.xml" Id="R608062d781434b23" /><Relationship Type="http://schemas.openxmlformats.org/officeDocument/2006/relationships/slide" Target="/ppt/slides/slide2.xml" Id="R71537fe56b9b4e85" /><Relationship Type="http://schemas.openxmlformats.org/officeDocument/2006/relationships/slide" Target="/ppt/slides/slide3.xml" Id="Rf757396e61b247d3" /><Relationship Type="http://schemas.openxmlformats.org/officeDocument/2006/relationships/slide" Target="/ppt/slides/slide4.xml" Id="R8f505f0065274426" /><Relationship Type="http://schemas.openxmlformats.org/officeDocument/2006/relationships/slide" Target="/ppt/slides/slide5.xml" Id="Rfdeee5383b484871" /><Relationship Type="http://schemas.openxmlformats.org/officeDocument/2006/relationships/slide" Target="/ppt/slides/slide6.xml" Id="R55cda4bf357e4eb3" /><Relationship Type="http://schemas.openxmlformats.org/officeDocument/2006/relationships/slide" Target="/ppt/slides/slide7.xml" Id="Rb9e3d4a3d0af4085" /><Relationship Type="http://schemas.openxmlformats.org/officeDocument/2006/relationships/slide" Target="/ppt/slides/slide8.xml" Id="R4462a9faf7fd4098" /><Relationship Type="http://schemas.openxmlformats.org/officeDocument/2006/relationships/slide" Target="/ppt/slides/slide9.xml" Id="R28adf34f65624179" /><Relationship Type="http://schemas.openxmlformats.org/officeDocument/2006/relationships/slide" Target="/ppt/slides/slide10.xml" Id="Rce05973fef3b44ea" /><Relationship Type="http://schemas.openxmlformats.org/officeDocument/2006/relationships/slide" Target="/ppt/slides/slide11.xml" Id="R69cb134601b14f45" /><Relationship Type="http://schemas.openxmlformats.org/officeDocument/2006/relationships/slide" Target="/ppt/slides/slide12.xml" Id="R1e0bc9239a69428d" /><Relationship Type="http://schemas.openxmlformats.org/officeDocument/2006/relationships/slide" Target="/ppt/slides/slide13.xml" Id="Rf4bff631e5394f99" /><Relationship Type="http://schemas.openxmlformats.org/officeDocument/2006/relationships/slide" Target="/ppt/slides/slide14.xml" Id="Rc0db8f52503c4249" /><Relationship Type="http://schemas.openxmlformats.org/officeDocument/2006/relationships/slide" Target="/ppt/slides/slide15.xml" Id="Rec2c97284f9f4b17" /><Relationship Type="http://schemas.openxmlformats.org/officeDocument/2006/relationships/slide" Target="/ppt/slides/slide16.xml" Id="Re52d2dce607d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9a3fc15b38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90c8383d24c7b" /><Relationship Type="http://schemas.openxmlformats.org/officeDocument/2006/relationships/notesMaster" Target="/ppt/notesMasters/notesMaster1.xml" Id="Raaabeca6aca843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94943ea4544439" /><Relationship Type="http://schemas.openxmlformats.org/officeDocument/2006/relationships/notesMaster" Target="/ppt/notesMasters/notesMaster1.xml" Id="R4529f6d10c774f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e9049469d44b5f" /><Relationship Type="http://schemas.openxmlformats.org/officeDocument/2006/relationships/notesMaster" Target="/ppt/notesMasters/notesMaster1.xml" Id="R880f446a1176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9182d3afc49a6" /><Relationship Type="http://schemas.openxmlformats.org/officeDocument/2006/relationships/notesMaster" Target="/ppt/notesMasters/notesMaster1.xml" Id="R86e504e28e8840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2b87ddbdf4f25" /><Relationship Type="http://schemas.openxmlformats.org/officeDocument/2006/relationships/notesMaster" Target="/ppt/notesMasters/notesMaster1.xml" Id="Ra112437fe03548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1c89766854ce1" /><Relationship Type="http://schemas.openxmlformats.org/officeDocument/2006/relationships/notesMaster" Target="/ppt/notesMasters/notesMaster1.xml" Id="Rca6addc268eb49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7e83ba110e428d" /><Relationship Type="http://schemas.openxmlformats.org/officeDocument/2006/relationships/notesMaster" Target="/ppt/notesMasters/notesMaster1.xml" Id="Rbdecd0df7a6a43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6489ac414148cb" /><Relationship Type="http://schemas.openxmlformats.org/officeDocument/2006/relationships/notesMaster" Target="/ppt/notesMasters/notesMaster1.xml" Id="R9e01b8a0c4e34a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43428aefc24440" /><Relationship Type="http://schemas.openxmlformats.org/officeDocument/2006/relationships/notesMaster" Target="/ppt/notesMasters/notesMaster1.xml" Id="Ra0a28098dd5e48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d3a4c62c5b4059" /><Relationship Type="http://schemas.openxmlformats.org/officeDocument/2006/relationships/notesMaster" Target="/ppt/notesMasters/notesMaster1.xml" Id="Ra5029d67023241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a9408841c44e6" /><Relationship Type="http://schemas.openxmlformats.org/officeDocument/2006/relationships/notesMaster" Target="/ppt/notesMasters/notesMaster1.xml" Id="R3332a6abea464f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92cf75afee4dcc" /><Relationship Type="http://schemas.openxmlformats.org/officeDocument/2006/relationships/notesMaster" Target="/ppt/notesMasters/notesMaster1.xml" Id="R156eead1fe4349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8b6b9a20a64d24" /><Relationship Type="http://schemas.openxmlformats.org/officeDocument/2006/relationships/notesMaster" Target="/ppt/notesMasters/notesMaster1.xml" Id="R3518c8d413aa4f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e49d3ba10045b0" /><Relationship Type="http://schemas.openxmlformats.org/officeDocument/2006/relationships/notesMaster" Target="/ppt/notesMasters/notesMaster1.xml" Id="R2a248e5344c04d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450c1cc2184f3e" /><Relationship Type="http://schemas.openxmlformats.org/officeDocument/2006/relationships/notesMaster" Target="/ppt/notesMasters/notesMaster1.xml" Id="R4d0ac6401eae43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7cf8ae9f694b26" /><Relationship Type="http://schemas.openxmlformats.org/officeDocument/2006/relationships/notesMaster" Target="/ppt/notesMasters/notesMaster1.xml" Id="R0ecebdf1ecec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https://wiki.python.org/moin/TimeComplexity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https://docs.python.org/3/tutorial/datastructures.html#more-on-lists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https://docs.python.org/3/tutorial/datastructures.html#tuples-and-sequences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https://docs.python.org/3/tutorial/datastructures.html#dictionaries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https://docs.python.org/3/tutorial/datastructures.html#using-lists-as-stacks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https://docs.python.org/3/tutorial/datastructures.html#using-lists-as-queues</a:t>
            </a:r>
          </a:p>
          <a:p xmlns:a="http://schemas.openxmlformats.org/drawingml/2006/main">
            <a:r>
              <a:t>- https://docs.python.org/3/library/collections.html#collections.deque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https://docs.python.org/3/library/collections.html#collections.deque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https://docs.python.org/3/library/heapq.html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https://docs.python.org/3/library/collections.html#collections.deque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- https://docs.python.org/3/library/collections.html</a:t>
            </a:r>
          </a:p>
          <a:p xmlns:a="http://schemas.openxmlformats.org/drawingml/2006/main">
            <a:r>
              <a:t>- https://docs.python.org/3/library/heapq.html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https://docs.python.org/3/tutorial/datastructures.html#using-lists-as-queues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https://docs.python.org/3/tutorial/datastructures.html#using-lists-as-queues</a:t>
            </a:r>
          </a:p>
          <a:p xmlns:a="http://schemas.openxmlformats.org/drawingml/2006/main">
            <a:r>
              <a:t>- https://docs.python.org/3/library/collections.html#collections.deque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b708d5539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7cba3917d451e" /><Relationship Type="http://schemas.openxmlformats.org/officeDocument/2006/relationships/slideLayout" Target="/ppt/slideLayouts/slideLayout1.xml" Id="R1b73c1c09af2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73c1c09af2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6d3ff007be1481a" /><Relationship Type="http://schemas.openxmlformats.org/officeDocument/2006/relationships/notesSlide" Target="/ppt/notesSlides/notesSlide1.xml" Id="Rb9f65bd6623a4bcf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78a09edca6943a9" /><Relationship Type="http://schemas.openxmlformats.org/officeDocument/2006/relationships/notesSlide" Target="/ppt/notesSlides/notesSlide2.xml" Id="R196fcd2b45ec45c2" /><Relationship Id="rId1" Type="http://schemas.openxmlformats.org/officeDocument/2006/relationships/slide" Target="slide5.xml" /><Relationship Id="rId2" Type="http://schemas.openxmlformats.org/officeDocument/2006/relationships/slide" Target="slide7.xml" /><Relationship Id="rId3" Type="http://schemas.openxmlformats.org/officeDocument/2006/relationships/slide" Target="slide9.xml" /><Relationship Id="rId4" Type="http://schemas.openxmlformats.org/officeDocument/2006/relationships/slide" Target="slide12.xml" /><Relationship Id="rId5" Type="http://schemas.openxmlformats.org/officeDocument/2006/relationships/slide" Target="slide13.xml" /><Relationship Id="rId6" Type="http://schemas.openxmlformats.org/officeDocument/2006/relationships/slide" Target="slide15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c17bb3cfdea4491" /><Relationship Type="http://schemas.openxmlformats.org/officeDocument/2006/relationships/notesSlide" Target="/ppt/notesSlides/notesSlide3.xml" Id="Recd2a9c3495d4d41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68942969a6b4be4" /><Relationship Type="http://schemas.openxmlformats.org/officeDocument/2006/relationships/notesSlide" Target="/ppt/notesSlides/notesSlide4.xml" Id="R00e06316e5be47e0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c979c0977464386" /><Relationship Type="http://schemas.openxmlformats.org/officeDocument/2006/relationships/notesSlide" Target="/ppt/notesSlides/notesSlide5.xml" Id="Radf665b8fd1d4979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4ee468633524a2d" /><Relationship Type="http://schemas.openxmlformats.org/officeDocument/2006/relationships/notesSlide" Target="/ppt/notesSlides/notesSlide6.xml" Id="R7c9991e0ca53482f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00986e4a42d4777" /><Relationship Type="http://schemas.openxmlformats.org/officeDocument/2006/relationships/notesSlide" Target="/ppt/notesSlides/notesSlide7.xml" Id="Re57f40fe66764766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23ad104bbfd4107" /><Relationship Type="http://schemas.openxmlformats.org/officeDocument/2006/relationships/notesSlide" Target="/ppt/notesSlides/notesSlide8.xml" Id="Rfc9a05860d934420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282859852a54b14" /><Relationship Type="http://schemas.openxmlformats.org/officeDocument/2006/relationships/notesSlide" Target="/ppt/notesSlides/notesSlide9.xml" Id="R972be8f44a9e485e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892eb08147641db" /><Relationship Type="http://schemas.openxmlformats.org/officeDocument/2006/relationships/notesSlide" Target="/ppt/notesSlides/notesSlide10.xml" Id="Rd37d97f9be1b4478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529e13a48654a8f" /><Relationship Type="http://schemas.openxmlformats.org/officeDocument/2006/relationships/notesSlide" Target="/ppt/notesSlides/notesSlide11.xml" Id="R7119a0685b8d4954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c2cc5cd82b1466d" /><Relationship Type="http://schemas.openxmlformats.org/officeDocument/2006/relationships/notesSlide" Target="/ppt/notesSlides/notesSlide12.xml" Id="Re8d6ac8aaf644f94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ecd35299a214f05" /><Relationship Type="http://schemas.openxmlformats.org/officeDocument/2006/relationships/notesSlide" Target="/ppt/notesSlides/notesSlide13.xml" Id="R346d52f20b314c02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4ed4478b5ec4a7b" /><Relationship Type="http://schemas.openxmlformats.org/officeDocument/2006/relationships/notesSlide" Target="/ppt/notesSlides/notesSlide14.xml" Id="Ref8398c4f44a4fe0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3cd1973cdbe45a5" /><Relationship Type="http://schemas.openxmlformats.org/officeDocument/2006/relationships/notesSlide" Target="/ppt/notesSlides/notesSlide15.xml" Id="R9c9c427865e74c4b" /><Relationship Id="rId1" Type="http://schemas.openxmlformats.org/officeDocument/2006/relationships/slide" Target="slide2.xml" /><Relationship Id="rId2" Type="http://schemas.openxmlformats.org/officeDocument/2006/relationships/slide" Target="slide14.xml" /><Relationship Id="rId3" Type="http://schemas.openxmlformats.org/officeDocument/2006/relationships/slide" Target="slide15.xml" /><Relationship Id="rId4" Type="http://schemas.openxmlformats.org/officeDocument/2006/relationships/slide" Target="slide16.xml" /><Relationship Id="rId5" Type="http://schemas.openxmlformats.org/officeDocument/2006/relationships/slide" Target="slide15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6bbf3211ddc4503" /><Relationship Type="http://schemas.openxmlformats.org/officeDocument/2006/relationships/notesSlide" Target="/ppt/notesSlides/notesSlide16.xml" Id="R48ed43560bf34326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7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nk">
            <a:extLst xmlns:a="http://schemas.openxmlformats.org/drawingml/2006/main">
              <a:ext uri="{FF2B5EF4-FFF2-40B4-BE49-F238E27FC236}">
                <a16:creationId xmlns:a16="http://schemas.microsoft.com/office/drawing/2014/main" id="{3FB71610-56EF-4C8F-B888-CC0554DF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ime">
            <a:extLst xmlns:a="http://schemas.openxmlformats.org/drawingml/2006/main">
              <a:ext uri="{FF2B5EF4-FFF2-40B4-BE49-F238E27FC236}">
                <a16:creationId xmlns:a16="http://schemas.microsoft.com/office/drawing/2014/main" id="{139FBE0F-8812-432A-9D0C-4664666B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4C126CC-2C90-46ED-A5CE-534A3130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F34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8F34A"/>
                </a:solidFill>
                <a:latin typeface="Aptos Display"/>
                <a:ea typeface="Aptos Display"/>
                <a:cs typeface="Aptos Display"/>
              </a:rPr>
              <a:t>SESSION 09 • RESEARCH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3318AD-9591-44CD-B502-646A043C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Structures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CE275E-8C8B-41BF-8858-AEC83E08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3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83D7FF"/>
                </a:solidFill>
                <a:latin typeface="Aptos Display"/>
                <a:ea typeface="Aptos Display"/>
                <a:cs typeface="Aptos Display"/>
              </a:rPr>
              <a:t>Choose the shape that makes the operation cheap.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521400-DC8D-4350-8E54-F5DD0CE1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Lists, stacks, queues, hash tables, trees, heaps, graphs, and the complexity behind each choice.</a:t>
            </a:r>
          </a:p>
        </p:txBody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8164B9E-DB1D-429E-A111-0D0D843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53C854F-FCA6-4183-BC19-3533984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solidFill>
              <a:srgbClr val="B8F34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F3C725-A0D5-4AB4-93DB-F652BA9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  +  operations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= structure</a:t>
            </a:r>
          </a:p>
        </p:txBody>
      </p:sp>
      <p:sp>
        <p:nvSpPr>
          <p:cNvPr id="10" name="start">
            <a:extLst xmlns:a="http://schemas.openxmlformats.org/drawingml/2006/main">
              <a:ext uri="{FF2B5EF4-FFF2-40B4-BE49-F238E27FC236}">
                <a16:creationId xmlns:a16="http://schemas.microsoft.com/office/drawing/2014/main" id="{99AC4817-EC9A-4905-9709-76D3402566B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8F34A"/>
          </a:solidFill>
          <a:ln xmlns:a="http://schemas.openxmlformats.org/drawingml/2006/main" w="9525">
            <a:solidFill>
              <a:srgbClr val="B8F34A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EXPLORE THE STRUCTURES →</a:t>
            </a:r>
          </a:p>
        </p:txBody>
      </p:sp>
    </p:spTree>
    <p:extLst>
      <p:ext uri="{BB962C8B-B14F-4D97-AF65-F5344CB8AC3E}">
        <p14:creationId xmlns:p14="http://schemas.microsoft.com/office/powerpoint/2010/main" val="367468280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8271F1-731F-4862-B496-7552733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INTERACTIVE MAP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4CB0376-7B18-4955-8F69-144EAE1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solidFill>
              <a:srgbClr val="F044A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DEBF1C5-C176-4D4C-A5D7-909FB73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Start from the operation—not the container name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BD8888-766E-44A0-8EEE-5E953B4B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menu-seq">
            <a:extLst xmlns:a="http://schemas.openxmlformats.org/drawingml/2006/main">
              <a:ext uri="{FF2B5EF4-FFF2-40B4-BE49-F238E27FC236}">
                <a16:creationId xmlns:a16="http://schemas.microsoft.com/office/drawing/2014/main" id="{213426F5-BD7E-4739-9DC6-74CBCE8E0EF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28825" cy="22860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list • tuple</a:t>
            </a:r>
          </a:p>
        </p:txBody>
      </p:sp>
      <p:sp>
        <p:nvSpPr>
          <p:cNvPr id="6" name="menu-hash">
            <a:extLst xmlns:a="http://schemas.openxmlformats.org/drawingml/2006/main">
              <a:ext uri="{FF2B5EF4-FFF2-40B4-BE49-F238E27FC236}">
                <a16:creationId xmlns:a16="http://schemas.microsoft.com/office/drawing/2014/main" id="{3AD0264E-3C1A-4246-B4E5-1F9E2E6DEFC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095500"/>
            <a:ext cx="2028825" cy="22860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044A5"/>
          </a:solidFill>
          <a:ln xmlns:a="http://schemas.openxmlformats.org/drawingml/2006/main" w="9525">
            <a:solidFill>
              <a:srgbClr val="F044A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dict • set</a:t>
            </a:r>
          </a:p>
        </p:txBody>
      </p:sp>
      <p:sp>
        <p:nvSpPr>
          <p:cNvPr id="7" name="menu-order">
            <a:extLst xmlns:a="http://schemas.openxmlformats.org/drawingml/2006/main">
              <a:ext uri="{FF2B5EF4-FFF2-40B4-BE49-F238E27FC236}">
                <a16:creationId xmlns:a16="http://schemas.microsoft.com/office/drawing/2014/main" id="{C74DC10E-3ADA-46F8-B7FE-FA4F52E347C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028825" cy="22860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9525">
            <a:solidFill>
              <a:srgbClr val="FF8A3D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stack • queue</a:t>
            </a:r>
          </a:p>
        </p:txBody>
      </p:sp>
      <p:sp>
        <p:nvSpPr>
          <p:cNvPr id="8" name="menu-tree">
            <a:extLst xmlns:a="http://schemas.openxmlformats.org/drawingml/2006/main">
              <a:ext uri="{FF2B5EF4-FFF2-40B4-BE49-F238E27FC236}">
                <a16:creationId xmlns:a16="http://schemas.microsoft.com/office/drawing/2014/main" id="{28A0248D-B9E4-4131-A8C3-8C09C36B912F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95500"/>
            <a:ext cx="2028825" cy="22860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FA774"/>
          </a:solidFill>
          <a:ln xmlns:a="http://schemas.openxmlformats.org/drawingml/2006/main" w="9525">
            <a:solidFill>
              <a:srgbClr val="1FA774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PRIORITY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heap • tree</a:t>
            </a:r>
          </a:p>
        </p:txBody>
      </p:sp>
      <p:sp>
        <p:nvSpPr>
          <p:cNvPr id="9" name="menu-graph">
            <a:extLst xmlns:a="http://schemas.openxmlformats.org/drawingml/2006/main">
              <a:ext uri="{FF2B5EF4-FFF2-40B4-BE49-F238E27FC236}">
                <a16:creationId xmlns:a16="http://schemas.microsoft.com/office/drawing/2014/main" id="{B48079AC-718F-4C37-9CCE-691944AC8919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2028825" cy="22860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83D7FF"/>
          </a:solidFill>
          <a:ln xmlns:a="http://schemas.openxmlformats.org/drawingml/2006/main" w="9525">
            <a:solidFill>
              <a:srgbClr val="83D7FF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graph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A7AD9C-0B0D-4387-9594-8EFAE6D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What must be fast: access, insertion, membership, priority, or traversal?</a:t>
            </a:r>
          </a:p>
        </p:txBody>
      </p:sp>
      <p:sp>
        <p:nvSpPr>
          <p:cNvPr id="11" name="menu-quiz">
            <a:extLst xmlns:a="http://schemas.openxmlformats.org/drawingml/2006/main">
              <a:ext uri="{FF2B5EF4-FFF2-40B4-BE49-F238E27FC236}">
                <a16:creationId xmlns:a16="http://schemas.microsoft.com/office/drawing/2014/main" id="{0B2BC395-72EE-4430-9868-D0BC2D41762E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 THE CHALLENGE →</a:t>
            </a:r>
          </a:p>
        </p:txBody>
      </p:sp>
    </p:spTree>
    <p:extLst>
      <p:ext uri="{BB962C8B-B14F-4D97-AF65-F5344CB8AC3E}">
        <p14:creationId xmlns:p14="http://schemas.microsoft.com/office/powerpoint/2010/main" val="1785587029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559A1E6-3FBF-4ED8-BFBA-7D063D9C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DATA STRUCTURES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711F89D-D97F-4147-9C2D-D90D1D6C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0">
            <a:solidFill>
              <a:srgbClr val="1537D0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01E6E9-68FC-4B63-992E-352E26F5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 data structure is a trade-off encoded in memory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39FEC1-FBC2-4018-8FFA-0093C5D1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83A194FF-0E01-403E-8305-3B43D8BB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381983-0FE2-4B19-AF5A-7F57EA0B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LAYOUT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1D0E64-E7D4-4196-91F8-42FE52D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914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How values and links are arranged in memory.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E2B0B775-D4E7-4977-BA8D-4055560D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44A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C588AE-CF8B-4809-AC92-C62BF1D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E75EF0-BF89-4144-811D-62957B2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90800"/>
            <a:ext cx="2914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Access, search, insert, delete, iterate, and update.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4F627BA6-187F-40C9-BBEF-72F02DF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3AE03D-3EBA-44BB-BD3E-9908931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COMPLEXITY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20E9B0-AA62-46FA-AA8C-8C9544A7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914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How cost grows as the input size n grows.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28864B-A5BB-46BF-BC50-47DB9ECA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There is no universally “best” structure—only a better fit for a workload.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108131BF-4DB9-4021-A825-466359FA540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6543E6C8-00E9-4113-ABFE-88C2419E18F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187409522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65C52CA-71B9-4D63-B8A0-8BCCF2D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COMPLEXITY LENS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13D777C-63B2-427A-90DF-E45D46A5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0">
            <a:solidFill>
              <a:srgbClr val="1537D0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288B72-299C-4E61-A119-5C629F89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Big-O describes growth, not exact runtime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23E3AF-91A5-45ED-8814-356FEB19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DECC75-71F4-4BF9-8214-DD711CA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O(1)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3F60E6-4D9C-400A-AEBF-49E285B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constant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9B40B6-64C8-4B86-B98D-04CFAC7F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does not grow with 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E8C2BE9-9B0C-45B8-8307-354A7DD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O(log n)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1501B7-2D8D-4B5E-A7A7-479DCDE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logarithmic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DEAD90-1E22-43FC-A5D8-C58F7C9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repeatedly halves the search space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724EE1-0936-4F9B-8433-92F0575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O(n)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A88013-300E-4AA1-9E59-F6B61000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linear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D26AA5-704C-4E34-83CE-19EA0333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visits items proportionally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647343-E0C0-4961-B4FC-D3BC1F2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O(n log n)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AE7E98-F03D-4241-BA3F-BEF2DBF2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sorting class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DB85243-90C2-4F57-AB89-F62A7C61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divide, combine, and process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7798464-B6F4-42C4-BB28-D179B4A2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48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5484D"/>
                </a:solidFill>
                <a:latin typeface="Aptos Display"/>
                <a:ea typeface="Aptos Display"/>
                <a:cs typeface="Aptos Display"/>
              </a:rPr>
              <a:t>O(n²)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6F37E9-6826-428D-B755-28ADAD2F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quadratic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E26179-43FB-4EE4-BEFD-C2B8ACF2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673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pairwise work grows quickly</a:t>
            </a:r>
          </a:p>
        </p:txBody>
      </p:sp>
      <p:sp>
        <p:nvSpPr>
          <p:cNvPr id="20" name="nav-home">
            <a:extLst xmlns:a="http://schemas.openxmlformats.org/drawingml/2006/main">
              <a:ext uri="{FF2B5EF4-FFF2-40B4-BE49-F238E27FC236}">
                <a16:creationId xmlns:a16="http://schemas.microsoft.com/office/drawing/2014/main" id="{94479F9E-F0A8-4CA5-BA50-F2CFE77CAB4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47E787D8-1165-4F17-8B73-5ABDFEBBFF6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B51B4E2D-23BC-4A14-9703-349EF17D45E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793257867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76C5B10-5430-4565-B73F-465D42F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SEQUENCE • LIST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8C7DC0D-39B0-4C8E-904E-CE9BC103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0">
            <a:solidFill>
              <a:srgbClr val="1537D0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A40F99-0282-46E8-847A-95D9EAD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list is Python’s flexible dynamic sequence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B6509A-6726-4121-AA9D-4107874C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AA7147F6-DAC0-4068-AB02-631BFBFE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191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B1E69291-CA46-4F2A-9836-1FFFA3B9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66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0">
            <a:solidFill>
              <a:srgbClr val="1537D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87CB78-B89B-46C1-9286-B7E9966B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57626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items = ['A', 'B', 'C']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items.append('D')     # fast at end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items[1]               # direct index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items.insert(0, 'X')   # shifts elements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04EF58CE-0233-4244-9205-3C0543F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A77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2FA11A-D227-47DE-9144-C2DE7453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24075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GOOD AT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4FFB48-58B9-4FC1-B276-A40CA5A1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43175"/>
            <a:ext cx="3676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Ordered data, indexing, iteration, append/pop at the end.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C1D59510-9058-4F11-A27C-D9C3D571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8A091A-F8C0-4981-B54E-DD14AD8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WATCH OUT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9847C8-783D-4A85-B2E0-04C7C42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05300"/>
            <a:ext cx="3676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Insert/delete near the front shifts later elements.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C333AD9F-8289-49EF-8A00-91D27492530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362FB9DE-95BA-4BAE-8D05-BF2E8200284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AA760809-2A82-4B87-8697-21B2AEB74BC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718676627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C4E171-1FEF-4C8C-927D-DF78CC7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SEQUENCE • TUPLE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C5776D2-0849-468E-BB15-37546C29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0">
            <a:solidFill>
              <a:srgbClr val="1537D0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A40BAD4-107E-4AEF-91A0-311AFA2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tuple protects a fixed record shape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9C683A-97F1-4FD5-9543-39610EA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FD211B-C99D-41A4-BC2E-069E813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37D0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1537D0"/>
                </a:solidFill>
                <a:latin typeface="Consolas"/>
                <a:ea typeface="Consolas"/>
                <a:cs typeface="Consolas"/>
              </a:rPr>
              <a:t>point = (12, 8)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82BED78-4F76-4AD0-94D2-BFAA35D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Ordered • indexable • immutable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270CB351-313F-4BC4-ACB6-8BFB6791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8F8A0D-7840-4199-A800-7B97FFC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240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USE IT FOR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495132-50CC-4D72-BEFE-32DF46DB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7244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Coordinates, database rows, multiple return values, and hashable composite keys when all members are hashable.</a:t>
            </a:r>
          </a:p>
        </p:txBody>
      </p:sp>
      <p:sp>
        <p:nvSpPr>
          <p:cNvPr id="10" name="contrast">
            <a:extLst xmlns:a="http://schemas.openxmlformats.org/drawingml/2006/main">
              <a:ext uri="{FF2B5EF4-FFF2-40B4-BE49-F238E27FC236}">
                <a16:creationId xmlns:a16="http://schemas.microsoft.com/office/drawing/2014/main" id="{00097DF7-4956-40E6-91EF-44412284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0934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00AC0A6-A802-4335-BB50-5050849F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list answers “a changing collection.”   tuple answers “one record with a stable shape.”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C3669D8D-236D-423D-BB70-413F82E9492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0831977B-B34C-4D73-B460-0AF6D4FD525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783A29F4-E449-4E7E-9148-E86C70E9AAF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867466621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E4BC441-BC2E-4F29-A176-1D7F1D44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HASH TABLE • DICT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A718D38-BFA0-4006-9293-C2D376A4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solidFill>
              <a:srgbClr val="F044A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7C306F0-D65A-45AE-92BB-192C072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dict turns a key into direct access to a value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8A354BB-FD8F-4DAC-BA34-169C119B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783EEFC6-27A6-478B-BC57-0E7A7E1D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905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192CCB0-FD98-4076-95D5-07C9748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solidFill>
              <a:srgbClr val="F044A5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B28D53-9D1C-4176-AA9C-774CC764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5476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user = {'id': 42, 'name': 'Mona'}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user['name']          # 'Mona'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user.get('email')     # None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B2EC5A-E417-4BEF-89CE-3026583F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id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641302-5034-45E1-B279-8838B7E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274974-3A4D-4744-9B80-7080E028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42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2B139A-2EC5-49BF-825E-7F3D073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name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2A35BFA-45D8-4108-9708-AFDDED06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2225EC-4819-4464-9A1F-146754D5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05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Mona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1349A94-BAF2-4EEE-9F5D-947F40C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B6E800-E32A-4E29-8492-51D31B0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52EF2A-585C-461D-82DD-5940894C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FB4268F-7549-496C-9362-A0FDF47D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Keys are unique and must be hashable.</a:t>
            </a:r>
          </a:p>
        </p:txBody>
      </p:sp>
      <p:sp>
        <p:nvSpPr>
          <p:cNvPr id="18" name="nav-home">
            <a:extLst xmlns:a="http://schemas.openxmlformats.org/drawingml/2006/main">
              <a:ext uri="{FF2B5EF4-FFF2-40B4-BE49-F238E27FC236}">
                <a16:creationId xmlns:a16="http://schemas.microsoft.com/office/drawing/2014/main" id="{22BB1985-D3EA-46AF-A26D-67F4EECF3B7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9" name="nav-back">
            <a:extLst xmlns:a="http://schemas.openxmlformats.org/drawingml/2006/main">
              <a:ext uri="{FF2B5EF4-FFF2-40B4-BE49-F238E27FC236}">
                <a16:creationId xmlns:a16="http://schemas.microsoft.com/office/drawing/2014/main" id="{5B5D9B9F-2FF2-4D8B-9BAD-D179397DBC1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20" name="nav-next">
            <a:extLst xmlns:a="http://schemas.openxmlformats.org/drawingml/2006/main">
              <a:ext uri="{FF2B5EF4-FFF2-40B4-BE49-F238E27FC236}">
                <a16:creationId xmlns:a16="http://schemas.microsoft.com/office/drawing/2014/main" id="{B319823A-1687-4769-9C52-CC999B0E1F4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549811945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8BB6081-3AF6-4E81-A3BF-567DFCC2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HASH TABLE • SET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CF748B1-1631-46D5-BB82-39589DD9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solidFill>
              <a:srgbClr val="F044A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559850D-E8A2-497F-8A55-20BCB3D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set makes uniqueness and membership the main idea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645BC3-4067-4FF1-806B-92528A5B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5062C23B-BB2B-4A7A-9EF1-30B189CA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619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DC100CF-34FB-44CB-9712-16666802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solidFill>
              <a:srgbClr val="F044A5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CD310E-8D0C-46DB-B1ED-133A21AD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5191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tags = {'python', 'sql', 'python'}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{'python', 'sql'}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'python' in tags       # True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DF41BC00-D17E-43E1-9562-2AC5E955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44A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A2B719-C3BB-4BB9-9771-D9AB366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MEMBERSHIP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56168D-5012-462D-9E10-86317B7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424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Check whether a value is present.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6C3DE598-0D1E-43F4-87F1-7A58960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A77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D8FCF70-EC55-4366-AE8C-B5A8AA8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DEDUPLICATION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AA06E5D-EFA2-4FAF-BED2-A8B07F91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86175"/>
            <a:ext cx="424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Discard repeated values automatically.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F5AFB413-C40B-423C-B106-F38D69B9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7A5AFC6-B999-4598-9324-03AA1DD1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SET ALGEBRA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AB6DCA-05EA-4181-A2ED-57824DC0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72050"/>
            <a:ext cx="424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Union, intersection, difference, symmetric difference.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F5B62833-8C61-47FF-9AA0-C14A5F261F4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F4430A02-CA0C-41B9-B98A-853011FA76C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F248BCFF-57FD-4B70-A886-CED27F55214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471174686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4013D6-1017-4AF7-A401-D197A7D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LIFO • STACK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E34EF47-B520-4D90-81F8-9A09281E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7C87386-B8FF-4AC7-B6BA-F36DA00E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 stack reverses the order of work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8A528C9-698C-414D-A183-500BF88E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stack">
            <a:extLst xmlns:a="http://schemas.openxmlformats.org/drawingml/2006/main">
              <a:ext uri="{FF2B5EF4-FFF2-40B4-BE49-F238E27FC236}">
                <a16:creationId xmlns:a16="http://schemas.microsoft.com/office/drawing/2014/main" id="{075C06F3-FC52-420C-9419-A3E85026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0"/>
            <a:ext cx="4095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282E29-B746-4F65-82EF-33BFF8E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third</a:t>
            </a:r>
          </a:p>
        </p:txBody>
      </p:sp>
      <p:sp>
        <p:nvSpPr>
          <p:cNvPr id="7" name="stack">
            <a:extLst xmlns:a="http://schemas.openxmlformats.org/drawingml/2006/main">
              <a:ext uri="{FF2B5EF4-FFF2-40B4-BE49-F238E27FC236}">
                <a16:creationId xmlns:a16="http://schemas.microsoft.com/office/drawing/2014/main" id="{0047E7C8-0816-4B7C-AE46-E7F56693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05125"/>
            <a:ext cx="4095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BCBBF3-3DA0-4A53-8700-E3B5F28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05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second</a:t>
            </a:r>
          </a:p>
        </p:txBody>
      </p:sp>
      <p:sp>
        <p:nvSpPr>
          <p:cNvPr id="9" name="stack">
            <a:extLst xmlns:a="http://schemas.openxmlformats.org/drawingml/2006/main">
              <a:ext uri="{FF2B5EF4-FFF2-40B4-BE49-F238E27FC236}">
                <a16:creationId xmlns:a16="http://schemas.microsoft.com/office/drawing/2014/main" id="{93DAC6F7-DE8B-497C-8C2A-C1F4E1C0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4095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CD4ADD-2670-49AB-8862-CBCB235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first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521E4E-CE09-46BE-B8F1-2558913E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push / append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1DDEB1-2099-44B7-A455-18B0F36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pop from the same end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C4CA92-3607-42A3-9C31-0A23ECF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Use cases: undo, parsing, DFS, call history.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92AF6033-1316-4ADA-A66C-0087B76B3EB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7823A048-05B5-4580-92A6-1B8F8988D924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96B36219-37A9-4A8A-AB8D-5F3BF97B532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222761059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73EB9BD-B6A0-4A15-8874-37B524E6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FIFO • QUEUE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8E8C6AF-2DEC-43E2-A0A3-F66F6696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DD9A8A-6CA5-44A4-ABFA-21B77490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 queue preserves arrival order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C1AAE9-37CB-4AC1-A330-CDA7E85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queue">
            <a:extLst xmlns:a="http://schemas.openxmlformats.org/drawingml/2006/main">
              <a:ext uri="{FF2B5EF4-FFF2-40B4-BE49-F238E27FC236}">
                <a16:creationId xmlns:a16="http://schemas.microsoft.com/office/drawing/2014/main" id="{F2A65D0C-EE77-48B7-8FDB-AC6C165F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C9DD4F-B410-49AB-8971-89D621A5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first</a:t>
            </a:r>
          </a:p>
        </p:txBody>
      </p:sp>
      <p:sp>
        <p:nvSpPr>
          <p:cNvPr id="7" name="queue">
            <a:extLst xmlns:a="http://schemas.openxmlformats.org/drawingml/2006/main">
              <a:ext uri="{FF2B5EF4-FFF2-40B4-BE49-F238E27FC236}">
                <a16:creationId xmlns:a16="http://schemas.microsoft.com/office/drawing/2014/main" id="{04ACC11C-D3F8-4D8F-89A4-EA44CFB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C53E5B-682F-474E-B728-A1D2E2D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second</a:t>
            </a:r>
          </a:p>
        </p:txBody>
      </p:sp>
      <p:sp>
        <p:nvSpPr>
          <p:cNvPr id="9" name="queue">
            <a:extLst xmlns:a="http://schemas.openxmlformats.org/drawingml/2006/main">
              <a:ext uri="{FF2B5EF4-FFF2-40B4-BE49-F238E27FC236}">
                <a16:creationId xmlns:a16="http://schemas.microsoft.com/office/drawing/2014/main" id="{E72A899C-E3B7-41D6-A4C2-7734F0F7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15D841-091E-4A71-A7A7-1645B5A0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third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5B5B7A-8A9D-43EA-9A8D-378E70C8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popleft()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3A63F36-3121-4FBA-AC89-05F5671E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append()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42F85045-D3AF-4F79-9F6B-DDDA7C64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762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21FEA1-6832-4B67-A000-7758F37B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1932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PYTHON CHOICE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50C358E-335D-4165-A5E7-20421673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38425"/>
            <a:ext cx="23431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Use collections.deque for fast appends and pops at both ends; a list is slow at the front.</a:t>
            </a:r>
          </a:p>
        </p:txBody>
      </p:sp>
      <p:sp>
        <p:nvSpPr>
          <p:cNvPr id="16" name="nav-home">
            <a:extLst xmlns:a="http://schemas.openxmlformats.org/drawingml/2006/main">
              <a:ext uri="{FF2B5EF4-FFF2-40B4-BE49-F238E27FC236}">
                <a16:creationId xmlns:a16="http://schemas.microsoft.com/office/drawing/2014/main" id="{C85CF23B-75A6-4C2E-80DB-67B119E9E3B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7" name="nav-back">
            <a:extLst xmlns:a="http://schemas.openxmlformats.org/drawingml/2006/main">
              <a:ext uri="{FF2B5EF4-FFF2-40B4-BE49-F238E27FC236}">
                <a16:creationId xmlns:a16="http://schemas.microsoft.com/office/drawing/2014/main" id="{568FA9B2-87F7-4F2B-A2BB-208821038FA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18" name="nav-next">
            <a:extLst xmlns:a="http://schemas.openxmlformats.org/drawingml/2006/main">
              <a:ext uri="{FF2B5EF4-FFF2-40B4-BE49-F238E27FC236}">
                <a16:creationId xmlns:a16="http://schemas.microsoft.com/office/drawing/2014/main" id="{9BCED660-0375-4F48-B225-4FD49773BA8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648868325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D2BF6DC-32DC-4E80-BDA7-703B554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LINKED STRUCTURE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E2512F0-4EE2-40F9-880C-E753B162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2A5688-18D0-482F-B6F7-0BDE1856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 linked list pays for links to avoid shifting elements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0E6AAEF-9401-4BE5-80C9-6C125E1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8A5A2CB-BCAF-42E7-BB2C-9C5B899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6" name="node">
            <a:extLst xmlns:a="http://schemas.openxmlformats.org/drawingml/2006/main">
              <a:ext uri="{FF2B5EF4-FFF2-40B4-BE49-F238E27FC236}">
                <a16:creationId xmlns:a16="http://schemas.microsoft.com/office/drawing/2014/main" id="{2F24BB67-F430-4E92-A2BA-BB10B570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73BF79-E3A3-4318-9C80-66F8956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D1486C-6B2D-481A-A787-2A2C782F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FD7886E8-3F30-4DDF-962E-84369023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AE0CF4B5-3CFB-40CE-BE98-745ACDCE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21F6208-D5A7-45F9-9770-BA2BD05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B1E52F-FA2A-4032-8FCC-0E4E9C24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790017DE-70B4-49CF-BA4A-F4D9FB4D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14B26941-B8B8-43DD-88AD-06946FB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4FA2C4-ABBD-4611-91AB-A1D5B24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E00F6D-B6B6-49D1-B008-6044627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6CB00691-E68B-4C4E-A615-0939A262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849291-A592-4D34-A6C9-75FD61F0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779BE8A-B7C9-498B-A324-1C93B7B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C592E78F-35FB-4BBD-B6E9-3F84D39F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FB006B-7DFE-48A1-BB35-F00B0FAD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TRADE-OFF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B8FE6CA-1487-4913-A8AD-9C9940DD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948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Insertion after a known node can be cheap, but random indexing requires traversal.</a:t>
            </a:r>
          </a:p>
        </p:txBody>
      </p:sp>
      <p:sp>
        <p:nvSpPr>
          <p:cNvPr id="23" name="nav-home">
            <a:extLst xmlns:a="http://schemas.openxmlformats.org/drawingml/2006/main">
              <a:ext uri="{FF2B5EF4-FFF2-40B4-BE49-F238E27FC236}">
                <a16:creationId xmlns:a16="http://schemas.microsoft.com/office/drawing/2014/main" id="{455F3AED-87AA-48ED-8A0D-2776211F0EF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24" name="nav-back">
            <a:extLst xmlns:a="http://schemas.openxmlformats.org/drawingml/2006/main">
              <a:ext uri="{FF2B5EF4-FFF2-40B4-BE49-F238E27FC236}">
                <a16:creationId xmlns:a16="http://schemas.microsoft.com/office/drawing/2014/main" id="{2F879EDF-EE8F-479C-9F6E-387C61DDACB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25" name="nav-next">
            <a:extLst xmlns:a="http://schemas.openxmlformats.org/drawingml/2006/main">
              <a:ext uri="{FF2B5EF4-FFF2-40B4-BE49-F238E27FC236}">
                <a16:creationId xmlns:a16="http://schemas.microsoft.com/office/drawing/2014/main" id="{86C00F59-0572-458A-83FC-879599BB9A5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6772702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460CBF-C8B6-4E19-B82A-4E148186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TREE + HEAP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E983CF1-1262-4668-B8C9-E751B5A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 w="0">
            <a:solidFill>
              <a:srgbClr val="1FA77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80CBE8-F91A-45D6-9F5F-4B27101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Trees organize hierarchy; heaps organize priority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95BFBB-D60F-4303-8147-3E62DE8A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6BB64036-8942-4DC0-A090-B6E2A9A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143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A77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9DE96D-6DDF-49B6-ACE0-571CACF5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BINARY SEARCH TREE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5E34ED-EAE9-4E5A-895D-5D50B29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724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Values smaller than a node go left; larger values go right. Balance determines performance.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B3B8AF37-014F-43CF-9ADE-A1D6FDCF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143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0F974C-DF06-4084-9A1D-0CCCEA5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240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HEAP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F17291-583E-484F-9D57-22AE0389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724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A partial order keeps the smallest item at heap[0] in Python’s min-heap implementation.</a:t>
            </a:r>
          </a:p>
        </p:txBody>
      </p:sp>
      <p:sp>
        <p:nvSpPr>
          <p:cNvPr id="11" name="code">
            <a:extLst xmlns:a="http://schemas.openxmlformats.org/drawingml/2006/main">
              <a:ext uri="{FF2B5EF4-FFF2-40B4-BE49-F238E27FC236}">
                <a16:creationId xmlns:a16="http://schemas.microsoft.com/office/drawing/2014/main" id="{FF84FB47-CD8A-46DB-9BDB-269E5CF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143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B38F504F-1323-4EF6-96A4-0C1D74C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774"/>
          </a:solidFill>
          <a:ln xmlns:a="http://schemas.openxmlformats.org/drawingml/2006/main" w="0">
            <a:solidFill>
              <a:srgbClr val="1FA77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96D5E35-AABB-4538-B4C0-C30B407E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0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heapq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heap = [7, 2, 5]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heapq.heapify(heap)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heapq.heappop(heap)  # 2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503C568E-FEAC-4DE9-8CAA-B241BD1611E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18D73060-D1BD-48AD-A8E4-FAE326FDB9F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0F946226-4180-4879-B30E-7618BAA24211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622481668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751B4CF-1B0C-45E9-98D6-B1E64619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83D7FF"/>
                </a:solidFill>
                <a:latin typeface="Aptos Display"/>
                <a:ea typeface="Aptos Display"/>
                <a:cs typeface="Aptos Display"/>
              </a:rPr>
              <a:t>GRAPH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C753F0A-E0AC-4FDD-9098-6AE5637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FF"/>
          </a:solidFill>
          <a:ln xmlns:a="http://schemas.openxmlformats.org/drawingml/2006/main" w="0">
            <a:solidFill>
              <a:srgbClr val="83D7FF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D1DF62A-244B-47D2-A39C-341C79B3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 graph models relationships without forcing a hierarchy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34943F9-E110-40F3-85B1-90BD37FB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8C4FCAA-3566-4B28-93BF-0F7046D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FF"/>
          </a:solidFill>
          <a:ln xmlns:a="http://schemas.openxmlformats.org/drawingml/2006/main" w="0">
            <a:solidFill>
              <a:srgbClr val="83D7FF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AD1E8EC-9B66-4C73-BD4C-559C5E67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FF"/>
          </a:solidFill>
          <a:ln xmlns:a="http://schemas.openxmlformats.org/drawingml/2006/main" w="0">
            <a:solidFill>
              <a:srgbClr val="83D7FF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DF007A6-2EBF-4F7F-8500-3B6F989A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FF"/>
          </a:solidFill>
          <a:ln xmlns:a="http://schemas.openxmlformats.org/drawingml/2006/main" w="0">
            <a:solidFill>
              <a:srgbClr val="83D7FF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A537E6CC-EA56-4E2E-BA03-9CA082FD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FF"/>
          </a:solidFill>
          <a:ln xmlns:a="http://schemas.openxmlformats.org/drawingml/2006/main" w="0">
            <a:solidFill>
              <a:srgbClr val="83D7FF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8AC6E2D-86CA-4638-B61D-DAD6B5E7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7FF"/>
          </a:solidFill>
          <a:ln xmlns:a="http://schemas.openxmlformats.org/drawingml/2006/main" w="0">
            <a:solidFill>
              <a:srgbClr val="83D7FF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61CAB6D2-E705-4B37-ACBC-0F9E27A5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EC3390-21CE-4C71-A145-9B8EDEA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D189787A-5697-4128-95A2-D7A4023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58FECC-974B-4104-B7AC-F05425B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CF7DF659-B7C5-4682-9C35-D27E63BD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B1FD31B-C4A8-42F5-B247-42A26F9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06745B20-13C9-498B-A874-CF78EFB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4C00795-71B6-4BEE-B600-FFB9AB46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65E069A8-A9A5-4FC5-B5E2-C588FA0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19050">
            <a:solidFill>
              <a:srgbClr val="1537D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E298875-5A5D-4CCE-8580-19CB9EE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A244AE5-492D-43FE-A6B1-735BD434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Vertices + edges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5E57515-8294-4A7C-8C78-3D68DBC6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Use cases: routes, social networks, dependencies, recommendations.</a:t>
            </a:r>
          </a:p>
        </p:txBody>
      </p:sp>
      <p:sp>
        <p:nvSpPr>
          <p:cNvPr id="22" name="nav-home">
            <a:extLst xmlns:a="http://schemas.openxmlformats.org/drawingml/2006/main">
              <a:ext uri="{FF2B5EF4-FFF2-40B4-BE49-F238E27FC236}">
                <a16:creationId xmlns:a16="http://schemas.microsoft.com/office/drawing/2014/main" id="{3D7D80BA-9CC5-42FA-AD4E-AB64861EBEC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23" name="nav-back">
            <a:extLst xmlns:a="http://schemas.openxmlformats.org/drawingml/2006/main">
              <a:ext uri="{FF2B5EF4-FFF2-40B4-BE49-F238E27FC236}">
                <a16:creationId xmlns:a16="http://schemas.microsoft.com/office/drawing/2014/main" id="{960F99F6-F513-4DD3-8961-B075908C2964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24" name="nav-next">
            <a:extLst xmlns:a="http://schemas.openxmlformats.org/drawingml/2006/main">
              <a:ext uri="{FF2B5EF4-FFF2-40B4-BE49-F238E27FC236}">
                <a16:creationId xmlns:a16="http://schemas.microsoft.com/office/drawing/2014/main" id="{AF0B52CE-945D-43E5-9C0E-CCAE87EDB48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743192728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44BA638-7480-490B-A8AB-C104BA74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DECISION GUIDE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93D307B-1E8B-4D16-97EA-AC2F2C6E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D0"/>
          </a:solidFill>
          <a:ln xmlns:a="http://schemas.openxmlformats.org/drawingml/2006/main" w="0">
            <a:solidFill>
              <a:srgbClr val="1537D0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8756E5-ABA3-4F0C-9DD6-0CEBC27D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Choose by dominant operation and required ordering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2EEDAC-335B-4D7B-A854-2833CB01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887473-6701-4971-ACAB-1DA22F6E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Indexed sequence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D8A33DD-9181-4D04-996C-C5877DFD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288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26FD46-EB88-4278-A15C-F666385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668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list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385A1B-9260-4271-B789-F7705029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Fixed record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B9DD85B3-B387-4871-8439-D831D13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23C03D-941F-483C-A9D2-3B4F29E1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955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537D0"/>
                </a:solidFill>
                <a:latin typeface="Aptos Display"/>
                <a:ea typeface="Aptos Display"/>
                <a:cs typeface="Aptos Display"/>
              </a:rPr>
              <a:t>tuple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488A253-173F-4210-8628-68BCA26B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Key → value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9FABDAE8-FCF5-46D2-A210-769C5B4F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54F3E60-1395-42F1-B585-3CEDE963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241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dict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F41D8E-C3C1-4354-A065-A7F6D4E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2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Unique membership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D09806DC-4B1E-446A-8725-1BE3B6A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5EFF431-D6F5-4D7F-8451-5185CDF6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set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9DE00B7-558A-4FE7-8C16-D0E8A427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LIFO / FIFO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04C8BF6E-DD16-441E-8C00-D852F6F8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648F036-E825-4CF5-8FAF-E9F74107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814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8A3D"/>
                </a:solidFill>
                <a:latin typeface="Aptos Display"/>
                <a:ea typeface="Aptos Display"/>
                <a:cs typeface="Aptos Display"/>
              </a:rPr>
              <a:t>stack / deque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58C923-8499-4BF2-8112-0553CFDB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Priority / hierarchy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73DC14BB-2B70-4E59-BD06-74D0D850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720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750D07-8717-44D3-AD8F-307F9A9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heap / tree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EE414D0-BFFB-4419-A82E-23694961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87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Many-to-many relations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52178467-5950-4AEC-815B-44D308FB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007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C7D50BE-7DB7-48B5-A79F-F241EB1A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3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83D7FF"/>
                </a:solidFill>
                <a:latin typeface="Aptos Display"/>
                <a:ea typeface="Aptos Display"/>
                <a:cs typeface="Aptos Display"/>
              </a:rPr>
              <a:t>graph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C4B653D3-EFC3-4A62-B418-DE0D470C73E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08AA822B-A057-4231-9EA6-79820D3E2D5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0BD11A4A-046F-4097-8919-4FB8EA6DC2CA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330584070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82CDCB-9A0D-4CF3-B288-A937C08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044A5"/>
                </a:solidFill>
                <a:latin typeface="Aptos Display"/>
                <a:ea typeface="Aptos Display"/>
                <a:cs typeface="Aptos Display"/>
              </a:rPr>
              <a:t>CLICK YOUR ANSWER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99A1ECE-4C8E-462D-B5AC-4D3394DE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A5"/>
          </a:solidFill>
          <a:ln xmlns:a="http://schemas.openxmlformats.org/drawingml/2006/main" w="0">
            <a:solidFill>
              <a:srgbClr val="F044A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432307-C068-420E-A652-E27D2514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Challenge: serve customers in arrival order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A947BB-BEAB-4B7D-8421-878DC19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5" name="scenario">
            <a:extLst xmlns:a="http://schemas.openxmlformats.org/drawingml/2006/main">
              <a:ext uri="{FF2B5EF4-FFF2-40B4-BE49-F238E27FC236}">
                <a16:creationId xmlns:a16="http://schemas.microsoft.com/office/drawing/2014/main" id="{453EABDB-8033-4293-9EC1-12D32C0D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44A5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D86575-73B7-4DA8-B25C-4C67AF7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Requests must leave in the same order they entered, with fast removal from the front.</a:t>
            </a:r>
          </a:p>
        </p:txBody>
      </p:sp>
      <p:sp>
        <p:nvSpPr>
          <p:cNvPr id="7" name="quiz-a">
            <a:extLst xmlns:a="http://schemas.openxmlformats.org/drawingml/2006/main">
              <a:ext uri="{FF2B5EF4-FFF2-40B4-BE49-F238E27FC236}">
                <a16:creationId xmlns:a16="http://schemas.microsoft.com/office/drawing/2014/main" id="{0D4D13D4-74E7-416D-AB94-B774728E89A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A • list with pop(0)</a:t>
            </a:r>
          </a:p>
        </p:txBody>
      </p:sp>
      <p:sp>
        <p:nvSpPr>
          <p:cNvPr id="8" name="quiz-b">
            <a:extLst xmlns:a="http://schemas.openxmlformats.org/drawingml/2006/main">
              <a:ext uri="{FF2B5EF4-FFF2-40B4-BE49-F238E27FC236}">
                <a16:creationId xmlns:a16="http://schemas.microsoft.com/office/drawing/2014/main" id="{BCAE00AD-6B6A-4E2D-B7DB-585622A0536F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A774"/>
          </a:solidFill>
          <a:ln xmlns:a="http://schemas.openxmlformats.org/drawingml/2006/main" w="9525">
            <a:solidFill>
              <a:srgbClr val="1FA774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 • collections.deque with popleft()</a:t>
            </a:r>
          </a:p>
        </p:txBody>
      </p:sp>
      <p:sp>
        <p:nvSpPr>
          <p:cNvPr id="9" name="quiz-c">
            <a:extLst xmlns:a="http://schemas.openxmlformats.org/drawingml/2006/main">
              <a:ext uri="{FF2B5EF4-FFF2-40B4-BE49-F238E27FC236}">
                <a16:creationId xmlns:a16="http://schemas.microsoft.com/office/drawing/2014/main" id="{E883AFB8-39F4-40BD-A1F8-ECB83F749CAF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C • set with pop()</a:t>
            </a:r>
          </a:p>
        </p:txBody>
      </p:sp>
      <p:sp>
        <p:nvSpPr>
          <p:cNvPr id="10" name="nav-home">
            <a:extLst xmlns:a="http://schemas.openxmlformats.org/drawingml/2006/main">
              <a:ext uri="{FF2B5EF4-FFF2-40B4-BE49-F238E27FC236}">
                <a16:creationId xmlns:a16="http://schemas.microsoft.com/office/drawing/2014/main" id="{2C824CCC-D691-46BE-86B7-B6FACBDE54B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9525">
            <a:solidFill>
              <a:srgbClr val="13213C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MAP</a:t>
            </a:r>
          </a:p>
        </p:txBody>
      </p:sp>
      <p:sp>
        <p:nvSpPr>
          <p:cNvPr id="11" name="nav-back">
            <a:extLst xmlns:a="http://schemas.openxmlformats.org/drawingml/2006/main">
              <a:ext uri="{FF2B5EF4-FFF2-40B4-BE49-F238E27FC236}">
                <a16:creationId xmlns:a16="http://schemas.microsoft.com/office/drawing/2014/main" id="{DE6C6951-5515-4334-A86E-870D83ADCCD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86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8D5"/>
          </a:solidFill>
          <a:ln xmlns:a="http://schemas.openxmlformats.org/drawingml/2006/main" w="9525">
            <a:solidFill>
              <a:srgbClr val="F3E8D5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652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←</a:t>
            </a:r>
          </a:p>
        </p:txBody>
      </p:sp>
    </p:spTree>
    <p:extLst>
      <p:ext uri="{BB962C8B-B14F-4D97-AF65-F5344CB8AC3E}">
        <p14:creationId xmlns:p14="http://schemas.microsoft.com/office/powerpoint/2010/main" val="733931665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rrect">
            <a:extLst xmlns:a="http://schemas.openxmlformats.org/drawingml/2006/main">
              <a:ext uri="{FF2B5EF4-FFF2-40B4-BE49-F238E27FC236}">
                <a16:creationId xmlns:a16="http://schemas.microsoft.com/office/drawing/2014/main" id="{F81BAF06-04A0-49FD-94F3-01C5F4C2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28575">
            <a:solidFill>
              <a:srgbClr val="1FA774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828D9C-3F67-4525-B016-FE5C24D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70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7766B2-C2CA-4B62-945C-1650AF8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FA774"/>
                </a:solidFill>
                <a:latin typeface="Aptos Display"/>
                <a:ea typeface="Aptos Display"/>
                <a:cs typeface="Aptos Display"/>
              </a:rPr>
              <a:t>CORRECT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B5A6E9-7FF2-48DD-B9B5-41044AD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5262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13C"/>
                </a:solidFill>
                <a:latin typeface="Aptos Display"/>
                <a:ea typeface="Aptos Display"/>
                <a:cs typeface="Aptos Display"/>
              </a:rPr>
              <a:t>FIFO needs a queue built for both ends.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B2EAEB-0BA3-445C-9097-C3CD320C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908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deque.popleft() removes the oldest request efficiently; list.pop(0) shifts remaining elements.</a:t>
            </a:r>
          </a:p>
        </p:txBody>
      </p:sp>
      <p:sp>
        <p:nvSpPr>
          <p:cNvPr id="6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CFBFDD8D-DAB5-4971-829E-66732DE1F69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6725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7D0"/>
          </a:solidFill>
          <a:ln xmlns:a="http://schemas.openxmlformats.org/drawingml/2006/main" w="9525">
            <a:solidFill>
              <a:srgbClr val="1537D0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⌂ EXPLORE AGAIN</a:t>
            </a:r>
          </a:p>
        </p:txBody>
      </p:sp>
    </p:spTree>
    <p:extLst>
      <p:ext uri="{BB962C8B-B14F-4D97-AF65-F5344CB8AC3E}">
        <p14:creationId xmlns:p14="http://schemas.microsoft.com/office/powerpoint/2010/main" val="1421300894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2026-08-07T22:32:35.8950000Z</dcterms:created>
  <dcterms:modified xsi:type="dcterms:W3CDTF">2026-08-07T22:32:35.8950000Z</dcterms:modified>
</coreProperties>
</file>