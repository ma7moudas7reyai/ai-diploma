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75cd011b824141" /><Relationship Type="http://schemas.openxmlformats.org/officeDocument/2006/relationships/extended-properties" Target="/docProps/app.xml" Id="Re8d70ad3ab8740ba" /><Relationship Type="http://schemas.openxmlformats.org/officeDocument/2006/relationships/officeDocument" Target="/ppt/presentation.xml" Id="Rb57f9262521340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f40e761cac4792"/>
  </p:sldMasterIdLst>
  <p:notesMasterIdLst>
    <p:notesMasterId xmlns:r="http://schemas.openxmlformats.org/officeDocument/2006/relationships" r:id="R2d3e6df9e4af42c1"/>
  </p:notesMasterIdLst>
  <p:sldIdLst>
    <p:sldId xmlns:r="http://schemas.openxmlformats.org/officeDocument/2006/relationships" id="256" r:id="R28c5e9536d4f412f"/>
    <p:sldId xmlns:r="http://schemas.openxmlformats.org/officeDocument/2006/relationships" id="257" r:id="Rf1f0d7d733bd45f3"/>
    <p:sldId xmlns:r="http://schemas.openxmlformats.org/officeDocument/2006/relationships" id="258" r:id="R26fbeeb4e9df459f"/>
    <p:sldId xmlns:r="http://schemas.openxmlformats.org/officeDocument/2006/relationships" id="259" r:id="R9a834dc4c7134a6e"/>
    <p:sldId xmlns:r="http://schemas.openxmlformats.org/officeDocument/2006/relationships" id="260" r:id="Rfc39d27d53e4487c"/>
    <p:sldId xmlns:r="http://schemas.openxmlformats.org/officeDocument/2006/relationships" id="261" r:id="Ra9a0e81209b34e66"/>
    <p:sldId xmlns:r="http://schemas.openxmlformats.org/officeDocument/2006/relationships" id="262" r:id="R78daaf28ab444717"/>
    <p:sldId xmlns:r="http://schemas.openxmlformats.org/officeDocument/2006/relationships" id="263" r:id="Rf3f0a4e5f31c4c3c"/>
    <p:sldId xmlns:r="http://schemas.openxmlformats.org/officeDocument/2006/relationships" id="264" r:id="Re318747b271247d0"/>
    <p:sldId xmlns:r="http://schemas.openxmlformats.org/officeDocument/2006/relationships" id="265" r:id="Rff2a9e92b49e4d35"/>
    <p:sldId xmlns:r="http://schemas.openxmlformats.org/officeDocument/2006/relationships" id="266" r:id="Rc5525a1061f04f00"/>
    <p:sldId xmlns:r="http://schemas.openxmlformats.org/officeDocument/2006/relationships" id="267" r:id="R633d717b2e6b4030"/>
    <p:sldId xmlns:r="http://schemas.openxmlformats.org/officeDocument/2006/relationships" id="268" r:id="Rf6e1b528a2144012"/>
    <p:sldId xmlns:r="http://schemas.openxmlformats.org/officeDocument/2006/relationships" id="269" r:id="R413373efcc8d4b84"/>
    <p:sldId xmlns:r="http://schemas.openxmlformats.org/officeDocument/2006/relationships" id="270" r:id="R1f0cac4628574e10"/>
    <p:sldId xmlns:r="http://schemas.openxmlformats.org/officeDocument/2006/relationships" id="271" r:id="Rb5f91374667d4aa4"/>
    <p:sldId xmlns:r="http://schemas.openxmlformats.org/officeDocument/2006/relationships" id="272" r:id="Rae242bac1b9b4940"/>
    <p:sldId xmlns:r="http://schemas.openxmlformats.org/officeDocument/2006/relationships" id="273" r:id="R60e9cb24c58e44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39bffa7a5b460d" /><Relationship Type="http://schemas.openxmlformats.org/officeDocument/2006/relationships/slideMaster" Target="/ppt/slideMasters/slideMaster1.xml" Id="R54f40e761cac4792" /><Relationship Type="http://schemas.openxmlformats.org/officeDocument/2006/relationships/notesMaster" Target="/ppt/notesMasters/notesMaster1.xml" Id="R2d3e6df9e4af42c1" /><Relationship Type="http://schemas.openxmlformats.org/officeDocument/2006/relationships/presProps" Target="/ppt/presProps.xml" Id="R5aa94d075ecb4c55" /><Relationship Type="http://schemas.openxmlformats.org/officeDocument/2006/relationships/tableStyles" Target="/ppt/tableStyles.xml" Id="R0019c9977d774102" /><Relationship Type="http://schemas.openxmlformats.org/officeDocument/2006/relationships/slide" Target="/ppt/slides/slide1.xml" Id="R28c5e9536d4f412f" /><Relationship Type="http://schemas.openxmlformats.org/officeDocument/2006/relationships/slide" Target="/ppt/slides/slide2.xml" Id="Rf1f0d7d733bd45f3" /><Relationship Type="http://schemas.openxmlformats.org/officeDocument/2006/relationships/slide" Target="/ppt/slides/slide3.xml" Id="R26fbeeb4e9df459f" /><Relationship Type="http://schemas.openxmlformats.org/officeDocument/2006/relationships/slide" Target="/ppt/slides/slide4.xml" Id="R9a834dc4c7134a6e" /><Relationship Type="http://schemas.openxmlformats.org/officeDocument/2006/relationships/slide" Target="/ppt/slides/slide5.xml" Id="Rfc39d27d53e4487c" /><Relationship Type="http://schemas.openxmlformats.org/officeDocument/2006/relationships/slide" Target="/ppt/slides/slide6.xml" Id="Ra9a0e81209b34e66" /><Relationship Type="http://schemas.openxmlformats.org/officeDocument/2006/relationships/slide" Target="/ppt/slides/slide7.xml" Id="R78daaf28ab444717" /><Relationship Type="http://schemas.openxmlformats.org/officeDocument/2006/relationships/slide" Target="/ppt/slides/slide8.xml" Id="Rf3f0a4e5f31c4c3c" /><Relationship Type="http://schemas.openxmlformats.org/officeDocument/2006/relationships/slide" Target="/ppt/slides/slide9.xml" Id="Re318747b271247d0" /><Relationship Type="http://schemas.openxmlformats.org/officeDocument/2006/relationships/slide" Target="/ppt/slides/slide10.xml" Id="Rff2a9e92b49e4d35" /><Relationship Type="http://schemas.openxmlformats.org/officeDocument/2006/relationships/slide" Target="/ppt/slides/slide11.xml" Id="Rc5525a1061f04f00" /><Relationship Type="http://schemas.openxmlformats.org/officeDocument/2006/relationships/slide" Target="/ppt/slides/slide12.xml" Id="R633d717b2e6b4030" /><Relationship Type="http://schemas.openxmlformats.org/officeDocument/2006/relationships/slide" Target="/ppt/slides/slide13.xml" Id="Rf6e1b528a2144012" /><Relationship Type="http://schemas.openxmlformats.org/officeDocument/2006/relationships/slide" Target="/ppt/slides/slide14.xml" Id="R413373efcc8d4b84" /><Relationship Type="http://schemas.openxmlformats.org/officeDocument/2006/relationships/slide" Target="/ppt/slides/slide15.xml" Id="R1f0cac4628574e10" /><Relationship Type="http://schemas.openxmlformats.org/officeDocument/2006/relationships/slide" Target="/ppt/slides/slide16.xml" Id="Rb5f91374667d4aa4" /><Relationship Type="http://schemas.openxmlformats.org/officeDocument/2006/relationships/slide" Target="/ppt/slides/slide17.xml" Id="Rae242bac1b9b4940" /><Relationship Type="http://schemas.openxmlformats.org/officeDocument/2006/relationships/slide" Target="/ppt/slides/slide18.xml" Id="R60e9cb24c58e44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6f2f73b0b643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bfd21e48cb4a4d" /><Relationship Type="http://schemas.openxmlformats.org/officeDocument/2006/relationships/notesMaster" Target="/ppt/notesMasters/notesMaster1.xml" Id="Rd3ae0ad7ad6a42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c3f8e504044362" /><Relationship Type="http://schemas.openxmlformats.org/officeDocument/2006/relationships/notesMaster" Target="/ppt/notesMasters/notesMaster1.xml" Id="R1331a6599bcb42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6f78bee529462d" /><Relationship Type="http://schemas.openxmlformats.org/officeDocument/2006/relationships/notesMaster" Target="/ppt/notesMasters/notesMaster1.xml" Id="R61df41a4b66540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96adb49ca04237" /><Relationship Type="http://schemas.openxmlformats.org/officeDocument/2006/relationships/notesMaster" Target="/ppt/notesMasters/notesMaster1.xml" Id="Re3cffa53ae4845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0bcc4b9ad04fbe" /><Relationship Type="http://schemas.openxmlformats.org/officeDocument/2006/relationships/notesMaster" Target="/ppt/notesMasters/notesMaster1.xml" Id="R65e6761066c14f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f56a916f4d490e" /><Relationship Type="http://schemas.openxmlformats.org/officeDocument/2006/relationships/notesMaster" Target="/ppt/notesMasters/notesMaster1.xml" Id="R9ea465c12fb842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9a1a4289c2413f" /><Relationship Type="http://schemas.openxmlformats.org/officeDocument/2006/relationships/notesMaster" Target="/ppt/notesMasters/notesMaster1.xml" Id="Rdd03b4b5be334a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38f088f2d74ac7" /><Relationship Type="http://schemas.openxmlformats.org/officeDocument/2006/relationships/notesMaster" Target="/ppt/notesMasters/notesMaster1.xml" Id="Reaa3583c50a043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00e535fd66491b" /><Relationship Type="http://schemas.openxmlformats.org/officeDocument/2006/relationships/notesMaster" Target="/ppt/notesMasters/notesMaster1.xml" Id="Rd3c2ff85fd0549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eb0c6185344f79" /><Relationship Type="http://schemas.openxmlformats.org/officeDocument/2006/relationships/notesMaster" Target="/ppt/notesMasters/notesMaster1.xml" Id="R1d4ad238aca642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ebf975337e4a92" /><Relationship Type="http://schemas.openxmlformats.org/officeDocument/2006/relationships/notesMaster" Target="/ppt/notesMasters/notesMaster1.xml" Id="R347992a727064d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9085a77add423a" /><Relationship Type="http://schemas.openxmlformats.org/officeDocument/2006/relationships/notesMaster" Target="/ppt/notesMasters/notesMaster1.xml" Id="R0d6135bc3bf34c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4a9df8aac34184" /><Relationship Type="http://schemas.openxmlformats.org/officeDocument/2006/relationships/notesMaster" Target="/ppt/notesMasters/notesMaster1.xml" Id="R3f775c5be2e24c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e1a0afe2974f46" /><Relationship Type="http://schemas.openxmlformats.org/officeDocument/2006/relationships/notesMaster" Target="/ppt/notesMasters/notesMaster1.xml" Id="R567e9bbc204f4e1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42c2f10de442b9" /><Relationship Type="http://schemas.openxmlformats.org/officeDocument/2006/relationships/notesMaster" Target="/ppt/notesMasters/notesMaster1.xml" Id="Rc4308f25aa7f4bd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09175e5bf064ce5" /><Relationship Type="http://schemas.openxmlformats.org/officeDocument/2006/relationships/notesMaster" Target="/ppt/notesMasters/notesMaster1.xml" Id="Ra51f1a6bc92040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c330e2815964443" /><Relationship Type="http://schemas.openxmlformats.org/officeDocument/2006/relationships/notesMaster" Target="/ppt/notesMasters/notesMaster1.xml" Id="R35eaf3046bfe4b2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bd88101857b4a4b" /><Relationship Type="http://schemas.openxmlformats.org/officeDocument/2006/relationships/notesMaster" Target="/ppt/notesMasters/notesMaster1.xml" Id="Rfbbb62fedf024e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https://www.postgresql.org/docs/current/ddl-constraints.html</a:t>
            </a:r>
          </a:p>
          <a:p xmlns:a="http://schemas.openxmlformats.org/drawingml/2006/main">
            <a:r>
              <a:t>- https://www.postgresql.org/docs/current/explicit-locking.html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https://www.postgresql.org/docs/current/ddl-constraints.html</a:t>
            </a:r>
          </a:p>
          <a:p xmlns:a="http://schemas.openxmlformats.org/drawingml/2006/main">
            <a:r>
              <a:t>- https://www.postgresql.org/docs/current/explicit-locking.html</a:t>
            </a:r>
          </a:p>
          <a:p xmlns:a="http://schemas.openxmlformats.org/drawingml/2006/main">
            <a:r>
              <a:t>- https://www.postgresql.org/docs/current/triggers.html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https://www.postgresql.org/docs/current/ddl-constraints.html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https://www.postgresql.org/docs/current/ddl-constraints.html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https://www.postgresql.org/docs/current/explicit-locking.html</a:t>
            </a:r>
          </a:p>
          <a:p xmlns:a="http://schemas.openxmlformats.org/drawingml/2006/main">
            <a:r>
              <a:t>- https://learn.microsoft.com/en-us/sql/relational-databases/sql-server-transaction-locking-and-row-versioning-guide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https://learn.microsoft.com/en-us/sql/relational-databases/sql-server-transaction-locking-and-row-versioning-guide</a:t>
            </a:r>
          </a:p>
          <a:p xmlns:a="http://schemas.openxmlformats.org/drawingml/2006/main">
            <a:r>
              <a:t>- https://www.postgresql.org/docs/current/explicit-locking.html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https://www.postgresql.org/docs/current/explicit-locking.html#LOCKING-DEADLOCKS</a:t>
            </a:r>
          </a:p>
          <a:p xmlns:a="http://schemas.openxmlformats.org/drawingml/2006/main">
            <a:r>
              <a:t>- https://learn.microsoft.com/en-us/sql/relational-databases/sql-server-deadlocks-guide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https://learn.microsoft.com/en-us/office/troubleshoot/access/database-normalization-description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https://learn.microsoft.com/en-us/office/troubleshoot/access/database-normalization-description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https://learn.microsoft.com/en-us/office/troubleshoot/access/database-normalization-description</a:t>
            </a:r>
          </a:p>
          <a:p xmlns:a="http://schemas.openxmlformats.org/drawingml/2006/main">
            <a:r>
              <a:t>- https://www.postgresql.org/docs/current/ddl-constraints.html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https://www.postgresql.org/docs/current/trigger-definition.html</a:t>
            </a:r>
          </a:p>
          <a:p xmlns:a="http://schemas.openxmlformats.org/drawingml/2006/main">
            <a:r>
              <a:t>- https://www.postgresql.org/docs/current/triggers.html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https://www.postgresql.org/docs/current/sql-createtrigger.html</a:t>
            </a:r>
          </a:p>
          <a:p xmlns:a="http://schemas.openxmlformats.org/drawingml/2006/main">
            <a:r>
              <a:t>- https://www.postgresql.org/docs/current/trigger-definition.html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https://learn.microsoft.com/en-us/ssms/agent/sql-server-agent</a:t>
            </a:r>
          </a:p>
          <a:p xmlns:a="http://schemas.openxmlformats.org/drawingml/2006/main">
            <a:r>
              <a:t>- https://learn.microsoft.com/en-us/ssms/agent/manage-job-steps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https://learn.microsoft.com/en-us/ssms/agent/sql-server-agent</a:t>
            </a:r>
          </a:p>
          <a:p xmlns:a="http://schemas.openxmlformats.org/drawingml/2006/main">
            <a:r>
              <a:t>- https://learn.microsoft.com/en-us/ssms/agent/manage-job-steps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https://www.postgresql.org/docs/current/ddl-constraints.html</a:t>
            </a:r>
          </a:p>
          <a:p xmlns:a="http://schemas.openxmlformats.org/drawingml/2006/main">
            <a:r>
              <a:t>- https://www.postgresql.org/docs/current/explicit-locking.html</a:t>
            </a:r>
          </a:p>
          <a:p xmlns:a="http://schemas.openxmlformats.org/drawingml/2006/main">
            <a:r>
              <a:t>- https://www.postgresql.org/docs/current/triggers.html</a:t>
            </a:r>
          </a:p>
          <a:p xmlns:a="http://schemas.openxmlformats.org/drawingml/2006/main">
            <a:r>
              <a:t>- https://learn.microsoft.com/en-us/ssms/agent/sql-server-agent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https://www.postgresql.org/docs/current/ddl-constraints.html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https://www.postgresql.org/docs/current/ddl-constraints.html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https://www.postgresql.org/docs/current/ddl-constraints.html</a:t>
            </a:r>
          </a:p>
          <a:p xmlns:a="http://schemas.openxmlformats.org/drawingml/2006/main">
            <a:r>
              <a:t>- https://www.postgresql.org/docs/current/explicit-locking.html</a:t>
            </a:r>
          </a:p>
          <a:p xmlns:a="http://schemas.openxmlformats.org/drawingml/2006/main">
            <a:r>
              <a:t>- https://learn.microsoft.com/en-us/office/troubleshoot/access/database-normalization-description</a:t>
            </a:r>
          </a:p>
          <a:p xmlns:a="http://schemas.openxmlformats.org/drawingml/2006/main">
            <a:r>
              <a:t>- https://www.postgresql.org/docs/current/trigger-definition.html</a:t>
            </a:r>
          </a:p>
          <a:p xmlns:a="http://schemas.openxmlformats.org/drawingml/2006/main">
            <a:r>
              <a:t>- https://learn.microsoft.com/en-us/ssms/agent/sql-server-agent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d197586fb24f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36ff6e3d8d4a57" /><Relationship Type="http://schemas.openxmlformats.org/officeDocument/2006/relationships/slideLayout" Target="/ppt/slideLayouts/slideLayout1.xml" Id="R34349df7856741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349df7856741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983228411c54d89" /><Relationship Type="http://schemas.openxmlformats.org/officeDocument/2006/relationships/notesSlide" Target="/ppt/notesSlides/notesSlide1.xml" Id="Rfe304fcc52234eae" /><Relationship Id="rId1" Type="http://schemas.openxmlformats.org/officeDocument/2006/relationships/slide" Target="slide2.xml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a77ad7d6972419a" /><Relationship Type="http://schemas.openxmlformats.org/officeDocument/2006/relationships/notesSlide" Target="/ppt/notesSlides/notesSlide2.xml" Id="Rdb9df6a73dc34df1" /><Relationship Id="rId1" Type="http://schemas.openxmlformats.org/officeDocument/2006/relationships/slide" Target="slide3.xml" /><Relationship Id="rId2" Type="http://schemas.openxmlformats.org/officeDocument/2006/relationships/slide" Target="slide5.xml" /><Relationship Id="rId3" Type="http://schemas.openxmlformats.org/officeDocument/2006/relationships/slide" Target="slide8.xml" /><Relationship Id="rId4" Type="http://schemas.openxmlformats.org/officeDocument/2006/relationships/slide" Target="slide11.xml" /><Relationship Id="rId5" Type="http://schemas.openxmlformats.org/officeDocument/2006/relationships/slide" Target="slide13.xml" /><Relationship Id="rId6" Type="http://schemas.openxmlformats.org/officeDocument/2006/relationships/slide" Target="slide16.xml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92f4fea05584006" /><Relationship Type="http://schemas.openxmlformats.org/officeDocument/2006/relationships/notesSlide" Target="/ppt/notesSlides/notesSlide3.xml" Id="R896646891fb44b12" /><Relationship Id="rId1" Type="http://schemas.openxmlformats.org/officeDocument/2006/relationships/slide" Target="slide2.xml" /><Relationship Id="rId2" Type="http://schemas.openxmlformats.org/officeDocument/2006/relationships/slide" Target="slide4.xml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1274eda170f4b9a" /><Relationship Type="http://schemas.openxmlformats.org/officeDocument/2006/relationships/notesSlide" Target="/ppt/notesSlides/notesSlide4.xml" Id="Rf6e476df396e4382" /><Relationship Id="rId1" Type="http://schemas.openxmlformats.org/officeDocument/2006/relationships/slide" Target="slide2.xml" /><Relationship Id="rId2" Type="http://schemas.openxmlformats.org/officeDocument/2006/relationships/slide" Target="slide3.xml" /><Relationship Id="rId3" Type="http://schemas.openxmlformats.org/officeDocument/2006/relationships/slide" Target="slide5.xml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0431738d30a4f0d" /><Relationship Type="http://schemas.openxmlformats.org/officeDocument/2006/relationships/notesSlide" Target="/ppt/notesSlides/notesSlide5.xml" Id="R9a71670f3cdd4ec1" /><Relationship Id="rId1" Type="http://schemas.openxmlformats.org/officeDocument/2006/relationships/slide" Target="slide2.xml" /><Relationship Id="rId2" Type="http://schemas.openxmlformats.org/officeDocument/2006/relationships/slide" Target="slide4.xml" /><Relationship Id="rId3" Type="http://schemas.openxmlformats.org/officeDocument/2006/relationships/slide" Target="slide6.xml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bb3030e9cf8435c" /><Relationship Type="http://schemas.openxmlformats.org/officeDocument/2006/relationships/notesSlide" Target="/ppt/notesSlides/notesSlide6.xml" Id="Rd9dbd1df13404ff5" /><Relationship Id="rId1" Type="http://schemas.openxmlformats.org/officeDocument/2006/relationships/slide" Target="slide2.xml" /><Relationship Id="rId2" Type="http://schemas.openxmlformats.org/officeDocument/2006/relationships/slide" Target="slide5.xml" /><Relationship Id="rId3" Type="http://schemas.openxmlformats.org/officeDocument/2006/relationships/slide" Target="slide7.xml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e2aeec4fd38445e" /><Relationship Type="http://schemas.openxmlformats.org/officeDocument/2006/relationships/notesSlide" Target="/ppt/notesSlides/notesSlide7.xml" Id="R685434b90cc34caf" /><Relationship Id="rId1" Type="http://schemas.openxmlformats.org/officeDocument/2006/relationships/slide" Target="slide2.xml" /><Relationship Id="rId2" Type="http://schemas.openxmlformats.org/officeDocument/2006/relationships/slide" Target="slide6.xml" /><Relationship Id="rId3" Type="http://schemas.openxmlformats.org/officeDocument/2006/relationships/slide" Target="slide8.xml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9b86df149d64ad4" /><Relationship Type="http://schemas.openxmlformats.org/officeDocument/2006/relationships/notesSlide" Target="/ppt/notesSlides/notesSlide8.xml" Id="R8260019cd7a1477a" /><Relationship Id="rId1" Type="http://schemas.openxmlformats.org/officeDocument/2006/relationships/slide" Target="slide2.xml" /><Relationship Id="rId2" Type="http://schemas.openxmlformats.org/officeDocument/2006/relationships/slide" Target="slide7.xml" /><Relationship Id="rId3" Type="http://schemas.openxmlformats.org/officeDocument/2006/relationships/slide" Target="slide9.xml" 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edf81fce2a24e5e" /><Relationship Type="http://schemas.openxmlformats.org/officeDocument/2006/relationships/notesSlide" Target="/ppt/notesSlides/notesSlide9.xml" Id="R7134764b54c14ef4" /><Relationship Id="rId1" Type="http://schemas.openxmlformats.org/officeDocument/2006/relationships/slide" Target="slide2.xml" /><Relationship Id="rId2" Type="http://schemas.openxmlformats.org/officeDocument/2006/relationships/slide" Target="slide8.xml" /><Relationship Id="rId3" Type="http://schemas.openxmlformats.org/officeDocument/2006/relationships/slide" Target="slide10.xml" 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9ee54cd2a8a4387" /><Relationship Type="http://schemas.openxmlformats.org/officeDocument/2006/relationships/notesSlide" Target="/ppt/notesSlides/notesSlide10.xml" Id="R350e3b1bde694883" /><Relationship Id="rId1" Type="http://schemas.openxmlformats.org/officeDocument/2006/relationships/slide" Target="slide2.xml" /><Relationship Id="rId2" Type="http://schemas.openxmlformats.org/officeDocument/2006/relationships/slide" Target="slide9.xml" /><Relationship Id="rId3" Type="http://schemas.openxmlformats.org/officeDocument/2006/relationships/slide" Target="slide11.xml" 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e1aa8ff43b048aa" /><Relationship Type="http://schemas.openxmlformats.org/officeDocument/2006/relationships/notesSlide" Target="/ppt/notesSlides/notesSlide11.xml" Id="Rab6b0e8e57ab4713" /><Relationship Id="rId1" Type="http://schemas.openxmlformats.org/officeDocument/2006/relationships/slide" Target="slide2.xml" /><Relationship Id="rId2" Type="http://schemas.openxmlformats.org/officeDocument/2006/relationships/slide" Target="slide10.xml" /><Relationship Id="rId3" Type="http://schemas.openxmlformats.org/officeDocument/2006/relationships/slide" Target="slide12.xml" 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2c5bc41e9e943f3" /><Relationship Type="http://schemas.openxmlformats.org/officeDocument/2006/relationships/notesSlide" Target="/ppt/notesSlides/notesSlide12.xml" Id="R58d04c1433f64c34" /><Relationship Id="rId1" Type="http://schemas.openxmlformats.org/officeDocument/2006/relationships/slide" Target="slide2.xml" /><Relationship Id="rId2" Type="http://schemas.openxmlformats.org/officeDocument/2006/relationships/slide" Target="slide11.xml" /><Relationship Id="rId3" Type="http://schemas.openxmlformats.org/officeDocument/2006/relationships/slide" Target="slide13.xml" 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7512b51094f45b2" /><Relationship Type="http://schemas.openxmlformats.org/officeDocument/2006/relationships/notesSlide" Target="/ppt/notesSlides/notesSlide13.xml" Id="Rfd3de88eab944c07" /><Relationship Id="rId1" Type="http://schemas.openxmlformats.org/officeDocument/2006/relationships/slide" Target="slide2.xml" /><Relationship Id="rId2" Type="http://schemas.openxmlformats.org/officeDocument/2006/relationships/slide" Target="slide12.xml" /><Relationship Id="rId3" Type="http://schemas.openxmlformats.org/officeDocument/2006/relationships/slide" Target="slide14.xml" 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8ea06a5ae704338" /><Relationship Type="http://schemas.openxmlformats.org/officeDocument/2006/relationships/notesSlide" Target="/ppt/notesSlides/notesSlide14.xml" Id="R0d94eb23212442cc" /><Relationship Id="rId1" Type="http://schemas.openxmlformats.org/officeDocument/2006/relationships/slide" Target="slide2.xml" /><Relationship Id="rId2" Type="http://schemas.openxmlformats.org/officeDocument/2006/relationships/slide" Target="slide13.xml" /><Relationship Id="rId3" Type="http://schemas.openxmlformats.org/officeDocument/2006/relationships/slide" Target="slide15.xml" /></Relationships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d22c5ad7ab24536" /><Relationship Type="http://schemas.openxmlformats.org/officeDocument/2006/relationships/notesSlide" Target="/ppt/notesSlides/notesSlide15.xml" Id="R6f45c9a475834411" /><Relationship Id="rId1" Type="http://schemas.openxmlformats.org/officeDocument/2006/relationships/slide" Target="slide2.xml" /><Relationship Id="rId2" Type="http://schemas.openxmlformats.org/officeDocument/2006/relationships/slide" Target="slide14.xml" /><Relationship Id="rId3" Type="http://schemas.openxmlformats.org/officeDocument/2006/relationships/slide" Target="slide16.xml" /></Relationships>
</file>

<file path=ppt/slides/_rels/slide1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4ac66ef18c54067" /><Relationship Type="http://schemas.openxmlformats.org/officeDocument/2006/relationships/notesSlide" Target="/ppt/notesSlides/notesSlide16.xml" Id="Rf08b6914a4054b78" /><Relationship Id="rId1" Type="http://schemas.openxmlformats.org/officeDocument/2006/relationships/slide" Target="slide2.xml" /><Relationship Id="rId2" Type="http://schemas.openxmlformats.org/officeDocument/2006/relationships/slide" Target="slide15.xml" /><Relationship Id="rId3" Type="http://schemas.openxmlformats.org/officeDocument/2006/relationships/slide" Target="slide18.xml" /><Relationship Id="rId4" Type="http://schemas.openxmlformats.org/officeDocument/2006/relationships/slide" Target="slide17.xml" /><Relationship Id="rId5" Type="http://schemas.openxmlformats.org/officeDocument/2006/relationships/slide" Target="slide17.xml" /></Relationships>
</file>

<file path=ppt/slides/_rels/slide1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16a7562f41545e8" /><Relationship Type="http://schemas.openxmlformats.org/officeDocument/2006/relationships/notesSlide" Target="/ppt/notesSlides/notesSlide17.xml" Id="R7fa70fd3b85a402b" /><Relationship Id="rId1" Type="http://schemas.openxmlformats.org/officeDocument/2006/relationships/slide" Target="slide16.xml" /><Relationship Id="rId2" Type="http://schemas.openxmlformats.org/officeDocument/2006/relationships/slide" Target="slide2.xml" /></Relationships>
</file>

<file path=ppt/slides/_rels/slide1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054d0b9625d4601" /><Relationship Type="http://schemas.openxmlformats.org/officeDocument/2006/relationships/notesSlide" Target="/ppt/notesSlides/notesSlide18.xml" Id="R27ab84f482bf4074" /><Relationship Id="rId1" Type="http://schemas.openxmlformats.org/officeDocument/2006/relationships/slide" Target="slide2.xml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lue">
            <a:extLst xmlns:a="http://schemas.openxmlformats.org/drawingml/2006/main">
              <a:ext uri="{FF2B5EF4-FFF2-40B4-BE49-F238E27FC236}">
                <a16:creationId xmlns:a16="http://schemas.microsoft.com/office/drawing/2014/main" id="{C5A51613-0213-43F1-8734-2DBFDD63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nge">
            <a:extLst xmlns:a="http://schemas.openxmlformats.org/drawingml/2006/main">
              <a:ext uri="{FF2B5EF4-FFF2-40B4-BE49-F238E27FC236}">
                <a16:creationId xmlns:a16="http://schemas.microsoft.com/office/drawing/2014/main" id="{53FB9B35-69EA-4222-8F05-3405A07E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95875"/>
            <a:ext cx="1714500" cy="1571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2299644-2211-41AE-8300-1965B93E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rPr>
              <a:t>SESSION 28  /  DATABASE SEARCH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1AAB348-E596-4B3B-955D-93E3BCE9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Control the</a:t>
            </a:r>
          </a:p>
          <a:p xmlns:a="http://schemas.openxmlformats.org/drawingml/2006/main">
            <a:pPr algn="l">
              <a:defRPr sz="510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data engine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4741D8B-B567-4D5A-979C-F34660C1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D5D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7D5D2"/>
                </a:solidFill>
                <a:latin typeface="Aptos Display"/>
                <a:ea typeface="Aptos Display"/>
                <a:cs typeface="Aptos Display"/>
              </a:rPr>
              <a:t>Constraints · Locks · Normalization · Triggers · Jobs</a:t>
            </a:r>
          </a:p>
        </p:txBody>
      </p:sp>
      <p:sp>
        <p:nvSpPr>
          <p:cNvPr id="6" name="code">
            <a:extLst xmlns:a="http://schemas.openxmlformats.org/drawingml/2006/main">
              <a:ext uri="{FF2B5EF4-FFF2-40B4-BE49-F238E27FC236}">
                <a16:creationId xmlns:a16="http://schemas.microsoft.com/office/drawing/2014/main" id="{EBDB820C-2D0C-4951-A8D3-91539D30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095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80B10"/>
          </a:solidFill>
          <a:ln xmlns:a="http://schemas.openxmlformats.org/drawingml/2006/main" w="9525">
            <a:solidFill>
              <a:srgbClr val="080B10"/>
            </a:solidFill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03165EC3-C8AC-4249-B96D-3F850754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solidFill>
              <a:srgbClr val="FF9F43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A7C5D5E-6A2A-4BB0-B67C-2B632B34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57475"/>
            <a:ext cx="36957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integrity + concurrency</a:t>
            </a:r>
          </a:p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+ design + automation</a:t>
            </a:r>
          </a:p>
        </p:txBody>
      </p:sp>
      <p:sp>
        <p:nvSpPr>
          <p:cNvPr id="9" name="start">
            <a:extLst xmlns:a="http://schemas.openxmlformats.org/drawingml/2006/main">
              <a:ext uri="{FF2B5EF4-FFF2-40B4-BE49-F238E27FC236}">
                <a16:creationId xmlns:a16="http://schemas.microsoft.com/office/drawing/2014/main" id="{D661ADDC-0AB6-4D5B-B12F-619F27D082E5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3048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7A7FF"/>
          </a:solidFill>
          <a:ln xmlns:a="http://schemas.openxmlformats.org/drawingml/2006/main" w="9525">
            <a:solidFill>
              <a:srgbClr val="27A7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OPEN THE CONTROL ROOM</a:t>
            </a:r>
          </a:p>
        </p:txBody>
      </p:sp>
    </p:spTree>
    <p:extLst>
      <p:ext uri="{BB962C8B-B14F-4D97-AF65-F5344CB8AC3E}">
        <p14:creationId xmlns:p14="http://schemas.microsoft.com/office/powerpoint/2010/main" val="653916345"/>
      </p:ext>
    </p:extLst>
  </p:cSld>
  <p:transition spd="fast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034EE68-7C37-47B6-8436-D5101D7A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rPr>
              <a:t>INTERACTIVE MAP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DC05CDE7-8C9D-4426-9FF7-3BB1EE42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solidFill>
              <a:srgbClr val="FF9F43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B298C07-AB1C-4DB0-809B-0475ED03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Select the database mechanism you need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A1BE2EF-4668-4C4C-A35D-7E4CAEF7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5" name="menu-constraints">
            <a:extLst xmlns:a="http://schemas.openxmlformats.org/drawingml/2006/main">
              <a:ext uri="{FF2B5EF4-FFF2-40B4-BE49-F238E27FC236}">
                <a16:creationId xmlns:a16="http://schemas.microsoft.com/office/drawing/2014/main" id="{9FF36BA1-CD34-47C4-A181-9DF7B86B4EC9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028825" cy="223837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27A7FF"/>
          </a:solidFill>
          <a:ln xmlns:a="http://schemas.openxmlformats.org/drawingml/2006/main" w="9525">
            <a:solidFill>
              <a:srgbClr val="27A7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CONSTRAINTS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protect valid state</a:t>
            </a:r>
          </a:p>
        </p:txBody>
      </p:sp>
      <p:sp>
        <p:nvSpPr>
          <p:cNvPr id="6" name="menu-locks">
            <a:extLst xmlns:a="http://schemas.openxmlformats.org/drawingml/2006/main">
              <a:ext uri="{FF2B5EF4-FFF2-40B4-BE49-F238E27FC236}">
                <a16:creationId xmlns:a16="http://schemas.microsoft.com/office/drawing/2014/main" id="{E1A9DFC9-2A9A-44E7-BCEC-E3ECA98C2499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952625"/>
            <a:ext cx="2028825" cy="223837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FF9F43"/>
          </a:solidFill>
          <a:ln xmlns:a="http://schemas.openxmlformats.org/drawingml/2006/main" w="9525">
            <a:solidFill>
              <a:srgbClr val="FF9F43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LOCKS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coordinate concurrency</a:t>
            </a:r>
          </a:p>
        </p:txBody>
      </p:sp>
      <p:sp>
        <p:nvSpPr>
          <p:cNvPr id="7" name="menu-normalize">
            <a:extLst xmlns:a="http://schemas.openxmlformats.org/drawingml/2006/main">
              <a:ext uri="{FF2B5EF4-FFF2-40B4-BE49-F238E27FC236}">
                <a16:creationId xmlns:a16="http://schemas.microsoft.com/office/drawing/2014/main" id="{7297C78D-932A-43BD-8178-E10F7B8EC56E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2028825" cy="223837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37D5D2"/>
          </a:solidFill>
          <a:ln xmlns:a="http://schemas.openxmlformats.org/drawingml/2006/main" w="9525">
            <a:solidFill>
              <a:srgbClr val="37D5D2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NORMALIZE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remove anomalies</a:t>
            </a:r>
          </a:p>
        </p:txBody>
      </p:sp>
      <p:sp>
        <p:nvSpPr>
          <p:cNvPr id="8" name="menu-triggers">
            <a:extLst xmlns:a="http://schemas.openxmlformats.org/drawingml/2006/main">
              <a:ext uri="{FF2B5EF4-FFF2-40B4-BE49-F238E27FC236}">
                <a16:creationId xmlns:a16="http://schemas.microsoft.com/office/drawing/2014/main" id="{0F33DE8A-2B75-494E-BB83-93D540DE430A}"/>
              </a:ext>
            </a:extLst>
            <a:hlinkClick xmlns:p7="http://schemas.openxmlformats.org/officeDocument/2006/relationships" xmlns:a="http://schemas.openxmlformats.org/drawingml/2006/main" p7:id="rId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952625"/>
            <a:ext cx="2028825" cy="223837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TRIGGERS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react to events</a:t>
            </a:r>
          </a:p>
        </p:txBody>
      </p:sp>
      <p:sp>
        <p:nvSpPr>
          <p:cNvPr id="9" name="menu-jobs">
            <a:extLst xmlns:a="http://schemas.openxmlformats.org/drawingml/2006/main">
              <a:ext uri="{FF2B5EF4-FFF2-40B4-BE49-F238E27FC236}">
                <a16:creationId xmlns:a16="http://schemas.microsoft.com/office/drawing/2014/main" id="{3931C2F5-4646-4D7E-8F61-4CCD8C67251A}"/>
              </a:ext>
            </a:extLst>
            <a:hlinkClick xmlns:p7="http://schemas.openxmlformats.org/officeDocument/2006/relationships" xmlns:a="http://schemas.openxmlformats.org/drawingml/2006/main" p7:id="rId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52625"/>
            <a:ext cx="2028825" cy="223837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47D18C"/>
          </a:solidFill>
          <a:ln xmlns:a="http://schemas.openxmlformats.org/drawingml/2006/main" w="9525">
            <a:solidFill>
              <a:srgbClr val="47D18C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JOBS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run on schedule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4BD783A-E939-4BD8-9F5F-2E283DCA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Reliable databases enforce rules at the right layer and automate with care.</a:t>
            </a:r>
          </a:p>
        </p:txBody>
      </p:sp>
      <p:sp>
        <p:nvSpPr>
          <p:cNvPr id="11" name="menu-quiz">
            <a:extLst xmlns:a="http://schemas.openxmlformats.org/drawingml/2006/main">
              <a:ext uri="{FF2B5EF4-FFF2-40B4-BE49-F238E27FC236}">
                <a16:creationId xmlns:a16="http://schemas.microsoft.com/office/drawing/2014/main" id="{757A7141-C143-43FE-8ADA-3811317BE2B3}"/>
              </a:ext>
            </a:extLst>
            <a:hlinkClick xmlns:p7="http://schemas.openxmlformats.org/officeDocument/2006/relationships" xmlns:a="http://schemas.openxmlformats.org/drawingml/2006/main" p7:id="rId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3314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6275"/>
          </a:solidFill>
          <a:ln xmlns:a="http://schemas.openxmlformats.org/drawingml/2006/main" w="9525">
            <a:solidFill>
              <a:srgbClr val="FF6275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TEST THE DESIGN</a:t>
            </a:r>
          </a:p>
        </p:txBody>
      </p:sp>
    </p:spTree>
    <p:extLst>
      <p:ext uri="{BB962C8B-B14F-4D97-AF65-F5344CB8AC3E}">
        <p14:creationId xmlns:p14="http://schemas.microsoft.com/office/powerpoint/2010/main" val="751583998"/>
      </p:ext>
    </p:extLst>
  </p:cSld>
  <p:transition spd="fast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6FE0B07-E823-489C-AC18-584192AA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rPr>
              <a:t>INTEGRITY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204AD7D5-5354-42C1-B0FD-B932A63B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7FF"/>
          </a:solidFill>
          <a:ln xmlns:a="http://schemas.openxmlformats.org/drawingml/2006/main" w="0">
            <a:solidFill>
              <a:srgbClr val="27A7FF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D97D729-CA57-4D2D-98AC-7EB45AFC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Constraints keep invalid states out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219AD4C-4C5D-4861-81E7-AC10A113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383CB09-6836-4371-A91A-8FB281BB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rPr>
              <a:t>NOT NULL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E432F61-0D8B-4009-9357-3E3ACB7D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value must exist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A73E108-9827-45C8-B448-2ACE8C71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8097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7D5D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37D5D2"/>
                </a:solidFill>
                <a:latin typeface="Aptos Display"/>
                <a:ea typeface="Aptos Display"/>
                <a:cs typeface="Aptos Display"/>
              </a:rPr>
              <a:t>UNIQUE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CA956E8-A5C7-47FC-8F36-13E16F9E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3336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no duplicate key values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1C27EC3-352D-45E5-93AC-BFEF1629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rPr>
              <a:t>PRIMARY KEY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AF60E02-4919-484E-BD9F-27FFFCAF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unique row identity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D5691B3-E8BD-4758-80CA-CD84BBF7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FOREIGN KEY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4278E07-AE5F-403D-AC5E-F68647AA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referential integrity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E2FDA0C-AEEC-4FE6-A573-D8D3F25F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619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rPr>
              <a:t>CHECK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00BCFEF-9384-42BD-AAB2-5FDC90FD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1433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business predicate is true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50C7F35-4DA4-49B0-9A66-917C2987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19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DEFAULT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2A7B8E9-966A-49CF-811E-13184A1A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433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value when omitted</a:t>
            </a:r>
          </a:p>
        </p:txBody>
      </p:sp>
      <p:sp>
        <p:nvSpPr>
          <p:cNvPr id="17" name="nav-home">
            <a:extLst xmlns:a="http://schemas.openxmlformats.org/drawingml/2006/main">
              <a:ext uri="{FF2B5EF4-FFF2-40B4-BE49-F238E27FC236}">
                <a16:creationId xmlns:a16="http://schemas.microsoft.com/office/drawing/2014/main" id="{B0BA6555-E4A6-4B48-A648-398254EA938F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8" name="nav-next">
            <a:extLst xmlns:a="http://schemas.openxmlformats.org/drawingml/2006/main">
              <a:ext uri="{FF2B5EF4-FFF2-40B4-BE49-F238E27FC236}">
                <a16:creationId xmlns:a16="http://schemas.microsoft.com/office/drawing/2014/main" id="{49F1460C-5155-4DAC-B970-7D20FC65AE27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7A7FF"/>
          </a:solidFill>
          <a:ln xmlns:a="http://schemas.openxmlformats.org/drawingml/2006/main" w="9525">
            <a:solidFill>
              <a:srgbClr val="27A7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627685333"/>
      </p:ext>
    </p:extLst>
  </p:cSld>
  <p:transition spd="fast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3A0620F-61D7-4B0F-8CDD-97226DF2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rPr>
              <a:t>CONSTRAINTS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D8B84A1B-B05E-437F-9624-37D2C727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7FF"/>
          </a:solidFill>
          <a:ln xmlns:a="http://schemas.openxmlformats.org/drawingml/2006/main" w="0">
            <a:solidFill>
              <a:srgbClr val="27A7FF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F1E3020-F160-47E4-A0A7-0F8CE0BF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Declare rules where every client must obey them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DDD633D-A70C-49B9-B6C0-F92267CC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61DCFAB7-E0F8-4E2D-A5A0-080B2159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6191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080B10"/>
          </a:solidFill>
          <a:ln xmlns:a="http://schemas.openxmlformats.org/drawingml/2006/main" w="9525">
            <a:solidFill>
              <a:srgbClr val="080B10"/>
            </a:solidFill>
            <a:prstDash val="solid"/>
          </a:ln>
        </p:spPr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F638FA2B-8E24-4D9C-822C-95828192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666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7FF"/>
          </a:solidFill>
          <a:ln xmlns:a="http://schemas.openxmlformats.org/drawingml/2006/main" w="0">
            <a:solidFill>
              <a:srgbClr val="27A7FF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8E6A82B-0C62-4C96-A036-45FED6A4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0225"/>
            <a:ext cx="57912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CREATE TABLE orders (</a:t>
            </a:r>
          </a:p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  id BIGINT PRIMARY KEY,</a:t>
            </a:r>
          </a:p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  customer_id BIGINT NOT NULL</a:t>
            </a:r>
          </a:p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    REFERENCES customers(id),</a:t>
            </a:r>
          </a:p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  total NUMERIC CHECK (total &gt;= 0),</a:t>
            </a:r>
          </a:p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  status TEXT DEFAULT 'pending',</a:t>
            </a:r>
          </a:p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  UNIQUE (customer_id, id)</a:t>
            </a:r>
          </a:p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8236CFE-C9BB-42DE-B51B-C248318B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rPr>
              <a:t>WHY DATABASE-LEVEL?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2198367-47D7-4D99-94DC-DB522D09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19325"/>
            <a:ext cx="4095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APIs, scripts, imports, and admin tools all reach the same source of truth.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AAD6F0A-9037-4D0D-8B98-6281FD88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rPr>
              <a:t>DESIGN RULE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56C7562-A3FD-452A-8605-880F17BF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76700"/>
            <a:ext cx="4095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Use a constraint for a stable invariant; use application logic for contextual workflows.</a:t>
            </a:r>
          </a:p>
        </p:txBody>
      </p:sp>
      <p:sp>
        <p:nvSpPr>
          <p:cNvPr id="12" name="nav-home">
            <a:extLst xmlns:a="http://schemas.openxmlformats.org/drawingml/2006/main">
              <a:ext uri="{FF2B5EF4-FFF2-40B4-BE49-F238E27FC236}">
                <a16:creationId xmlns:a16="http://schemas.microsoft.com/office/drawing/2014/main" id="{2843E3BE-4324-4E26-967A-52A79CBE278B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3" name="nav-back">
            <a:extLst xmlns:a="http://schemas.openxmlformats.org/drawingml/2006/main">
              <a:ext uri="{FF2B5EF4-FFF2-40B4-BE49-F238E27FC236}">
                <a16:creationId xmlns:a16="http://schemas.microsoft.com/office/drawing/2014/main" id="{186710D9-38C5-4DB6-A3DB-DEE1217AC959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4" name="nav-next">
            <a:extLst xmlns:a="http://schemas.openxmlformats.org/drawingml/2006/main">
              <a:ext uri="{FF2B5EF4-FFF2-40B4-BE49-F238E27FC236}">
                <a16:creationId xmlns:a16="http://schemas.microsoft.com/office/drawing/2014/main" id="{55708421-DBFB-48F4-BC6C-C09EBFCD9F1C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7A7FF"/>
          </a:solidFill>
          <a:ln xmlns:a="http://schemas.openxmlformats.org/drawingml/2006/main" w="9525">
            <a:solidFill>
              <a:srgbClr val="27A7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082760474"/>
      </p:ext>
    </p:extLst>
  </p:cSld>
  <p:transition spd="fast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D8CE3B8-0970-4662-AAD8-34DCBAFD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rPr>
              <a:t>CONCURRENCY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438ED052-B861-46F3-8D97-2CF4DDFB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solidFill>
              <a:srgbClr val="FF9F43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A89FB07-2ED2-42B4-9631-1A21F29C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Locks trade parallelism for correctness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5A48ACC-81BC-43BB-BA73-C3B52F52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A1572E0-0D50-4580-A03F-5947EB5D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rPr>
              <a:t>Transaction 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692ECDE-D783-4392-9D25-7C49E2C9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9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rPr>
              <a:t>Transaction B</a:t>
            </a:r>
          </a:p>
        </p:txBody>
      </p:sp>
      <p:sp>
        <p:nvSpPr>
          <p:cNvPr id="7" name="row">
            <a:extLst xmlns:a="http://schemas.openxmlformats.org/drawingml/2006/main">
              <a:ext uri="{FF2B5EF4-FFF2-40B4-BE49-F238E27FC236}">
                <a16:creationId xmlns:a16="http://schemas.microsoft.com/office/drawing/2014/main" id="{97B5D1C2-C9E4-4A68-96B4-7D1760C4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4191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19050">
            <a:solidFill>
              <a:srgbClr val="37D5D2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BB30D73-FAB4-42DC-8683-65D1201D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row: account 42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FCCF8AB-938E-42C2-9901-A1D3DA22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READ / WRITE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0507ADE-FD1C-460F-9A3D-8C4F2659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00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WAIT / PROCEED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E2691D8-1E54-45F0-A8D1-C1E0EECA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43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A lock controls which operations can coexist while transactions overlap.</a:t>
            </a:r>
          </a:p>
        </p:txBody>
      </p:sp>
      <p:sp>
        <p:nvSpPr>
          <p:cNvPr id="12" name="nav-home">
            <a:extLst xmlns:a="http://schemas.openxmlformats.org/drawingml/2006/main">
              <a:ext uri="{FF2B5EF4-FFF2-40B4-BE49-F238E27FC236}">
                <a16:creationId xmlns:a16="http://schemas.microsoft.com/office/drawing/2014/main" id="{FCAA37F4-54FA-4C38-8105-E204840FE648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3" name="nav-back">
            <a:extLst xmlns:a="http://schemas.openxmlformats.org/drawingml/2006/main">
              <a:ext uri="{FF2B5EF4-FFF2-40B4-BE49-F238E27FC236}">
                <a16:creationId xmlns:a16="http://schemas.microsoft.com/office/drawing/2014/main" id="{66F71504-59A8-4FF4-9F8A-C2E3471E3AD0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4" name="nav-next">
            <a:extLst xmlns:a="http://schemas.openxmlformats.org/drawingml/2006/main">
              <a:ext uri="{FF2B5EF4-FFF2-40B4-BE49-F238E27FC236}">
                <a16:creationId xmlns:a16="http://schemas.microsoft.com/office/drawing/2014/main" id="{E54FCA14-B68F-4041-894E-D3B90F43CA05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7A7FF"/>
          </a:solidFill>
          <a:ln xmlns:a="http://schemas.openxmlformats.org/drawingml/2006/main" w="9525">
            <a:solidFill>
              <a:srgbClr val="27A7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20307045"/>
      </p:ext>
    </p:extLst>
  </p:cSld>
  <p:transition spd="fast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6AAB5A4-8FDC-4141-AD44-06FF892E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rPr>
              <a:t>LOCK MODES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DB102C36-D877-4CC0-B41A-15BF0553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solidFill>
              <a:srgbClr val="FF9F43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FD96411-D7AB-4700-87B4-B998C717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Shared and exclusive locks answer “who may proceed?”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B335908-413F-46D8-B7DA-B25891A4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1458059-8D91-4145-BE57-102DBD96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rPr>
              <a:t>SHARED (S)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4182D73-3EAD-47C9-B0E0-D1E7DA8A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5143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Multiple readers can coexist. A conflicting writer must wait until shared locks release.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A98091E-5A3E-4BEC-B89F-1FDBD242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rPr>
              <a:t>EXCLUSIVE (X)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00576B0-34F5-45E1-B0F6-10E28F6B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5143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One transaction changes the resource. Conflicting reads or writes may wait, depending on isolation and engine behavior.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776E6A6-C0D7-4AFB-8AC1-0D6A5851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62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rPr>
              <a:t>S + S  ✓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5B992E4-3403-4103-8678-48D796D5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62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6275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6275"/>
                </a:solidFill>
                <a:latin typeface="Aptos Display"/>
                <a:ea typeface="Aptos Display"/>
                <a:cs typeface="Aptos Display"/>
              </a:rPr>
              <a:t>S + X  ✕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8B63E54-B588-4BEC-A8ED-D6925564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762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6275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6275"/>
                </a:solidFill>
                <a:latin typeface="Aptos Display"/>
                <a:ea typeface="Aptos Display"/>
                <a:cs typeface="Aptos Display"/>
              </a:rPr>
              <a:t>X + X  ✕</a:t>
            </a:r>
          </a:p>
        </p:txBody>
      </p:sp>
      <p:sp>
        <p:nvSpPr>
          <p:cNvPr id="12" name="nav-home">
            <a:extLst xmlns:a="http://schemas.openxmlformats.org/drawingml/2006/main">
              <a:ext uri="{FF2B5EF4-FFF2-40B4-BE49-F238E27FC236}">
                <a16:creationId xmlns:a16="http://schemas.microsoft.com/office/drawing/2014/main" id="{CC13E479-C1A8-4E84-8E13-C803B084BEF7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3" name="nav-back">
            <a:extLst xmlns:a="http://schemas.openxmlformats.org/drawingml/2006/main">
              <a:ext uri="{FF2B5EF4-FFF2-40B4-BE49-F238E27FC236}">
                <a16:creationId xmlns:a16="http://schemas.microsoft.com/office/drawing/2014/main" id="{2D1C03D7-66CB-46A4-9C75-A04A5A9D897D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4" name="nav-next">
            <a:extLst xmlns:a="http://schemas.openxmlformats.org/drawingml/2006/main">
              <a:ext uri="{FF2B5EF4-FFF2-40B4-BE49-F238E27FC236}">
                <a16:creationId xmlns:a16="http://schemas.microsoft.com/office/drawing/2014/main" id="{C3BEC085-BDB3-471A-ACE0-AECBCDF9029B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7A7FF"/>
          </a:solidFill>
          <a:ln xmlns:a="http://schemas.openxmlformats.org/drawingml/2006/main" w="9525">
            <a:solidFill>
              <a:srgbClr val="27A7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626696941"/>
      </p:ext>
    </p:extLst>
  </p:cSld>
  <p:transition spd="fast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FEE5EAC-ADA2-40EF-B151-D032F26E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rPr>
              <a:t>LOCK FAILURE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73549AD5-F2EE-480F-A990-EAD6DFEC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solidFill>
              <a:srgbClr val="FF9F43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D8ECBEF-E9E0-4607-9ECB-8D70F927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Deadlocks are cycles of waiting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9AFEF88-D777-4E19-B9DB-E22F727A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F1B1FB94-CAC4-4A9E-A06B-B06B1A86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80B10"/>
          </a:solidFill>
          <a:ln xmlns:a="http://schemas.openxmlformats.org/drawingml/2006/main" w="9525">
            <a:solidFill>
              <a:srgbClr val="080B10"/>
            </a:solidFill>
            <a:prstDash val="solid"/>
          </a:ln>
        </p:spPr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22A8D5CF-5490-4060-9B8F-B090C3AA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275"/>
          </a:solidFill>
          <a:ln xmlns:a="http://schemas.openxmlformats.org/drawingml/2006/main" w="0">
            <a:solidFill>
              <a:srgbClr val="FF6275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BA5F3B9-CD9C-431D-9418-628EC837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45529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A locks row 1</a:t>
            </a:r>
          </a:p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B locks row 2</a:t>
            </a:r>
          </a:p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A requests row 2  → waits</a:t>
            </a:r>
          </a:p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B requests row 1  → cycle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9DE7292-6A7C-4F2E-B866-3B46DF9B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27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6275"/>
                </a:solidFill>
                <a:latin typeface="Aptos Display"/>
                <a:ea typeface="Aptos Display"/>
                <a:cs typeface="Aptos Display"/>
              </a:rPr>
              <a:t>DATABASE RESPONSE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2E65B01-31F3-4394-A8AA-ACBDEE2C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The engine detects the cycle and aborts one transaction so the other can continue.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C722E02-99F9-4292-B077-2DB9F04F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rPr>
              <a:t>PREVENTION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40BF8DF-D18F-48D6-B26F-C2B51CA5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5143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Access resources in a consistent order, keep transactions short, index predicates, and retry aborted work safely.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2B9E287-3343-4FC1-9619-B53FC7AE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27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6275"/>
                </a:solidFill>
                <a:latin typeface="Aptos Display"/>
                <a:ea typeface="Aptos Display"/>
                <a:cs typeface="Aptos Display"/>
              </a:rPr>
              <a:t>Never “fix” deadlocks by removing required transactional protection.</a:t>
            </a:r>
          </a:p>
        </p:txBody>
      </p:sp>
      <p:sp>
        <p:nvSpPr>
          <p:cNvPr id="13" name="nav-home">
            <a:extLst xmlns:a="http://schemas.openxmlformats.org/drawingml/2006/main">
              <a:ext uri="{FF2B5EF4-FFF2-40B4-BE49-F238E27FC236}">
                <a16:creationId xmlns:a16="http://schemas.microsoft.com/office/drawing/2014/main" id="{625D099F-D0DA-4FCE-A6FB-D840AB8BC080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4" name="nav-back">
            <a:extLst xmlns:a="http://schemas.openxmlformats.org/drawingml/2006/main">
              <a:ext uri="{FF2B5EF4-FFF2-40B4-BE49-F238E27FC236}">
                <a16:creationId xmlns:a16="http://schemas.microsoft.com/office/drawing/2014/main" id="{6144277C-7A58-4FE9-9B67-E5213A66C6AB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5" name="nav-next">
            <a:extLst xmlns:a="http://schemas.openxmlformats.org/drawingml/2006/main">
              <a:ext uri="{FF2B5EF4-FFF2-40B4-BE49-F238E27FC236}">
                <a16:creationId xmlns:a16="http://schemas.microsoft.com/office/drawing/2014/main" id="{E80112C2-8AA3-41A4-9A7B-BEBC2ABBC876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7A7FF"/>
          </a:solidFill>
          <a:ln xmlns:a="http://schemas.openxmlformats.org/drawingml/2006/main" w="9525">
            <a:solidFill>
              <a:srgbClr val="27A7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962535709"/>
      </p:ext>
    </p:extLst>
  </p:cSld>
  <p:transition spd="fast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C6A3827-374C-441E-8556-D19CAAC1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D5D2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7D5D2"/>
                </a:solidFill>
                <a:latin typeface="Aptos Display"/>
                <a:ea typeface="Aptos Display"/>
                <a:cs typeface="Aptos Display"/>
              </a:rPr>
              <a:t>RELATIONAL DESIGN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4E6D16E1-771B-403B-95F4-4A687972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5D2"/>
          </a:solidFill>
          <a:ln xmlns:a="http://schemas.openxmlformats.org/drawingml/2006/main" w="0">
            <a:solidFill>
              <a:srgbClr val="37D5D2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EF6F250-9170-4978-9049-DF65D031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Normalization prevents insert, update, and delete anomalies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81035A7-3195-4D12-89ED-B7349F37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73F9D11-2992-421D-9117-DE2CB3C1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rPr>
              <a:t>INSERT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6D65F36-E167-4F49-B8AB-C590D516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09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Cannot add a fact without unrelated data.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6801E76-C512-4E1A-9855-0311ECC7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rPr>
              <a:t>UPDATE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194A6E8-06D3-42A3-8510-BCC36591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9562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The same fact must change in several rows.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CE73549-B0E2-4552-ADCC-DE76696D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27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6275"/>
                </a:solidFill>
                <a:latin typeface="Aptos Display"/>
                <a:ea typeface="Aptos Display"/>
                <a:cs typeface="Aptos Display"/>
              </a:rPr>
              <a:t>DELETE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CA87E9E-02B5-49EE-83AB-D9A1180E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815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Removing one fact accidentally removes another.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2B47B45-EEDB-4558-B981-9C0C4697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768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D5D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7D5D2"/>
                </a:solidFill>
                <a:latin typeface="Aptos Display"/>
                <a:ea typeface="Aptos Display"/>
                <a:cs typeface="Aptos Display"/>
              </a:rPr>
              <a:t>Normalize so each fact has one authoritative home.</a:t>
            </a:r>
          </a:p>
        </p:txBody>
      </p:sp>
      <p:sp>
        <p:nvSpPr>
          <p:cNvPr id="12" name="nav-home">
            <a:extLst xmlns:a="http://schemas.openxmlformats.org/drawingml/2006/main">
              <a:ext uri="{FF2B5EF4-FFF2-40B4-BE49-F238E27FC236}">
                <a16:creationId xmlns:a16="http://schemas.microsoft.com/office/drawing/2014/main" id="{1EFB2597-C81F-4AC1-ADF4-FD81CC780415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3" name="nav-back">
            <a:extLst xmlns:a="http://schemas.openxmlformats.org/drawingml/2006/main">
              <a:ext uri="{FF2B5EF4-FFF2-40B4-BE49-F238E27FC236}">
                <a16:creationId xmlns:a16="http://schemas.microsoft.com/office/drawing/2014/main" id="{32F764BF-B662-4887-8783-399B0F6E0294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4" name="nav-next">
            <a:extLst xmlns:a="http://schemas.openxmlformats.org/drawingml/2006/main">
              <a:ext uri="{FF2B5EF4-FFF2-40B4-BE49-F238E27FC236}">
                <a16:creationId xmlns:a16="http://schemas.microsoft.com/office/drawing/2014/main" id="{33B38434-BE00-4D9A-BE2B-B6272AD12EB7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7A7FF"/>
          </a:solidFill>
          <a:ln xmlns:a="http://schemas.openxmlformats.org/drawingml/2006/main" w="9525">
            <a:solidFill>
              <a:srgbClr val="27A7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705375986"/>
      </p:ext>
    </p:extLst>
  </p:cSld>
  <p:transition spd="fast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5454617-46B4-4795-A9B6-50937BD9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D5D2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7D5D2"/>
                </a:solidFill>
                <a:latin typeface="Aptos Display"/>
                <a:ea typeface="Aptos Display"/>
                <a:cs typeface="Aptos Display"/>
              </a:rPr>
              <a:t>NORMAL FORMS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15068CFB-10C9-4EAB-BAA8-E33F4731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5D2"/>
          </a:solidFill>
          <a:ln xmlns:a="http://schemas.openxmlformats.org/drawingml/2006/main" w="0">
            <a:solidFill>
              <a:srgbClr val="37D5D2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57243BC-F6DC-47F4-8D8F-3952921C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1NF → 2NF → 3NF removes the wrong dependencies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E245045-7D0B-469B-A892-B902CB69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5A036B0-2C5F-4B0C-904D-E8D8414E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rPr>
              <a:t>1NF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9B05C10-5635-4CDC-A03D-ADDACD8C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666875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Atomic values; no repeating groups.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75E639F-9A4C-405F-BC54-E7553BAC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66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one cell → one value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90FDA50-E749-4E52-8FFF-5139A63D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rPr>
              <a:t>2NF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350B370-7A1E-4113-8DC1-4728E86C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04800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1NF + every non-key attribute depends on the whole key.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D29DDC7-C4DC-4A1C-9CA4-B51B48ED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480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remove partial dependency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0E68682-3AB3-4972-8B50-59F09800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912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D5D2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37D5D2"/>
                </a:solidFill>
                <a:latin typeface="Aptos Display"/>
                <a:ea typeface="Aptos Display"/>
                <a:cs typeface="Aptos Display"/>
              </a:rPr>
              <a:t>3NF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C5C17AB-C1E1-4DB1-91DC-7ABEE352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429125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2NF + non-key attributes depend only on the key.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7E94DAF-C172-4C8D-9246-43919FB5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291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remove transitive dependency</a:t>
            </a:r>
          </a:p>
        </p:txBody>
      </p:sp>
      <p:sp>
        <p:nvSpPr>
          <p:cNvPr id="14" name="nav-home">
            <a:extLst xmlns:a="http://schemas.openxmlformats.org/drawingml/2006/main">
              <a:ext uri="{FF2B5EF4-FFF2-40B4-BE49-F238E27FC236}">
                <a16:creationId xmlns:a16="http://schemas.microsoft.com/office/drawing/2014/main" id="{043A325F-95E8-4E98-9C30-FF1E094B4AAE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5" name="nav-back">
            <a:extLst xmlns:a="http://schemas.openxmlformats.org/drawingml/2006/main">
              <a:ext uri="{FF2B5EF4-FFF2-40B4-BE49-F238E27FC236}">
                <a16:creationId xmlns:a16="http://schemas.microsoft.com/office/drawing/2014/main" id="{75BD2BF4-99E8-44BA-A5C6-3BE50EBFF05B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6" name="nav-next">
            <a:extLst xmlns:a="http://schemas.openxmlformats.org/drawingml/2006/main">
              <a:ext uri="{FF2B5EF4-FFF2-40B4-BE49-F238E27FC236}">
                <a16:creationId xmlns:a16="http://schemas.microsoft.com/office/drawing/2014/main" id="{0F44A78D-1947-4EC3-AA2B-9E0CA422F9A5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7A7FF"/>
          </a:solidFill>
          <a:ln xmlns:a="http://schemas.openxmlformats.org/drawingml/2006/main" w="9525">
            <a:solidFill>
              <a:srgbClr val="27A7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664006270"/>
      </p:ext>
    </p:extLst>
  </p:cSld>
  <p:transition spd="fast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28217CD-8EA1-4CA3-9743-6AE082F1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7D5D2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7D5D2"/>
                </a:solidFill>
                <a:latin typeface="Aptos Display"/>
                <a:ea typeface="Aptos Display"/>
                <a:cs typeface="Aptos Display"/>
              </a:rPr>
              <a:t>NORMALIZATION EXAMPLE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3467366D-7935-4193-B2A6-BAC74C79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5D2"/>
          </a:solidFill>
          <a:ln xmlns:a="http://schemas.openxmlformats.org/drawingml/2006/main" w="0">
            <a:solidFill>
              <a:srgbClr val="37D5D2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23BA4BB-0FCE-412A-A1B6-7C8F0554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Split repeated facts into related tables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E4392F3-5F77-4028-B6E4-57683008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FE594030-8FEF-438F-852A-E03E674A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13919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080B10"/>
          </a:solidFill>
          <a:ln xmlns:a="http://schemas.openxmlformats.org/drawingml/2006/main" w="9525">
            <a:solidFill>
              <a:srgbClr val="080B10"/>
            </a:solidFill>
            <a:prstDash val="solid"/>
          </a:ln>
        </p:spPr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11C4C102-5BF8-4819-9163-B6A6DB9F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666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275"/>
          </a:solidFill>
          <a:ln xmlns:a="http://schemas.openxmlformats.org/drawingml/2006/main" w="0">
            <a:solidFill>
              <a:srgbClr val="FF6275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53C62D6-935F-45E2-8F63-C4C5ED80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0225"/>
            <a:ext cx="10991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ORDER_LINE</a:t>
            </a:r>
          </a:p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order_id | customer_name | product_id | product_name | qty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7ADFA43-8925-493B-87A9-95E20EEE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193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rPr>
              <a:t>↓ normalize</a:t>
            </a:r>
          </a:p>
        </p:txBody>
      </p:sp>
      <p:sp>
        <p:nvSpPr>
          <p:cNvPr id="9" name="code">
            <a:extLst xmlns:a="http://schemas.openxmlformats.org/drawingml/2006/main">
              <a:ext uri="{FF2B5EF4-FFF2-40B4-BE49-F238E27FC236}">
                <a16:creationId xmlns:a16="http://schemas.microsoft.com/office/drawing/2014/main" id="{53BCF980-AC88-4164-BAD8-E9020018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4762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80B10"/>
          </a:solidFill>
          <a:ln xmlns:a="http://schemas.openxmlformats.org/drawingml/2006/main" w="9525">
            <a:solidFill>
              <a:srgbClr val="080B10"/>
            </a:solidFill>
            <a:prstDash val="solid"/>
          </a:ln>
        </p:spPr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182CCF68-9DA7-4B0E-B950-ADAA0C4D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7FF"/>
          </a:solidFill>
          <a:ln xmlns:a="http://schemas.openxmlformats.org/drawingml/2006/main" w="0">
            <a:solidFill>
              <a:srgbClr val="27A7F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AE2E1FC-761D-4E0D-AA18-B9CD2277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4362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CUSTOMER(id, name)</a:t>
            </a:r>
          </a:p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ORDER(id, customer_id)</a:t>
            </a:r>
          </a:p>
        </p:txBody>
      </p:sp>
      <p:sp>
        <p:nvSpPr>
          <p:cNvPr id="12" name="code">
            <a:extLst xmlns:a="http://schemas.openxmlformats.org/drawingml/2006/main">
              <a:ext uri="{FF2B5EF4-FFF2-40B4-BE49-F238E27FC236}">
                <a16:creationId xmlns:a16="http://schemas.microsoft.com/office/drawing/2014/main" id="{E7516093-01ED-4FE1-8A73-99DD4A2A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5600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80B10"/>
          </a:solidFill>
          <a:ln xmlns:a="http://schemas.openxmlformats.org/drawingml/2006/main" w="9525">
            <a:solidFill>
              <a:srgbClr val="080B10"/>
            </a:solidFill>
            <a:prstDash val="solid"/>
          </a:ln>
        </p:spPr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B99DCA38-34F8-4C9E-9AA5-6507E0B9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5D2"/>
          </a:solidFill>
          <a:ln xmlns:a="http://schemas.openxmlformats.org/drawingml/2006/main" w="0">
            <a:solidFill>
              <a:srgbClr val="37D5D2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4DB7BE6-D473-4F76-A468-84104557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67100"/>
            <a:ext cx="5200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PRODUCT(id, name)</a:t>
            </a:r>
          </a:p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ORDER_LINE(order_id, product_id, qty)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DFAD497-A2EF-49CF-B72B-B93E7F28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43500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Foreign keys reconnect the facts without duplicating their descriptions.</a:t>
            </a:r>
          </a:p>
        </p:txBody>
      </p:sp>
      <p:sp>
        <p:nvSpPr>
          <p:cNvPr id="16" name="nav-home">
            <a:extLst xmlns:a="http://schemas.openxmlformats.org/drawingml/2006/main">
              <a:ext uri="{FF2B5EF4-FFF2-40B4-BE49-F238E27FC236}">
                <a16:creationId xmlns:a16="http://schemas.microsoft.com/office/drawing/2014/main" id="{DD6D77B1-62B3-47E0-BED7-A0A23AF4F3E0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7" name="nav-back">
            <a:extLst xmlns:a="http://schemas.openxmlformats.org/drawingml/2006/main">
              <a:ext uri="{FF2B5EF4-FFF2-40B4-BE49-F238E27FC236}">
                <a16:creationId xmlns:a16="http://schemas.microsoft.com/office/drawing/2014/main" id="{721AA38B-3960-4634-8425-FDB5BD93C1A9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8" name="nav-next">
            <a:extLst xmlns:a="http://schemas.openxmlformats.org/drawingml/2006/main">
              <a:ext uri="{FF2B5EF4-FFF2-40B4-BE49-F238E27FC236}">
                <a16:creationId xmlns:a16="http://schemas.microsoft.com/office/drawing/2014/main" id="{2BC3B59C-2373-4ABC-8BBC-3A2B916823AF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7A7FF"/>
          </a:solidFill>
          <a:ln xmlns:a="http://schemas.openxmlformats.org/drawingml/2006/main" w="9525">
            <a:solidFill>
              <a:srgbClr val="27A7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614947396"/>
      </p:ext>
    </p:extLst>
  </p:cSld>
  <p:transition spd="fast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EE94C84-EE57-4998-88FB-06997A0C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TRIGGERS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101E648C-E14F-4CAF-8AAC-6060E752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12B28D6-B4DC-4EAB-AD2C-4BBB0F7F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A trigger runs automatically on a database event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B612CF9-0F73-4A20-B78B-A02F8B9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AB8DFC2-AA5C-485B-A062-EC99B110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rPr>
              <a:t>BEFORE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42B49AF-9F63-4901-B6E6-AE5222CE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192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validate or modify before the operation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1E643A0-40A3-490F-BBDC-2D1A9002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AFTER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BD3B856-CB80-47B5-AFA1-34157023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audit or propagate after success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CEF3259-D5C4-4566-9B92-C8BCC75A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rPr>
              <a:t>INSTEAD OF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8062B41-E1F9-43FB-AF4D-C3AF3628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replace an operation, commonly on views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71B8DC7-4DE7-47B0-9D53-A633996B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7D5D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37D5D2"/>
                </a:solidFill>
                <a:latin typeface="Aptos Display"/>
                <a:ea typeface="Aptos Display"/>
                <a:cs typeface="Aptos Display"/>
              </a:rPr>
              <a:t>ROW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89E6461-798F-40FA-B81E-5F5568EC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910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fires for each affected row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AE11F46-E673-43DF-AAFB-D0E7E747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rPr>
              <a:t>STATEMENT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F8A037A-B19B-47FB-8A0B-F8970189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fires once per statement</a:t>
            </a:r>
          </a:p>
        </p:txBody>
      </p:sp>
      <p:sp>
        <p:nvSpPr>
          <p:cNvPr id="15" name="nav-home">
            <a:extLst xmlns:a="http://schemas.openxmlformats.org/drawingml/2006/main">
              <a:ext uri="{FF2B5EF4-FFF2-40B4-BE49-F238E27FC236}">
                <a16:creationId xmlns:a16="http://schemas.microsoft.com/office/drawing/2014/main" id="{5B3F8656-FC48-426C-B4BA-9E3C6C640D6B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6" name="nav-back">
            <a:extLst xmlns:a="http://schemas.openxmlformats.org/drawingml/2006/main">
              <a:ext uri="{FF2B5EF4-FFF2-40B4-BE49-F238E27FC236}">
                <a16:creationId xmlns:a16="http://schemas.microsoft.com/office/drawing/2014/main" id="{DF330587-4877-4FD9-BCEE-5BB9FDEE6DE9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7" name="nav-next">
            <a:extLst xmlns:a="http://schemas.openxmlformats.org/drawingml/2006/main">
              <a:ext uri="{FF2B5EF4-FFF2-40B4-BE49-F238E27FC236}">
                <a16:creationId xmlns:a16="http://schemas.microsoft.com/office/drawing/2014/main" id="{C703D44F-73E2-432C-950A-B08C582E4E0F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7A7FF"/>
          </a:solidFill>
          <a:ln xmlns:a="http://schemas.openxmlformats.org/drawingml/2006/main" w="9525">
            <a:solidFill>
              <a:srgbClr val="27A7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851924818"/>
      </p:ext>
    </p:extLst>
  </p:cSld>
  <p:transition spd="fast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F3BFAAF-8DD0-494C-998D-9E2163B5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TRIGGER EXAMPLE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C833A4A8-5C49-4F53-99B4-5F7F6997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CE32C1D-7492-41DC-81F7-D75B2996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Use triggers for close-to-data reactions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1BD5045-AE04-4BFB-9B12-E216B269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4A41486A-26BD-4E52-B0C4-4DDF4F86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90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80B10"/>
          </a:solidFill>
          <a:ln xmlns:a="http://schemas.openxmlformats.org/drawingml/2006/main" w="9525">
            <a:solidFill>
              <a:srgbClr val="080B10"/>
            </a:solidFill>
            <a:prstDash val="solid"/>
          </a:ln>
        </p:spPr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D082B4AD-B1E0-4C63-AEBA-873A4700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0F18201-6F57-4541-BD42-74331B09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55054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CREATE TRIGGER audit_order_update</a:t>
            </a:r>
          </a:p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AFTER UPDATE ON orders</a:t>
            </a:r>
          </a:p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FOR EACH ROW</a:t>
            </a:r>
          </a:p>
          <a:p xmlns:a="http://schemas.openxmlformats.org/drawingml/2006/main">
            <a:pPr algn="l">
              <a:defRPr sz="1350" b="0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EXECUTE FUNCTION log_order_change();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B399414-B2A6-4C14-86FF-6B3C66C1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6212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rPr>
              <a:t>GOOD FIT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159CFF0-0C69-45C3-B360-57F4323B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19325"/>
            <a:ext cx="4381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Audit rows, maintain derived data, enforce cross-row reactions, or make views updatable.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136C3F9-64F9-4EDB-8CBA-719F24F4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6712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27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6275"/>
                </a:solidFill>
                <a:latin typeface="Aptos Display"/>
                <a:ea typeface="Aptos Display"/>
                <a:cs typeface="Aptos Display"/>
              </a:rPr>
              <a:t>WATCH OUT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A86A6FA-CC66-48FB-BDCE-AA3A9BC1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24325"/>
            <a:ext cx="4381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Hidden side effects, recursive behavior, ordering, performance, and hard-to-test business workflows.</a:t>
            </a:r>
          </a:p>
        </p:txBody>
      </p:sp>
      <p:sp>
        <p:nvSpPr>
          <p:cNvPr id="12" name="nav-home">
            <a:extLst xmlns:a="http://schemas.openxmlformats.org/drawingml/2006/main">
              <a:ext uri="{FF2B5EF4-FFF2-40B4-BE49-F238E27FC236}">
                <a16:creationId xmlns:a16="http://schemas.microsoft.com/office/drawing/2014/main" id="{024702D1-AD8C-4E43-80BA-6A7741F0A566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3" name="nav-back">
            <a:extLst xmlns:a="http://schemas.openxmlformats.org/drawingml/2006/main">
              <a:ext uri="{FF2B5EF4-FFF2-40B4-BE49-F238E27FC236}">
                <a16:creationId xmlns:a16="http://schemas.microsoft.com/office/drawing/2014/main" id="{342467AB-62DD-4981-BFDD-D37E96915B72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4" name="nav-next">
            <a:extLst xmlns:a="http://schemas.openxmlformats.org/drawingml/2006/main">
              <a:ext uri="{FF2B5EF4-FFF2-40B4-BE49-F238E27FC236}">
                <a16:creationId xmlns:a16="http://schemas.microsoft.com/office/drawing/2014/main" id="{2DDB7075-92DF-46FF-B4C6-EC45A22D0B2A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7A7FF"/>
          </a:solidFill>
          <a:ln xmlns:a="http://schemas.openxmlformats.org/drawingml/2006/main" w="9525">
            <a:solidFill>
              <a:srgbClr val="27A7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666343642"/>
      </p:ext>
    </p:extLst>
  </p:cSld>
  <p:transition spd="fast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2A2EFAD-FCFB-455D-8ADA-7ABF6B37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rPr>
              <a:t>SCHEDULED OPERATIONS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87576CEA-BC83-4BEE-9186-6A5B6142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18C"/>
          </a:solidFill>
          <a:ln xmlns:a="http://schemas.openxmlformats.org/drawingml/2006/main" w="0">
            <a:solidFill>
              <a:srgbClr val="47D18C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82B43DE-9387-40AB-8B73-8342AE85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Jobs automate work outside the request path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B490597-5608-401C-97FC-E28673C1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0BC15E0-04DA-4729-A666-D3CEE467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rPr>
              <a:t>BACKUP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DCA1A5C-CBF1-4C0B-B594-B3BE097C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192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protect recoverability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9174F19-22A0-4DB8-910F-5E7DDF9A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7A7FF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27A7FF"/>
                </a:solidFill>
                <a:latin typeface="Consolas"/>
                <a:ea typeface="Consolas"/>
                <a:cs typeface="Consolas"/>
              </a:rPr>
              <a:t>daily 02:00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A26DDFC-224D-48A0-9F13-E82355A7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7D5D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37D5D2"/>
                </a:solidFill>
                <a:latin typeface="Aptos Display"/>
                <a:ea typeface="Aptos Display"/>
                <a:cs typeface="Aptos Display"/>
              </a:rPr>
              <a:t>ETL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41F975E-5F77-45F0-82E6-A332D0AF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load and transform data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0D5AE5E-7965-4E42-8D61-D44BEFA2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7D5D2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37D5D2"/>
                </a:solidFill>
                <a:latin typeface="Consolas"/>
                <a:ea typeface="Consolas"/>
                <a:cs typeface="Consolas"/>
              </a:rPr>
              <a:t>hourly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0177A99-1109-4484-A3EE-30832689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rPr>
              <a:t>MAINTENANCE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A8B7738-7E74-4768-B8B8-879C3EF1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index/statistics/cleanup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FF27875-F3B1-4F94-953B-18035B5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9F43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FF9F43"/>
                </a:solidFill>
                <a:latin typeface="Consolas"/>
                <a:ea typeface="Consolas"/>
                <a:cs typeface="Consolas"/>
              </a:rPr>
              <a:t>weekly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7B61824-819E-47C5-9FB3-5E952899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REPORT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7AF17BB-FD8B-44C1-BDBF-C810F585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910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refresh aggregates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A8FE2AA-48A8-4662-A673-E786E844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A78BFA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after close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5A0762A-FAC3-4619-ACBC-DC6FACF7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rPr>
              <a:t>MONITOR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A684B3F-766A-4F43-9A12-EF85ADE5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check health and notify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1C10B3C-E94C-42E9-A8E8-F34B0F52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47D18C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47D18C"/>
                </a:solidFill>
                <a:latin typeface="Consolas"/>
                <a:ea typeface="Consolas"/>
                <a:cs typeface="Consolas"/>
              </a:rPr>
              <a:t>every 5 min</a:t>
            </a:r>
          </a:p>
        </p:txBody>
      </p:sp>
      <p:sp>
        <p:nvSpPr>
          <p:cNvPr id="20" name="nav-home">
            <a:extLst xmlns:a="http://schemas.openxmlformats.org/drawingml/2006/main">
              <a:ext uri="{FF2B5EF4-FFF2-40B4-BE49-F238E27FC236}">
                <a16:creationId xmlns:a16="http://schemas.microsoft.com/office/drawing/2014/main" id="{353A769B-EE9C-4DA6-83D1-3AB90AE67359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21" name="nav-back">
            <a:extLst xmlns:a="http://schemas.openxmlformats.org/drawingml/2006/main">
              <a:ext uri="{FF2B5EF4-FFF2-40B4-BE49-F238E27FC236}">
                <a16:creationId xmlns:a16="http://schemas.microsoft.com/office/drawing/2014/main" id="{B0786F65-C9A5-4668-A941-759E7DA43DC0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22" name="nav-next">
            <a:extLst xmlns:a="http://schemas.openxmlformats.org/drawingml/2006/main">
              <a:ext uri="{FF2B5EF4-FFF2-40B4-BE49-F238E27FC236}">
                <a16:creationId xmlns:a16="http://schemas.microsoft.com/office/drawing/2014/main" id="{5F5FECE9-0EEF-40A1-93C6-D962E6C03118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7A7FF"/>
          </a:solidFill>
          <a:ln xmlns:a="http://schemas.openxmlformats.org/drawingml/2006/main" w="9525">
            <a:solidFill>
              <a:srgbClr val="27A7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998863588"/>
      </p:ext>
    </p:extLst>
  </p:cSld>
  <p:transition spd="fast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FD99260-2F49-4EA7-AFB5-85879F32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rPr>
              <a:t>OPERATIONS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B82A171E-AA85-4220-9B8C-3CE1CA61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18C"/>
          </a:solidFill>
          <a:ln xmlns:a="http://schemas.openxmlformats.org/drawingml/2006/main" w="0">
            <a:solidFill>
              <a:srgbClr val="47D18C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AB1BC26-1F58-4592-B54E-F080E756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A production job needs more than a schedule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A04D24A-68AC-4AFF-BD48-3DC9A01D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52DB5DD-1E0F-44F3-AEB6-4062F12C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rPr>
              <a:t>STEPS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43C0E30-7A2B-45AE-850A-7BD28C47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small, restartable actions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AB7136D-EB41-4C66-8E8B-5270EB98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621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rPr>
              <a:t>OWNER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76AA186-A44F-44A1-BA07-449B1D6B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2383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least-privilege execution context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41C1612-9F9F-455B-813B-C6319D7F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rPr>
              <a:t>RETRY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851486C-731E-47B8-B4BC-97BE4653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383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bounded and safe for idempotent work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2ECF783-EDF0-4867-AD24-02381B75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rPr>
              <a:t>LOGS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CA03B88-735B-403C-AF8D-BDB193E0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start, end, row counts, errors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E8361B9-2203-42BF-83E3-74410CF6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571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rPr>
              <a:t>ALERTS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0DF6AC2-4DCE-42F7-B0B9-79F6D504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481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notify a responsible operator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749A63A-9CB8-4E3E-BB86-9B974286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71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rPr>
              <a:t>HISTORY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7FAB9DB-C789-445C-A148-E7E3FDFD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prove what ran and when</a:t>
            </a:r>
          </a:p>
        </p:txBody>
      </p:sp>
      <p:sp>
        <p:nvSpPr>
          <p:cNvPr id="17" name="nav-home">
            <a:extLst xmlns:a="http://schemas.openxmlformats.org/drawingml/2006/main">
              <a:ext uri="{FF2B5EF4-FFF2-40B4-BE49-F238E27FC236}">
                <a16:creationId xmlns:a16="http://schemas.microsoft.com/office/drawing/2014/main" id="{1128202D-8353-4AF6-9287-BAB781E51936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8" name="nav-back">
            <a:extLst xmlns:a="http://schemas.openxmlformats.org/drawingml/2006/main">
              <a:ext uri="{FF2B5EF4-FFF2-40B4-BE49-F238E27FC236}">
                <a16:creationId xmlns:a16="http://schemas.microsoft.com/office/drawing/2014/main" id="{C2646A0F-A578-4735-8200-DAF2F8560D34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9" name="nav-next">
            <a:extLst xmlns:a="http://schemas.openxmlformats.org/drawingml/2006/main">
              <a:ext uri="{FF2B5EF4-FFF2-40B4-BE49-F238E27FC236}">
                <a16:creationId xmlns:a16="http://schemas.microsoft.com/office/drawing/2014/main" id="{7CF71E33-3F89-47AD-8E17-18374988975A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7A7FF"/>
          </a:solidFill>
          <a:ln xmlns:a="http://schemas.openxmlformats.org/drawingml/2006/main" w="9525">
            <a:solidFill>
              <a:srgbClr val="27A7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097517242"/>
      </p:ext>
    </p:extLst>
  </p:cSld>
  <p:transition spd="fast">
    <p:fade/>
  </p:transition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F8E6901-0E57-42B7-9405-F8CF8429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rPr>
              <a:t>DECISION GUIDE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9CAD2662-58CA-4120-973D-A0DCD73E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7FF"/>
          </a:solidFill>
          <a:ln xmlns:a="http://schemas.openxmlformats.org/drawingml/2006/main" w="0">
            <a:solidFill>
              <a:srgbClr val="27A7FF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32EDA95-5E6A-4783-9405-1112130F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Choose the mechanism by the failure you must prevent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6553931-CB09-4E57-AE08-71AB2438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C45AAEE-BA7D-47F3-8C0A-5D80A398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Invalid row or relationship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14C77FB-BADE-4B6A-87AB-85BC3834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6687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7A7FF"/>
                </a:solidFill>
                <a:latin typeface="Aptos Display"/>
                <a:ea typeface="Aptos Display"/>
                <a:cs typeface="Aptos Display"/>
              </a:rPr>
              <a:t>CONSTRAINT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3F8FEF7-8C07-466C-A9B2-224F7F46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050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Concurrent transactions conflict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A6A7030-8AF4-4246-B268-70FE40CC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0507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rPr>
              <a:t>LOCK / ISOLATION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FDF1682-FE56-442F-ACDA-8A3FF847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432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Redundancy creates anomalies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97F7E7B-E784-49B0-ACD2-9B7C9D61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4327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7D5D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37D5D2"/>
                </a:solidFill>
                <a:latin typeface="Aptos Display"/>
                <a:ea typeface="Aptos Display"/>
                <a:cs typeface="Aptos Display"/>
              </a:rPr>
              <a:t>NORMALIZATION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5208A69-5F93-4387-B932-C48ADF0A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Immediate data event needs reaction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179CDB3-85EA-4403-B737-83FE02E1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8147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TRIGGER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0733EFE-CCBC-42AB-ADCA-FF5C7741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Deferred or scheduled work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83D19B6-1C55-4F63-B780-9A6B372C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967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rPr>
              <a:t>JOB</a:t>
            </a:r>
          </a:p>
        </p:txBody>
      </p:sp>
      <p:sp>
        <p:nvSpPr>
          <p:cNvPr id="15" name="nav-home">
            <a:extLst xmlns:a="http://schemas.openxmlformats.org/drawingml/2006/main">
              <a:ext uri="{FF2B5EF4-FFF2-40B4-BE49-F238E27FC236}">
                <a16:creationId xmlns:a16="http://schemas.microsoft.com/office/drawing/2014/main" id="{EFF57F3F-3E7E-4459-8942-730ACDAE9615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6" name="nav-back">
            <a:extLst xmlns:a="http://schemas.openxmlformats.org/drawingml/2006/main">
              <a:ext uri="{FF2B5EF4-FFF2-40B4-BE49-F238E27FC236}">
                <a16:creationId xmlns:a16="http://schemas.microsoft.com/office/drawing/2014/main" id="{49191C4C-D0AA-4EB1-86BE-41508C604A02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7" name="nav-next">
            <a:extLst xmlns:a="http://schemas.openxmlformats.org/drawingml/2006/main">
              <a:ext uri="{FF2B5EF4-FFF2-40B4-BE49-F238E27FC236}">
                <a16:creationId xmlns:a16="http://schemas.microsoft.com/office/drawing/2014/main" id="{A2BE33F8-040B-45A1-A24D-94CD34680627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7A7FF"/>
          </a:solidFill>
          <a:ln xmlns:a="http://schemas.openxmlformats.org/drawingml/2006/main" w="9525">
            <a:solidFill>
              <a:srgbClr val="27A7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10276817"/>
      </p:ext>
    </p:extLst>
  </p:cSld>
  <p:transition spd="fast">
    <p:fade/>
  </p:transition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BE418AF-98DB-4031-9CAA-7643522A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27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6275"/>
                </a:solidFill>
                <a:latin typeface="Aptos Display"/>
                <a:ea typeface="Aptos Display"/>
                <a:cs typeface="Aptos Display"/>
              </a:rPr>
              <a:t>CLICK YOUR ANSWER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FE099264-E460-42AB-88E6-B5A81EDD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275"/>
          </a:solidFill>
          <a:ln xmlns:a="http://schemas.openxmlformats.org/drawingml/2006/main" w="0">
            <a:solidFill>
              <a:srgbClr val="FF6275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10264B9-E0AC-49E9-AC90-362DFF61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Challenge: enforce a non-negative balance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F9A6578-15F8-47EE-A769-040EB969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16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78992ED-FAE6-4A96-9B7B-D9677E65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The rule must hold for every writer and every application. Where should it live?</a:t>
            </a:r>
          </a:p>
        </p:txBody>
      </p:sp>
      <p:sp>
        <p:nvSpPr>
          <p:cNvPr id="6" name="quiz-a">
            <a:extLst xmlns:a="http://schemas.openxmlformats.org/drawingml/2006/main">
              <a:ext uri="{FF2B5EF4-FFF2-40B4-BE49-F238E27FC236}">
                <a16:creationId xmlns:a16="http://schemas.microsoft.com/office/drawing/2014/main" id="{36D48B3F-B31D-425D-AEC8-9F7E7D298F73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11391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47D18C"/>
          </a:solidFill>
          <a:ln xmlns:a="http://schemas.openxmlformats.org/drawingml/2006/main" w="9525">
            <a:solidFill>
              <a:srgbClr val="47D18C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A  CHECK (balance &gt;= 0) constraint</a:t>
            </a:r>
          </a:p>
        </p:txBody>
      </p:sp>
      <p:sp>
        <p:nvSpPr>
          <p:cNvPr id="7" name="quiz-b">
            <a:extLst xmlns:a="http://schemas.openxmlformats.org/drawingml/2006/main">
              <a:ext uri="{FF2B5EF4-FFF2-40B4-BE49-F238E27FC236}">
                <a16:creationId xmlns:a16="http://schemas.microsoft.com/office/drawing/2014/main" id="{B49583F1-B5A4-44F6-9549-3EE1A8E72BA5}"/>
              </a:ext>
            </a:extLst>
            <a:hlinkClick xmlns:p7="http://schemas.openxmlformats.org/officeDocument/2006/relationships" xmlns:a="http://schemas.openxmlformats.org/drawingml/2006/main" p7:id="rId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1391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B  Nightly SQL Agent job</a:t>
            </a:r>
          </a:p>
        </p:txBody>
      </p:sp>
      <p:sp>
        <p:nvSpPr>
          <p:cNvPr id="8" name="quiz-c">
            <a:extLst xmlns:a="http://schemas.openxmlformats.org/drawingml/2006/main">
              <a:ext uri="{FF2B5EF4-FFF2-40B4-BE49-F238E27FC236}">
                <a16:creationId xmlns:a16="http://schemas.microsoft.com/office/drawing/2014/main" id="{98060159-EFB0-4123-AC32-F8B057B3EEA8}"/>
              </a:ext>
            </a:extLst>
            <a:hlinkClick xmlns:p7="http://schemas.openxmlformats.org/officeDocument/2006/relationships" xmlns:a="http://schemas.openxmlformats.org/drawingml/2006/main" p7:id="rId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11391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C  UI validation only</a:t>
            </a:r>
          </a:p>
        </p:txBody>
      </p:sp>
      <p:sp>
        <p:nvSpPr>
          <p:cNvPr id="9" name="nav-home">
            <a:extLst xmlns:a="http://schemas.openxmlformats.org/drawingml/2006/main">
              <a:ext uri="{FF2B5EF4-FFF2-40B4-BE49-F238E27FC236}">
                <a16:creationId xmlns:a16="http://schemas.microsoft.com/office/drawing/2014/main" id="{E83389B1-EA14-4230-83C8-53924EAC8F66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0" name="nav-back">
            <a:extLst xmlns:a="http://schemas.openxmlformats.org/drawingml/2006/main">
              <a:ext uri="{FF2B5EF4-FFF2-40B4-BE49-F238E27FC236}">
                <a16:creationId xmlns:a16="http://schemas.microsoft.com/office/drawing/2014/main" id="{5796EF5C-716A-41FB-A056-E7926E69A8F3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2110595133"/>
      </p:ext>
    </p:extLst>
  </p:cSld>
  <p:transition spd="fast">
    <p:fade/>
  </p:transition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wrong">
            <a:extLst xmlns:a="http://schemas.openxmlformats.org/drawingml/2006/main">
              <a:ext uri="{FF2B5EF4-FFF2-40B4-BE49-F238E27FC236}">
                <a16:creationId xmlns:a16="http://schemas.microsoft.com/office/drawing/2014/main" id="{596F18E5-37FC-40CD-B75B-7C421D05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430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275"/>
          </a:solidFill>
          <a:ln xmlns:a="http://schemas.openxmlformats.org/drawingml/2006/main" w="19050">
            <a:solidFill>
              <a:srgbClr val="FF6275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6652EE8-5794-4471-A38E-D23565F4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66800"/>
            <a:ext cx="180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2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712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4CCC973-3626-4C89-97CC-DA2539DD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238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275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6275"/>
                </a:solidFill>
                <a:latin typeface="Aptos Display"/>
                <a:ea typeface="Aptos Display"/>
                <a:cs typeface="Aptos Display"/>
              </a:rPr>
              <a:t>NOT QUITE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EB548E4-A638-4DC7-B48C-02B858DE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Delayed or client-only checks</a:t>
            </a:r>
          </a:p>
          <a:p xmlns:a="http://schemas.openxmlformats.org/drawingml/2006/main">
            <a:pPr algn="l">
              <a:defRPr sz="300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leave invalid states possible.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BDC2F67-0A02-4199-ADAE-D930D2C8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>
                <a:solidFill>
                  <a:srgbClr val="A5B1C0"/>
                </a:solidFill>
                <a:latin typeface="Aptos Display"/>
                <a:ea typeface="Aptos Display"/>
                <a:cs typeface="Aptos Display"/>
              </a:rPr>
              <a:t>A stable row invariant belongs in a database constraint so every write path is protected immediately.</a:t>
            </a:r>
          </a:p>
        </p:txBody>
      </p:sp>
      <p:sp>
        <p:nvSpPr>
          <p:cNvPr id="6" name="try-again">
            <a:extLst xmlns:a="http://schemas.openxmlformats.org/drawingml/2006/main">
              <a:ext uri="{FF2B5EF4-FFF2-40B4-BE49-F238E27FC236}">
                <a16:creationId xmlns:a16="http://schemas.microsoft.com/office/drawing/2014/main" id="{C722B970-9609-41D0-9A10-188C64599311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6250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6275"/>
          </a:solidFill>
          <a:ln xmlns:a="http://schemas.openxmlformats.org/drawingml/2006/main" w="9525">
            <a:solidFill>
              <a:srgbClr val="FF6275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TRY AGAIN</a:t>
            </a:r>
          </a:p>
        </p:txBody>
      </p:sp>
      <p:sp>
        <p:nvSpPr>
          <p:cNvPr id="7" name="wrong-menu">
            <a:extLst xmlns:a="http://schemas.openxmlformats.org/drawingml/2006/main">
              <a:ext uri="{FF2B5EF4-FFF2-40B4-BE49-F238E27FC236}">
                <a16:creationId xmlns:a16="http://schemas.microsoft.com/office/drawing/2014/main" id="{6BF70B25-6C36-4A40-8C1B-635D6D17E278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6250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22D3A"/>
          </a:solidFill>
          <a:ln xmlns:a="http://schemas.openxmlformats.org/drawingml/2006/main" w="9525">
            <a:solidFill>
              <a:srgbClr val="222D3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BACK TO MAP</a:t>
            </a:r>
          </a:p>
        </p:txBody>
      </p:sp>
    </p:spTree>
    <p:extLst>
      <p:ext uri="{BB962C8B-B14F-4D97-AF65-F5344CB8AC3E}">
        <p14:creationId xmlns:p14="http://schemas.microsoft.com/office/powerpoint/2010/main" val="116352377"/>
      </p:ext>
    </p:extLst>
  </p:cSld>
  <p:transition spd="fast">
    <p:fade/>
  </p:transition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rrect">
            <a:extLst xmlns:a="http://schemas.openxmlformats.org/drawingml/2006/main">
              <a:ext uri="{FF2B5EF4-FFF2-40B4-BE49-F238E27FC236}">
                <a16:creationId xmlns:a16="http://schemas.microsoft.com/office/drawing/2014/main" id="{A5A643A6-082E-4909-9292-8EEDF2DF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95375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18C"/>
          </a:solidFill>
          <a:ln xmlns:a="http://schemas.openxmlformats.org/drawingml/2006/main" w="19050">
            <a:solidFill>
              <a:srgbClr val="47D18C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1D5CF70-5D59-4B7E-AC53-195F1186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95375"/>
            <a:ext cx="1905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6750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D7A0AEF-6219-423B-BEB8-C0EF8CA4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906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47D18C"/>
                </a:solidFill>
                <a:latin typeface="Aptos Display"/>
                <a:ea typeface="Aptos Display"/>
                <a:cs typeface="Aptos Display"/>
              </a:rPr>
              <a:t>CORRECT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D311365-1AE9-4733-A000-2EA7DDBA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6212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F6FA"/>
                </a:solidFill>
                <a:latin typeface="Consolas"/>
                <a:ea typeface="Consolas"/>
                <a:cs typeface="Consolas"/>
              </a:defRPr>
            </a:pPr>
            <a:r>
              <a:rPr sz="3150" b="1">
                <a:solidFill>
                  <a:srgbClr val="F2F6FA"/>
                </a:solidFill>
                <a:latin typeface="Consolas"/>
                <a:ea typeface="Consolas"/>
                <a:cs typeface="Consolas"/>
              </a:rPr>
              <a:t>CHECK (balance &gt;= 0)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FA6EA6C-EBC7-4253-9216-AF37BD5B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9F43"/>
                </a:solidFill>
                <a:latin typeface="Aptos Display"/>
                <a:ea typeface="Aptos Display"/>
                <a:cs typeface="Aptos Display"/>
              </a:rPr>
              <a:t>A reliable database combines: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E3A4D17-BB03-4FB5-AB6E-7A2055F4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76625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7D5D2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37D5D2"/>
                </a:solidFill>
                <a:latin typeface="Aptos Display"/>
                <a:ea typeface="Aptos Display"/>
                <a:cs typeface="Aptos Display"/>
              </a:rPr>
              <a:t>integrity · concurrency · structure · reactions · automation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12B950E-F474-49F1-847B-AAF3A25D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2F6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>
                <a:solidFill>
                  <a:srgbClr val="F2F6FA"/>
                </a:solidFill>
                <a:latin typeface="Aptos Display"/>
                <a:ea typeface="Aptos Display"/>
                <a:cs typeface="Aptos Display"/>
              </a:rPr>
              <a:t>Choose the smallest mechanism that prevents the failure at its source.</a:t>
            </a:r>
          </a:p>
        </p:txBody>
      </p:sp>
      <p:sp>
        <p:nvSpPr>
          <p:cNvPr id="8" name="summary-menu">
            <a:extLst xmlns:a="http://schemas.openxmlformats.org/drawingml/2006/main">
              <a:ext uri="{FF2B5EF4-FFF2-40B4-BE49-F238E27FC236}">
                <a16:creationId xmlns:a16="http://schemas.microsoft.com/office/drawing/2014/main" id="{300CC576-41B7-4427-B559-87B93FE8B415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86375"/>
            <a:ext cx="238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7A7FF"/>
          </a:solidFill>
          <a:ln xmlns:a="http://schemas.openxmlformats.org/drawingml/2006/main" w="9525">
            <a:solidFill>
              <a:srgbClr val="27A7FF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51C"/>
                </a:solidFill>
                <a:latin typeface="Aptos Display"/>
                <a:ea typeface="Aptos Display"/>
                <a:cs typeface="Aptos Display"/>
              </a:rPr>
              <a:t>EXPLORE AGAIN</a:t>
            </a:r>
          </a:p>
        </p:txBody>
      </p:sp>
    </p:spTree>
    <p:extLst>
      <p:ext uri="{BB962C8B-B14F-4D97-AF65-F5344CB8AC3E}">
        <p14:creationId xmlns:p14="http://schemas.microsoft.com/office/powerpoint/2010/main" val="443094722"/>
      </p:ext>
    </p:extLst>
  </p:cSld>
  <p:transition spd="fast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2026-08-08T14:41:53.6330000Z</dcterms:created>
  <dcterms:modified xsi:type="dcterms:W3CDTF">2026-08-08T14:41:53.6330000Z</dcterms:modified>
</coreProperties>
</file>